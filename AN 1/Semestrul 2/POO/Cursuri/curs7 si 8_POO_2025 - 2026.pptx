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69"/>
  </p:notesMasterIdLst>
  <p:sldIdLst>
    <p:sldId id="256" r:id="rId5"/>
    <p:sldId id="257" r:id="rId6"/>
    <p:sldId id="276" r:id="rId7"/>
    <p:sldId id="281" r:id="rId8"/>
    <p:sldId id="297" r:id="rId9"/>
    <p:sldId id="299" r:id="rId10"/>
    <p:sldId id="313" r:id="rId11"/>
    <p:sldId id="314" r:id="rId12"/>
    <p:sldId id="315" r:id="rId13"/>
    <p:sldId id="316" r:id="rId14"/>
    <p:sldId id="342" r:id="rId15"/>
    <p:sldId id="343" r:id="rId16"/>
    <p:sldId id="344" r:id="rId17"/>
    <p:sldId id="346" r:id="rId18"/>
    <p:sldId id="345" r:id="rId19"/>
    <p:sldId id="347" r:id="rId20"/>
    <p:sldId id="359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7" r:id="rId29"/>
    <p:sldId id="358" r:id="rId30"/>
    <p:sldId id="355" r:id="rId31"/>
    <p:sldId id="360" r:id="rId32"/>
    <p:sldId id="361" r:id="rId33"/>
    <p:sldId id="377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18" r:id="rId45"/>
    <p:sldId id="372" r:id="rId46"/>
    <p:sldId id="319" r:id="rId47"/>
    <p:sldId id="320" r:id="rId48"/>
    <p:sldId id="293" r:id="rId49"/>
    <p:sldId id="296" r:id="rId50"/>
    <p:sldId id="373" r:id="rId51"/>
    <p:sldId id="374" r:id="rId52"/>
    <p:sldId id="375" r:id="rId53"/>
    <p:sldId id="376" r:id="rId54"/>
    <p:sldId id="326" r:id="rId55"/>
    <p:sldId id="327" r:id="rId56"/>
    <p:sldId id="328" r:id="rId57"/>
    <p:sldId id="330" r:id="rId58"/>
    <p:sldId id="335" r:id="rId59"/>
    <p:sldId id="383" r:id="rId60"/>
    <p:sldId id="378" r:id="rId61"/>
    <p:sldId id="379" r:id="rId62"/>
    <p:sldId id="380" r:id="rId63"/>
    <p:sldId id="381" r:id="rId64"/>
    <p:sldId id="336" r:id="rId65"/>
    <p:sldId id="339" r:id="rId66"/>
    <p:sldId id="382" r:id="rId67"/>
    <p:sldId id="321" r:id="rId68"/>
  </p:sldIdLst>
  <p:sldSz cx="10080625" cy="7559675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1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-1588" y="-22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2688" y="768350"/>
            <a:ext cx="4733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</p:spPr>
      </p:sp>
      <p:sp>
        <p:nvSpPr>
          <p:cNvPr id="68611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5" tIns="91425" rIns="91425" bIns="91425" numCol="1" anchor="t" anchorCtr="0" compatLnSpc="1"/>
          <a:lstStyle/>
          <a:p>
            <a:pPr lvl="0"/>
            <a:endParaRPr lang="en-US"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2044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FML/SFML/issues/2139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Google Shape;60;p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66E4444C-20E8-4981-9293-DDC652EEB198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fld>
            <a:endParaRPr lang="en-US" sz="1800"/>
          </a:p>
        </p:txBody>
      </p:sp>
      <p:sp>
        <p:nvSpPr>
          <p:cNvPr id="69635" name="Google Shape;61;p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A373FF23-0357-4B33-BC9B-975875C8666D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</a:t>
            </a:fld>
            <a:endParaRPr lang="en-US" sz="1800"/>
          </a:p>
        </p:txBody>
      </p:sp>
      <p:sp>
        <p:nvSpPr>
          <p:cNvPr id="69636" name="Google Shape;62;p1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9637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8" name="Google Shape;64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74;p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3C5394E-49F3-4FAC-8FB4-FA293AF8078A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fld>
            <a:endParaRPr lang="en-US" sz="1800"/>
          </a:p>
        </p:txBody>
      </p:sp>
      <p:sp>
        <p:nvSpPr>
          <p:cNvPr id="70659" name="Google Shape;75;p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A153390F-BB3D-4D6E-8EA5-E1E8D2AB707D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</a:t>
            </a:fld>
            <a:endParaRPr lang="en-US" sz="1800"/>
          </a:p>
        </p:txBody>
      </p:sp>
      <p:sp>
        <p:nvSpPr>
          <p:cNvPr id="70660" name="Google Shape;76;p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70661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2" name="Google Shape;78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Google Shape;306;g50e229d72d_0_34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4FA1252-9AAF-4881-8006-60934F5C6FC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fld>
            <a:endParaRPr lang="en-US" sz="1800"/>
          </a:p>
        </p:txBody>
      </p:sp>
      <p:sp>
        <p:nvSpPr>
          <p:cNvPr id="89091" name="Google Shape;307;g50e229d72d_0_34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F640BA88-A567-4E92-8741-78870C0F6B49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</a:t>
            </a:fld>
            <a:endParaRPr lang="en-US" sz="1800"/>
          </a:p>
        </p:txBody>
      </p:sp>
      <p:sp>
        <p:nvSpPr>
          <p:cNvPr id="89092" name="Google Shape;308;g50e229d72d_0_34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89093" name="Google Shape;309;g50e229d72d_0_34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94" name="Google Shape;310;g50e229d72d_0_34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Google Shape;369;g50e229d72d_0_40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DB19906B-940E-42D1-A911-565136FCCB5A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</a:t>
            </a:fld>
            <a:endParaRPr lang="en-US" sz="1800"/>
          </a:p>
        </p:txBody>
      </p:sp>
      <p:sp>
        <p:nvSpPr>
          <p:cNvPr id="94211" name="Google Shape;370;g50e229d72d_0_40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D6D07AC5-1EF0-438A-A3B9-ACFB0768E026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</a:t>
            </a:fld>
            <a:endParaRPr lang="en-US" sz="1800"/>
          </a:p>
        </p:txBody>
      </p:sp>
      <p:sp>
        <p:nvSpPr>
          <p:cNvPr id="94212" name="Google Shape;371;g50e229d72d_0_40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94213" name="Google Shape;372;g50e229d72d_0_40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214" name="Google Shape;373;g50e229d72d_0_40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Google Shape;564;g50e229d72d_0_58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3D627F6-EF3C-46AA-89DD-0409367656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fld>
            <a:endParaRPr lang="en-US" sz="1800"/>
          </a:p>
        </p:txBody>
      </p:sp>
      <p:sp>
        <p:nvSpPr>
          <p:cNvPr id="111619" name="Google Shape;565;g50e229d72d_0_58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DE6E1880-7B22-46BE-BAE8-4A70D3DFA93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</a:t>
            </a:fld>
            <a:endParaRPr lang="en-US" sz="1800"/>
          </a:p>
        </p:txBody>
      </p:sp>
      <p:sp>
        <p:nvSpPr>
          <p:cNvPr id="111620" name="Google Shape;566;g50e229d72d_0_58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1621" name="Google Shape;567;g50e229d72d_0_58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622" name="Google Shape;568;g50e229d72d_0_58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Google Shape;588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E04A9ADE-3FA7-4DFD-966F-CB118514F5F8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6</a:t>
            </a:fld>
            <a:endParaRPr lang="en-US" sz="1800"/>
          </a:p>
        </p:txBody>
      </p:sp>
      <p:sp>
        <p:nvSpPr>
          <p:cNvPr id="113667" name="Google Shape;589;g50e229d72d_0_62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A9AFAD66-EBE2-4A5A-9A27-A6DA394AA3FE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6</a:t>
            </a:fld>
            <a:endParaRPr lang="en-US" sz="1800"/>
          </a:p>
        </p:txBody>
      </p:sp>
      <p:sp>
        <p:nvSpPr>
          <p:cNvPr id="113668" name="Google Shape;590;g50e229d72d_0_62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3669" name="Google Shape;591;g50e229d72d_0_6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670" name="Google Shape;592;g50e229d72d_0_6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Google Shape;763;g50fc3a0ed1_1_2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76D62542-0B16-46B4-A855-00322342D510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7</a:t>
            </a:fld>
            <a:endParaRPr lang="en-US" sz="1800"/>
          </a:p>
        </p:txBody>
      </p:sp>
      <p:sp>
        <p:nvSpPr>
          <p:cNvPr id="126979" name="Google Shape;764;g50fc3a0ed1_1_2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DFABE49D-E9E7-43EB-88FA-4C74E8A0A8E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7</a:t>
            </a:fld>
            <a:endParaRPr lang="en-US" sz="1800"/>
          </a:p>
        </p:txBody>
      </p:sp>
      <p:sp>
        <p:nvSpPr>
          <p:cNvPr id="126980" name="Google Shape;765;g50fc3a0ed1_1_2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6981" name="Google Shape;766;g50fc3a0ed1_1_2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982" name="Google Shape;767;g50fc3a0ed1_1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Google Shape;775;g56345b4d2e_0_6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8E0E48A-45B4-4B8A-86E9-6E26BA874ACB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8</a:t>
            </a:fld>
            <a:endParaRPr lang="en-US" sz="1800"/>
          </a:p>
        </p:txBody>
      </p:sp>
      <p:sp>
        <p:nvSpPr>
          <p:cNvPr id="128003" name="Google Shape;776;g56345b4d2e_0_6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3C3DF96B-3B0F-4F23-AB20-FC7E00FA02FB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8</a:t>
            </a:fld>
            <a:endParaRPr lang="en-US" sz="1800"/>
          </a:p>
        </p:txBody>
      </p:sp>
      <p:sp>
        <p:nvSpPr>
          <p:cNvPr id="128004" name="Google Shape;777;g56345b4d2e_0_6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8005" name="Google Shape;778;g56345b4d2e_0_6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006" name="Google Shape;779;g56345b4d2e_0_6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Google Shape;787;g56345b4d2e_0_7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3BF8CA8-19DF-4B1E-97EC-807DE5B7199D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9</a:t>
            </a:fld>
            <a:endParaRPr lang="en-US" sz="1800"/>
          </a:p>
        </p:txBody>
      </p:sp>
      <p:sp>
        <p:nvSpPr>
          <p:cNvPr id="129027" name="Google Shape;788;g56345b4d2e_0_7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DD6A3F22-94E9-4296-8698-708AFF4C167E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9</a:t>
            </a:fld>
            <a:endParaRPr lang="en-US" sz="1800"/>
          </a:p>
        </p:txBody>
      </p:sp>
      <p:sp>
        <p:nvSpPr>
          <p:cNvPr id="129028" name="Google Shape;789;g56345b4d2e_0_7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9029" name="Google Shape;790;g56345b4d2e_0_7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030" name="Google Shape;791;g56345b4d2e_0_7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10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10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11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11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12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12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13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13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14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14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15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15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16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16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17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17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18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18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19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19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20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20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21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21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22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22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23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23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24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24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25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25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26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26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27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27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28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28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29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29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30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30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31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31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32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32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33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33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34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34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35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35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36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36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37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37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38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38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39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39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Google Shape;799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C069F66D-DB4F-4A93-9944-087CD587FFF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40</a:t>
            </a:fld>
            <a:endParaRPr lang="en-US" sz="1800"/>
          </a:p>
        </p:txBody>
      </p:sp>
      <p:sp>
        <p:nvSpPr>
          <p:cNvPr id="130051" name="Google Shape;800;g56345b4d2e_0_10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3981522-945C-4988-948C-E147DAA2EEC2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40</a:t>
            </a:fld>
            <a:endParaRPr lang="en-US" sz="1800"/>
          </a:p>
        </p:txBody>
      </p:sp>
      <p:sp>
        <p:nvSpPr>
          <p:cNvPr id="130052" name="Google Shape;801;g56345b4d2e_0_10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0053" name="Google Shape;802;g56345b4d2e_0_10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054" name="Google Shape;803;g56345b4d2e_0_10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Google Shape;823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A10533D5-EA56-4959-8D6C-12D918F7BD20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41</a:t>
            </a:fld>
            <a:endParaRPr lang="en-US" sz="1800"/>
          </a:p>
        </p:txBody>
      </p:sp>
      <p:sp>
        <p:nvSpPr>
          <p:cNvPr id="132099" name="Google Shape;824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027A6EA-4AC4-4E8F-9FCE-24B09E30DC6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41</a:t>
            </a:fld>
            <a:endParaRPr lang="en-US" sz="1800"/>
          </a:p>
        </p:txBody>
      </p:sp>
      <p:sp>
        <p:nvSpPr>
          <p:cNvPr id="132100" name="Google Shape;825;g56345b4d2e_0_1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2101" name="Google Shape;826;g56345b4d2e_0_1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102" name="Google Shape;827;g56345b4d2e_0_1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Google Shape;823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A10533D5-EA56-4959-8D6C-12D918F7BD20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42</a:t>
            </a:fld>
            <a:endParaRPr lang="en-US" sz="1800"/>
          </a:p>
        </p:txBody>
      </p:sp>
      <p:sp>
        <p:nvSpPr>
          <p:cNvPr id="132099" name="Google Shape;824;g56345b4d2e_0_1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027A6EA-4AC4-4E8F-9FCE-24B09E30DC6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42</a:t>
            </a:fld>
            <a:endParaRPr lang="en-US" sz="1800"/>
          </a:p>
        </p:txBody>
      </p:sp>
      <p:sp>
        <p:nvSpPr>
          <p:cNvPr id="132100" name="Google Shape;825;g56345b4d2e_0_1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2101" name="Google Shape;826;g56345b4d2e_0_1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102" name="Google Shape;827;g56345b4d2e_0_1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Google Shape;835;g56345b4d2e_0_13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6FC5743-BCF8-4D60-B584-00553AE16621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43</a:t>
            </a:fld>
            <a:endParaRPr lang="en-US" sz="1800"/>
          </a:p>
        </p:txBody>
      </p:sp>
      <p:sp>
        <p:nvSpPr>
          <p:cNvPr id="133123" name="Google Shape;836;g56345b4d2e_0_13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E7E49D78-0FD7-445D-B0CA-F4CC2A190E10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43</a:t>
            </a:fld>
            <a:endParaRPr lang="en-US" sz="1800"/>
          </a:p>
        </p:txBody>
      </p:sp>
      <p:sp>
        <p:nvSpPr>
          <p:cNvPr id="133124" name="Google Shape;837;g56345b4d2e_0_13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3125" name="Google Shape;838;g56345b4d2e_0_1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26" name="Google Shape;839;g56345b4d2e_0_13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Google Shape;847;g56345b4d2e_0_14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E2676C4C-BE4B-4FB7-BA99-B1B9C35C4C5F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44</a:t>
            </a:fld>
            <a:endParaRPr lang="en-US" sz="1800"/>
          </a:p>
        </p:txBody>
      </p:sp>
      <p:sp>
        <p:nvSpPr>
          <p:cNvPr id="134147" name="Google Shape;848;g56345b4d2e_0_14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BA8247C1-48B0-46E9-B2DA-68EC227ED4FB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44</a:t>
            </a:fld>
            <a:endParaRPr lang="en-US" sz="1800"/>
          </a:p>
        </p:txBody>
      </p:sp>
      <p:sp>
        <p:nvSpPr>
          <p:cNvPr id="134148" name="Google Shape;849;g56345b4d2e_0_14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4149" name="Google Shape;850;g56345b4d2e_0_14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150" name="Google Shape;851;g56345b4d2e_0_14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Google Shape;516;g50e229d72d_0_49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999DAB44-08E1-44DD-B1B0-0976E207B81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45</a:t>
            </a:fld>
            <a:endParaRPr lang="en-US" sz="1800"/>
          </a:p>
        </p:txBody>
      </p:sp>
      <p:sp>
        <p:nvSpPr>
          <p:cNvPr id="107523" name="Google Shape;517;g50e229d72d_0_49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F857C1D4-01EA-4511-98F4-02B03EF0575E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45</a:t>
            </a:fld>
            <a:endParaRPr lang="en-US" sz="1800"/>
          </a:p>
        </p:txBody>
      </p:sp>
      <p:sp>
        <p:nvSpPr>
          <p:cNvPr id="107524" name="Google Shape;518;g50e229d72d_0_49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07525" name="Google Shape;519;g50e229d72d_0_49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26" name="Google Shape;520;g50e229d72d_0_49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EA24532-E8ED-40CD-AAD7-E9BF6EE6F9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46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1F50A34-36EB-40DB-A755-86AF595E16D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46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EA24532-E8ED-40CD-AAD7-E9BF6EE6F9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47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1F50A34-36EB-40DB-A755-86AF595E16D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47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EA24532-E8ED-40CD-AAD7-E9BF6EE6F9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48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1F50A34-36EB-40DB-A755-86AF595E16D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48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EA24532-E8ED-40CD-AAD7-E9BF6EE6F9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49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1F50A34-36EB-40DB-A755-86AF595E16D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49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Google Shape;552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1EA24532-E8ED-40CD-AAD7-E9BF6EE6F9E7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50</a:t>
            </a:fld>
            <a:endParaRPr lang="en-US" sz="1800"/>
          </a:p>
        </p:txBody>
      </p:sp>
      <p:sp>
        <p:nvSpPr>
          <p:cNvPr id="110595" name="Google Shape;553;g50e229d72d_0_57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81F50A34-36EB-40DB-A755-86AF595E16D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50</a:t>
            </a:fld>
            <a:endParaRPr lang="en-US" sz="1800"/>
          </a:p>
        </p:txBody>
      </p:sp>
      <p:sp>
        <p:nvSpPr>
          <p:cNvPr id="110596" name="Google Shape;554;g50e229d72d_0_57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10597" name="Google Shape;555;g50e229d72d_0_57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8" name="Google Shape;556;g50e229d72d_0_5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Google Shape;86;g5529a3b684_0_25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425FBE91-ECE7-4CE8-B7E2-ACA3BC67C6C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51</a:t>
            </a:fld>
            <a:endParaRPr lang="en-US" sz="1800"/>
          </a:p>
        </p:txBody>
      </p:sp>
      <p:sp>
        <p:nvSpPr>
          <p:cNvPr id="47107" name="Google Shape;87;g5529a3b684_0_25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BD14EB1D-0CF9-43AD-A482-19FFE8ACCF43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51</a:t>
            </a:fld>
            <a:endParaRPr lang="en-US" sz="1800"/>
          </a:p>
        </p:txBody>
      </p:sp>
      <p:sp>
        <p:nvSpPr>
          <p:cNvPr id="47108" name="Google Shape;88;g5529a3b684_0_25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47109" name="Google Shape;89;g5529a3b684_0_25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r>
              <a:rPr lang="en-US">
                <a:hlinkClick r:id="rId3"/>
              </a:rPr>
              <a:t>https://github.com/SFML/SFML/issues/2139</a:t>
            </a:r>
            <a:endParaRPr lang="en-US"/>
          </a:p>
          <a:p>
            <a:endParaRPr lang="en-US"/>
          </a:p>
        </p:txBody>
      </p:sp>
      <p:sp>
        <p:nvSpPr>
          <p:cNvPr id="47110" name="Google Shape;90;g5529a3b684_0_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Google Shape;98;g5529a3b684_0_274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1F2CA906-87BE-4977-908F-313F80C963C5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52</a:t>
            </a:fld>
            <a:endParaRPr lang="en-US" sz="1800"/>
          </a:p>
        </p:txBody>
      </p:sp>
      <p:sp>
        <p:nvSpPr>
          <p:cNvPr id="48131" name="Google Shape;99;g5529a3b684_0_274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2ED720A6-DF44-4248-A80C-4CB6BEF8B74C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52</a:t>
            </a:fld>
            <a:endParaRPr lang="en-US" sz="1800"/>
          </a:p>
        </p:txBody>
      </p:sp>
      <p:sp>
        <p:nvSpPr>
          <p:cNvPr id="48132" name="Google Shape;100;g5529a3b684_0_274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48133" name="Google Shape;101;g5529a3b684_0_274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8134" name="Google Shape;102;g5529a3b684_0_27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86;g5529a3b684_0_25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1C4CD20-A597-4062-9390-393D74E0C27E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53</a:t>
            </a:fld>
            <a:endParaRPr lang="en-US" sz="1800"/>
          </a:p>
        </p:txBody>
      </p:sp>
      <p:sp>
        <p:nvSpPr>
          <p:cNvPr id="49155" name="Google Shape;87;g5529a3b684_0_25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D015F6D0-3722-479B-A32F-CB18D53F04E4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53</a:t>
            </a:fld>
            <a:endParaRPr lang="en-US" sz="1800"/>
          </a:p>
        </p:txBody>
      </p:sp>
      <p:sp>
        <p:nvSpPr>
          <p:cNvPr id="49156" name="Google Shape;88;g5529a3b684_0_25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49157" name="Google Shape;89;g5529a3b684_0_25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49158" name="Google Shape;90;g5529a3b684_0_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111;g5529a3b684_0_289:notes"/>
          <p:cNvSpPr>
            <a:spLocks noChangeArrowheads="1"/>
          </p:cNvSpPr>
          <p:nvPr/>
        </p:nvSpPr>
        <p:spPr bwMode="auto">
          <a:xfrm>
            <a:off x="4018007" y="9721108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75AEC678-BE6C-4BA7-B530-A6BF2E8D6B5E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54</a:t>
            </a:fld>
            <a:endParaRPr lang="en-US" sz="1800"/>
          </a:p>
        </p:txBody>
      </p:sp>
      <p:sp>
        <p:nvSpPr>
          <p:cNvPr id="50179" name="Google Shape;112;g5529a3b684_0_289:notes"/>
          <p:cNvSpPr>
            <a:spLocks noChangeArrowheads="1"/>
          </p:cNvSpPr>
          <p:nvPr/>
        </p:nvSpPr>
        <p:spPr bwMode="auto">
          <a:xfrm>
            <a:off x="4018009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910E8837-F492-4DC2-B073-FB1574A5273B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54</a:t>
            </a:fld>
            <a:endParaRPr lang="en-US" sz="1800"/>
          </a:p>
        </p:txBody>
      </p:sp>
      <p:sp>
        <p:nvSpPr>
          <p:cNvPr id="50180" name="Google Shape;113;g5529a3b684_0_289:notes"/>
          <p:cNvSpPr>
            <a:spLocks noChangeArrowheads="1"/>
          </p:cNvSpPr>
          <p:nvPr/>
        </p:nvSpPr>
        <p:spPr bwMode="auto">
          <a:xfrm>
            <a:off x="711574" y="4861443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07" tIns="91407" rIns="91407" bIns="91407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0181" name="Google Shape;114;g5529a3b684_0_289:notes"/>
          <p:cNvSpPr>
            <a:spLocks noGrp="1"/>
          </p:cNvSpPr>
          <p:nvPr>
            <p:ph type="body" idx="1"/>
          </p:nvPr>
        </p:nvSpPr>
        <p:spPr>
          <a:xfrm>
            <a:off x="711574" y="4861443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0182" name="Google Shape;115;g5529a3b684_0_2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55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55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56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56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57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57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58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58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59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59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7;g5529a3b684_0_389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CD5B83BD-04C7-41B6-AD81-8F830EE4DF3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60</a:t>
            </a:fld>
            <a:endParaRPr lang="en-US" sz="1800"/>
          </a:p>
        </p:txBody>
      </p:sp>
      <p:sp>
        <p:nvSpPr>
          <p:cNvPr id="56323" name="Google Shape;208;g5529a3b684_0_389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8A1D938C-051D-44AB-9C24-250A6C61F0D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60</a:t>
            </a:fld>
            <a:endParaRPr lang="en-US" sz="1800"/>
          </a:p>
        </p:txBody>
      </p:sp>
      <p:sp>
        <p:nvSpPr>
          <p:cNvPr id="56324" name="Google Shape;209;g5529a3b684_0_389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6325" name="Google Shape;210;g5529a3b684_0_389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6326" name="Google Shape;211;g5529a3b684_0_38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219;g5529a3b684_0_402:notes"/>
          <p:cNvSpPr>
            <a:spLocks noChangeArrowheads="1"/>
          </p:cNvSpPr>
          <p:nvPr/>
        </p:nvSpPr>
        <p:spPr bwMode="auto">
          <a:xfrm>
            <a:off x="4018007" y="9721107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6D3D3C86-6FB3-4332-A834-9E4A645EB6E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61</a:t>
            </a:fld>
            <a:endParaRPr lang="en-US" sz="1800"/>
          </a:p>
        </p:txBody>
      </p:sp>
      <p:sp>
        <p:nvSpPr>
          <p:cNvPr id="57347" name="Google Shape;220;g5529a3b684_0_402:notes"/>
          <p:cNvSpPr>
            <a:spLocks noChangeArrowheads="1"/>
          </p:cNvSpPr>
          <p:nvPr/>
        </p:nvSpPr>
        <p:spPr bwMode="auto">
          <a:xfrm>
            <a:off x="4018008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3A5365D5-ECAE-4253-98DF-F0838FE9B86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61</a:t>
            </a:fld>
            <a:endParaRPr lang="en-US" sz="1800"/>
          </a:p>
        </p:txBody>
      </p:sp>
      <p:sp>
        <p:nvSpPr>
          <p:cNvPr id="57348" name="Google Shape;221;g5529a3b684_0_402:notes"/>
          <p:cNvSpPr>
            <a:spLocks noChangeArrowheads="1"/>
          </p:cNvSpPr>
          <p:nvPr/>
        </p:nvSpPr>
        <p:spPr bwMode="auto">
          <a:xfrm>
            <a:off x="711574" y="4861442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7349" name="Google Shape;222;g5529a3b684_0_402:notes"/>
          <p:cNvSpPr>
            <a:spLocks noGrp="1"/>
          </p:cNvSpPr>
          <p:nvPr>
            <p:ph type="body" idx="1"/>
          </p:nvPr>
        </p:nvSpPr>
        <p:spPr>
          <a:xfrm>
            <a:off x="711574" y="4861442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7350" name="Google Shape;223;g5529a3b684_0_4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219;g5529a3b684_0_402:notes"/>
          <p:cNvSpPr>
            <a:spLocks noChangeArrowheads="1"/>
          </p:cNvSpPr>
          <p:nvPr/>
        </p:nvSpPr>
        <p:spPr bwMode="auto">
          <a:xfrm>
            <a:off x="4018007" y="9721108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6D3D3C86-6FB3-4332-A834-9E4A645EB6E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62</a:t>
            </a:fld>
            <a:endParaRPr lang="en-US" sz="1800"/>
          </a:p>
        </p:txBody>
      </p:sp>
      <p:sp>
        <p:nvSpPr>
          <p:cNvPr id="57347" name="Google Shape;220;g5529a3b684_0_402:notes"/>
          <p:cNvSpPr>
            <a:spLocks noChangeArrowheads="1"/>
          </p:cNvSpPr>
          <p:nvPr/>
        </p:nvSpPr>
        <p:spPr bwMode="auto">
          <a:xfrm>
            <a:off x="4018009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3A5365D5-ECAE-4253-98DF-F0838FE9B86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62</a:t>
            </a:fld>
            <a:endParaRPr lang="en-US" sz="1800"/>
          </a:p>
        </p:txBody>
      </p:sp>
      <p:sp>
        <p:nvSpPr>
          <p:cNvPr id="57348" name="Google Shape;221;g5529a3b684_0_402:notes"/>
          <p:cNvSpPr>
            <a:spLocks noChangeArrowheads="1"/>
          </p:cNvSpPr>
          <p:nvPr/>
        </p:nvSpPr>
        <p:spPr bwMode="auto">
          <a:xfrm>
            <a:off x="711574" y="4861443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07" tIns="91407" rIns="91407" bIns="91407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7349" name="Google Shape;222;g5529a3b684_0_402:notes"/>
          <p:cNvSpPr>
            <a:spLocks noGrp="1"/>
          </p:cNvSpPr>
          <p:nvPr>
            <p:ph type="body" idx="1"/>
          </p:nvPr>
        </p:nvSpPr>
        <p:spPr>
          <a:xfrm>
            <a:off x="711574" y="4861443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7350" name="Google Shape;223;g5529a3b684_0_4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219;g5529a3b684_0_402:notes"/>
          <p:cNvSpPr>
            <a:spLocks noChangeArrowheads="1"/>
          </p:cNvSpPr>
          <p:nvPr/>
        </p:nvSpPr>
        <p:spPr bwMode="auto">
          <a:xfrm>
            <a:off x="4018007" y="9721108"/>
            <a:ext cx="3054999" cy="4850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6D3D3C86-6FB3-4332-A834-9E4A645EB6E0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63</a:t>
            </a:fld>
            <a:endParaRPr lang="en-US" sz="1800"/>
          </a:p>
        </p:txBody>
      </p:sp>
      <p:sp>
        <p:nvSpPr>
          <p:cNvPr id="57347" name="Google Shape;220;g5529a3b684_0_402:notes"/>
          <p:cNvSpPr>
            <a:spLocks noChangeArrowheads="1"/>
          </p:cNvSpPr>
          <p:nvPr/>
        </p:nvSpPr>
        <p:spPr bwMode="auto">
          <a:xfrm>
            <a:off x="4018009" y="9721106"/>
            <a:ext cx="3058286" cy="4886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spcBef>
                <a:spcPct val="0"/>
              </a:spcBef>
              <a:buFontTx/>
              <a:buNone/>
            </a:pPr>
            <a:fld id="{3A5365D5-ECAE-4253-98DF-F0838FE9B86A}" type="slidenum">
              <a:rPr lang="en-US">
                <a:cs typeface="Times New Roman" panose="02020603050405020304" pitchFamily="18" charset="0"/>
                <a:sym typeface="Times New Roman" panose="02020603050405020304" pitchFamily="18" charset="0"/>
              </a:rPr>
              <a:t>63</a:t>
            </a:fld>
            <a:endParaRPr lang="en-US" sz="1800"/>
          </a:p>
        </p:txBody>
      </p:sp>
      <p:sp>
        <p:nvSpPr>
          <p:cNvPr id="57348" name="Google Shape;221;g5529a3b684_0_402:notes"/>
          <p:cNvSpPr>
            <a:spLocks noChangeArrowheads="1"/>
          </p:cNvSpPr>
          <p:nvPr/>
        </p:nvSpPr>
        <p:spPr bwMode="auto">
          <a:xfrm>
            <a:off x="711574" y="4861443"/>
            <a:ext cx="5664649" cy="45895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07" tIns="91407" rIns="91407" bIns="91407" anchor="ctr"/>
          <a:lstStyle/>
          <a:p>
            <a:pPr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57349" name="Google Shape;222;g5529a3b684_0_402:notes"/>
          <p:cNvSpPr>
            <a:spLocks noGrp="1"/>
          </p:cNvSpPr>
          <p:nvPr>
            <p:ph type="body" idx="1"/>
          </p:nvPr>
        </p:nvSpPr>
        <p:spPr>
          <a:xfrm>
            <a:off x="711574" y="4861443"/>
            <a:ext cx="5649860" cy="4575370"/>
          </a:xfrm>
          <a:noFill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7350" name="Google Shape;223;g5529a3b684_0_40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Google Shape;860;p4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09DDBCF0-9982-4307-8E48-8E3B664222A3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64</a:t>
            </a:fld>
            <a:endParaRPr lang="en-US" sz="1800"/>
          </a:p>
        </p:txBody>
      </p:sp>
      <p:sp>
        <p:nvSpPr>
          <p:cNvPr id="135171" name="Google Shape;861;p4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fld id="{0784CD89-6E8B-44B3-AD17-D8C80F0B361B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64</a:t>
            </a:fld>
            <a:endParaRPr lang="en-US" sz="1800"/>
          </a:p>
        </p:txBody>
      </p:sp>
      <p:sp>
        <p:nvSpPr>
          <p:cNvPr id="135172" name="Google Shape;862;p47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 anchor="ctr"/>
          <a:lstStyle/>
          <a:p>
            <a:pPr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5173" name="Google Shape;863;p4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174" name="Google Shape;864;p4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C4AA4-07FC-432D-A65B-2A4D92D2258F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BED2A-6B6D-41AB-A94E-04BD437D5FB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1F2C3-7C3E-4A20-8CF4-5A2F426936F5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0457E-AF51-4920-9155-C30BCB02C5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49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2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8ECAF-A980-4122-BF26-087FEB242873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66A00-BA5F-44F4-B5CC-772FBE4A05E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87C32-A2CA-421E-9D47-3BDC04294BCF}" type="datetimeFigureOut">
              <a:rPr lang="en-US"/>
              <a:t>4/19/2026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77FE8-8A8E-4618-A961-98C561502FD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4190" indent="0">
              <a:buNone/>
              <a:defRPr sz="2200" b="1"/>
            </a:lvl2pPr>
            <a:lvl3pPr marL="1007745" indent="0">
              <a:buNone/>
              <a:defRPr sz="2000" b="1"/>
            </a:lvl3pPr>
            <a:lvl4pPr marL="1511935" indent="0">
              <a:buNone/>
              <a:defRPr sz="1800" b="1"/>
            </a:lvl4pPr>
            <a:lvl5pPr marL="2015490" indent="0">
              <a:buNone/>
              <a:defRPr sz="1800" b="1"/>
            </a:lvl5pPr>
            <a:lvl6pPr marL="2519680" indent="0">
              <a:buNone/>
              <a:defRPr sz="1800" b="1"/>
            </a:lvl6pPr>
            <a:lvl7pPr marL="3023235" indent="0">
              <a:buNone/>
              <a:defRPr sz="1800" b="1"/>
            </a:lvl7pPr>
            <a:lvl8pPr marL="3527425" indent="0">
              <a:buNone/>
              <a:defRPr sz="1800" b="1"/>
            </a:lvl8pPr>
            <a:lvl9pPr marL="4031615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4190" indent="0">
              <a:buNone/>
              <a:defRPr sz="2200" b="1"/>
            </a:lvl2pPr>
            <a:lvl3pPr marL="1007745" indent="0">
              <a:buNone/>
              <a:defRPr sz="2000" b="1"/>
            </a:lvl3pPr>
            <a:lvl4pPr marL="1511935" indent="0">
              <a:buNone/>
              <a:defRPr sz="1800" b="1"/>
            </a:lvl4pPr>
            <a:lvl5pPr marL="2015490" indent="0">
              <a:buNone/>
              <a:defRPr sz="1800" b="1"/>
            </a:lvl5pPr>
            <a:lvl6pPr marL="2519680" indent="0">
              <a:buNone/>
              <a:defRPr sz="1800" b="1"/>
            </a:lvl6pPr>
            <a:lvl7pPr marL="3023235" indent="0">
              <a:buNone/>
              <a:defRPr sz="1800" b="1"/>
            </a:lvl7pPr>
            <a:lvl8pPr marL="3527425" indent="0">
              <a:buNone/>
              <a:defRPr sz="1800" b="1"/>
            </a:lvl8pPr>
            <a:lvl9pPr marL="4031615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CF995-2C77-4FFE-B8CE-7E53F712F63E}" type="datetimeFigureOut">
              <a:rPr lang="en-US"/>
              <a:t>4/19/2026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51058-CFC7-48BC-B3FF-6AA12503F66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83A8F-F6E0-422D-8C9D-F2BC32517929}" type="datetimeFigureOut">
              <a:rPr lang="en-US"/>
              <a:t>4/19/2026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24FA4-112D-4B56-83EF-FDEC6BAFE42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014CE-DA1D-4335-84A0-1A770578444E}" type="datetimeFigureOut">
              <a:rPr lang="en-US"/>
              <a:t>4/19/2026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28EF8-7E13-4C27-AB94-366B8B2B3C0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4190" indent="0">
              <a:buNone/>
              <a:defRPr sz="1300"/>
            </a:lvl2pPr>
            <a:lvl3pPr marL="1007745" indent="0">
              <a:buNone/>
              <a:defRPr sz="1100"/>
            </a:lvl3pPr>
            <a:lvl4pPr marL="1511935" indent="0">
              <a:buNone/>
              <a:defRPr sz="1000"/>
            </a:lvl4pPr>
            <a:lvl5pPr marL="2015490" indent="0">
              <a:buNone/>
              <a:defRPr sz="1000"/>
            </a:lvl5pPr>
            <a:lvl6pPr marL="2519680" indent="0">
              <a:buNone/>
              <a:defRPr sz="1000"/>
            </a:lvl6pPr>
            <a:lvl7pPr marL="3023235" indent="0">
              <a:buNone/>
              <a:defRPr sz="1000"/>
            </a:lvl7pPr>
            <a:lvl8pPr marL="3527425" indent="0">
              <a:buNone/>
              <a:defRPr sz="1000"/>
            </a:lvl8pPr>
            <a:lvl9pPr marL="403161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47CB-A139-44CA-9A7E-E6B8B5FA78C5}" type="datetimeFigureOut">
              <a:rPr lang="en-US"/>
              <a:t>4/19/2026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4D1E8-6345-4D6C-ABBA-8D44B516892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 rtlCol="0">
            <a:normAutofit/>
          </a:bodyPr>
          <a:lstStyle>
            <a:lvl1pPr marL="0" indent="0">
              <a:buNone/>
              <a:defRPr sz="3500"/>
            </a:lvl1pPr>
            <a:lvl2pPr marL="504190" indent="0">
              <a:buNone/>
              <a:defRPr sz="3100"/>
            </a:lvl2pPr>
            <a:lvl3pPr marL="1007745" indent="0">
              <a:buNone/>
              <a:defRPr sz="2600"/>
            </a:lvl3pPr>
            <a:lvl4pPr marL="1511935" indent="0">
              <a:buNone/>
              <a:defRPr sz="2200"/>
            </a:lvl4pPr>
            <a:lvl5pPr marL="2015490" indent="0">
              <a:buNone/>
              <a:defRPr sz="2200"/>
            </a:lvl5pPr>
            <a:lvl6pPr marL="2519680" indent="0">
              <a:buNone/>
              <a:defRPr sz="2200"/>
            </a:lvl6pPr>
            <a:lvl7pPr marL="3023235" indent="0">
              <a:buNone/>
              <a:defRPr sz="2200"/>
            </a:lvl7pPr>
            <a:lvl8pPr marL="3527425" indent="0">
              <a:buNone/>
              <a:defRPr sz="2200"/>
            </a:lvl8pPr>
            <a:lvl9pPr marL="4031615" indent="0">
              <a:buNone/>
              <a:defRPr sz="2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4190" indent="0">
              <a:buNone/>
              <a:defRPr sz="1300"/>
            </a:lvl2pPr>
            <a:lvl3pPr marL="1007745" indent="0">
              <a:buNone/>
              <a:defRPr sz="1100"/>
            </a:lvl3pPr>
            <a:lvl4pPr marL="1511935" indent="0">
              <a:buNone/>
              <a:defRPr sz="1000"/>
            </a:lvl4pPr>
            <a:lvl5pPr marL="2015490" indent="0">
              <a:buNone/>
              <a:defRPr sz="1000"/>
            </a:lvl5pPr>
            <a:lvl6pPr marL="2519680" indent="0">
              <a:buNone/>
              <a:defRPr sz="1000"/>
            </a:lvl6pPr>
            <a:lvl7pPr marL="3023235" indent="0">
              <a:buNone/>
              <a:defRPr sz="1000"/>
            </a:lvl7pPr>
            <a:lvl8pPr marL="3527425" indent="0">
              <a:buNone/>
              <a:defRPr sz="1000"/>
            </a:lvl8pPr>
            <a:lvl9pPr marL="403161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C959C-16D6-4CE4-8B93-6894CB81FABB}" type="datetimeFigureOut">
              <a:rPr lang="en-US"/>
              <a:t>4/19/2026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6A75C-69A6-4D24-9A51-D6DEE38CAD2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00364-8615-4350-BA95-8B009F1C2015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A7076-8E20-4406-A7D2-46D73E70E1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FCA5F-9FF4-44A6-900E-D7967196CA21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1C6D-C919-43DB-9F69-3914DCA924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3238" y="303213"/>
            <a:ext cx="9074150" cy="1258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0783" tIns="50392" rIns="100783" bIns="50392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3238" y="1763713"/>
            <a:ext cx="9074150" cy="49895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0783" tIns="50392" rIns="100783" bIns="50392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238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defRPr/>
            </a:pPr>
            <a:fld id="{FC5DCE09-D7B5-4360-B1E7-A0152F68C6DC}" type="datetimeFigureOut">
              <a:rPr lang="en-US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875" y="7007225"/>
            <a:ext cx="31908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713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defRPr/>
            </a:pPr>
            <a:fld id="{872B6BE7-3A59-488C-8FD1-F69981D7B1A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10064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2pPr>
      <a:lvl3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3pPr>
      <a:lvl4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4pPr>
      <a:lvl5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77825" indent="-377825" algn="l" defTabSz="10064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880" indent="-314325" algn="l" defTabSz="10064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9205" indent="-250825" algn="l" defTabSz="10064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0825" algn="l" defTabSz="10064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6950" indent="-250825" algn="l" defTabSz="10064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330" indent="-252095" algn="l" defTabSz="10077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520" indent="-252095" algn="l" defTabSz="10077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075" indent="-252095" algn="l" defTabSz="10077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49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23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2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100774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skov_substitution_principl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socpp.github.io/CppCoreGuidelines/CppCoreGuidelines#Rc-ctor-virtua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memory.org/page_download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rule_of_three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rtanLlama/expected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error/exception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isocpp.org/wiki/faq/exceptions#exceptions-separate-good-and-bad-path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ogle.github.io/styleguide/cppguide.html#Exceptions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isocpp.org/wiki/faq/exceptions#throwing-polymorphically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67;p1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t"/>
          <a:lstStyle/>
          <a:p>
            <a:pPr>
              <a:lnSpc>
                <a:spcPct val="104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r>
              <a:rPr lang="en-US" sz="1800" b="1" err="1">
                <a:latin typeface="Arial" panose="020B0604020202020204"/>
                <a:cs typeface="Arial" panose="020B0604020202020204"/>
              </a:rPr>
              <a:t>Facultatea</a:t>
            </a:r>
            <a:r>
              <a:rPr lang="en-US" sz="1800" b="1">
                <a:latin typeface="Arial" panose="020B0604020202020204"/>
                <a:cs typeface="Arial" panose="020B0604020202020204"/>
              </a:rPr>
              <a:t> de </a:t>
            </a:r>
            <a:r>
              <a:rPr lang="en-US" sz="1800" b="1" err="1">
                <a:latin typeface="Arial" panose="020B0604020202020204"/>
                <a:cs typeface="Arial" panose="020B0604020202020204"/>
              </a:rPr>
              <a:t>Matematic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ă</a:t>
            </a:r>
            <a:r>
              <a:rPr lang="en-US" sz="1800" b="1">
                <a:latin typeface="Arial" panose="020B0604020202020204"/>
                <a:cs typeface="Arial" panose="020B0604020202020204"/>
              </a:rPr>
              <a:t> și Informatic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ă</a:t>
            </a:r>
            <a:r>
              <a:rPr lang="en-US" sz="18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1800" b="1" err="1">
                <a:latin typeface="Arial" panose="020B0604020202020204"/>
                <a:cs typeface="Arial" panose="020B0604020202020204"/>
              </a:rPr>
              <a:t>Universitatea</a:t>
            </a:r>
            <a:r>
              <a:rPr lang="en-US" sz="1800" b="1">
                <a:latin typeface="Arial" panose="020B0604020202020204"/>
                <a:cs typeface="Arial" panose="020B0604020202020204"/>
              </a:rPr>
              <a:t> din </a:t>
            </a:r>
            <a:r>
              <a:rPr lang="en-US" sz="1800" b="1" err="1">
                <a:latin typeface="Arial" panose="020B0604020202020204"/>
                <a:cs typeface="Arial" panose="020B0604020202020204"/>
              </a:rPr>
              <a:t>București</a:t>
            </a:r>
            <a:endParaRPr lang="en-US" sz="1800" err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051" name="Google Shape;68;p14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Google Shape;71;p14"/>
          <p:cNvSpPr>
            <a:spLocks noChangeArrowheads="1"/>
          </p:cNvSpPr>
          <p:nvPr/>
        </p:nvSpPr>
        <p:spPr bwMode="auto">
          <a:xfrm>
            <a:off x="968375" y="1847850"/>
            <a:ext cx="8393113" cy="1481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239025" rIns="0" bIns="0" anchor="ctr"/>
          <a:lstStyle/>
          <a:p>
            <a:pPr algn="ctr">
              <a:lnSpc>
                <a:spcPct val="72000"/>
              </a:lnSpc>
              <a:buClr>
                <a:srgbClr val="000000"/>
              </a:buClr>
              <a:buSzPts val="4000"/>
              <a:buFont typeface="Arial" panose="020B0604020202020204" pitchFamily="34" charset="0"/>
              <a:buNone/>
            </a:pPr>
            <a:r>
              <a:rPr lang="en-US" sz="4000" b="1"/>
              <a:t>Programare orientat</a:t>
            </a:r>
            <a:r>
              <a:rPr lang="vi-VN" sz="4000" b="1"/>
              <a:t>ă</a:t>
            </a:r>
            <a:r>
              <a:rPr lang="en-US" sz="4000" b="1"/>
              <a:t> pe obiecte</a:t>
            </a:r>
            <a:endParaRPr lang="en-US" sz="1800"/>
          </a:p>
          <a:p>
            <a:pPr algn="ctr">
              <a:lnSpc>
                <a:spcPct val="72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None/>
            </a:pPr>
            <a:endParaRPr lang="en-US" sz="1800"/>
          </a:p>
          <a:p>
            <a:pPr algn="ctr">
              <a:lnSpc>
                <a:spcPct val="72000"/>
              </a:lnSpc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sz="2600" b="1"/>
              <a:t>- suport de curs -</a:t>
            </a:r>
            <a:endParaRPr lang="en-US" sz="1800"/>
          </a:p>
        </p:txBody>
      </p:sp>
      <p:grpSp>
        <p:nvGrpSpPr>
          <p:cNvPr id="8" name="Group 7"/>
          <p:cNvGrpSpPr/>
          <p:nvPr/>
        </p:nvGrpSpPr>
        <p:grpSpPr>
          <a:xfrm>
            <a:off x="3108324" y="3551237"/>
            <a:ext cx="6503988" cy="3429000"/>
            <a:chOff x="2355850" y="3124200"/>
            <a:chExt cx="6503988" cy="3429000"/>
          </a:xfrm>
        </p:grpSpPr>
        <p:sp>
          <p:nvSpPr>
            <p:cNvPr id="9" name="Google Shape;126;p27"/>
            <p:cNvSpPr/>
            <p:nvPr/>
          </p:nvSpPr>
          <p:spPr>
            <a:xfrm>
              <a:off x="5410200" y="3124200"/>
              <a:ext cx="3449638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0" tIns="0" rIns="0" bIns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defRPr/>
              </a:pPr>
              <a:r>
                <a:rPr lang="en-US" sz="2600" b="1" err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Anca</a:t>
              </a:r>
              <a:r>
                <a:rPr lang="en-US" sz="2600" b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600" b="1" err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Dobrov</a:t>
              </a:r>
              <a:r>
                <a:rPr lang="ro-RO" altLang="ro-RO" sz="2600" b="1">
                  <a:latin typeface="+mn-lt"/>
                  <a:cs typeface="Arial" panose="020B0604020202020204"/>
                </a:rPr>
                <a:t>ăț</a:t>
              </a:r>
              <a:endParaRPr lang="ro-RO" sz="1800">
                <a:latin typeface="+mn-lt"/>
                <a:cs typeface="Arial" panose="020B0604020202020204" pitchFamily="34" charset="0"/>
              </a:endParaRPr>
            </a:p>
            <a:p>
              <a:pPr algn="ctr">
                <a:lnSpc>
                  <a:spcPct val="104000"/>
                </a:lnSpc>
                <a:defRPr/>
              </a:pPr>
              <a:r>
                <a:rPr lang="ro-RO" altLang="ro-RO" sz="2600" b="1">
                  <a:latin typeface="+mn-lt"/>
                  <a:cs typeface="Arial" panose="020B0604020202020204"/>
                </a:rPr>
                <a:t>Andrei P</a:t>
              </a:r>
              <a:r>
                <a:rPr lang="ro-RO" sz="2600" b="1">
                  <a:latin typeface="+mn-lt"/>
                  <a:cs typeface="Calibri" panose="020F0502020204030204"/>
                </a:rPr>
                <a:t>ă</a:t>
              </a:r>
              <a:r>
                <a:rPr lang="ro-RO" altLang="ro-RO" sz="2600" b="1">
                  <a:latin typeface="+mn-lt"/>
                  <a:cs typeface="Arial" panose="020B0604020202020204"/>
                </a:rPr>
                <a:t>un</a:t>
              </a:r>
            </a:p>
          </p:txBody>
        </p:sp>
        <p:sp>
          <p:nvSpPr>
            <p:cNvPr id="10" name="Google Shape;129;p27"/>
            <p:cNvSpPr txBox="1"/>
            <p:nvPr/>
          </p:nvSpPr>
          <p:spPr>
            <a:xfrm>
              <a:off x="2355850" y="4919663"/>
              <a:ext cx="4044950" cy="1633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lIns="90000" tIns="45000" rIns="90000" bIns="45000" anchor="t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An </a:t>
              </a: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universitar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 </a:t>
              </a:r>
              <a:r>
                <a:rPr lang="en-US" sz="2000" b="1" dirty="0" smtClean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2025 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– </a:t>
              </a:r>
              <a:r>
                <a:rPr lang="en-US" sz="2000" b="1" dirty="0" smtClean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20</a:t>
              </a:r>
              <a:r>
                <a:rPr lang="en-US" sz="2000" b="1" dirty="0" smtClean="0">
                  <a:latin typeface="+mn-lt"/>
                  <a:cs typeface="Arial" panose="020B0604020202020204" pitchFamily="34" charset="0"/>
                </a:rPr>
                <a:t>26</a:t>
              </a:r>
              <a:endParaRPr sz="2000" dirty="0">
                <a:latin typeface="+mn-lt"/>
                <a:cs typeface="Arial" panose="020B0604020202020204" pitchFamily="34" charset="0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 panose="020B0604020202020204"/>
                <a:buNone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Semestrul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 </a:t>
              </a:r>
              <a:r>
                <a:rPr lang="en-US" sz="2000" b="1" dirty="0" smtClean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 pitchFamily="34" charset="0"/>
                  <a:sym typeface="Arial" panose="020B0604020202020204"/>
                </a:rPr>
                <a:t>II</a:t>
              </a:r>
              <a:endParaRPr sz="2000" dirty="0">
                <a:latin typeface="+mn-lt"/>
                <a:cs typeface="Arial" panose="020B0604020202020204" pitchFamily="34" charset="0"/>
              </a:endParaRPr>
            </a:p>
            <a:p>
              <a:pPr algn="ctr">
                <a:lnSpc>
                  <a:spcPct val="104000"/>
                </a:lnSpc>
                <a:buSzPts val="2400"/>
                <a:defRPr/>
              </a:pPr>
              <a:r>
                <a:rPr lang="en-US" sz="2000" b="1" dirty="0" err="1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Seriile</a:t>
              </a: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b="1" dirty="0" smtClean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13, 14 s</a:t>
              </a:r>
              <a:r>
                <a:rPr lang="ro-RO" altLang="ro-RO" sz="2000" b="1" dirty="0" smtClean="0">
                  <a:latin typeface="+mn-lt"/>
                  <a:cs typeface="Arial" panose="020B0604020202020204"/>
                </a:rPr>
                <a:t>i </a:t>
              </a:r>
              <a:r>
                <a:rPr lang="en-US" altLang="ro-RO" sz="2000" b="1" dirty="0" smtClean="0">
                  <a:latin typeface="+mn-lt"/>
                  <a:cs typeface="Arial" panose="020B0604020202020204"/>
                </a:rPr>
                <a:t>15</a:t>
              </a:r>
              <a:endParaRPr sz="2000" b="1" dirty="0">
                <a:latin typeface="+mn-lt"/>
                <a:cs typeface="Arial" panose="020B0604020202020204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 panose="020B0604020202020204"/>
                <a:buNone/>
                <a:defRPr/>
              </a:pPr>
              <a:endParaRPr sz="2000" b="1" dirty="0">
                <a:solidFill>
                  <a:srgbClr val="000000"/>
                </a:solidFill>
                <a:latin typeface="+mn-lt"/>
                <a:ea typeface="Arial" panose="020B0604020202020204"/>
                <a:cs typeface="Arial" panose="020B0604020202020204" pitchFamily="34" charset="0"/>
                <a:sym typeface="Arial" panose="020B0604020202020204"/>
              </a:endParaRPr>
            </a:p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defRPr/>
              </a:pPr>
              <a:r>
                <a:rPr lang="en-US" sz="2000" b="1" dirty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Curs  </a:t>
              </a:r>
              <a:r>
                <a:rPr lang="en-US" sz="2000" b="1" dirty="0" smtClean="0">
                  <a:solidFill>
                    <a:srgbClr val="000000"/>
                  </a:solidFill>
                  <a:latin typeface="+mn-lt"/>
                  <a:ea typeface="Arial" panose="020B0604020202020204"/>
                  <a:cs typeface="Arial" panose="020B0604020202020204"/>
                  <a:sym typeface="Arial" panose="020B0604020202020204"/>
                </a:rPr>
                <a:t>7 &amp; 8</a:t>
              </a:r>
              <a:endParaRPr sz="2000" dirty="0">
                <a:latin typeface="+mn-lt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Google Shape;83;p15"/>
          <p:cNvSpPr>
            <a:spLocks noChangeArrowheads="1"/>
          </p:cNvSpPr>
          <p:nvPr/>
        </p:nvSpPr>
        <p:spPr bwMode="auto">
          <a:xfrm>
            <a:off x="2322513" y="3952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0C1C1D"/>
                </a:solidFill>
              </a:rPr>
              <a:t>Agenda </a:t>
            </a:r>
            <a:r>
              <a:rPr lang="en-US" sz="2800" b="1" dirty="0" err="1">
                <a:solidFill>
                  <a:srgbClr val="0C1C1D"/>
                </a:solidFill>
              </a:rPr>
              <a:t>cursului</a:t>
            </a:r>
            <a:endParaRPr lang="en-US" sz="1800" dirty="0"/>
          </a:p>
        </p:txBody>
      </p:sp>
      <p:sp>
        <p:nvSpPr>
          <p:cNvPr id="84" name="Google Shape;84;p15"/>
          <p:cNvSpPr/>
          <p:nvPr/>
        </p:nvSpPr>
        <p:spPr>
          <a:xfrm>
            <a:off x="475880" y="1171559"/>
            <a:ext cx="9233640" cy="4970477"/>
          </a:xfrm>
          <a:prstGeom prst="rect">
            <a:avLst/>
          </a:prstGeom>
          <a:noFill/>
          <a:ln>
            <a:noFill/>
          </a:ln>
        </p:spPr>
        <p:txBody>
          <a:bodyPr spcFirstLastPara="1" lIns="90000" tIns="45000" rIns="90000" bIns="45000" anchor="t"/>
          <a:lstStyle/>
          <a:p>
            <a:pPr marL="0" lvl="4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defRPr/>
            </a:pP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1.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Moșteniri</a:t>
            </a: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și</a:t>
            </a: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funcții</a:t>
            </a: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virtuale</a:t>
            </a: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în</a:t>
            </a: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C++</a:t>
            </a:r>
            <a:endParaRPr lang="en-US" sz="2400" kern="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0" lvl="4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	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Funcții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virtuale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în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C++</a:t>
            </a:r>
            <a:endParaRPr lang="en-US" sz="2400" kern="0" dirty="0">
              <a:solidFill>
                <a:schemeClr val="dk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0" lvl="6">
              <a:buSzPts val="2000"/>
              <a:buFont typeface="Arial" panose="020B0604020202020204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           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Destructori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și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virtualizare</a:t>
            </a:r>
            <a:endParaRPr lang="en-US" dirty="0">
              <a:solidFill>
                <a:schemeClr val="dk1"/>
              </a:solidFill>
            </a:endParaRPr>
          </a:p>
          <a:p>
            <a:pPr marL="0" lvl="6">
              <a:buSzPts val="2000"/>
              <a:buFont typeface="Arial" panose="020B0604020202020204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           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Constructori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 smtClea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si</a:t>
            </a:r>
            <a:r>
              <a:rPr lang="en-US" sz="2400" kern="0" dirty="0" smtClea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kern="0" dirty="0" err="1" smtClea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virtualizare</a:t>
            </a:r>
            <a:endParaRPr lang="en-US" sz="2400" kern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lvl="6">
              <a:buSzPts val="2000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</a:rPr>
              <a:t>            Copy &amp; swap, RAII</a:t>
            </a:r>
          </a:p>
          <a:p>
            <a:pPr marL="0" lvl="6">
              <a:buSzPts val="2000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            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Interfețe</a:t>
            </a: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 non-</a:t>
            </a:r>
            <a:r>
              <a:rPr lang="en-US" sz="2400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virtuale</a:t>
            </a:r>
            <a:endParaRPr lang="en-US" sz="2400" kern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lvl="6">
              <a:buClr>
                <a:schemeClr val="dk1"/>
              </a:buClr>
              <a:buSzPts val="2000"/>
              <a:defRPr/>
            </a:pPr>
            <a:endParaRPr lang="en-US" sz="2400" kern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  <a:sym typeface="Arial" panose="020B0604020202020204"/>
            </a:endParaRPr>
          </a:p>
          <a:p>
            <a:pPr marL="0" lvl="6">
              <a:buSzPts val="2000"/>
              <a:defRPr/>
            </a:pPr>
            <a:r>
              <a:rPr lang="en-US" sz="2400" b="1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2. </a:t>
            </a:r>
            <a:r>
              <a:rPr lang="en-US" sz="2400" b="1" kern="0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Downcasting</a:t>
            </a:r>
            <a:endParaRPr lang="en-US" sz="2400" kern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0" lvl="6">
              <a:buSzPts val="2000"/>
              <a:defRPr/>
            </a:pPr>
            <a:r>
              <a:rPr lang="en-US" sz="2400" kern="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Arial" panose="020B0604020202020204"/>
              </a:rPr>
              <a:t>          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3. </a:t>
            </a:r>
            <a:r>
              <a:rPr lang="en-US" sz="2400" b="1" dirty="0" err="1">
                <a:latin typeface="Times New Roman" panose="02020603050405020304"/>
                <a:cs typeface="Times New Roman" panose="02020603050405020304"/>
              </a:rPr>
              <a:t>Moștenire</a:t>
            </a: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dirty="0" err="1">
                <a:latin typeface="Times New Roman" panose="02020603050405020304"/>
                <a:cs typeface="Times New Roman" panose="02020603050405020304"/>
              </a:rPr>
              <a:t>multiplă</a:t>
            </a: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dirty="0" err="1"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400" b="1" dirty="0">
                <a:latin typeface="Times New Roman" panose="02020603050405020304"/>
                <a:cs typeface="Times New Roman" panose="02020603050405020304"/>
              </a:rPr>
              <a:t> C++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b="1" dirty="0"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>
              <a:defRPr/>
            </a:pPr>
            <a:r>
              <a:rPr lang="en-US" sz="2400" b="1" dirty="0"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4. </a:t>
            </a:r>
            <a:r>
              <a:rPr lang="en-US" sz="2400" b="1" dirty="0" err="1"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Tratarea</a:t>
            </a:r>
            <a:r>
              <a:rPr lang="en-US" sz="2400" b="1" dirty="0"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400" b="1" dirty="0" err="1"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excepțiilor</a:t>
            </a:r>
            <a:endParaRPr lang="en-US" sz="2400" dirty="0"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>
              <a:buFont typeface="Arial" panose="020B0604020202020204" pitchFamily="34" charset="0"/>
              <a:buNone/>
              <a:defRPr/>
            </a:pPr>
            <a:endParaRPr lang="en-US" sz="24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lang="en-US" sz="2400" kern="0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6" name="Google Shape;83;p15"/>
          <p:cNvSpPr>
            <a:spLocks noChangeArrowheads="1"/>
          </p:cNvSpPr>
          <p:nvPr/>
        </p:nvSpPr>
        <p:spPr bwMode="auto">
          <a:xfrm>
            <a:off x="355601" y="6156324"/>
            <a:ext cx="9220200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000" b="1" dirty="0" err="1" smtClean="0">
                <a:solidFill>
                  <a:srgbClr val="0C1C1D"/>
                </a:solidFill>
              </a:rPr>
              <a:t>Multumiri</a:t>
            </a:r>
            <a:r>
              <a:rPr lang="en-US" sz="2000" b="1" dirty="0" smtClean="0">
                <a:solidFill>
                  <a:srgbClr val="0C1C1D"/>
                </a:solidFill>
              </a:rPr>
              <a:t> Asist </a:t>
            </a:r>
            <a:r>
              <a:rPr lang="en-US" sz="2000" b="1" dirty="0" err="1" smtClean="0">
                <a:solidFill>
                  <a:srgbClr val="0C1C1D"/>
                </a:solidFill>
              </a:rPr>
              <a:t>drd</a:t>
            </a:r>
            <a:r>
              <a:rPr lang="en-US" sz="2000" b="1" dirty="0" smtClean="0">
                <a:solidFill>
                  <a:srgbClr val="0C1C1D"/>
                </a:solidFill>
              </a:rPr>
              <a:t> Marius </a:t>
            </a:r>
            <a:r>
              <a:rPr lang="en-US" sz="2000" b="1" dirty="0" err="1" smtClean="0">
                <a:solidFill>
                  <a:srgbClr val="0C1C1D"/>
                </a:solidFill>
              </a:rPr>
              <a:t>Micluta</a:t>
            </a:r>
            <a:r>
              <a:rPr lang="en-US" sz="2000" b="1" dirty="0" smtClean="0">
                <a:solidFill>
                  <a:srgbClr val="0C1C1D"/>
                </a:solidFill>
              </a:rPr>
              <a:t> – </a:t>
            </a:r>
            <a:r>
              <a:rPr lang="en-US" sz="2000" b="1" dirty="0" err="1" smtClean="0">
                <a:solidFill>
                  <a:srgbClr val="0C1C1D"/>
                </a:solidFill>
              </a:rPr>
              <a:t>Campeanu</a:t>
            </a:r>
            <a:r>
              <a:rPr lang="en-US" sz="2000" b="1" dirty="0" smtClean="0">
                <a:solidFill>
                  <a:srgbClr val="0C1C1D"/>
                </a:solidFill>
              </a:rPr>
              <a:t> </a:t>
            </a:r>
            <a:r>
              <a:rPr lang="en-US" sz="2000" b="1" dirty="0" err="1" smtClean="0">
                <a:solidFill>
                  <a:srgbClr val="0C1C1D"/>
                </a:solidFill>
              </a:rPr>
              <a:t>pentru</a:t>
            </a:r>
            <a:r>
              <a:rPr lang="en-US" sz="2000" b="1" dirty="0" smtClean="0">
                <a:solidFill>
                  <a:srgbClr val="0C1C1D"/>
                </a:solidFill>
              </a:rPr>
              <a:t> co-</a:t>
            </a:r>
            <a:r>
              <a:rPr lang="en-US" sz="2000" b="1" dirty="0" err="1" smtClean="0">
                <a:solidFill>
                  <a:srgbClr val="0C1C1D"/>
                </a:solidFill>
              </a:rPr>
              <a:t>realizarea</a:t>
            </a:r>
            <a:r>
              <a:rPr lang="en-US" sz="2000" b="1" dirty="0" smtClean="0">
                <a:solidFill>
                  <a:srgbClr val="0C1C1D"/>
                </a:solidFill>
              </a:rPr>
              <a:t> (</a:t>
            </a:r>
            <a:r>
              <a:rPr lang="en-US" sz="2000" b="1" dirty="0" err="1" smtClean="0">
                <a:solidFill>
                  <a:srgbClr val="0C1C1D"/>
                </a:solidFill>
              </a:rPr>
              <a:t>intr</a:t>
            </a:r>
            <a:r>
              <a:rPr lang="en-US" sz="2000" b="1" dirty="0" smtClean="0">
                <a:solidFill>
                  <a:srgbClr val="0C1C1D"/>
                </a:solidFill>
              </a:rPr>
              <a:t>-o mare </a:t>
            </a:r>
            <a:r>
              <a:rPr lang="en-US" sz="2000" b="1" dirty="0" err="1" smtClean="0">
                <a:solidFill>
                  <a:srgbClr val="0C1C1D"/>
                </a:solidFill>
              </a:rPr>
              <a:t>masura</a:t>
            </a:r>
            <a:r>
              <a:rPr lang="en-US" sz="2000" b="1" dirty="0" smtClean="0">
                <a:solidFill>
                  <a:srgbClr val="0C1C1D"/>
                </a:solidFill>
              </a:rPr>
              <a:t>) a </a:t>
            </a:r>
            <a:r>
              <a:rPr lang="en-US" sz="2000" b="1" dirty="0" err="1" smtClean="0">
                <a:solidFill>
                  <a:srgbClr val="0C1C1D"/>
                </a:solidFill>
              </a:rPr>
              <a:t>acestui</a:t>
            </a:r>
            <a:r>
              <a:rPr lang="en-US" sz="2000" b="1" dirty="0" smtClean="0">
                <a:solidFill>
                  <a:srgbClr val="0C1C1D"/>
                </a:solidFill>
              </a:rPr>
              <a:t> material!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312;p3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14C347C1-B4E0-4C94-A8E7-C241B9AB5152}" type="slidenum">
              <a:rPr lang="en-US" sz="1500"/>
              <a:t>3</a:t>
            </a:fld>
            <a:endParaRPr lang="en-US" sz="1800"/>
          </a:p>
        </p:txBody>
      </p:sp>
      <p:sp>
        <p:nvSpPr>
          <p:cNvPr id="21509" name="Google Shape;315;p3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</a:p>
        </p:txBody>
      </p:sp>
      <p:sp>
        <p:nvSpPr>
          <p:cNvPr id="21510" name="Google Shape;316;p34"/>
          <p:cNvSpPr txBox="1">
            <a:spLocks noChangeArrowheads="1"/>
          </p:cNvSpPr>
          <p:nvPr/>
        </p:nvSpPr>
        <p:spPr bwMode="auto">
          <a:xfrm>
            <a:off x="274638" y="1406525"/>
            <a:ext cx="8931275" cy="58102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Redefinirea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funcțiilor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membre</a:t>
            </a:r>
            <a:endParaRPr lang="vi-VN" sz="2400" b="1" i="1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Clasa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derivată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are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acces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la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toți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membrii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cu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acces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protected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sau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ai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clasei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bază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/>
                <a:cs typeface="Times New Roman" panose="02020603050405020304"/>
              </a:rPr>
              <a:t>Este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permisă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supradefinirea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funcţiilor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membre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clasei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de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bază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cu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funcții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membre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ale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clasei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derivate.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Clr>
                <a:srgbClr val="000000"/>
              </a:buClr>
              <a:buSzPts val="2000"/>
              <a:buFont typeface="Arial" panose="020B0604020202020204" pitchFamily="34" charset="0"/>
              <a:buChar char="-"/>
            </a:pPr>
            <a:r>
              <a:rPr lang="en-US" sz="2400">
                <a:latin typeface="Times New Roman" panose="02020603050405020304"/>
                <a:cs typeface="Times New Roman" panose="02020603050405020304"/>
              </a:rPr>
              <a:t>2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modalități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de a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redefini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o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funcție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membră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914400" lvl="1" indent="-355600">
              <a:lnSpc>
                <a:spcPct val="115000"/>
              </a:lnSpc>
              <a:buClr>
                <a:srgbClr val="000000"/>
              </a:buClr>
              <a:buSzPts val="2000"/>
              <a:buFont typeface="Arial" panose="020B0604020202020204" pitchFamily="34" charset="0"/>
              <a:buChar char="-"/>
            </a:pPr>
            <a:r>
              <a:rPr lang="en-US" sz="2400" b="1">
                <a:latin typeface="Times New Roman" panose="02020603050405020304"/>
                <a:cs typeface="Times New Roman" panose="02020603050405020304"/>
              </a:rPr>
              <a:t>cu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același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antet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ca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clasa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de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baz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ă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(“redefining” -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cazul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funcţiilor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oarecare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/ “overriding” -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cazul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funcțiilor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err="1">
                <a:latin typeface="Times New Roman" panose="02020603050405020304"/>
                <a:cs typeface="Times New Roman" panose="02020603050405020304"/>
              </a:rPr>
              <a:t>virtuale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);</a:t>
            </a:r>
          </a:p>
          <a:p>
            <a:pPr marL="914400" lvl="1" indent="-355600">
              <a:lnSpc>
                <a:spcPct val="115000"/>
              </a:lnSpc>
              <a:buClr>
                <a:srgbClr val="000000"/>
              </a:buClr>
              <a:buSzPts val="2000"/>
              <a:buFont typeface="Arial" panose="020B0604020202020204" pitchFamily="34" charset="0"/>
              <a:buChar char="-"/>
            </a:pPr>
            <a:r>
              <a:rPr lang="en-US" sz="2400" b="1">
                <a:latin typeface="Times New Roman" panose="02020603050405020304"/>
                <a:cs typeface="Times New Roman" panose="02020603050405020304"/>
              </a:rPr>
              <a:t>cu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schimbarea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listei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de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argumente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sau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a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tipului</a:t>
            </a:r>
            <a:r>
              <a:rPr lang="en-US" sz="24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err="1">
                <a:latin typeface="Times New Roman" panose="02020603050405020304"/>
                <a:cs typeface="Times New Roman" panose="02020603050405020304"/>
              </a:rPr>
              <a:t>returnat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.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endParaRPr 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375;p3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9D698EE-0EDA-416D-998B-ECC265604277}" type="slidenum">
              <a:rPr lang="en-US" sz="1500"/>
              <a:t>4</a:t>
            </a:fld>
            <a:endParaRPr lang="en-US" sz="1800"/>
          </a:p>
        </p:txBody>
      </p:sp>
      <p:sp>
        <p:nvSpPr>
          <p:cNvPr id="26629" name="Google Shape;378;p39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/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err="1"/>
          </a:p>
        </p:txBody>
      </p:sp>
      <p:sp>
        <p:nvSpPr>
          <p:cNvPr id="379" name="Google Shape;379;p39"/>
          <p:cNvSpPr txBox="1"/>
          <p:nvPr/>
        </p:nvSpPr>
        <p:spPr>
          <a:xfrm>
            <a:off x="274638" y="1254125"/>
            <a:ext cx="9566275" cy="49641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en-US" sz="2400" b="1" i="1" kern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Redefinirea</a:t>
            </a:r>
            <a:r>
              <a:rPr lang="en-US" sz="2400" b="1" i="1" kern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i="1" kern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funcțiilor</a:t>
            </a:r>
            <a:r>
              <a:rPr lang="en-US" sz="2400" b="1" i="1" kern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i="1" kern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membre</a:t>
            </a:r>
            <a:endParaRPr lang="en-US" sz="2400" b="1" i="1" kern="0">
              <a:solidFill>
                <a:srgbClr val="0000FF"/>
              </a:solidFill>
              <a:latin typeface="Arial" panose="020B0604020202020204"/>
              <a:ea typeface="Arial" panose="020B0604020202020204"/>
              <a:cs typeface="Times New Roman" panose="02020603050405020304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endParaRPr sz="2000" b="1" i="1" ker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en-US" sz="2000" b="1" i="1" kern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Obs</a:t>
            </a:r>
            <a:r>
              <a:rPr lang="en-US" sz="2000" b="1" i="1" kern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endParaRPr sz="2000" b="1" i="1" ker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vi-VN" sz="2400" kern="0">
                <a:solidFill>
                  <a:schemeClr val="dk1"/>
                </a:solidFill>
                <a:latin typeface="+mj-lt"/>
                <a:ea typeface="Arial" panose="020B0604020202020204"/>
                <a:cs typeface="Arial" panose="020B0604020202020204"/>
                <a:sym typeface="Arial" panose="020B0604020202020204"/>
              </a:rPr>
              <a:t>Schimbarea interfeței clasei de bază prin modificarea tipului returnat sau a signaturii unei funcții, înseamnă, de fapt, utilizarea clasei în alt mod.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endParaRPr lang="vi-VN" sz="2400" kern="0">
              <a:solidFill>
                <a:schemeClr val="dk1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Scopul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principal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al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moștenirii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polimorfismul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vi-VN" sz="2400" kern="0">
              <a:solidFill>
                <a:schemeClr val="dk1"/>
              </a:solidFill>
              <a:latin typeface="Times New Roman" panose="02020603050405020304"/>
              <a:ea typeface="Arial" panose="020B0604020202020204"/>
              <a:cs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endParaRPr lang="vi-VN" sz="2400" kern="0">
              <a:solidFill>
                <a:schemeClr val="dk1"/>
              </a:solidFill>
              <a:latin typeface="+mj-lt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  <a:defRPr/>
            </a:pPr>
            <a:r>
              <a:rPr lang="vi-VN" sz="2400" kern="0">
                <a:solidFill>
                  <a:schemeClr val="dk1"/>
                </a:solidFill>
                <a:latin typeface="+mj-lt"/>
                <a:ea typeface="Arial" panose="020B0604020202020204"/>
                <a:cs typeface="Arial" panose="020B0604020202020204"/>
                <a:sym typeface="Arial" panose="020B0604020202020204"/>
              </a:rPr>
              <a:t>Schimbarea signaturii sau a tipului returnat = schimbarea interfeței = contravine exact polimorfismului (un aspect esențial este păstrarea interfeței clasei de bază).</a:t>
            </a:r>
          </a:p>
          <a:p>
            <a:pPr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/>
              <a:buNone/>
              <a:defRPr/>
            </a:pPr>
            <a:endParaRPr lang="vi-VN" sz="2400" kern="0">
              <a:solidFill>
                <a:schemeClr val="dk1"/>
              </a:solidFill>
              <a:latin typeface="Times New Roman" panose="02020603050405020304"/>
              <a:ea typeface="Arial" panose="020B0604020202020204"/>
              <a:cs typeface="Arial" panose="020B0604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/>
              <a:defRPr/>
            </a:pP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Mod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de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prevenire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la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funcțiile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virtuale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: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cuvântul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</a:t>
            </a:r>
            <a:r>
              <a:rPr lang="vi-VN" sz="2400" kern="0" err="1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cheie</a:t>
            </a:r>
            <a:r>
              <a:rPr lang="vi-VN" sz="2400" kern="0">
                <a:solidFill>
                  <a:schemeClr val="dk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</a:t>
            </a:r>
            <a:r>
              <a:rPr lang="vi-VN" sz="2400" b="1" kern="0" err="1">
                <a:solidFill>
                  <a:srgbClr val="FF0000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override</a:t>
            </a:r>
            <a:r>
              <a:rPr lang="vi-VN" sz="2400" b="1" kern="0">
                <a:solidFill>
                  <a:srgbClr val="FF0000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 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Arial" panose="020B0604020202020204"/>
              </a:rPr>
              <a:t>(C++11)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defRPr/>
            </a:pPr>
            <a:endParaRPr lang="en-US" sz="2000" b="1" kern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570;p55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68165F1E-3F2F-4140-AA36-0F4EB6880660}" type="slidenum">
              <a:rPr lang="en-US" sz="1500"/>
              <a:t>5</a:t>
            </a:fld>
            <a:endParaRPr lang="en-US" sz="1800"/>
          </a:p>
        </p:txBody>
      </p:sp>
      <p:sp>
        <p:nvSpPr>
          <p:cNvPr id="573" name="Google Shape;573;p55"/>
          <p:cNvSpPr txBox="1"/>
          <p:nvPr/>
        </p:nvSpPr>
        <p:spPr>
          <a:xfrm>
            <a:off x="274638" y="1254125"/>
            <a:ext cx="9566275" cy="5516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Funcții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virtuale</a:t>
            </a:r>
            <a:endParaRPr lang="en-US" sz="2400" b="1" i="1" kern="0" dirty="0">
              <a:solidFill>
                <a:srgbClr val="0000FF"/>
              </a:solidFill>
              <a:latin typeface="Arial" panose="020B0604020202020204"/>
              <a:ea typeface="Arial" panose="020B0604020202020204"/>
              <a:cs typeface="Times New Roman" panose="020206030504050203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lang="en-US" sz="2400" b="1" i="1" kern="0" dirty="0">
              <a:solidFill>
                <a:srgbClr val="0000FF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Codul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poate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“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creşte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” f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r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schimb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ri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semnificative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: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programe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ușor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extins</a:t>
            </a:r>
            <a:endParaRPr lang="en-US" sz="2000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2000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Exemplu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separare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dintre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interfață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și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implementare</a:t>
            </a:r>
            <a:endParaRPr lang="en-US" sz="2000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Font typeface="Calibri" panose="020F0502020204030204"/>
              <a:buChar char="-"/>
              <a:defRPr/>
            </a:pP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Clasele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care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folosesc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interfața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definită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clasa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bază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nu se </a:t>
            </a:r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modifică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atunci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când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schimbăm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implementarea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sau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când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adăugăm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o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nouă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derivată</a:t>
            </a:r>
            <a:endParaRPr lang="en-US" sz="2000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Pointer de tip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care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arat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c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tre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obiect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de tip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derivat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şi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cheam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o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funcţie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virtuală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din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execută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funcția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redefinită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în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cea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mai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specifică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derivată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- </a:t>
            </a:r>
            <a:r>
              <a:rPr lang="en-US" sz="2000" b="1" kern="0" dirty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late binding</a:t>
            </a:r>
            <a:endParaRPr lang="en-US" sz="2000" b="1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Tx/>
              <a:buNone/>
              <a:defRPr/>
            </a:pPr>
            <a:endParaRPr lang="en-US" sz="2000" kern="0" dirty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Upcasting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-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Tipul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derivat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poate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lua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locul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tipului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de </a:t>
            </a:r>
            <a:r>
              <a:rPr lang="en-US" sz="2000" kern="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baz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ă (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  <a:hlinkClick r:id="rId3"/>
              </a:rPr>
              <a:t>L</a:t>
            </a: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-ul din SOLID – va urma)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vi-VN" sz="2000" kern="0" dirty="0">
              <a:solidFill>
                <a:schemeClr val="tx1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Funcții virtuale pure: forțează derivatele să definească o implementare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vi-VN" sz="2000" kern="0" dirty="0">
              <a:solidFill>
                <a:schemeClr val="tx1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Tipul de retur al unei funcții virtuale nu poate fi schimbat în derivate.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000" b="1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Excepție: tipuri covariante.</a:t>
            </a:r>
            <a:endParaRPr lang="vi-VN" b="1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vi-VN" sz="2000" kern="0" dirty="0">
              <a:solidFill>
                <a:schemeClr val="tx1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vi-VN" sz="2000" kern="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Tipuri covariante și în alte limbaje: C#, Dart, Java, Python, Scala, TypeScript</a:t>
            </a:r>
          </a:p>
        </p:txBody>
      </p:sp>
      <p:sp>
        <p:nvSpPr>
          <p:cNvPr id="44038" name="Google Shape;574;p55"/>
          <p:cNvSpPr>
            <a:spLocks noChangeArrowheads="1"/>
          </p:cNvSpPr>
          <p:nvPr/>
        </p:nvSpPr>
        <p:spPr bwMode="auto">
          <a:xfrm>
            <a:off x="2507332" y="827088"/>
            <a:ext cx="5174219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/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err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594;p5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67E83594-7B5F-4634-A17F-34D262A636CE}" type="slidenum">
              <a:rPr lang="en-US" sz="1500"/>
              <a:t>6</a:t>
            </a:fld>
            <a:endParaRPr lang="en-US" sz="1800"/>
          </a:p>
        </p:txBody>
      </p:sp>
      <p:sp>
        <p:nvSpPr>
          <p:cNvPr id="46085" name="Google Shape;597;p57"/>
          <p:cNvSpPr txBox="1">
            <a:spLocks noChangeArrowheads="1"/>
          </p:cNvSpPr>
          <p:nvPr/>
        </p:nvSpPr>
        <p:spPr bwMode="auto">
          <a:xfrm>
            <a:off x="274638" y="1254125"/>
            <a:ext cx="9032875" cy="6210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 err="1">
                <a:solidFill>
                  <a:srgbClr val="800000"/>
                </a:solidFill>
                <a:latin typeface="Times New Roman" panose="02020603050405020304" pitchFamily="18" charset="0"/>
              </a:rPr>
              <a:t>enum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</a:rPr>
              <a:t>note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{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</a:rPr>
              <a:t>middleC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,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</a:rPr>
              <a:t>Csharp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,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</a:rPr>
              <a:t>Eflat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};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 pitchFamily="18" charset="0"/>
              </a:rPr>
              <a:t>// Etc.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class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</a:rPr>
              <a:t>Instrument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{</a:t>
            </a:r>
            <a:r>
              <a:rPr lang="en-US" sz="2000" b="1">
                <a:latin typeface="Times New Roman" panose="02020603050405020304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: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virtual void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const = 0;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Instrument::play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 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cout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Arial" panose="020B0604020202020204"/>
              </a:rPr>
              <a:t>Instrument::play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None/>
            </a:pPr>
            <a:endParaRPr lang="en-US" sz="2000">
              <a:solidFill>
                <a:srgbClr val="800080"/>
              </a:solidFill>
              <a:latin typeface="Times New Roman" panose="02020603050405020304" pitchFamily="18" charset="0"/>
              <a:cs typeface="Times New Roman" panose="02020603050405020304"/>
            </a:endParaRPr>
          </a:p>
          <a:p>
            <a:pPr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Wind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Times New Roman" panose="02020603050405020304"/>
              </a:rPr>
              <a:t>Wind::play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}};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</a:pPr>
            <a:endParaRPr lang="en-US" sz="2000">
              <a:solidFill>
                <a:srgbClr val="800080"/>
              </a:solidFill>
              <a:latin typeface="Times New Roman" panose="02020603050405020304" pitchFamily="18" charset="0"/>
              <a:cs typeface="Times New Roman" panose="02020603050405020304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String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Times New Roman" panose="02020603050405020304"/>
              </a:rPr>
              <a:t>String::play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}};</a:t>
            </a:r>
            <a:endParaRPr lang="en-US" sz="2000">
              <a:solidFill>
                <a:srgbClr val="800080"/>
              </a:solidFill>
              <a:latin typeface="Times New Roman" panose="02020603050405020304" pitchFamily="18" charset="0"/>
              <a:cs typeface="Times New Roman" panose="02020603050405020304"/>
            </a:endParaRPr>
          </a:p>
          <a:p>
            <a:pPr>
              <a:buFont typeface="Arial" panose="020B0604020202020204" pitchFamily="34" charset="0"/>
            </a:pPr>
            <a:endParaRPr lang="en-US" sz="2000">
              <a:solidFill>
                <a:srgbClr val="800080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void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</a:rPr>
              <a:t>tune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>
                <a:latin typeface="Times New Roman" panose="02020603050405020304" pitchFamily="18" charset="0"/>
              </a:rPr>
              <a:t>Instrument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&amp;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</a:rPr>
              <a:t>i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{</a:t>
            </a: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 err="1">
                <a:latin typeface="Times New Roman" panose="02020603050405020304" pitchFamily="18" charset="0"/>
              </a:rPr>
              <a:t>i</a:t>
            </a:r>
            <a:r>
              <a:rPr lang="en-US" sz="2000" err="1">
                <a:solidFill>
                  <a:srgbClr val="808030"/>
                </a:solidFill>
                <a:latin typeface="Times New Roman" panose="02020603050405020304" pitchFamily="18" charset="0"/>
              </a:rPr>
              <a:t>.</a:t>
            </a:r>
            <a:r>
              <a:rPr lang="en-US" sz="2000" err="1">
                <a:latin typeface="Times New Roman" panose="02020603050405020304" pitchFamily="18" charset="0"/>
              </a:rPr>
              <a:t>play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err="1">
                <a:latin typeface="Times New Roman" panose="02020603050405020304" pitchFamily="18" charset="0"/>
              </a:rPr>
              <a:t>middleC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}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  Wind flute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String cello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>
              <a:cs typeface="Times New Roman" panose="02020603050405020304"/>
            </a:endParaRP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  tune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flute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 tune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cello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>
              <a:cs typeface="Times New Roman" panose="02020603050405020304"/>
            </a:endParaRPr>
          </a:p>
          <a:p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</p:txBody>
      </p:sp>
      <p:sp>
        <p:nvSpPr>
          <p:cNvPr id="46086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769;p71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E855E53A-211D-4DD6-8683-DE146CBA8CBD}" type="slidenum">
              <a:rPr lang="en-US" sz="1500"/>
              <a:t>7</a:t>
            </a:fld>
            <a:endParaRPr lang="en-US" sz="1800"/>
          </a:p>
        </p:txBody>
      </p:sp>
      <p:sp>
        <p:nvSpPr>
          <p:cNvPr id="59397" name="Google Shape;772;p71"/>
          <p:cNvSpPr txBox="1">
            <a:spLocks noChangeArrowheads="1"/>
          </p:cNvSpPr>
          <p:nvPr/>
        </p:nvSpPr>
        <p:spPr bwMode="auto">
          <a:xfrm>
            <a:off x="274638" y="1254125"/>
            <a:ext cx="9110717" cy="569236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400" b="1" i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Obs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.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NU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putem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avea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constructori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virtuali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 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sensul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 "virtual Instrument() {}")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NU apelăm funcții virtuale în constructori sau destructori (</a:t>
            </a:r>
            <a:r>
              <a:rPr lang="vi-VN" sz="2000" dirty="0">
                <a:latin typeface="Times New Roman" panose="02020603050405020304"/>
                <a:cs typeface="Times New Roman" panose="02020603050405020304"/>
                <a:hlinkClick r:id="rId3"/>
              </a:rPr>
              <a:t>detalii</a:t>
            </a: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dirty="0"/>
          </a:p>
          <a:p>
            <a:pPr marL="800100" lvl="1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Se va apela definiția din clasa curentă, nu dintr-o clasă mai derivată</a:t>
            </a:r>
          </a:p>
          <a:p>
            <a:pPr marL="800100" lvl="1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Deși de obicei nu este o problemă în sine, poate cauza confuzie în proiecte mari</a:t>
            </a:r>
          </a:p>
          <a:p>
            <a:pPr marL="800100" lvl="1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În limbaje dinamice (e.g. Python) nu este o problemă, dar acolo nu avem verificări de tipuri prea stricte</a:t>
            </a:r>
          </a:p>
          <a:p>
            <a:endParaRPr lang="vi-VN" sz="2000" dirty="0">
              <a:latin typeface="Times New Roman" panose="02020603050405020304"/>
              <a:cs typeface="Times New Roman" panose="02020603050405020304"/>
            </a:endParaRPr>
          </a:p>
          <a:p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Soluții: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Constructori </a:t>
            </a:r>
            <a:r>
              <a:rPr lang="en-US" sz="2000" dirty="0" smtClean="0">
                <a:latin typeface="Times New Roman" panose="02020603050405020304"/>
                <a:cs typeface="Times New Roman" panose="02020603050405020304"/>
              </a:rPr>
              <a:t>“</a:t>
            </a:r>
            <a:r>
              <a:rPr lang="vi-VN" sz="2000" dirty="0" smtClean="0">
                <a:latin typeface="Times New Roman" panose="02020603050405020304"/>
                <a:cs typeface="Times New Roman" panose="02020603050405020304"/>
              </a:rPr>
              <a:t>virtuali</a:t>
            </a:r>
            <a:r>
              <a:rPr lang="en-US" sz="2000" dirty="0" smtClean="0">
                <a:latin typeface="Times New Roman" panose="02020603050405020304"/>
                <a:cs typeface="Times New Roman" panose="02020603050405020304"/>
              </a:rPr>
              <a:t>” in </a:t>
            </a:r>
            <a:r>
              <a:rPr lang="en-US" sz="2000" dirty="0" err="1" smtClean="0">
                <a:latin typeface="Times New Roman" panose="02020603050405020304"/>
                <a:cs typeface="Times New Roman" panose="02020603050405020304"/>
              </a:rPr>
              <a:t>sensul</a:t>
            </a:r>
            <a:r>
              <a:rPr lang="en-US" sz="2000" dirty="0" smtClean="0">
                <a:latin typeface="Times New Roman" panose="02020603050405020304"/>
                <a:cs typeface="Times New Roman" panose="02020603050405020304"/>
              </a:rPr>
              <a:t> de</a:t>
            </a:r>
            <a:r>
              <a:rPr lang="vi-VN" sz="200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vi-V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cs typeface="Times New Roman" panose="02020603050405020304"/>
              </a:rPr>
              <a:t>funcții de clonare</a:t>
            </a: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Clase și funcții de tip factory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Dacă avem nevoie de funcții virtuale în destructori, ar trebui să ne întrebăm de ce am avea nevoie de așa ceva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"soluție": apel explicit: Base::f() sau Derived::f()</a:t>
            </a:r>
            <a:endParaRPr lang="vi-V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781;p72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BBDD3C65-1497-4051-B05C-02EF82B06642}" type="slidenum">
              <a:rPr lang="en-US" sz="1500"/>
              <a:t>8</a:t>
            </a:fld>
            <a:endParaRPr lang="en-US" sz="1800"/>
          </a:p>
        </p:txBody>
      </p:sp>
      <p:sp>
        <p:nvSpPr>
          <p:cNvPr id="60421" name="Google Shape;784;p72"/>
          <p:cNvSpPr txBox="1">
            <a:spLocks noChangeArrowheads="1"/>
          </p:cNvSpPr>
          <p:nvPr/>
        </p:nvSpPr>
        <p:spPr bwMode="auto">
          <a:xfrm>
            <a:off x="274638" y="1254125"/>
            <a:ext cx="9032875" cy="337343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Destructori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buNone/>
            </a:pPr>
            <a:endParaRPr lang="vi-V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Se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cheamă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ordine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inversă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decât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constructorii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vi-VN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</a:pPr>
            <a:endParaRPr lang="vi-VN" sz="24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general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două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situații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lang="vi-VN">
              <a:solidFill>
                <a:schemeClr val="tx1"/>
              </a:solidFill>
            </a:endParaRPr>
          </a:p>
          <a:p>
            <a:pPr marL="342900" indent="-342900">
              <a:buFont typeface="Calibri" panose="020F0502020204030204"/>
              <a:buChar char="-"/>
            </a:pP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Destructor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și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virtual</a:t>
            </a:r>
          </a:p>
          <a:p>
            <a:pPr marL="800100" lvl="1" indent="-342900">
              <a:buFont typeface="Calibri" panose="020F0502020204030204"/>
              <a:buChar char="-"/>
            </a:pP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Dacă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avem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și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alte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funcții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virtuale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deci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folosim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pointeri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către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bază</a:t>
            </a:r>
            <a:endParaRPr lang="vi-VN" sz="24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Calibri" panose="020F0502020204030204"/>
              <a:buChar char="-"/>
            </a:pP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Destructor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protected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și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non-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virtual</a:t>
            </a:r>
            <a:endParaRPr lang="vi-VN" sz="24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800100" lvl="1" indent="-342900">
              <a:buFont typeface="Calibri" panose="020F0502020204030204"/>
              <a:buChar char="-"/>
            </a:pP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Dacă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dorim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să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folosim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doar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obiecte</a:t>
            </a: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vi-VN" sz="24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derivate</a:t>
            </a:r>
            <a:endParaRPr lang="vi-VN" sz="24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Clr>
                <a:srgbClr val="000000"/>
              </a:buClr>
            </a:pPr>
            <a:r>
              <a:rPr lang="vi-VN" sz="24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 </a:t>
            </a:r>
            <a:endParaRPr lang="vi-VN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vi-VN" sz="2400" b="1" i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  </a:t>
            </a:r>
            <a:endParaRPr lang="vi-VN" sz="2400" i="1">
              <a:solidFill>
                <a:srgbClr val="0000FF"/>
              </a:solidFill>
              <a:latin typeface="Arial" panose="020B0604020202020204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 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Dacă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vrem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să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eliminăm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porțiuni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alocate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dinamic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pentru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clasa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derivată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dar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facem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upcasting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trebuie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să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folosim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destructori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vi-VN" sz="2400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</a:t>
            </a:r>
            <a:r>
              <a:rPr lang="vi-VN" sz="2400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. </a:t>
            </a:r>
            <a:endParaRPr lang="en-US" sz="2400" i="1">
              <a:solidFill>
                <a:srgbClr val="0000FF"/>
              </a:solidFill>
              <a:latin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Google Shape;793;p73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E0C6C2A5-7F3D-4DD2-8015-B3805DF5E4ED}" type="slidenum">
              <a:rPr lang="en-US" sz="1500"/>
              <a:t>9</a:t>
            </a:fld>
            <a:endParaRPr lang="en-US" sz="1800"/>
          </a:p>
        </p:txBody>
      </p:sp>
      <p:sp>
        <p:nvSpPr>
          <p:cNvPr id="61445" name="Google Shape;796;p73"/>
          <p:cNvSpPr txBox="1">
            <a:spLocks noChangeArrowheads="1"/>
          </p:cNvSpPr>
          <p:nvPr/>
        </p:nvSpPr>
        <p:spPr bwMode="auto">
          <a:xfrm>
            <a:off x="274638" y="1254125"/>
            <a:ext cx="9634537" cy="56197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Destructori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Base1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Base1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cout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Arial" panose="020B0604020202020204"/>
              </a:rPr>
              <a:t>~Base1()</a:t>
            </a:r>
            <a:r>
              <a:rPr lang="en-US" sz="2000">
                <a:solidFill>
                  <a:srgbClr val="0F69FF"/>
                </a:solidFill>
                <a:latin typeface="Times New Roman" panose="02020603050405020304"/>
                <a:cs typeface="Arial" panose="020B0604020202020204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Derived1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Base1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Derived1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cout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Arial" panose="020B0604020202020204"/>
              </a:rPr>
              <a:t>~Derived1()</a:t>
            </a:r>
            <a:r>
              <a:rPr lang="en-US" sz="2000">
                <a:solidFill>
                  <a:srgbClr val="0F69FF"/>
                </a:solidFill>
                <a:latin typeface="Times New Roman" panose="02020603050405020304"/>
                <a:cs typeface="Arial" panose="020B0604020202020204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Base2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pt-BR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pt-BR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virtual</a:t>
            </a:r>
            <a:r>
              <a:rPr lang="pt-BR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pt-BR" sz="2000">
                <a:latin typeface="Times New Roman" panose="02020603050405020304"/>
                <a:cs typeface="Arial" panose="020B0604020202020204"/>
              </a:rPr>
              <a:t>Base2</a:t>
            </a:r>
            <a:r>
              <a:rPr lang="pt-BR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pt-BR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pt-BR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cout</a:t>
            </a:r>
            <a:r>
              <a:rPr lang="pt-BR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pt-BR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pt-BR" sz="2000">
                <a:solidFill>
                  <a:srgbClr val="0000E6"/>
                </a:solidFill>
                <a:latin typeface="Times New Roman" panose="02020603050405020304"/>
                <a:cs typeface="Arial" panose="020B0604020202020204"/>
              </a:rPr>
              <a:t>~Base2()</a:t>
            </a:r>
            <a:r>
              <a:rPr lang="pt-BR" sz="2000">
                <a:solidFill>
                  <a:srgbClr val="0F69FF"/>
                </a:solidFill>
                <a:latin typeface="Times New Roman" panose="02020603050405020304"/>
                <a:cs typeface="Arial" panose="020B0604020202020204"/>
              </a:rPr>
              <a:t>\n</a:t>
            </a:r>
            <a:r>
              <a:rPr lang="pt-BR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pt-BR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pt-BR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pt-BR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pt-BR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Derived2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Base2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Derived2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Arial" panose="020B0604020202020204"/>
              </a:rPr>
              <a:t>cout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&lt;&lt;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Arial" panose="020B0604020202020204"/>
              </a:rPr>
              <a:t>~Derived2()</a:t>
            </a:r>
            <a:r>
              <a:rPr lang="en-US" sz="2000">
                <a:solidFill>
                  <a:srgbClr val="0F69FF"/>
                </a:solidFill>
                <a:latin typeface="Times New Roman" panose="02020603050405020304"/>
                <a:cs typeface="Arial" panose="020B0604020202020204"/>
              </a:rPr>
              <a:t>\n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"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Base1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bp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new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Derived1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 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delete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bp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</a:t>
            </a:r>
            <a:r>
              <a:rPr lang="en-US" sz="2000" b="1" err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Afis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: ~Base1()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Base2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b2p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new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Derived2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 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delete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b2p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</a:t>
            </a:r>
            <a:r>
              <a:rPr lang="en-US" sz="2000" b="1" err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Afis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: ~Derived2()  ~Base2()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10</a:t>
            </a:fld>
            <a:endParaRPr lang="en-US" sz="1800"/>
          </a:p>
        </p:txBody>
      </p:sp>
      <p:grpSp>
        <p:nvGrpSpPr>
          <p:cNvPr id="62470" name="Group 8"/>
          <p:cNvGrpSpPr/>
          <p:nvPr/>
        </p:nvGrpSpPr>
        <p:grpSpPr bwMode="auto">
          <a:xfrm>
            <a:off x="274638" y="1254125"/>
            <a:ext cx="9644267" cy="5843524"/>
            <a:chOff x="274638" y="1254125"/>
            <a:chExt cx="9644267" cy="5843524"/>
          </a:xfrm>
        </p:grpSpPr>
        <p:sp>
          <p:nvSpPr>
            <p:cNvPr id="61445" name="Google Shape;808;p74"/>
            <p:cNvSpPr txBox="1">
              <a:spLocks noChangeArrowheads="1"/>
            </p:cNvSpPr>
            <p:nvPr/>
          </p:nvSpPr>
          <p:spPr bwMode="auto">
            <a:xfrm>
              <a:off x="274638" y="1254125"/>
              <a:ext cx="9644267" cy="58435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91425" tIns="91425" rIns="91425" bIns="91425" anchor="t"/>
            <a:lstStyle/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400" b="1" i="1" err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Destructori</a:t>
              </a:r>
              <a:r>
                <a:rPr lang="en-US" sz="2400" b="1" i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 </a:t>
              </a:r>
              <a:r>
                <a:rPr lang="en-US" sz="2400" b="1" i="1" err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virtuali</a:t>
              </a:r>
              <a:r>
                <a:rPr lang="en-US" sz="2400" b="1" i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 puri</a:t>
              </a: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 b="1">
                <a:solidFill>
                  <a:srgbClr val="0000FF"/>
                </a:solidFill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Utilizare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: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poate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utilizat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dacă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avem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funcții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virtuale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care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nu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vrem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să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le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suprascriem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în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toate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derivatele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 </a:t>
              </a:r>
              <a:endParaRPr lang="vi-VN" sz="2000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Restricție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: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trebuie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să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aibă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o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definiție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(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chiar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dacă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este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abstractă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). </a:t>
              </a:r>
              <a:endParaRPr lang="vi-VN" sz="2000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>
                  <a:latin typeface="Times New Roman" panose="02020603050405020304"/>
                  <a:cs typeface="Arial" panose="020B0604020202020204"/>
                </a:rPr>
                <a:t>    La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moștenire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nu mai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trebuie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redefiniți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(se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construiește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un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destructor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din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oficiu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) </a:t>
              </a:r>
              <a:endParaRPr lang="vi-VN" sz="2000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>
                  <a:latin typeface="Times New Roman" panose="02020603050405020304"/>
                  <a:cs typeface="Arial" panose="020B0604020202020204"/>
                </a:rPr>
                <a:t>    De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?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Pentru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a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preveni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instanțierea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clasei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</a:t>
              </a:r>
            </a:p>
            <a:p>
              <a:pPr>
                <a:buClr>
                  <a:srgbClr val="000000"/>
                </a:buClr>
                <a:defRPr/>
              </a:pP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Obs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 Nu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are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nici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un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efect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dacă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nu se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face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upcasting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,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dar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atunci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am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folosi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destructor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protected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și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non-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virtual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</a:t>
              </a:r>
              <a:endParaRPr lang="vi-VN" sz="2000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/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class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 err="1">
                  <a:latin typeface="Times New Roman" panose="02020603050405020304" pitchFamily="18" charset="0"/>
                </a:rPr>
                <a:t>AbstractBase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 pitchFamily="18" charset="0"/>
                </a:rPr>
                <a:t>{</a:t>
              </a:r>
              <a:endParaRPr lang="en-US" sz="2000" b="1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public</a:t>
              </a:r>
              <a:r>
                <a:rPr lang="en-US" sz="2000" b="1">
                  <a:solidFill>
                    <a:srgbClr val="E34ADC"/>
                  </a:solidFill>
                  <a:latin typeface="Times New Roman" panose="02020603050405020304" pitchFamily="18" charset="0"/>
                </a:rPr>
                <a:t>:</a:t>
              </a:r>
              <a:endParaRPr lang="en-US" sz="2000" b="1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>
                  <a:latin typeface="Times New Roman" panose="02020603050405020304" pitchFamily="18" charset="0"/>
                </a:rPr>
                <a:t>  </a:t>
              </a:r>
              <a:r>
                <a:rPr lang="en-US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virtual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 pitchFamily="18" charset="0"/>
                </a:rPr>
                <a:t>~</a:t>
              </a:r>
              <a:r>
                <a:rPr lang="en-US" sz="2000" err="1">
                  <a:latin typeface="Times New Roman" panose="02020603050405020304" pitchFamily="18" charset="0"/>
                </a:rPr>
                <a:t>AbstractBase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 pitchFamily="18" charset="0"/>
                </a:rPr>
                <a:t>()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 pitchFamily="18" charset="0"/>
                </a:rPr>
                <a:t>=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008C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 pitchFamily="18" charset="0"/>
                </a:rPr>
                <a:t>;</a:t>
              </a:r>
              <a:endParaRPr lang="en-US" sz="2000" b="1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};</a:t>
              </a:r>
              <a:endParaRPr lang="en-US" sz="2000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err="1">
                  <a:latin typeface="Times New Roman" panose="02020603050405020304" pitchFamily="18" charset="0"/>
                </a:rPr>
                <a:t>AbstractBase</a:t>
              </a:r>
              <a:r>
                <a:rPr lang="en-US" sz="2000">
                  <a:solidFill>
                    <a:srgbClr val="800080"/>
                  </a:solidFill>
                  <a:latin typeface="Times New Roman" panose="02020603050405020304" pitchFamily="18" charset="0"/>
                </a:rPr>
                <a:t>::</a:t>
              </a:r>
              <a:r>
                <a:rPr lang="en-US" sz="2000">
                  <a:solidFill>
                    <a:srgbClr val="808030"/>
                  </a:solidFill>
                  <a:latin typeface="Times New Roman" panose="02020603050405020304" pitchFamily="18" charset="0"/>
                </a:rPr>
                <a:t>~</a:t>
              </a:r>
              <a:r>
                <a:rPr lang="en-US" sz="2000" err="1">
                  <a:latin typeface="Times New Roman" panose="02020603050405020304" pitchFamily="18" charset="0"/>
                </a:rPr>
                <a:t>AbstractBase</a:t>
              </a:r>
              <a:r>
                <a:rPr lang="en-US" sz="2000">
                  <a:solidFill>
                    <a:srgbClr val="808030"/>
                  </a:solidFill>
                  <a:latin typeface="Times New Roman" panose="02020603050405020304" pitchFamily="18" charset="0"/>
                </a:rPr>
                <a:t>()</a:t>
              </a:r>
              <a:r>
                <a:rPr lang="en-US" sz="2000">
                  <a:latin typeface="Times New Roman" panose="02020603050405020304" pitchFamily="18" charset="0"/>
                </a:rPr>
                <a:t> </a:t>
              </a:r>
              <a:r>
                <a:rPr lang="en-US" sz="2000">
                  <a:solidFill>
                    <a:srgbClr val="800080"/>
                  </a:solidFill>
                  <a:latin typeface="Times New Roman" panose="02020603050405020304" pitchFamily="18" charset="0"/>
                </a:rPr>
                <a:t>{}</a:t>
              </a:r>
              <a:endParaRPr lang="en-US" sz="2000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class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>
                  <a:latin typeface="Times New Roman" panose="02020603050405020304" pitchFamily="18" charset="0"/>
                </a:rPr>
                <a:t>Derived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anose="02020603050405020304" pitchFamily="18" charset="0"/>
                </a:rPr>
                <a:t>public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</a:rPr>
                <a:t>AbstractBase</a:t>
              </a:r>
              <a:r>
                <a:rPr lang="en-US" sz="2000" b="1">
                  <a:latin typeface="Times New Roman" panose="02020603050405020304" pitchFamily="18" charset="0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 pitchFamily="18" charset="0"/>
                </a:rPr>
                <a:t>{};</a:t>
              </a:r>
              <a:endParaRPr lang="en-US" sz="2000" b="1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>
                  <a:solidFill>
                    <a:srgbClr val="696969"/>
                  </a:solidFill>
                  <a:latin typeface="Times New Roman" panose="02020603050405020304" pitchFamily="18" charset="0"/>
                </a:rPr>
                <a:t>// No overriding of destructor necessary?</a:t>
              </a:r>
              <a:endParaRPr lang="en-US" sz="2000"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int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>
                  <a:solidFill>
                    <a:srgbClr val="400000"/>
                  </a:solidFill>
                  <a:latin typeface="Times New Roman" panose="02020603050405020304"/>
                  <a:cs typeface="Arial" panose="020B0604020202020204"/>
                </a:rPr>
                <a:t>main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/>
                  <a:cs typeface="Arial" panose="020B0604020202020204"/>
                </a:rPr>
                <a:t>()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{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>
                  <a:latin typeface="Times New Roman" panose="02020603050405020304"/>
                  <a:cs typeface="Arial" panose="020B0604020202020204"/>
                </a:rPr>
                <a:t>Derived d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;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}</a:t>
              </a:r>
              <a:endParaRPr lang="en-US" sz="2000" b="1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33780" y="4768868"/>
              <a:ext cx="3200400" cy="589255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kern="0">
                <a:sym typeface="Arial" panose="020B0604020202020204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35357" y="5653799"/>
              <a:ext cx="3733800" cy="381000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kern="0">
                <a:sym typeface="Arial" panose="020B0604020202020204"/>
              </a:endParaRPr>
            </a:p>
          </p:txBody>
        </p:sp>
      </p:grp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11</a:t>
            </a:fld>
            <a:endParaRPr lang="en-US" sz="1800"/>
          </a:p>
        </p:txBody>
      </p:sp>
      <p:grpSp>
        <p:nvGrpSpPr>
          <p:cNvPr id="62470" name="Group 8"/>
          <p:cNvGrpSpPr/>
          <p:nvPr/>
        </p:nvGrpSpPr>
        <p:grpSpPr bwMode="auto">
          <a:xfrm>
            <a:off x="274638" y="1254125"/>
            <a:ext cx="9644267" cy="5843524"/>
            <a:chOff x="274638" y="1254125"/>
            <a:chExt cx="9644267" cy="5843524"/>
          </a:xfrm>
        </p:grpSpPr>
        <p:sp>
          <p:nvSpPr>
            <p:cNvPr id="61445" name="Google Shape;808;p74"/>
            <p:cNvSpPr txBox="1">
              <a:spLocks noChangeArrowheads="1"/>
            </p:cNvSpPr>
            <p:nvPr/>
          </p:nvSpPr>
          <p:spPr bwMode="auto">
            <a:xfrm>
              <a:off x="274638" y="1254125"/>
              <a:ext cx="9644267" cy="58435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lIns="91425" tIns="91425" rIns="91425" bIns="91425" anchor="t"/>
            <a:lstStyle/>
            <a:p>
              <a:pPr>
                <a:buClr>
                  <a:srgbClr val="000000"/>
                </a:buClr>
                <a:defRPr/>
              </a:pPr>
              <a:r>
                <a:rPr lang="en-US" sz="2400" b="1" i="1" err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Destructori</a:t>
              </a:r>
              <a:r>
                <a:rPr lang="en-US" sz="2400" b="1" i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 protected </a:t>
              </a:r>
              <a:r>
                <a:rPr lang="en-US" sz="2400" b="1" i="1" err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și</a:t>
              </a:r>
              <a:r>
                <a:rPr lang="en-US" sz="2400" b="1" i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 non-</a:t>
              </a:r>
              <a:r>
                <a:rPr lang="en-US" sz="2400" b="1" i="1" err="1">
                  <a:solidFill>
                    <a:srgbClr val="0000FF"/>
                  </a:solidFill>
                  <a:latin typeface="Arial" panose="020B0604020202020204"/>
                  <a:cs typeface="Times New Roman" panose="02020603050405020304"/>
                </a:rPr>
                <a:t>virtuali</a:t>
              </a:r>
              <a:endPara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 b="1">
                <a:solidFill>
                  <a:srgbClr val="0000FF"/>
                </a:solidFill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Utilizare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: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dorim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să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ținem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într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-o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clasă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de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bază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comună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atribute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și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funcții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,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dar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construim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doar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obiecte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derivate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și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nu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avem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nevoie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de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pointeri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sau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referințe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de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bază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</a:t>
              </a:r>
              <a:endParaRPr lang="vi-VN" sz="2000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De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ce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 nu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public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?</a:t>
              </a:r>
              <a:endParaRPr lang="vi-VN" sz="2000" b="1">
                <a:latin typeface="Times New Roman" panose="02020603050405020304"/>
              </a:endParaRPr>
            </a:p>
            <a:p>
              <a:pPr>
                <a:defRPr/>
              </a:pPr>
              <a:r>
                <a:rPr lang="vi-VN" sz="2000">
                  <a:latin typeface="Times New Roman" panose="02020603050405020304"/>
                  <a:cs typeface="Arial" panose="020B0604020202020204"/>
                </a:rPr>
                <a:t>   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Pentru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a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preveni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instanțierea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clasei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din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exterior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(nu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avem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object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slicing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).</a:t>
              </a:r>
              <a:endParaRPr lang="vi-VN" sz="2000">
                <a:latin typeface="Times New Roman" panose="02020603050405020304"/>
              </a:endParaRPr>
            </a:p>
            <a:p>
              <a:pPr>
                <a:defRPr/>
              </a:pP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De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ce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protected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și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 nu </a:t>
              </a:r>
              <a:r>
                <a:rPr lang="vi-VN" sz="2000" b="1" err="1">
                  <a:latin typeface="Times New Roman" panose="02020603050405020304"/>
                  <a:cs typeface="Arial" panose="020B0604020202020204"/>
                </a:rPr>
                <a:t>private</a:t>
              </a:r>
              <a:r>
                <a:rPr lang="vi-VN" sz="2000" b="1">
                  <a:latin typeface="Times New Roman" panose="02020603050405020304"/>
                  <a:cs typeface="Arial" panose="020B0604020202020204"/>
                </a:rPr>
                <a:t>?</a:t>
              </a:r>
            </a:p>
            <a:p>
              <a:pPr>
                <a:defRPr/>
              </a:pPr>
              <a:r>
                <a:rPr lang="vi-VN" sz="2000">
                  <a:latin typeface="Times New Roman" panose="02020603050405020304"/>
                  <a:cs typeface="Arial" panose="020B0604020202020204"/>
                </a:rPr>
                <a:t>   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Pentru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a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putea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fi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apelat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de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clasele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vi-VN" sz="2000" err="1">
                  <a:latin typeface="Times New Roman" panose="02020603050405020304"/>
                  <a:cs typeface="Arial" panose="020B0604020202020204"/>
                </a:rPr>
                <a:t>derivate</a:t>
              </a:r>
              <a:r>
                <a:rPr lang="vi-VN" sz="2000">
                  <a:latin typeface="Times New Roman" panose="02020603050405020304"/>
                  <a:cs typeface="Arial" panose="020B0604020202020204"/>
                </a:rPr>
                <a:t>.</a:t>
              </a: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defRPr/>
              </a:pPr>
              <a:endParaRPr lang="en-US" sz="2000"/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class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Base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{</a:t>
              </a:r>
              <a:endParaRPr lang="en-US" sz="2000" b="1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protected:</a:t>
              </a:r>
              <a:endParaRPr lang="en-US" sz="2000" b="1">
                <a:solidFill>
                  <a:srgbClr val="E34ADC"/>
                </a:solidFill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en-US" sz="2000">
                  <a:latin typeface="Times New Roman" panose="02020603050405020304"/>
                  <a:cs typeface="Arial" panose="020B0604020202020204"/>
                </a:rPr>
                <a:t>  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/>
                  <a:cs typeface="Arial" panose="020B0604020202020204"/>
                </a:rPr>
                <a:t>~</a:t>
              </a:r>
              <a:r>
                <a:rPr lang="en-US" sz="2000">
                  <a:latin typeface="Times New Roman" panose="02020603050405020304"/>
                  <a:cs typeface="Arial" panose="020B0604020202020204"/>
                </a:rPr>
                <a:t>Base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/>
                  <a:cs typeface="Arial" panose="020B0604020202020204"/>
                </a:rPr>
                <a:t>()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/>
                  <a:cs typeface="Arial" panose="020B0604020202020204"/>
                </a:rPr>
                <a:t>=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default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;</a:t>
              </a:r>
              <a:endParaRPr lang="en-US" sz="2000" b="1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};</a:t>
              </a:r>
              <a:endParaRPr lang="en-US" sz="2000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class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>
                  <a:latin typeface="Times New Roman" panose="02020603050405020304"/>
                  <a:cs typeface="Arial" panose="020B0604020202020204"/>
                </a:rPr>
                <a:t>Derived1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: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public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>
                  <a:latin typeface="Times New Roman" panose="02020603050405020304"/>
                  <a:cs typeface="Arial" panose="020B0604020202020204"/>
                </a:rPr>
                <a:t>Base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{};</a:t>
              </a:r>
              <a:endParaRPr lang="en-US" sz="2000" b="1">
                <a:latin typeface="Times New Roman" panose="02020603050405020304"/>
                <a:cs typeface="Arial" panose="020B0604020202020204"/>
              </a:endParaRPr>
            </a:p>
            <a:p>
              <a:pPr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Times New Roman" panose="02020603050405020304"/>
                </a:rPr>
                <a:t>class</a:t>
              </a:r>
              <a:r>
                <a:rPr lang="en-US" sz="2000" b="1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000">
                  <a:latin typeface="Times New Roman" panose="02020603050405020304"/>
                  <a:cs typeface="Times New Roman" panose="02020603050405020304"/>
                </a:rPr>
                <a:t>Derived2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Times New Roman" panose="02020603050405020304"/>
                </a:rPr>
                <a:t>:</a:t>
              </a:r>
              <a:r>
                <a:rPr lang="en-US" sz="2000" b="1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Times New Roman" panose="02020603050405020304"/>
                </a:rPr>
                <a:t>public</a:t>
              </a:r>
              <a:r>
                <a:rPr lang="en-US" sz="2000" b="1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000">
                  <a:latin typeface="Times New Roman" panose="02020603050405020304"/>
                  <a:cs typeface="Times New Roman" panose="02020603050405020304"/>
                </a:rPr>
                <a:t>Base</a:t>
              </a:r>
              <a:r>
                <a:rPr lang="en-US" sz="2000" b="1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Times New Roman" panose="02020603050405020304"/>
                </a:rPr>
                <a:t>{};</a:t>
              </a:r>
              <a:endParaRPr lang="en-US">
                <a:latin typeface="Times New Roman" panose="020206030504050203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>
                <a:solidFill>
                  <a:srgbClr val="696969"/>
                </a:solidFill>
                <a:latin typeface="Times New Roman" panose="02020603050405020304" pitchFamily="18" charset="0"/>
              </a:endParaRPr>
            </a:p>
            <a:p>
              <a:pPr>
                <a:buClr>
                  <a:srgbClr val="000000"/>
                </a:buClr>
                <a:defRPr/>
              </a:pPr>
              <a:r>
                <a:rPr lang="en-US" sz="2000" b="1">
                  <a:solidFill>
                    <a:srgbClr val="800000"/>
                  </a:solidFill>
                  <a:latin typeface="Times New Roman" panose="02020603050405020304"/>
                  <a:cs typeface="Arial" panose="020B0604020202020204"/>
                </a:rPr>
                <a:t>int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>
                  <a:solidFill>
                    <a:srgbClr val="400000"/>
                  </a:solidFill>
                  <a:latin typeface="Times New Roman" panose="02020603050405020304"/>
                  <a:cs typeface="Arial" panose="020B0604020202020204"/>
                </a:rPr>
                <a:t>main</a:t>
              </a:r>
              <a:r>
                <a:rPr lang="en-US" sz="2000" b="1">
                  <a:solidFill>
                    <a:srgbClr val="808030"/>
                  </a:solidFill>
                  <a:latin typeface="Times New Roman" panose="02020603050405020304"/>
                  <a:cs typeface="Arial" panose="020B0604020202020204"/>
                </a:rPr>
                <a:t>()</a:t>
              </a:r>
              <a:r>
                <a:rPr lang="en-US" sz="2000" b="1">
                  <a:latin typeface="Times New Roman" panose="02020603050405020304"/>
                  <a:cs typeface="Arial" panose="020B06040202020202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{ </a:t>
              </a:r>
              <a:r>
                <a:rPr lang="en-US" sz="2000">
                  <a:latin typeface="Times New Roman" panose="02020603050405020304"/>
                  <a:cs typeface="Times New Roman" panose="02020603050405020304"/>
                </a:rPr>
                <a:t>Derived1 d1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Times New Roman" panose="02020603050405020304"/>
                </a:rPr>
                <a:t>; </a:t>
              </a:r>
              <a:r>
                <a:rPr lang="en-US" sz="2000">
                  <a:latin typeface="Times New Roman" panose="02020603050405020304"/>
                  <a:cs typeface="Times New Roman" panose="02020603050405020304"/>
                </a:rPr>
                <a:t>Derived2 d2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Times New Roman" panose="02020603050405020304"/>
                </a:rPr>
                <a:t>; </a:t>
              </a:r>
              <a:r>
                <a:rPr lang="en-US" sz="2000" b="1">
                  <a:solidFill>
                    <a:schemeClr val="bg1">
                      <a:lumMod val="50000"/>
                    </a:schemeClr>
                  </a:solidFill>
                  <a:latin typeface="Times New Roman" panose="02020603050405020304"/>
                  <a:cs typeface="Times New Roman" panose="02020603050405020304"/>
                </a:rPr>
                <a:t>/* Base b; */ /*error */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000" b="1">
                  <a:solidFill>
                    <a:srgbClr val="800080"/>
                  </a:solidFill>
                  <a:latin typeface="Times New Roman" panose="02020603050405020304"/>
                  <a:cs typeface="Arial" panose="020B0604020202020204"/>
                </a:rPr>
                <a:t>}</a:t>
              </a:r>
              <a:endParaRPr lang="en-US" sz="2000" b="1">
                <a:latin typeface="Times New Roman" panose="02020603050405020304"/>
                <a:cs typeface="Arial" panose="020B0604020202020204"/>
              </a:endParaRPr>
            </a:p>
            <a:p>
              <a:pPr>
                <a:buClr>
                  <a:srgbClr val="000000"/>
                </a:buClr>
                <a:buFont typeface="Arial" panose="020B0604020202020204" pitchFamily="34" charset="0"/>
                <a:buNone/>
                <a:defRPr/>
              </a:pPr>
              <a:endParaRPr lang="en-US" sz="2000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33780" y="4487924"/>
              <a:ext cx="3200400" cy="630906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kern="0">
                <a:sym typeface="Arial" panose="020B0604020202020204"/>
              </a:endParaRPr>
            </a:p>
          </p:txBody>
        </p:sp>
      </p:grp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12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Situație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: într-o clasă reținem ca atribut un pointer de tip bază al altei clase pentru a putea apela funcții virtuale prin acel pointer.</a:t>
            </a: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defRPr/>
            </a:pPr>
            <a:endParaRPr lang="en-US" sz="2000" dirty="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public:</a:t>
            </a:r>
            <a:endParaRPr lang="en-US" sz="2000" b="1" dirty="0">
              <a:solidFill>
                <a:srgbClr val="E34ADC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   virtual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0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 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dirty="0"/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Instrument::~Instrument()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Wind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play */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 };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play */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rehearse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-&gt;play(0);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Wind)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String)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o1.rehearse()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13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Ce probleme pot apărea?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Avem memory leaks (am folosit </a:t>
            </a:r>
            <a:r>
              <a:rPr lang="vi-VN" sz="2000" dirty="0">
                <a:latin typeface="Times New Roman" panose="02020603050405020304"/>
                <a:cs typeface="Arial" panose="020B0604020202020204"/>
                <a:hlinkClick r:id="rId3"/>
              </a:rPr>
              <a:t>DrMemory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).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" name="Picture 1" descr="A computer screen with white text and black text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8" y="2936148"/>
            <a:ext cx="9146740" cy="34542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14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Cine ar trebui să elibereze memoria?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 Adăugăm destructorul și nu mai avem leaks.</a:t>
            </a: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public:</a:t>
            </a:r>
            <a:endParaRPr lang="en-US" sz="2000" b="1" dirty="0">
              <a:solidFill>
                <a:srgbClr val="E34ADC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   virtual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0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 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Instrument::~Instrument() = default;</a:t>
            </a:r>
            <a:endParaRPr lang="en-US" dirty="0"/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Wind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play */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 };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play */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rehearse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-&gt;play(0);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delete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dirty="0"/>
          </a:p>
          <a:p>
            <a:pPr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Wind)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String)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o1.rehearse()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15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Nu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mai avem memory leaks, dar... este corect?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public:</a:t>
            </a:r>
            <a:endParaRPr lang="en-US" sz="2000" b="1" dirty="0">
              <a:solidFill>
                <a:srgbClr val="E34ADC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   virtual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0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 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Instrument::~Instrument() = default;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Wind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play */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 };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play */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rehearse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-&gt;play(0);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delete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dirty="0"/>
          </a:p>
          <a:p>
            <a:pPr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Wind)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String)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o1.rehearse()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   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Arial" panose="020B0604020202020204"/>
              </a:rPr>
              <a:t>Orchestra o2 = o1; 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sau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 Orchestra o3(o1);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16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Nu, </a:t>
            </a: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c</a:t>
            </a:r>
            <a:r>
              <a:rPr lang="en-US" sz="2000" b="1" dirty="0" err="1" smtClean="0">
                <a:latin typeface="Times New Roman" panose="02020603050405020304"/>
                <a:cs typeface="Arial" panose="020B0604020202020204"/>
              </a:rPr>
              <a:t>edeaz</a:t>
            </a: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ă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la execuție.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Dacă avem atribute de tip pointeri, constructorul de copiere copiază adrese de memorie.</a:t>
            </a:r>
            <a:endParaRPr lang="vi-VN" dirty="0"/>
          </a:p>
          <a:p>
            <a:pPr>
              <a:defRPr/>
            </a:pP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Picture 4" descr="A computer screen shot of a black screen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39" y="3119312"/>
            <a:ext cx="9442474" cy="26619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17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Nu, </a:t>
            </a: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c</a:t>
            </a:r>
            <a:r>
              <a:rPr lang="en-US" sz="2000" b="1" dirty="0" err="1" smtClean="0">
                <a:latin typeface="Times New Roman" panose="02020603050405020304"/>
                <a:cs typeface="Arial" panose="020B0604020202020204"/>
              </a:rPr>
              <a:t>edeaz</a:t>
            </a: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ă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la execuție.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Dacă avem atribute de tip pointeri, constructorul de copiere copiază adrese de memorie.</a:t>
            </a:r>
            <a:endParaRPr lang="vi-VN" dirty="0"/>
          </a:p>
          <a:p>
            <a:pPr>
              <a:defRPr/>
            </a:pP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3" descr="A computer screen with white text and black tex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51" y="2710186"/>
            <a:ext cx="7410920" cy="43832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18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Soluție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: 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suprascriem constructorul de copiere, dar...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 Ce copiem?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rehearse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-&gt;play(0);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: instruments)  delete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}</a:t>
            </a:r>
            <a:endParaRPr lang="en-US" dirty="0"/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(new ???);   // new Wind()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sau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new String()???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19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"Soluția" 1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: atribut pentru subtip.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public:</a:t>
            </a:r>
            <a:endParaRPr lang="en-US" sz="2000" b="1" dirty="0">
              <a:solidFill>
                <a:srgbClr val="E34ADC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enum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tip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wind, string</a:t>
            </a:r>
            <a:r>
              <a:rPr lang="en-US" sz="2000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/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   virtual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0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 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Instrument::~Instrument() = default;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Wind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inițializare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tip cu wind, 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play */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 };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inițializare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 tip cu string,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play */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inst.getTip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 == Instrument::wind)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(new Wind(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static_cast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&lt;Wind*&gt;(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)));  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apelăm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cc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else if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etc</a:t>
            </a:r>
            <a:endParaRPr lang="en-US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20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Problema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cu "soluția" 1: 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trebuie să actualizăm de fiecare dată clasa de bază atunci când adăugăm o nouă derivată (recompilăm toate subclasele).</a:t>
            </a: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"Soluția" 2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: dynamic_cast.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public:</a:t>
            </a:r>
            <a:endParaRPr lang="en-US" sz="2000" b="1" dirty="0">
              <a:solidFill>
                <a:srgbClr val="E34ADC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    virtual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0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 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dirty="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Arial" panose="020B0604020202020204"/>
              </a:rPr>
              <a:t>Instrument::~Instrument() = default;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Wind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dirty="0">
                <a:latin typeface="Times New Roman" panose="02020603050405020304"/>
                <a:cs typeface="Arial" panose="020B0604020202020204"/>
              </a:rPr>
              <a:t>Instrument</a:t>
            </a:r>
            <a:r>
              <a:rPr lang="en-US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/* 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Arial" panose="020B0604020202020204"/>
              </a:rPr>
              <a:t> play */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 };</a:t>
            </a:r>
            <a:endParaRPr lang="en-US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 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 play */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(auto* wind =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&lt;Wind*&gt;(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(new Wind(*wind));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 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else if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etc</a:t>
            </a:r>
            <a:endParaRPr lang="en-US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21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r>
              <a:rPr lang="vi-VN" sz="2000" b="1" dirty="0" smtClean="0">
                <a:latin typeface="Times New Roman" panose="02020603050405020304"/>
                <a:cs typeface="Arial" panose="020B0604020202020204"/>
              </a:rPr>
              <a:t>Problema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cu "soluția" 2: 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peste tot unde avem nevoie de o copie a unui instrument va trebui să avem ramuri if/else și să facem un dynamic_cast (sau typeid + static_cast).</a:t>
            </a:r>
          </a:p>
          <a:p>
            <a:pPr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Pentru fiecare nouă derivată va trebui să adăugăm 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peste tot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 câte o nouă ramură if/else.</a:t>
            </a:r>
            <a:endParaRPr lang="vi-VN" dirty="0"/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Soluția corectă 1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: nu permitem copieri, folosim doar mutări. Dezavantaj dpdv didactic: necesare multe apeluri std::move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= delete;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Orchestra&amp; operator=(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= delete;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Orchestra(Orchestra&amp;&amp; other)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Orchestra&amp; operator=(Orchestra&amp;&amp; other)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~Orchestra() = default;</a:t>
            </a: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22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Soluția corectă 2 (funcție clone)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: fiecare subclasă ar trebui să știe să se copieze pe sine.</a:t>
            </a:r>
            <a:endParaRPr lang="vi-VN" sz="2000" b="1" dirty="0">
              <a:latin typeface="Times New Roman" panose="02020603050405020304"/>
            </a:endParaRPr>
          </a:p>
          <a:p>
            <a:pPr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Având în vedere că în clasa Orchestra avem doar pointeri de tip bază, pentru copiere vom folosi o 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funcție virtuală.</a:t>
            </a:r>
            <a:endParaRPr lang="vi-VN" sz="2000" b="1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default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 //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sau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= 0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{} 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/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 Instrument*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= 0; 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/>
          </a:p>
          <a:p>
            <a:pPr>
              <a:defRPr/>
            </a:pPr>
            <a:endParaRPr lang="en-US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Wind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 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 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 play */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  Instrument*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override { return new Wind(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*this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 } 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 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apelăm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cc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 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/* </a:t>
            </a:r>
            <a:r>
              <a:rPr lang="en-US" sz="20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implementare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 play */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  Instrument*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override { return new String(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*this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 } </a:t>
            </a: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dirty="0"/>
          </a:p>
          <a:p>
            <a:pPr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23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defRPr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Soluția corectă 2 (funcție clone)</a:t>
            </a: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Clasa Orchestra se transformă în felul următor:</a:t>
            </a: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-&gt;clone());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rehearse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-&gt;play(0);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}</a:t>
            </a: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buFont typeface="Arial" panose="020B0604020202020204" pitchFamily="34" charset="0"/>
              <a:defRPr/>
            </a:pPr>
            <a:endParaRPr lang="en-US" sz="2000" dirty="0"/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Apelăm funcția clone și în funcția "add" deoarece vrem să fim siguri că obiectul de tip Orchestra </a:t>
            </a:r>
            <a:r>
              <a:rPr lang="vi-VN" sz="2000" b="1" dirty="0">
                <a:latin typeface="Times New Roman" panose="02020603050405020304"/>
                <a:cs typeface="Times New Roman" panose="02020603050405020304"/>
              </a:rPr>
              <a:t>deține toate resursele sale</a:t>
            </a:r>
            <a:r>
              <a:rPr lang="vi-VN" sz="2000" dirty="0">
                <a:latin typeface="Times New Roman" panose="02020603050405020304"/>
                <a:cs typeface="Times New Roman" panose="02020603050405020304"/>
              </a:rPr>
              <a:t>, deci nu depinde de ce se va întâmpla cu parametrii.</a:t>
            </a: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24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Soluția corectă 2 (funcție clone)</a:t>
            </a: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Clasa Orchestra se transformă în felul următor:</a:t>
            </a:r>
            <a:endParaRPr lang="vi-VN" sz="2000" dirty="0">
              <a:latin typeface="Times New Roman" panose="02020603050405020304"/>
            </a:endParaRPr>
          </a:p>
          <a:p>
            <a:pPr>
              <a:buClr>
                <a:srgbClr val="000000"/>
              </a:buCl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b="1" dirty="0" err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inst.clone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}</a:t>
            </a: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   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  //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o1.add(new Wind)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 //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am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avea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memory leak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   String *s1 = new String; o1.add(*s1)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 delete s1; 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// o1 are 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în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continuare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o 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lui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s1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String s2; o1.add(s2);  /* nu se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pune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problema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facem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delete la 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variabilă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locală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*/</a:t>
            </a:r>
            <a:endParaRPr lang="en-US" sz="2000" b="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604020202020204" pitchFamily="34" charset="0"/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25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Este corect acum?</a:t>
            </a:r>
            <a:endParaRPr lang="vi-VN" dirty="0"/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Copierile funcționează, dar nu și atribuirile: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dirty="0"/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   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b="1" dirty="0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s; o1.add(s);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 o2 = o1;    //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constructor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copiere</a:t>
            </a:r>
            <a:endParaRPr lang="en-US" sz="2000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o2 = o1;                    //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operator=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604020202020204" pitchFamily="34" charset="0"/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26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Este corect acum?</a:t>
            </a:r>
            <a:endParaRPr lang="vi-VN" dirty="0"/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Copierile funcționează, dar nu și atribuirile: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dirty="0"/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   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b="1" dirty="0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s; o1.add(s);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 o2 = o1;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o2 = o1;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604020202020204" pitchFamily="34" charset="0"/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3" descr="A computer screen with white text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2" y="4888195"/>
            <a:ext cx="9532481" cy="20920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27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b="1" dirty="0">
                <a:latin typeface="Times New Roman" panose="02020603050405020304"/>
                <a:cs typeface="Arial" panose="020B0604020202020204"/>
              </a:rPr>
              <a:t>Este corect acum?</a:t>
            </a:r>
            <a:endParaRPr lang="vi-VN" dirty="0"/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Copierile funcționează, dar nu și atribuirile:</a:t>
            </a:r>
            <a:endParaRPr lang="vi-VN" sz="2000" dirty="0">
              <a:latin typeface="Times New Roman" panose="02020603050405020304"/>
            </a:endParaRPr>
          </a:p>
          <a:p>
            <a:pPr>
              <a:defRPr/>
            </a:pPr>
            <a:endParaRPr lang="en-US" sz="2000" b="1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rgbClr val="400000"/>
                </a:solidFill>
                <a:latin typeface="Times New Roman" panose="02020603050405020304"/>
                <a:cs typeface="Times New Roman" panose="02020603050405020304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dirty="0"/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   Orchestra o1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b="1" dirty="0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String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s; o1.add(s);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Orchestra o2 = o1;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o2 = o1;</a:t>
            </a:r>
          </a:p>
          <a:p>
            <a:pPr>
              <a:defRPr/>
            </a:pP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604020202020204" pitchFamily="34" charset="0"/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" name="Picture 1" descr="A screenshot of a computer program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587" y="2650045"/>
            <a:ext cx="6973751" cy="407526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28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Suprascriem și operator=</a:t>
            </a:r>
          </a:p>
          <a:p>
            <a:pPr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b="1" dirty="0" err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inst.clone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    if(this == &amp;other)   return *this;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instruments.clear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();</a:t>
            </a:r>
            <a:endParaRPr lang="en-US" dirty="0"/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 return *this;    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29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  <a:hlinkClick r:id="rId3"/>
              </a:rPr>
              <a:t>Regula celor trei</a:t>
            </a:r>
            <a:endParaRPr lang="en-US"/>
          </a:p>
          <a:p>
            <a:pPr>
              <a:defRPr/>
            </a:pP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Dacă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într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-o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clasă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trebuie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să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suprascriem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cc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/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op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=/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destr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cel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mai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probabil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trebuie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suprascrise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toate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cele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trei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funcții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dirty="0" err="1">
                <a:latin typeface="Times New Roman" panose="02020603050405020304"/>
                <a:cs typeface="Arial" panose="020B0604020202020204"/>
              </a:rPr>
              <a:t>speciale</a:t>
            </a:r>
            <a:r>
              <a:rPr lang="vi-VN" sz="2000" b="1" dirty="0">
                <a:latin typeface="Times New Roman" panose="02020603050405020304"/>
                <a:cs typeface="Arial" panose="020B0604020202020204"/>
              </a:rPr>
              <a:t>.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std::vector&lt;Instrument*&gt;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(const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inst.clone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for(const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    if(this == &amp;other)   return *this;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instruments.clear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for(const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return *this;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30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Constructori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și</a:t>
            </a: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</a:t>
            </a:r>
            <a:r>
              <a:rPr lang="en-US" sz="2400" b="1" i="1" dirty="0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virtualizare</a:t>
            </a:r>
            <a:endParaRPr lang="en-US" sz="2400" b="1" i="1" dirty="0">
              <a:solidFill>
                <a:srgbClr val="0000FF"/>
              </a:solidFill>
              <a:latin typeface="Arial" panose="020B0604020202020204"/>
              <a:cs typeface="Times New Roman" panose="02020603050405020304"/>
            </a:endParaRPr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 dirty="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::vector&lt;Instrument*&gt;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void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add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b="1" dirty="0" err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Instrument&amp;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inst.clone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());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 dirty="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 dirty="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    if(this == &amp;other)   return *this;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for(auto*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instruments.clear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();</a:t>
            </a:r>
          </a:p>
          <a:p>
            <a:pPr>
              <a:defRPr/>
            </a:pP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</a:t>
            </a:r>
            <a:r>
              <a:rPr lang="en-US" sz="2000" b="1" dirty="0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</a:t>
            </a:r>
            <a:r>
              <a:rPr lang="en-US" sz="2000" b="1" dirty="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auto&amp;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    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clone()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);   //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se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întâmplă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dacă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nu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reușește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?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return *this;  }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Obiectul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va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fi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într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-o stare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invalidă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!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Am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pierdut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datele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vechi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și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nu am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copiat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datele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noi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.</a:t>
            </a:r>
          </a:p>
          <a:p>
            <a:pPr>
              <a:defRPr/>
            </a:pPr>
            <a:endParaRPr lang="en-US"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31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defRPr/>
            </a:pP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Copy and swap</a:t>
            </a:r>
          </a:p>
          <a:p>
            <a:pPr>
              <a:defRPr/>
            </a:pPr>
            <a:r>
              <a:rPr lang="vi-VN" sz="2000" b="1" err="1">
                <a:latin typeface="Times New Roman" panose="02020603050405020304"/>
                <a:cs typeface="Arial" panose="020B0604020202020204"/>
              </a:rPr>
              <a:t>Soluția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 2.5: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Trebuie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efectuăm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copierea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noilor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atribute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înainte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de a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șterge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datele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vechi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.</a:t>
            </a:r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err="1">
                <a:latin typeface="Times New Roman" panose="02020603050405020304"/>
                <a:cs typeface="Arial" panose="020B0604020202020204"/>
              </a:rPr>
              <a:t>Pentru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copiere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refolosim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implementarea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din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constructorul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copiere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iar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pentru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eliberarea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vechilor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resurse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refolosim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implementarea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destructorului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</a:t>
            </a:r>
            <a:endParaRPr lang="vi-VN"/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std::vector&lt;Instrument*&gt;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for(const auto&amp;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   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-&gt;clone());    }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    if(this == &amp;other)   return *this;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auto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= other;   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se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constructorul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de 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copiere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std::swap(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this-&gt;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copie.instrumente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 sz="20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 return *this;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  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se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destructorul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pentru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</a:t>
            </a:r>
            <a:endParaRPr lang="en-US" err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32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defRPr/>
            </a:pP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Copy and swap</a:t>
            </a:r>
          </a:p>
          <a:p>
            <a:pPr>
              <a:defRPr/>
            </a:pPr>
            <a:r>
              <a:rPr lang="vi-VN" sz="2000" b="1" err="1">
                <a:latin typeface="Times New Roman" panose="02020603050405020304"/>
                <a:cs typeface="Arial" panose="020B0604020202020204"/>
              </a:rPr>
              <a:t>Soluția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 2.6: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Pentru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copiere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putem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apela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constructorul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copiere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transmițând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parametrul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la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operator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=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prin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valoare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simplificând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astfel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codul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</a:t>
            </a:r>
            <a:endParaRPr lang="vi-VN"/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std::vector&lt;Instrument*&gt;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for(const auto&amp;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   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-&gt;clone());    }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operator=(Orchestra other) //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se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constructorul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de 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copiere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{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if(this == &amp;other)   return *this;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std::swap(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this-&gt;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 sz="20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 return *this;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  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se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destructorul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pentru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</a:t>
            </a:r>
            <a:endParaRPr lang="en-US" err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33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defRPr/>
            </a:pP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Copy and swap</a:t>
            </a:r>
          </a:p>
          <a:p>
            <a:pPr>
              <a:defRPr/>
            </a:pPr>
            <a:r>
              <a:rPr lang="vi-VN" sz="2000" b="1" err="1">
                <a:latin typeface="Times New Roman" panose="02020603050405020304"/>
                <a:cs typeface="Arial" panose="020B0604020202020204"/>
              </a:rPr>
              <a:t>Caz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general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partea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swap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poate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refolosită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situații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motiv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pentru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care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definim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o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funcție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separată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swap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</a:t>
            </a:r>
            <a:endParaRPr lang="vi-VN"/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std::vector&lt;Instrument*&gt;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Orchestra() = default;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~Orchestra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{ for(auto*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 instruments)  delete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}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other) {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for(const auto&amp;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: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other.instruments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   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instruments.push_back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inst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-&gt;clone());    }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Orchestra&amp; operator=(Orchestra other) //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se 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constructorul</a:t>
            </a:r>
            <a:r>
              <a:rPr lang="en-US" sz="20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de 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copiere</a:t>
            </a:r>
            <a:endParaRPr lang="en-US" sz="20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{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if(this == &amp;other)   return *this;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swap(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this, other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 sz="200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 return *this;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  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aici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se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apelează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destructorul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pentru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copie</a:t>
            </a:r>
            <a:endParaRPr lang="en-US" err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34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defRPr/>
            </a:pP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Copy and swap</a:t>
            </a:r>
          </a:p>
          <a:p>
            <a:pPr>
              <a:defRPr/>
            </a:pPr>
            <a:r>
              <a:rPr lang="vi-VN" sz="2000" b="1" err="1">
                <a:latin typeface="Times New Roman" panose="02020603050405020304"/>
                <a:cs typeface="Arial" panose="020B0604020202020204"/>
              </a:rPr>
              <a:t>Caz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general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partea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swap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poate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refolosită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situații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motiv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pentru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care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definim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o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funcție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separată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swap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</a:t>
            </a:r>
            <a:endParaRPr lang="vi-VN"/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Orchestra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codul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anterior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friend void 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swap(Orchestra&amp; o1, Orchestra&amp; o2) {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using std::swap;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swap(o1.instrumente, o2.instrumente);</a:t>
            </a:r>
          </a:p>
          <a:p>
            <a:pPr indent="457200"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//swap(o1.dirijor, o2.dirijor);</a:t>
            </a:r>
          </a:p>
          <a:p>
            <a:pPr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</a:p>
          <a:p>
            <a:pPr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 sz="2000">
                <a:latin typeface="Arial" panose="020B0604020202020204"/>
                <a:cs typeface="Arial" panose="020B0604020202020204"/>
              </a:rPr>
              <a:t>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funcție</a:t>
            </a:r>
            <a:r>
              <a:rPr lang="en-US" sz="2000">
                <a:latin typeface="Arial" panose="020B0604020202020204"/>
                <a:cs typeface="Arial" panose="020B0604020202020204"/>
              </a:rPr>
              <a:t> friend?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Dacă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altă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clasă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avem</a:t>
            </a:r>
            <a:r>
              <a:rPr lang="en-US" sz="2000">
                <a:latin typeface="Arial" panose="020B0604020202020204"/>
                <a:cs typeface="Arial" panose="020B0604020202020204"/>
              </a:rPr>
              <a:t> o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funcție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swap,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aceasta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va</a:t>
            </a:r>
            <a:r>
              <a:rPr lang="en-US" sz="2000">
                <a:latin typeface="Arial" panose="020B0604020202020204"/>
                <a:cs typeface="Arial" panose="020B0604020202020204"/>
              </a:rPr>
              <a:t> fi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găsită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ADL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en-US" sz="2000">
                <a:latin typeface="Arial" panose="020B0604020202020204"/>
                <a:cs typeface="Arial" panose="020B0604020202020204"/>
              </a:rPr>
              <a:t>ADL (argument dependent lookup)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găsește</a:t>
            </a:r>
            <a:r>
              <a:rPr lang="en-US" sz="2000">
                <a:latin typeface="Arial" panose="020B0604020202020204"/>
                <a:cs typeface="Arial" panose="020B0604020202020204"/>
              </a:rPr>
              <a:t> (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doar</a:t>
            </a:r>
            <a:r>
              <a:rPr lang="en-US" sz="2000">
                <a:latin typeface="Arial" panose="020B0604020202020204"/>
                <a:cs typeface="Arial" panose="020B0604020202020204"/>
              </a:rPr>
              <a:t>)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>
                <a:latin typeface="Arial" panose="020B0604020202020204"/>
                <a:cs typeface="Arial" panose="020B0604020202020204"/>
              </a:rPr>
              <a:t> friend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endParaRPr lang="en-US" sz="20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 sz="2000">
                <a:latin typeface="Arial" panose="020B0604020202020204"/>
                <a:cs typeface="Arial" panose="020B0604020202020204"/>
              </a:rPr>
              <a:t>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ce</a:t>
            </a:r>
            <a:r>
              <a:rPr lang="en-US" sz="2000">
                <a:latin typeface="Arial" panose="020B0604020202020204"/>
                <a:cs typeface="Arial" panose="020B0604020202020204"/>
              </a:rPr>
              <a:t> "using std::swap"?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Pentru</a:t>
            </a:r>
            <a:r>
              <a:rPr lang="en-US" sz="2000">
                <a:latin typeface="Arial" panose="020B0604020202020204"/>
                <a:cs typeface="Arial" panose="020B0604020202020204"/>
              </a:rPr>
              <a:t> a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scrie</a:t>
            </a:r>
            <a:r>
              <a:rPr lang="en-US" sz="2000">
                <a:latin typeface="Arial" panose="020B0604020202020204"/>
                <a:cs typeface="Arial" panose="020B0604020202020204"/>
              </a:rPr>
              <a:t> la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fel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toate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apelurile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swap, nu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unele</a:t>
            </a:r>
            <a:r>
              <a:rPr lang="en-US" sz="2000">
                <a:latin typeface="Arial" panose="020B0604020202020204"/>
                <a:cs typeface="Arial" panose="020B0604020202020204"/>
              </a:rPr>
              <a:t> cu std::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altele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doar</a:t>
            </a:r>
            <a:r>
              <a:rPr lang="en-US" sz="2000">
                <a:latin typeface="Arial" panose="020B0604020202020204"/>
                <a:cs typeface="Arial" panose="020B0604020202020204"/>
              </a:rPr>
              <a:t> swap</a:t>
            </a: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35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RAII (resource acquisition is initialization)</a:t>
            </a:r>
            <a:endParaRPr lang="en-US"/>
          </a:p>
          <a:p>
            <a:pPr>
              <a:defRPr/>
            </a:pPr>
            <a:endParaRPr lang="vi-VN" sz="2000" b="1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err="1">
                <a:latin typeface="Times New Roman" panose="02020603050405020304"/>
                <a:cs typeface="Arial" panose="020B0604020202020204"/>
              </a:rPr>
              <a:t>Ideea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gestionare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a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resurselor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C++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este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aceea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resursele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trebui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alocate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doar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constructori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și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eliberate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doar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destructori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.</a:t>
            </a:r>
          </a:p>
          <a:p>
            <a:pPr>
              <a:defRPr/>
            </a:pPr>
            <a:r>
              <a:rPr lang="vi-VN" sz="2000" b="1">
                <a:latin typeface="Times New Roman" panose="02020603050405020304"/>
                <a:cs typeface="Arial" panose="020B0604020202020204"/>
              </a:rPr>
              <a:t>De </a:t>
            </a:r>
            <a:r>
              <a:rPr lang="vi-VN" sz="2000" b="1" err="1">
                <a:latin typeface="Times New Roman" panose="02020603050405020304"/>
                <a:cs typeface="Arial" panose="020B0604020202020204"/>
              </a:rPr>
              <a:t>ce</a:t>
            </a:r>
            <a:r>
              <a:rPr lang="vi-VN" sz="2000" b="1">
                <a:latin typeface="Times New Roman" panose="02020603050405020304"/>
                <a:cs typeface="Arial" panose="020B0604020202020204"/>
              </a:rPr>
              <a:t>?</a:t>
            </a: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err="1">
                <a:latin typeface="Times New Roman" panose="02020603050405020304"/>
                <a:cs typeface="Arial" panose="020B0604020202020204"/>
              </a:rPr>
              <a:t>Constructorii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și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destructorii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sunt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apelați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automat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limbaj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.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Dacă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nu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facem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alocări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/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dezalocări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locuri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este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imposibil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avem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memory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leaks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într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-un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program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corect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.</a:t>
            </a:r>
            <a:endParaRPr lang="vi-VN" sz="2000" b="1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err="1">
                <a:latin typeface="Times New Roman" panose="02020603050405020304"/>
                <a:cs typeface="Arial" panose="020B0604020202020204"/>
              </a:rPr>
              <a:t>Așadar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,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spre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deosebire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multe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alte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limbaje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OOP, nu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apare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necesitatea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 de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garbage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collection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folosind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RAII nu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lăsăm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în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urmă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"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gunoaie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".</a:t>
            </a:r>
          </a:p>
          <a:p>
            <a:pPr>
              <a:defRPr/>
            </a:pPr>
            <a:endParaRPr lang="vi-VN" sz="200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err="1">
                <a:latin typeface="Times New Roman" panose="02020603050405020304"/>
                <a:cs typeface="Arial" panose="020B0604020202020204"/>
              </a:rPr>
              <a:t>Exemplu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de RAII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din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limbaj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: </a:t>
            </a:r>
            <a:r>
              <a:rPr lang="vi-VN" sz="2000" err="1">
                <a:latin typeface="Times New Roman" panose="02020603050405020304"/>
                <a:cs typeface="Arial" panose="020B0604020202020204"/>
              </a:rPr>
              <a:t>smart</a:t>
            </a:r>
            <a:r>
              <a:rPr lang="vi-VN" sz="2000">
                <a:latin typeface="Times New Roman" panose="02020603050405020304"/>
                <a:cs typeface="Arial" panose="020B0604020202020204"/>
              </a:rPr>
              <a:t> pointers.</a:t>
            </a: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36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644267" cy="58435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dirty="0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RAII (resource acquisition is initialization)</a:t>
            </a:r>
            <a:endParaRPr lang="en-US" dirty="0"/>
          </a:p>
          <a:p>
            <a:pPr>
              <a:defRPr/>
            </a:pPr>
            <a:endParaRPr lang="vi-VN" sz="2000" b="1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Pentru a folosi smart pointers în funcțiile de clone, avem de făcut doar aceste modificări:</a:t>
            </a:r>
            <a:endParaRPr lang="vi-VN" sz="2000" dirty="0">
              <a:latin typeface="Times New Roman" panose="02020603050405020304"/>
            </a:endParaRP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Înlocuim Instrument* cu std::shared_ptr&lt;Instrument&gt;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Înlocuim new Wind(args) cu std::make_shared&lt;Wind&gt;(args) (idem pentru String)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Eliminăm apelurile de delete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Avantaje: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Nu avem nevoie de destructori expliciți în care să facem delete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Este corect să facem apeluri de forma</a:t>
            </a:r>
          </a:p>
          <a:p>
            <a:pPr lvl="2"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func(std::make_shared&lt;T1&gt;(), std::make_shared&lt;T2&gt;</a:t>
            </a:r>
            <a:r>
              <a:rPr lang="en-US" altLang="vi-VN" sz="2000" dirty="0">
                <a:latin typeface="Times New Roman" panose="02020603050405020304"/>
                <a:cs typeface="Arial" panose="020B0604020202020204"/>
              </a:rPr>
              <a:t>()</a:t>
            </a:r>
            <a:r>
              <a:rPr lang="vi-VN" sz="2000" dirty="0">
                <a:latin typeface="Times New Roman" panose="02020603050405020304"/>
                <a:cs typeface="Arial" panose="020B0604020202020204"/>
              </a:rPr>
              <a:t>)</a:t>
            </a:r>
          </a:p>
          <a:p>
            <a:pPr>
              <a:defRPr/>
            </a:pPr>
            <a:endParaRPr lang="vi-VN" sz="2000" dirty="0">
              <a:latin typeface="Times New Roman" panose="02020603050405020304"/>
              <a:cs typeface="Arial" panose="020B0604020202020204"/>
            </a:endParaRPr>
          </a:p>
          <a:p>
            <a:pPr>
              <a:buFont typeface="Calibri" panose="020F0502020204030204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Dezavantaj:</a:t>
            </a:r>
          </a:p>
          <a:p>
            <a:pPr marL="342900" indent="-342900">
              <a:buFont typeface="Calibri" panose="020F0502020204030204"/>
              <a:buChar char="-"/>
              <a:defRPr/>
            </a:pPr>
            <a:r>
              <a:rPr lang="vi-VN" sz="2000" dirty="0">
                <a:latin typeface="Times New Roman" panose="02020603050405020304"/>
                <a:cs typeface="Arial" panose="020B0604020202020204"/>
              </a:rPr>
              <a:t>Nu putem folosi tipuri de date covariante</a:t>
            </a: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37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4706820" cy="58178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Tipuri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de date 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covariante</a:t>
            </a:r>
            <a:endParaRPr lang="en-US" err="1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#include &lt;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iostream</a:t>
            </a:r>
            <a:r>
              <a:rPr lang="vi-VN" sz="1800">
                <a:latin typeface="Arial" panose="020B0604020202020204"/>
                <a:cs typeface="Arial" panose="020B0604020202020204"/>
              </a:rPr>
              <a:t>&gt;</a:t>
            </a: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class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>
                <a:latin typeface="Arial" panose="020B0604020202020204"/>
                <a:cs typeface="Arial" panose="020B0604020202020204"/>
              </a:rPr>
              <a:t> {</a:t>
            </a:r>
            <a:endParaRPr lang="vi-VN" sz="1800">
              <a:latin typeface="Arial" panose="020B0604020202020204"/>
            </a:endParaRPr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public</a:t>
            </a:r>
            <a:r>
              <a:rPr lang="vi-VN" sz="1800">
                <a:latin typeface="Arial" panose="020B0604020202020204"/>
                <a:cs typeface="Arial" panose="020B0604020202020204"/>
              </a:rPr>
              <a:t>:</a:t>
            </a:r>
            <a:endParaRPr lang="vi-VN" sz="1800">
              <a:latin typeface="Arial" panose="020B0604020202020204"/>
            </a:endParaRPr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virtual</a:t>
            </a:r>
            <a:r>
              <a:rPr lang="vi-VN" sz="1800">
                <a:latin typeface="Arial" panose="020B0604020202020204"/>
                <a:cs typeface="Arial" panose="020B0604020202020204"/>
              </a:rPr>
              <a:t> ~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>
                <a:latin typeface="Arial" panose="020B0604020202020204"/>
                <a:cs typeface="Arial" panose="020B0604020202020204"/>
              </a:rPr>
              <a:t>() =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default</a:t>
            </a:r>
            <a:r>
              <a:rPr lang="vi-VN" sz="1800">
                <a:latin typeface="Arial" panose="020B0604020202020204"/>
                <a:cs typeface="Arial" panose="020B0604020202020204"/>
              </a:rPr>
              <a:t>;</a:t>
            </a:r>
            <a:endParaRPr lang="vi-VN" sz="1800">
              <a:latin typeface="Arial" panose="020B0604020202020204"/>
            </a:endParaRPr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virtual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b="1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*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clone</a:t>
            </a:r>
            <a:r>
              <a:rPr lang="vi-VN" sz="1800">
                <a:latin typeface="Arial" panose="020B0604020202020204"/>
                <a:cs typeface="Arial" panose="020B0604020202020204"/>
              </a:rPr>
              <a:t>()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const</a:t>
            </a:r>
            <a:r>
              <a:rPr lang="vi-VN" sz="1800">
                <a:latin typeface="Arial" panose="020B0604020202020204"/>
                <a:cs typeface="Arial" panose="020B0604020202020204"/>
              </a:rPr>
              <a:t> = 0;</a:t>
            </a:r>
            <a:endParaRPr lang="vi-VN" sz="1800">
              <a:latin typeface="Arial" panose="020B0604020202020204"/>
            </a:endParaRPr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};</a:t>
            </a:r>
            <a:endParaRPr lang="vi-VN" sz="1800">
              <a:latin typeface="Arial" panose="020B0604020202020204"/>
            </a:endParaRPr>
          </a:p>
          <a:p>
            <a:pPr>
              <a:defRPr/>
            </a:pP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class</a:t>
            </a:r>
            <a:r>
              <a:rPr lang="vi-VN" sz="1800">
                <a:latin typeface="Arial" panose="020B0604020202020204"/>
                <a:cs typeface="Arial" panose="020B0604020202020204"/>
              </a:rPr>
              <a:t> Derivata1 :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public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>
                <a:latin typeface="Arial" panose="020B0604020202020204"/>
                <a:cs typeface="Arial" panose="020B0604020202020204"/>
              </a:rPr>
              <a:t> {</a:t>
            </a: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public</a:t>
            </a:r>
            <a:r>
              <a:rPr lang="vi-VN" sz="1800">
                <a:latin typeface="Arial" panose="020B0604020202020204"/>
                <a:cs typeface="Arial" panose="020B0604020202020204"/>
              </a:rPr>
              <a:t>: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b="1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*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clone</a:t>
            </a:r>
            <a:r>
              <a:rPr lang="vi-VN" sz="1800">
                <a:latin typeface="Arial" panose="020B0604020202020204"/>
                <a:cs typeface="Arial" panose="020B0604020202020204"/>
              </a:rPr>
              <a:t>()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const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override</a:t>
            </a:r>
            <a:r>
              <a:rPr lang="vi-VN" sz="1800">
                <a:latin typeface="Arial" panose="020B0604020202020204"/>
                <a:cs typeface="Arial" panose="020B0604020202020204"/>
              </a:rPr>
              <a:t> {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     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return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new</a:t>
            </a:r>
            <a:r>
              <a:rPr lang="vi-VN" sz="1800">
                <a:latin typeface="Arial" panose="020B0604020202020204"/>
                <a:cs typeface="Arial" panose="020B0604020202020204"/>
              </a:rPr>
              <a:t> Derivata1(*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this</a:t>
            </a:r>
            <a:r>
              <a:rPr lang="vi-VN" sz="1800">
                <a:latin typeface="Arial" panose="020B0604020202020204"/>
                <a:cs typeface="Arial" panose="020B0604020202020204"/>
              </a:rPr>
              <a:t>);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   }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void</a:t>
            </a:r>
            <a:r>
              <a:rPr lang="vi-VN" sz="1800">
                <a:latin typeface="Arial" panose="020B0604020202020204"/>
                <a:cs typeface="Arial" panose="020B0604020202020204"/>
              </a:rPr>
              <a:t> f() {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std</a:t>
            </a:r>
            <a:r>
              <a:rPr lang="vi-VN" sz="1800">
                <a:latin typeface="Arial" panose="020B0604020202020204"/>
                <a:cs typeface="Arial" panose="020B0604020202020204"/>
              </a:rPr>
              <a:t>::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cout</a:t>
            </a:r>
            <a:r>
              <a:rPr lang="vi-VN" sz="1800">
                <a:latin typeface="Arial" panose="020B0604020202020204"/>
                <a:cs typeface="Arial" panose="020B0604020202020204"/>
              </a:rPr>
              <a:t> &lt;&lt; "f der1\n"; }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};</a:t>
            </a: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class</a:t>
            </a:r>
            <a:r>
              <a:rPr lang="vi-VN" sz="1800">
                <a:latin typeface="Arial" panose="020B0604020202020204"/>
                <a:cs typeface="Arial" panose="020B0604020202020204"/>
              </a:rPr>
              <a:t> Derivata2 :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public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Baza</a:t>
            </a:r>
            <a:r>
              <a:rPr lang="vi-VN" sz="1800">
                <a:latin typeface="Arial" panose="020B0604020202020204"/>
                <a:cs typeface="Arial" panose="020B0604020202020204"/>
              </a:rPr>
              <a:t> {</a:t>
            </a: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public</a:t>
            </a:r>
            <a:r>
              <a:rPr lang="vi-VN" sz="1800">
                <a:latin typeface="Arial" panose="020B0604020202020204"/>
                <a:cs typeface="Arial" panose="020B0604020202020204"/>
              </a:rPr>
              <a:t>: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Derivata2*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clone</a:t>
            </a:r>
            <a:r>
              <a:rPr lang="vi-VN" sz="1800">
                <a:latin typeface="Arial" panose="020B0604020202020204"/>
                <a:cs typeface="Arial" panose="020B0604020202020204"/>
              </a:rPr>
              <a:t>()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const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override</a:t>
            </a:r>
            <a:r>
              <a:rPr lang="vi-VN" sz="1800">
                <a:latin typeface="Arial" panose="020B0604020202020204"/>
                <a:cs typeface="Arial" panose="020B0604020202020204"/>
              </a:rPr>
              <a:t> {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     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return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new</a:t>
            </a:r>
            <a:r>
              <a:rPr lang="vi-VN" sz="1800">
                <a:latin typeface="Arial" panose="020B0604020202020204"/>
                <a:cs typeface="Arial" panose="020B0604020202020204"/>
              </a:rPr>
              <a:t> Derivata2(*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this</a:t>
            </a:r>
            <a:r>
              <a:rPr lang="vi-VN" sz="1800">
                <a:latin typeface="Arial" panose="020B0604020202020204"/>
                <a:cs typeface="Arial" panose="020B0604020202020204"/>
              </a:rPr>
              <a:t>);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   }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void</a:t>
            </a:r>
            <a:r>
              <a:rPr lang="vi-VN" sz="1800">
                <a:latin typeface="Arial" panose="020B0604020202020204"/>
                <a:cs typeface="Arial" panose="020B0604020202020204"/>
              </a:rPr>
              <a:t> g() {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std</a:t>
            </a:r>
            <a:r>
              <a:rPr lang="vi-VN" sz="1800">
                <a:latin typeface="Arial" panose="020B0604020202020204"/>
                <a:cs typeface="Arial" panose="020B0604020202020204"/>
              </a:rPr>
              <a:t>::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cout</a:t>
            </a:r>
            <a:r>
              <a:rPr lang="vi-VN" sz="1800">
                <a:latin typeface="Arial" panose="020B0604020202020204"/>
                <a:cs typeface="Arial" panose="020B0604020202020204"/>
              </a:rPr>
              <a:t> &lt;&lt; "g der2\n"; }</a:t>
            </a:r>
            <a:endParaRPr lang="vi-VN" sz="1800"/>
          </a:p>
          <a:p>
            <a:pPr>
              <a:defRPr/>
            </a:pPr>
            <a:r>
              <a:rPr lang="vi-VN" sz="1800">
                <a:latin typeface="Arial" panose="020B0604020202020204"/>
                <a:cs typeface="Arial" panose="020B0604020202020204"/>
              </a:rPr>
              <a:t>};</a:t>
            </a:r>
            <a:endParaRPr lang="vi-VN" sz="1800"/>
          </a:p>
          <a:p>
            <a:pPr>
              <a:defRPr/>
            </a:pPr>
            <a:endParaRPr lang="vi-VN"/>
          </a:p>
          <a:p>
            <a:pPr>
              <a:defRPr/>
            </a:pPr>
            <a:endParaRPr lang="vi-VN" sz="2000">
              <a:latin typeface="Times New Roman" panose="020206030504050203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Google Shape;808;p74"/>
          <p:cNvSpPr txBox="1">
            <a:spLocks noChangeArrowheads="1"/>
          </p:cNvSpPr>
          <p:nvPr/>
        </p:nvSpPr>
        <p:spPr bwMode="auto">
          <a:xfrm>
            <a:off x="4977736" y="1641268"/>
            <a:ext cx="4886832" cy="405645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int main() {</a:t>
            </a:r>
            <a:endParaRPr lang="en-US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Baza* b1 = new Derivata1;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// Derivata1* d1 = b1-&gt;clone();  // eroare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// b1-&gt;f();  // eroare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delete b1;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Baza* b2 = new Derivata2;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Derivata2 d2;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// Derivata2* d2_1 = b2-&gt;clone();  // eroare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Derivata2* d2_2 = d2.clone();  // ok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</a:t>
            </a:r>
            <a:r>
              <a:rPr lang="vi-VN" sz="1800" b="1" dirty="0">
                <a:latin typeface="Arial" panose="020B0604020202020204"/>
                <a:cs typeface="Arial" panose="020B0604020202020204"/>
              </a:rPr>
              <a:t>d2_2-&gt;g();  // ok</a:t>
            </a:r>
            <a:endParaRPr lang="vi-VN" b="1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delete b2;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    delete d2_2;</a:t>
            </a:r>
            <a:endParaRPr lang="vi-VN" dirty="0"/>
          </a:p>
          <a:p>
            <a:pPr>
              <a:defRPr/>
            </a:pPr>
            <a:r>
              <a:rPr lang="vi-VN" sz="1800" dirty="0">
                <a:latin typeface="Arial" panose="020B0604020202020204"/>
                <a:cs typeface="Arial" panose="020B0604020202020204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38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477115" cy="58178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Interfață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non-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(NVI)</a:t>
            </a:r>
            <a:endParaRPr lang="en-US" err="1"/>
          </a:p>
          <a:p>
            <a:pPr>
              <a:defRPr/>
            </a:pPr>
            <a:endParaRPr lang="vi-VN" sz="18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vi-VN" sz="1800" b="1" err="1">
                <a:latin typeface="Arial" panose="020B0604020202020204"/>
                <a:cs typeface="Arial" panose="020B0604020202020204"/>
              </a:rPr>
              <a:t>Utilitate</a:t>
            </a:r>
            <a:r>
              <a:rPr lang="vi-VN" sz="1800" b="1">
                <a:latin typeface="Arial" panose="020B0604020202020204"/>
                <a:cs typeface="Arial" panose="020B0604020202020204"/>
              </a:rPr>
              <a:t>: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toate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clasele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derivate</a:t>
            </a:r>
            <a:r>
              <a:rPr lang="vi-VN" sz="1800">
                <a:latin typeface="Arial" panose="020B0604020202020204"/>
                <a:cs typeface="Arial" panose="020B0604020202020204"/>
              </a:rPr>
              <a:t> au o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implementare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comună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și</a:t>
            </a:r>
            <a:r>
              <a:rPr lang="vi-VN" sz="1800">
                <a:latin typeface="Arial" panose="020B0604020202020204"/>
                <a:cs typeface="Arial" panose="020B0604020202020204"/>
              </a:rPr>
              <a:t> au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nevoie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suprascrie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doar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anumite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porțiuni</a:t>
            </a:r>
            <a:r>
              <a:rPr lang="vi-VN" sz="1800">
                <a:latin typeface="Arial" panose="020B0604020202020204"/>
                <a:cs typeface="Arial" panose="020B0604020202020204"/>
              </a:rPr>
              <a:t>.</a:t>
            </a:r>
          </a:p>
          <a:p>
            <a:pPr>
              <a:defRPr/>
            </a:pP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Exemplu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fără</a:t>
            </a:r>
            <a:r>
              <a:rPr lang="vi-VN" sz="1800">
                <a:latin typeface="Arial" panose="020B0604020202020204"/>
                <a:cs typeface="Arial" panose="020B0604020202020204"/>
              </a:rPr>
              <a:t> NVI: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observăm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doar</a:t>
            </a:r>
            <a:r>
              <a:rPr lang="vi-VN" sz="1800">
                <a:latin typeface="Arial" panose="020B0604020202020204"/>
                <a:cs typeface="Arial" panose="020B0604020202020204"/>
              </a:rPr>
              <a:t> o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mică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parte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din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implementările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din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derivate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diferă</a:t>
            </a:r>
            <a:r>
              <a:rPr lang="vi-VN" sz="1800">
                <a:latin typeface="Arial" panose="020B0604020202020204"/>
                <a:cs typeface="Arial" panose="020B0604020202020204"/>
              </a:rPr>
              <a:t>.</a:t>
            </a:r>
            <a:endParaRPr lang="vi-VN" sz="1800" err="1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default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virtual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{} 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/>
          </a:p>
          <a:p>
            <a:pPr>
              <a:defRPr/>
            </a:pPr>
            <a:endParaRPr lang="en-US" sz="2000" b="1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Wind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 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 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readNote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prepare();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&lt;&lt; "play wind\n";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rest(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10ms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 sz="2000" b="1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Google Shape;808;p74"/>
          <p:cNvSpPr txBox="1">
            <a:spLocks noChangeArrowheads="1"/>
          </p:cNvSpPr>
          <p:nvPr/>
        </p:nvSpPr>
        <p:spPr bwMode="auto">
          <a:xfrm>
            <a:off x="5095942" y="4455144"/>
            <a:ext cx="4179644" cy="29379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String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 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 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readNote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prepare();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&lt;&lt; "play string\n";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rest(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10ms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 sz="2000" b="1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39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477115" cy="58178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Interfață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non-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(NVI)</a:t>
            </a:r>
            <a:endParaRPr lang="en-US" err="1"/>
          </a:p>
          <a:p>
            <a:pPr>
              <a:defRPr/>
            </a:pPr>
            <a:endParaRPr lang="vi-VN" sz="18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Exemplu</a:t>
            </a:r>
            <a:r>
              <a:rPr lang="vi-VN" sz="1800">
                <a:latin typeface="Arial" panose="020B0604020202020204"/>
                <a:cs typeface="Arial" panose="020B0604020202020204"/>
              </a:rPr>
              <a:t> cu NVI: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mutăm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partea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comună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în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clasa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bază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iar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derivatele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suprascriu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strict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partea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care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diferă</a:t>
            </a:r>
            <a:r>
              <a:rPr lang="vi-VN" sz="1800">
                <a:latin typeface="Arial" panose="020B0604020202020204"/>
                <a:cs typeface="Arial" panose="020B0604020202020204"/>
              </a:rPr>
              <a:t>.</a:t>
            </a:r>
            <a:endParaRPr lang="vi-VN" sz="1800" err="1"/>
          </a:p>
          <a:p>
            <a:pPr>
              <a:defRPr/>
            </a:pPr>
            <a:endParaRPr lang="en-US" sz="2000"/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   virtual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~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default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  <a:endParaRPr lang="en-US"/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   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void perform(int 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 const {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readNote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    prepare();    play(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note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    rest(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10ms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 sz="2000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}</a:t>
            </a:r>
            <a:endParaRPr lang="en-US"/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private:</a:t>
            </a:r>
            <a:endParaRPr lang="en-US"/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virtual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{} 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/>
          </a:p>
          <a:p>
            <a:pPr>
              <a:defRPr/>
            </a:pPr>
            <a:endParaRPr lang="en-US" sz="2000" b="1">
              <a:solidFill>
                <a:srgbClr val="80000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Wind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 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 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&lt;&lt; "play wind\n";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 sz="2000" b="1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Google Shape;808;p74"/>
          <p:cNvSpPr txBox="1">
            <a:spLocks noChangeArrowheads="1"/>
          </p:cNvSpPr>
          <p:nvPr/>
        </p:nvSpPr>
        <p:spPr bwMode="auto">
          <a:xfrm>
            <a:off x="5095942" y="5303311"/>
            <a:ext cx="4372514" cy="211511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class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String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public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Instrument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public: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void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play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int note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 b="1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const override {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    std::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 &lt;&lt; "play string\n";</a:t>
            </a:r>
          </a:p>
          <a:p>
            <a:pPr>
              <a:defRPr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};</a:t>
            </a:r>
            <a:endParaRPr lang="en-US" sz="2000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 sz="2000" b="1">
              <a:solidFill>
                <a:srgbClr val="80008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805;p7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21CDE78-C7C1-4250-B45F-831A8C5D6348}" type="slidenum">
              <a:rPr lang="en-US" sz="1500"/>
              <a:t>40</a:t>
            </a:fld>
            <a:endParaRPr lang="en-US" sz="1800"/>
          </a:p>
        </p:txBody>
      </p:sp>
      <p:sp>
        <p:nvSpPr>
          <p:cNvPr id="61445" name="Google Shape;808;p74"/>
          <p:cNvSpPr txBox="1">
            <a:spLocks noChangeArrowheads="1"/>
          </p:cNvSpPr>
          <p:nvPr/>
        </p:nvSpPr>
        <p:spPr bwMode="auto">
          <a:xfrm>
            <a:off x="274638" y="1254125"/>
            <a:ext cx="9477115" cy="58178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defRPr/>
            </a:pP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Interfață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non-</a:t>
            </a:r>
            <a:r>
              <a:rPr lang="en-US" sz="2400" b="1" i="1" err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virtuală</a:t>
            </a:r>
            <a:r>
              <a:rPr lang="en-US" sz="2400" b="1" i="1">
                <a:solidFill>
                  <a:srgbClr val="0000FF"/>
                </a:solidFill>
                <a:latin typeface="Arial" panose="020B0604020202020204"/>
                <a:cs typeface="Times New Roman" panose="02020603050405020304"/>
              </a:rPr>
              <a:t> (NVI)</a:t>
            </a:r>
            <a:endParaRPr lang="en-US" err="1"/>
          </a:p>
          <a:p>
            <a:pPr>
              <a:defRPr/>
            </a:pPr>
            <a:endParaRPr lang="vi-VN" sz="180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Prin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această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abordare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este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mult</a:t>
            </a:r>
            <a:r>
              <a:rPr lang="vi-VN" sz="1800">
                <a:latin typeface="Arial" panose="020B0604020202020204"/>
                <a:cs typeface="Arial" panose="020B0604020202020204"/>
              </a:rPr>
              <a:t> mai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ușor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modificăm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în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mod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uniform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structura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implementării</a:t>
            </a:r>
            <a:r>
              <a:rPr lang="vi-VN" sz="1800">
                <a:latin typeface="Arial" panose="020B0604020202020204"/>
                <a:cs typeface="Arial" panose="020B0604020202020204"/>
              </a:rPr>
              <a:t> la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nivelul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întregii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ierarhii</a:t>
            </a:r>
            <a:r>
              <a:rPr lang="vi-VN" sz="1800">
                <a:latin typeface="Arial" panose="020B0604020202020204"/>
                <a:cs typeface="Arial" panose="020B0604020202020204"/>
              </a:rPr>
              <a:t> (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și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avem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recompilat</a:t>
            </a:r>
            <a:r>
              <a:rPr lang="vi-VN" sz="1800">
                <a:latin typeface="Arial" panose="020B0604020202020204"/>
                <a:cs typeface="Arial" panose="020B0604020202020204"/>
              </a:rPr>
              <a:t> un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singur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fișier</a:t>
            </a:r>
            <a:r>
              <a:rPr lang="vi-VN" sz="1800">
                <a:latin typeface="Arial" panose="020B0604020202020204"/>
                <a:cs typeface="Arial" panose="020B0604020202020204"/>
              </a:rPr>
              <a:t>).</a:t>
            </a:r>
            <a:endParaRPr lang="vi-VN" sz="1800" err="1"/>
          </a:p>
          <a:p>
            <a:pPr>
              <a:defRPr/>
            </a:pP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În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plus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prin</a:t>
            </a:r>
            <a:r>
              <a:rPr lang="vi-VN" sz="1800">
                <a:latin typeface="Arial" panose="020B0604020202020204"/>
                <a:cs typeface="Arial" panose="020B0604020202020204"/>
              </a:rPr>
              <a:t> NVI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forțăm</a:t>
            </a:r>
            <a:r>
              <a:rPr lang="vi-VN" sz="1800">
                <a:latin typeface="Arial" panose="020B0604020202020204"/>
                <a:cs typeface="Arial" panose="020B0604020202020204"/>
              </a:rPr>
              <a:t> ca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apelul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să</a:t>
            </a:r>
            <a:r>
              <a:rPr lang="vi-VN" sz="1800">
                <a:latin typeface="Arial" panose="020B0604020202020204"/>
                <a:cs typeface="Arial" panose="020B0604020202020204"/>
              </a:rPr>
              <a:t> se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realizeze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doar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prin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funcția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publică</a:t>
            </a:r>
            <a:r>
              <a:rPr lang="vi-VN" sz="1800">
                <a:latin typeface="Arial" panose="020B0604020202020204"/>
                <a:cs typeface="Arial" panose="020B0604020202020204"/>
              </a:rPr>
              <a:t> non-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virtuală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ceea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ce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înseamnă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că</a:t>
            </a:r>
            <a:r>
              <a:rPr lang="vi-VN" sz="1800">
                <a:latin typeface="Arial" panose="020B0604020202020204"/>
                <a:cs typeface="Arial" panose="020B0604020202020204"/>
              </a:rPr>
              <a:t> o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derivată</a:t>
            </a:r>
            <a:r>
              <a:rPr lang="vi-VN" sz="1800">
                <a:latin typeface="Arial" panose="020B0604020202020204"/>
                <a:cs typeface="Arial" panose="020B0604020202020204"/>
              </a:rPr>
              <a:t> nu va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putea</a:t>
            </a:r>
            <a:r>
              <a:rPr lang="vi-VN" sz="1800">
                <a:latin typeface="Arial" panose="020B0604020202020204"/>
                <a:cs typeface="Arial" panose="020B0604020202020204"/>
              </a:rPr>
              <a:t> "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ocoli</a:t>
            </a:r>
            <a:r>
              <a:rPr lang="vi-VN" sz="1800">
                <a:latin typeface="Arial" panose="020B0604020202020204"/>
                <a:cs typeface="Arial" panose="020B0604020202020204"/>
              </a:rPr>
              <a:t>"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implementarea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comună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impusă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clasa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bază</a:t>
            </a:r>
            <a:r>
              <a:rPr lang="vi-VN" sz="1800">
                <a:latin typeface="Arial" panose="020B0604020202020204"/>
                <a:cs typeface="Arial" panose="020B0604020202020204"/>
              </a:rPr>
              <a:t>.</a:t>
            </a:r>
            <a:endParaRPr lang="vi-VN" sz="1800" err="1"/>
          </a:p>
          <a:p>
            <a:pPr>
              <a:defRPr/>
            </a:pPr>
            <a:endParaRPr lang="vi-VN" sz="1800"/>
          </a:p>
          <a:p>
            <a:pPr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Exemple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situații</a:t>
            </a:r>
            <a:r>
              <a:rPr lang="vi-VN" sz="1800">
                <a:latin typeface="Arial" panose="020B0604020202020204"/>
                <a:cs typeface="Arial" panose="020B0604020202020204"/>
              </a:rPr>
              <a:t>:</a:t>
            </a:r>
          </a:p>
          <a:p>
            <a:pPr marL="285750" indent="-285750">
              <a:buFont typeface="Calibri" panose="020F0502020204030204"/>
              <a:buChar char="-"/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setup</a:t>
            </a:r>
            <a:r>
              <a:rPr lang="vi-VN" sz="1800">
                <a:latin typeface="Arial" panose="020B0604020202020204"/>
                <a:cs typeface="Arial" panose="020B0604020202020204"/>
              </a:rPr>
              <a:t>/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cleanup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comun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testare</a:t>
            </a:r>
            <a:r>
              <a:rPr lang="vi-VN" sz="1800">
                <a:latin typeface="Arial" panose="020B0604020202020204"/>
                <a:cs typeface="Arial" panose="020B0604020202020204"/>
              </a:rPr>
              <a:t>,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benchmarks</a:t>
            </a:r>
            <a:endParaRPr lang="vi-VN" sz="1800">
              <a:latin typeface="Arial" panose="020B0604020202020204"/>
              <a:cs typeface="Arial" panose="020B0604020202020204"/>
            </a:endParaRPr>
          </a:p>
          <a:p>
            <a:pPr marL="285750" indent="-285750">
              <a:buFont typeface="Calibri" panose="020F0502020204030204"/>
              <a:buChar char="-"/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rezolvă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unele</a:t>
            </a:r>
            <a:r>
              <a:rPr lang="vi-VN" sz="1800">
                <a:latin typeface="Arial" panose="020B0604020202020204"/>
                <a:cs typeface="Arial" panose="020B0604020202020204"/>
              </a:rPr>
              <a:t>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probleme</a:t>
            </a:r>
            <a:r>
              <a:rPr lang="vi-VN" sz="1800">
                <a:latin typeface="Arial" panose="020B0604020202020204"/>
                <a:cs typeface="Arial" panose="020B0604020202020204"/>
              </a:rPr>
              <a:t> de la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moștenirea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multiplă</a:t>
            </a:r>
            <a:endParaRPr lang="vi-VN" sz="1800">
              <a:latin typeface="Arial" panose="020B0604020202020204"/>
              <a:cs typeface="Arial" panose="020B0604020202020204"/>
            </a:endParaRPr>
          </a:p>
          <a:p>
            <a:pPr marL="285750" indent="-285750">
              <a:buFont typeface="Calibri" panose="020F0502020204030204"/>
              <a:buChar char="-"/>
              <a:defRPr/>
            </a:pPr>
            <a:r>
              <a:rPr lang="vi-VN" sz="1800" err="1">
                <a:latin typeface="Arial" panose="020B0604020202020204"/>
                <a:cs typeface="Arial" panose="020B0604020202020204"/>
              </a:rPr>
              <a:t>vezi</a:t>
            </a:r>
            <a:r>
              <a:rPr lang="vi-VN" sz="1800">
                <a:latin typeface="Arial" panose="020B0604020202020204"/>
                <a:cs typeface="Arial" panose="020B0604020202020204"/>
              </a:rPr>
              <a:t> mai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târziu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și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TemplateMethod</a:t>
            </a:r>
            <a:r>
              <a:rPr lang="vi-VN" sz="1800">
                <a:latin typeface="Arial" panose="020B0604020202020204"/>
                <a:cs typeface="Arial" panose="020B0604020202020204"/>
              </a:rPr>
              <a:t> 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pattern</a:t>
            </a:r>
            <a:r>
              <a:rPr lang="vi-VN" sz="1800">
                <a:latin typeface="Arial" panose="020B0604020202020204"/>
                <a:cs typeface="Arial" panose="020B0604020202020204"/>
              </a:rPr>
              <a:t>, D </a:t>
            </a:r>
            <a:r>
              <a:rPr lang="vi-VN" sz="1800" err="1">
                <a:latin typeface="Arial" panose="020B0604020202020204"/>
                <a:cs typeface="Arial" panose="020B0604020202020204"/>
              </a:rPr>
              <a:t>din</a:t>
            </a:r>
            <a:r>
              <a:rPr lang="vi-VN" sz="1800">
                <a:latin typeface="Arial" panose="020B0604020202020204"/>
                <a:cs typeface="Arial" panose="020B0604020202020204"/>
              </a:rPr>
              <a:t> SOLID</a:t>
            </a:r>
          </a:p>
        </p:txBody>
      </p:sp>
      <p:sp>
        <p:nvSpPr>
          <p:cNvPr id="3" name="Google Shape;598;p57"/>
          <p:cNvSpPr>
            <a:spLocks noChangeArrowheads="1"/>
          </p:cNvSpPr>
          <p:nvPr/>
        </p:nvSpPr>
        <p:spPr bwMode="auto">
          <a:xfrm>
            <a:off x="2332235" y="827088"/>
            <a:ext cx="5524511" cy="4250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1.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virtuale</a:t>
            </a:r>
            <a:endParaRPr lang="en-US" sz="2000" b="1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29;p7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9F966405-5F24-4A18-B561-AF9D60785515}" type="slidenum">
              <a:rPr lang="en-US" sz="1500"/>
              <a:t>41</a:t>
            </a:fld>
            <a:endParaRPr lang="en-US" sz="1800"/>
          </a:p>
        </p:txBody>
      </p:sp>
      <p:sp>
        <p:nvSpPr>
          <p:cNvPr id="64517" name="Google Shape;832;p76"/>
          <p:cNvSpPr txBox="1">
            <a:spLocks noChangeArrowheads="1"/>
          </p:cNvSpPr>
          <p:nvPr/>
        </p:nvSpPr>
        <p:spPr bwMode="auto">
          <a:xfrm>
            <a:off x="274638" y="1273583"/>
            <a:ext cx="9644267" cy="57993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Folosit</a:t>
            </a:r>
            <a:r>
              <a:rPr lang="en-US" sz="2000">
                <a:latin typeface="Arial" panose="020B0604020202020204"/>
                <a:cs typeface="Arial" panose="020B0604020202020204"/>
              </a:rPr>
              <a:t> in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ierarhii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polimorfice</a:t>
            </a:r>
            <a:r>
              <a:rPr lang="en-US" sz="2000">
                <a:latin typeface="Arial" panose="020B0604020202020204"/>
                <a:cs typeface="Arial" panose="020B0604020202020204"/>
              </a:rPr>
              <a:t> (cu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funcţii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virtuale</a:t>
            </a:r>
            <a:r>
              <a:rPr lang="en-US" sz="2000">
                <a:latin typeface="Arial" panose="020B0604020202020204"/>
                <a:cs typeface="Arial" panose="020B0604020202020204"/>
              </a:rPr>
              <a:t>)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pentru</a:t>
            </a:r>
            <a:r>
              <a:rPr lang="en-US" sz="2000">
                <a:latin typeface="Arial" panose="020B0604020202020204"/>
                <a:cs typeface="Arial" panose="020B0604020202020204"/>
              </a:rPr>
              <a:t> a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obține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înapoi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derivata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către</a:t>
            </a:r>
            <a:r>
              <a:rPr lang="en-US" sz="2000">
                <a:latin typeface="Arial" panose="020B0604020202020204"/>
                <a:cs typeface="Arial" panose="020B0604020202020204"/>
              </a:rPr>
              <a:t> care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arată</a:t>
            </a:r>
            <a:r>
              <a:rPr lang="en-US" sz="2000">
                <a:latin typeface="Arial" panose="020B0604020202020204"/>
                <a:cs typeface="Arial" panose="020B0604020202020204"/>
              </a:rPr>
              <a:t> un pointer de tip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bază</a:t>
            </a:r>
            <a:r>
              <a:rPr lang="en-US" sz="2000">
                <a:latin typeface="Arial" panose="020B0604020202020204"/>
                <a:cs typeface="Arial" panose="020B0604020202020204"/>
              </a:rPr>
              <a:t>.</a:t>
            </a:r>
            <a:endParaRPr lang="en-US" sz="200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r>
              <a:rPr lang="en-US" sz="2000" b="1" err="1">
                <a:latin typeface="Arial" panose="020B0604020202020204"/>
                <a:cs typeface="Arial" panose="020B0604020202020204"/>
              </a:rPr>
              <a:t>Problema</a:t>
            </a:r>
            <a:r>
              <a:rPr lang="en-US" sz="2000">
                <a:latin typeface="Arial" panose="020B0604020202020204"/>
                <a:cs typeface="Arial" panose="020B0604020202020204"/>
              </a:rPr>
              <a:t>: upcasting 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sigur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pentru</a:t>
            </a:r>
            <a:r>
              <a:rPr lang="en-US" sz="2000">
                <a:latin typeface="Arial" panose="020B0604020202020204"/>
                <a:cs typeface="Arial" panose="020B0604020202020204"/>
              </a:rPr>
              <a:t> c</a:t>
            </a:r>
            <a:r>
              <a:rPr lang="vi-VN" sz="2000">
                <a:latin typeface="Arial" panose="020B0604020202020204"/>
                <a:cs typeface="Arial" panose="020B0604020202020204"/>
              </a:rPr>
              <a:t>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respectivele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funcţii</a:t>
            </a:r>
            <a:r>
              <a:rPr lang="en-US" sz="2000">
                <a:latin typeface="Arial" panose="020B0604020202020204"/>
                <a:cs typeface="Arial" panose="020B0604020202020204"/>
              </a:rPr>
              <a:t>/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atribute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trebuie</a:t>
            </a:r>
            <a:r>
              <a:rPr lang="en-US" sz="2000">
                <a:latin typeface="Arial" panose="020B0604020202020204"/>
                <a:cs typeface="Arial" panose="020B0604020202020204"/>
              </a:rPr>
              <a:t> s</a:t>
            </a:r>
            <a:r>
              <a:rPr lang="vi-VN" sz="2000">
                <a:latin typeface="Arial" panose="020B0604020202020204"/>
                <a:cs typeface="Arial" panose="020B0604020202020204"/>
              </a:rPr>
              <a:t>ă</a:t>
            </a:r>
            <a:r>
              <a:rPr lang="en-US" sz="2000">
                <a:latin typeface="Arial" panose="020B0604020202020204"/>
                <a:cs typeface="Arial" panose="020B0604020202020204"/>
              </a:rPr>
              <a:t> fie definite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baz</a:t>
            </a:r>
            <a:r>
              <a:rPr lang="vi-VN" sz="2000">
                <a:latin typeface="Arial" panose="020B0604020202020204"/>
                <a:cs typeface="Arial" panose="020B0604020202020204"/>
              </a:rPr>
              <a:t>ă</a:t>
            </a:r>
            <a:r>
              <a:rPr lang="en-US" sz="2000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downcasting</a:t>
            </a:r>
            <a:r>
              <a:rPr lang="en-US" sz="2000">
                <a:latin typeface="Arial" panose="020B0604020202020204"/>
                <a:cs typeface="Arial" panose="020B0604020202020204"/>
              </a:rPr>
              <a:t> e problematic.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r>
              <a:rPr lang="en-US" sz="2000">
                <a:latin typeface="Arial" panose="020B0604020202020204"/>
                <a:cs typeface="Arial" panose="020B0604020202020204"/>
              </a:rPr>
              <a:t>Explicit cast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prin</a:t>
            </a:r>
            <a:r>
              <a:rPr lang="en-US" sz="2000">
                <a:latin typeface="Arial" panose="020B0604020202020204"/>
                <a:cs typeface="Arial" panose="020B0604020202020204"/>
              </a:rPr>
              <a:t>: </a:t>
            </a:r>
            <a:r>
              <a:rPr lang="en-US" sz="2000" b="1" err="1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dynamic_cast</a:t>
            </a:r>
            <a:endParaRPr lang="en-US" sz="2000" b="1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 i="1">
                <a:latin typeface="Arial" panose="020B0604020202020204"/>
                <a:cs typeface="Arial" panose="020B0604020202020204"/>
              </a:rPr>
              <a:t>Dac</a:t>
            </a:r>
            <a:r>
              <a:rPr lang="vi-VN" sz="2000" b="1" i="1">
                <a:latin typeface="Arial" panose="020B0604020202020204"/>
                <a:cs typeface="Arial" panose="020B0604020202020204"/>
              </a:rPr>
              <a:t>ă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știm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cu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siguranț</a:t>
            </a:r>
            <a:r>
              <a:rPr lang="vi-VN" sz="2000" b="1" i="1">
                <a:latin typeface="Arial" panose="020B0604020202020204"/>
                <a:cs typeface="Arial" panose="020B0604020202020204"/>
              </a:rPr>
              <a:t>ă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tipul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obiectului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putem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folosi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 “</a:t>
            </a:r>
            <a:r>
              <a:rPr lang="en-US" sz="2000" b="1" i="1" err="1">
                <a:latin typeface="Arial" panose="020B0604020202020204"/>
                <a:cs typeface="Arial" panose="020B0604020202020204"/>
              </a:rPr>
              <a:t>static_cast</a:t>
            </a:r>
            <a:r>
              <a:rPr lang="en-US" sz="2000" b="1" i="1">
                <a:latin typeface="Arial" panose="020B0604020202020204"/>
                <a:cs typeface="Arial" panose="020B0604020202020204"/>
              </a:rPr>
              <a:t>”.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 i="1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 err="1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static_cast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întoarce</a:t>
            </a:r>
            <a:r>
              <a:rPr lang="en-US" sz="2000">
                <a:latin typeface="Arial" panose="020B0604020202020204"/>
                <a:cs typeface="Arial" panose="020B0604020202020204"/>
              </a:rPr>
              <a:t> pointer c</a:t>
            </a:r>
            <a:r>
              <a:rPr lang="vi-VN" sz="2000">
                <a:latin typeface="Arial" panose="020B0604020202020204"/>
                <a:cs typeface="Arial" panose="020B0604020202020204"/>
              </a:rPr>
              <a:t>ă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tre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obiectul</a:t>
            </a:r>
            <a:r>
              <a:rPr lang="en-US" sz="2000">
                <a:latin typeface="Arial" panose="020B0604020202020204"/>
                <a:cs typeface="Arial" panose="020B0604020202020204"/>
              </a:rPr>
              <a:t> care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satisface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cerinţele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sau</a:t>
            </a:r>
            <a:r>
              <a:rPr lang="en-US" sz="2000">
                <a:latin typeface="Arial" panose="020B0604020202020204"/>
                <a:cs typeface="Arial" panose="020B0604020202020204"/>
              </a:rPr>
              <a:t> 0.</a:t>
            </a:r>
          </a:p>
          <a:p>
            <a:pPr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SzPts val="1100"/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dynamic_cast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folosește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tabelele</a:t>
            </a:r>
            <a:r>
              <a:rPr lang="en-US" sz="2000">
                <a:latin typeface="Arial" panose="020B0604020202020204"/>
                <a:cs typeface="Arial" panose="020B0604020202020204"/>
              </a:rPr>
              <a:t> VTABLE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pentru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determinarea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tipului</a:t>
            </a:r>
            <a:r>
              <a:rPr lang="en-US" sz="2000">
                <a:latin typeface="Arial" panose="020B0604020202020204"/>
                <a:cs typeface="Arial" panose="020B0604020202020204"/>
              </a:rPr>
              <a:t>.</a:t>
            </a:r>
          </a:p>
          <a:p>
            <a:pPr>
              <a:buClr>
                <a:srgbClr val="000000"/>
              </a:buClr>
              <a:buSzPts val="1100"/>
              <a:buFont typeface="Arial" panose="020B0604020202020204" pitchFamily="34" charset="0"/>
              <a:buNone/>
            </a:pPr>
            <a:endParaRPr lang="en-US" sz="2000"/>
          </a:p>
          <a:p>
            <a:pPr>
              <a:buSzPts val="1100"/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Conversiile</a:t>
            </a:r>
            <a:r>
              <a:rPr lang="en-US" sz="2000">
                <a:latin typeface="Arial" panose="020B0604020202020204"/>
                <a:cs typeface="Arial" panose="020B0604020202020204"/>
              </a:rPr>
              <a:t> tip C++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documentează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avem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nevoie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un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anumit</a:t>
            </a:r>
            <a:r>
              <a:rPr lang="en-US" sz="2000">
                <a:latin typeface="Arial" panose="020B0604020202020204"/>
                <a:cs typeface="Arial" panose="020B0604020202020204"/>
              </a:rPr>
              <a:t> cast</a:t>
            </a:r>
            <a:endParaRPr lang="en-US" sz="2000"/>
          </a:p>
          <a:p>
            <a:pPr marL="800100" lvl="1" indent="-342900">
              <a:buSzPts val="1100"/>
              <a:buFont typeface="Calibri" panose="020F0502020204030204"/>
              <a:buChar char="-"/>
            </a:pPr>
            <a:r>
              <a:rPr lang="ro-RO" sz="2000">
                <a:latin typeface="Arial" panose="020B0604020202020204"/>
                <a:cs typeface="Arial" panose="020B0604020202020204"/>
              </a:rPr>
              <a:t>Numele conversiilor sunt lungi pentru a atrage atenția (și pentru a le evita)</a:t>
            </a:r>
          </a:p>
          <a:p>
            <a:pPr>
              <a:buSzPts val="1100"/>
            </a:pPr>
            <a:endParaRPr lang="en-US" sz="2000">
              <a:latin typeface="Arial" panose="020B0604020202020204"/>
              <a:cs typeface="Arial" panose="020B0604020202020204"/>
            </a:endParaRPr>
          </a:p>
          <a:p>
            <a:pPr>
              <a:buSzPts val="1100"/>
            </a:pPr>
            <a:r>
              <a:rPr lang="en-US" sz="2000" err="1">
                <a:latin typeface="Arial" panose="020B0604020202020204"/>
                <a:cs typeface="Arial" panose="020B0604020202020204"/>
              </a:rPr>
              <a:t>Conversiile</a:t>
            </a:r>
            <a:r>
              <a:rPr lang="en-US" sz="2000">
                <a:latin typeface="Arial" panose="020B0604020202020204"/>
                <a:cs typeface="Arial" panose="020B0604020202020204"/>
              </a:rPr>
              <a:t> tip C nu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exprimă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intenție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avem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anulează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verificările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compilatorului</a:t>
            </a:r>
            <a:r>
              <a:rPr lang="en-US" sz="2000">
                <a:latin typeface="Arial" panose="020B0604020202020204"/>
                <a:cs typeface="Arial" panose="020B0604020202020204"/>
              </a:rPr>
              <a:t>.</a:t>
            </a:r>
            <a:endParaRPr lang="en-US" sz="200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0000FF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0000FF"/>
              </a:solidFill>
            </a:endParaRPr>
          </a:p>
          <a:p>
            <a:pPr>
              <a:buClr>
                <a:srgbClr val="000000"/>
              </a:buClr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64518" name="Google Shape;833;p76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2.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Downcasting</a:t>
            </a:r>
            <a:endParaRPr lang="en-US" sz="2000" b="1" err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829;p76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9F966405-5F24-4A18-B561-AF9D60785515}" type="slidenum">
              <a:rPr lang="en-US" sz="1500"/>
              <a:t>42</a:t>
            </a:fld>
            <a:endParaRPr lang="en-US" sz="1800"/>
          </a:p>
        </p:txBody>
      </p:sp>
      <p:sp>
        <p:nvSpPr>
          <p:cNvPr id="64517" name="Google Shape;832;p76"/>
          <p:cNvSpPr txBox="1">
            <a:spLocks noChangeArrowheads="1"/>
          </p:cNvSpPr>
          <p:nvPr/>
        </p:nvSpPr>
        <p:spPr bwMode="auto">
          <a:xfrm>
            <a:off x="274638" y="1273583"/>
            <a:ext cx="9644267" cy="579932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</a:pPr>
            <a:r>
              <a:rPr lang="en-US" sz="2000" b="1" err="1">
                <a:latin typeface="Arial" panose="020B0604020202020204"/>
                <a:cs typeface="Arial" panose="020B0604020202020204"/>
              </a:rPr>
              <a:t>Problema</a:t>
            </a:r>
            <a:r>
              <a:rPr lang="en-US" sz="2000">
                <a:latin typeface="Arial" panose="020B0604020202020204"/>
                <a:cs typeface="Arial" panose="020B0604020202020204"/>
              </a:rPr>
              <a:t>: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downcasting</a:t>
            </a:r>
            <a:r>
              <a:rPr lang="en-US" sz="2000">
                <a:latin typeface="Arial" panose="020B0604020202020204"/>
                <a:cs typeface="Arial" panose="020B0604020202020204"/>
              </a:rPr>
              <a:t> e problematic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din alt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motiv</a:t>
            </a:r>
            <a:r>
              <a:rPr lang="en-US" sz="2000">
                <a:latin typeface="Arial" panose="020B0604020202020204"/>
                <a:cs typeface="Arial" panose="020B0604020202020204"/>
              </a:rPr>
              <a:t>: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dacă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avem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făcut</a:t>
            </a:r>
            <a:r>
              <a:rPr lang="en-US" sz="2000">
                <a:latin typeface="Arial" panose="020B0604020202020204"/>
                <a:cs typeface="Arial" panose="020B0604020202020204"/>
              </a:rPr>
              <a:t> "if" pe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tipuri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date,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ori</a:t>
            </a:r>
            <a:r>
              <a:rPr lang="en-US" sz="2000">
                <a:latin typeface="Arial" panose="020B0604020202020204"/>
                <a:cs typeface="Arial" panose="020B0604020202020204"/>
              </a:rPr>
              <a:t> nu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abstractizarea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bună</a:t>
            </a:r>
            <a:r>
              <a:rPr lang="en-US" sz="2000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ori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trebuie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folosim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fapt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funcții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virtuale</a:t>
            </a:r>
            <a:r>
              <a:rPr lang="en-US" sz="2000">
                <a:latin typeface="Arial" panose="020B0604020202020204"/>
                <a:cs typeface="Arial" panose="020B0604020202020204"/>
              </a:rPr>
              <a:t>.</a:t>
            </a:r>
            <a:endParaRPr lang="en-US" sz="2000"/>
          </a:p>
          <a:p>
            <a:pPr>
              <a:buFontTx/>
              <a:buNone/>
            </a:pPr>
            <a:endParaRPr lang="en-US" sz="2000"/>
          </a:p>
          <a:p>
            <a:r>
              <a:rPr lang="en-US" sz="2000">
                <a:latin typeface="Arial" panose="020B0604020202020204"/>
                <a:cs typeface="Arial" panose="020B0604020202020204"/>
              </a:rPr>
              <a:t>Un program cu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multe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comparații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explicite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subclase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ușor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scris</a:t>
            </a:r>
            <a:r>
              <a:rPr lang="en-US" sz="2000">
                <a:latin typeface="Arial" panose="020B0604020202020204"/>
                <a:cs typeface="Arial" panose="020B0604020202020204"/>
              </a:rPr>
              <a:t> pe termen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scurt</a:t>
            </a:r>
            <a:r>
              <a:rPr lang="en-US" sz="2000">
                <a:latin typeface="Arial" panose="020B0604020202020204"/>
                <a:cs typeface="Arial" panose="020B0604020202020204"/>
              </a:rPr>
              <a:t> (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exemplu</a:t>
            </a:r>
            <a:r>
              <a:rPr lang="en-US" sz="2000">
                <a:latin typeface="Arial" panose="020B0604020202020204"/>
                <a:cs typeface="Arial" panose="020B0604020202020204"/>
              </a:rPr>
              <a:t>: un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semestru</a:t>
            </a:r>
            <a:r>
              <a:rPr lang="en-US" sz="2000">
                <a:latin typeface="Arial" panose="020B0604020202020204"/>
                <a:cs typeface="Arial" panose="020B0604020202020204"/>
              </a:rPr>
              <a:t>),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dar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dificil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întreținut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extins</a:t>
            </a:r>
            <a:r>
              <a:rPr lang="en-US" sz="2000">
                <a:latin typeface="Arial" panose="020B0604020202020204"/>
                <a:cs typeface="Arial" panose="020B0604020202020204"/>
              </a:rPr>
              <a:t> pe termen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mediu</a:t>
            </a:r>
            <a:r>
              <a:rPr lang="en-US" sz="2000">
                <a:latin typeface="Arial" panose="020B0604020202020204"/>
                <a:cs typeface="Arial" panose="020B0604020202020204"/>
              </a:rPr>
              <a:t>/lung.</a:t>
            </a:r>
            <a:endParaRPr lang="en-US" sz="2000"/>
          </a:p>
          <a:p>
            <a:pPr>
              <a:buClr>
                <a:srgbClr val="000000"/>
              </a:buClr>
            </a:pPr>
            <a:endParaRPr lang="en-US" sz="2000"/>
          </a:p>
          <a:p>
            <a:r>
              <a:rPr lang="en-US" sz="2000" err="1">
                <a:latin typeface="Arial" panose="020B0604020202020204"/>
                <a:cs typeface="Arial" panose="020B0604020202020204"/>
              </a:rPr>
              <a:t>dynamic_cast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sau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typeid</a:t>
            </a:r>
            <a:r>
              <a:rPr lang="en-US" sz="2000">
                <a:latin typeface="Arial" panose="020B0604020202020204"/>
                <a:cs typeface="Arial" panose="020B0604020202020204"/>
              </a:rPr>
              <a:t> +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static_cast</a:t>
            </a:r>
            <a:r>
              <a:rPr lang="en-US" sz="2000">
                <a:latin typeface="Arial" panose="020B0604020202020204"/>
                <a:cs typeface="Arial" panose="020B0604020202020204"/>
              </a:rPr>
              <a:t>?</a:t>
            </a:r>
          </a:p>
          <a:p>
            <a:endParaRPr lang="en-US" sz="2000"/>
          </a:p>
          <a:p>
            <a:r>
              <a:rPr lang="en-US" sz="2000" err="1">
                <a:latin typeface="Arial" panose="020B0604020202020204"/>
                <a:cs typeface="Arial" panose="020B0604020202020204"/>
              </a:rPr>
              <a:t>dynamic_cast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mai</a:t>
            </a:r>
            <a:r>
              <a:rPr lang="en-US" sz="2000">
                <a:latin typeface="Arial" panose="020B0604020202020204"/>
                <a:cs typeface="Arial" panose="020B0604020202020204"/>
              </a:rPr>
              <a:t> lent,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dar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codul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va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funcționa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continuare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dacă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transmitem</a:t>
            </a:r>
            <a:r>
              <a:rPr lang="en-US" sz="2000">
                <a:latin typeface="Arial" panose="020B0604020202020204"/>
                <a:cs typeface="Arial" panose="020B0604020202020204"/>
              </a:rPr>
              <a:t> un pointer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mai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derivat</a:t>
            </a:r>
            <a:r>
              <a:rPr lang="en-US" sz="2000">
                <a:latin typeface="Arial" panose="020B0604020202020204"/>
                <a:cs typeface="Arial" panose="020B0604020202020204"/>
              </a:rPr>
              <a:t> (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"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mai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polimorfic</a:t>
            </a:r>
            <a:r>
              <a:rPr lang="en-US" sz="2000">
                <a:latin typeface="Arial" panose="020B0604020202020204"/>
                <a:cs typeface="Arial" panose="020B0604020202020204"/>
              </a:rPr>
              <a:t>"): "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un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fel</a:t>
            </a:r>
            <a:r>
              <a:rPr lang="en-US" sz="2000">
                <a:latin typeface="Arial" panose="020B0604020202020204"/>
                <a:cs typeface="Arial" panose="020B0604020202020204"/>
              </a:rPr>
              <a:t> de derivata1"</a:t>
            </a:r>
            <a:endParaRPr lang="en-US" sz="2000"/>
          </a:p>
          <a:p>
            <a:endParaRPr lang="en-US" sz="2000"/>
          </a:p>
          <a:p>
            <a:r>
              <a:rPr lang="en-US" sz="2000" err="1">
                <a:latin typeface="Arial" panose="020B0604020202020204"/>
                <a:cs typeface="Arial" panose="020B0604020202020204"/>
              </a:rPr>
              <a:t>typeid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mai</a:t>
            </a:r>
            <a:r>
              <a:rPr lang="en-US" sz="2000">
                <a:latin typeface="Arial" panose="020B0604020202020204"/>
                <a:cs typeface="Arial" panose="020B0604020202020204"/>
              </a:rPr>
              <a:t> rapid,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dar</a:t>
            </a:r>
            <a:r>
              <a:rPr lang="en-US" sz="200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compară</a:t>
            </a:r>
            <a:r>
              <a:rPr lang="en-US" sz="2000">
                <a:latin typeface="Arial" panose="020B0604020202020204"/>
                <a:cs typeface="Arial" panose="020B0604020202020204"/>
              </a:rPr>
              <a:t> un 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singur</a:t>
            </a:r>
            <a:r>
              <a:rPr lang="en-US" sz="2000">
                <a:latin typeface="Arial" panose="020B0604020202020204"/>
                <a:cs typeface="Arial" panose="020B0604020202020204"/>
              </a:rPr>
              <a:t> tip de date: "</a:t>
            </a:r>
            <a:r>
              <a:rPr lang="en-US" sz="2000" err="1">
                <a:latin typeface="Arial" panose="020B0604020202020204"/>
                <a:cs typeface="Arial" panose="020B0604020202020204"/>
              </a:rPr>
              <a:t>este</a:t>
            </a:r>
            <a:r>
              <a:rPr lang="en-US" sz="2000">
                <a:latin typeface="Arial" panose="020B0604020202020204"/>
                <a:cs typeface="Arial" panose="020B0604020202020204"/>
              </a:rPr>
              <a:t> exact derivata1"</a:t>
            </a:r>
            <a:endParaRPr lang="en-US" sz="2000"/>
          </a:p>
        </p:txBody>
      </p:sp>
      <p:sp>
        <p:nvSpPr>
          <p:cNvPr id="64518" name="Google Shape;833;p76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2.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Downcasting</a:t>
            </a:r>
            <a:endParaRPr lang="en-US" sz="2000" b="1" err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841;p77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4A4F806F-29A3-4E3C-9A32-6320A37DA46B}" type="slidenum">
              <a:rPr lang="en-US" sz="1500" dirty="0"/>
              <a:t>43</a:t>
            </a:fld>
            <a:endParaRPr lang="en-US" sz="1800"/>
          </a:p>
        </p:txBody>
      </p:sp>
      <p:sp>
        <p:nvSpPr>
          <p:cNvPr id="65541" name="Google Shape;844;p77"/>
          <p:cNvSpPr txBox="1">
            <a:spLocks noChangeArrowheads="1"/>
          </p:cNvSpPr>
          <p:nvPr/>
        </p:nvSpPr>
        <p:spPr bwMode="auto">
          <a:xfrm>
            <a:off x="274638" y="1254125"/>
            <a:ext cx="9634537" cy="5072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b="1" i="1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endParaRPr lang="en-US" sz="2400" b="1" i="1" err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Pet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virtual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Pet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Dog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Pet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Cat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Pet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  Pet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b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new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Cat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Upcast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if (auto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*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d1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Dog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 {</a:t>
            </a:r>
            <a:endParaRPr 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/>
            </a:endParaRP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Times New Roman" panose="02020603050405020304"/>
              </a:rPr>
              <a:t>d1 =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d1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else if (auto* d2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Cat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) {</a:t>
            </a: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Times New Roman" panose="02020603050405020304"/>
              </a:rPr>
              <a:t>d2 =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d2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  </a:t>
            </a:r>
            <a:r>
              <a:rPr lang="it-IT" sz="2000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// b </a:t>
            </a:r>
            <a:r>
              <a:rPr lang="it-IT" sz="2000" err="1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și</a:t>
            </a:r>
            <a:r>
              <a:rPr lang="it-IT" sz="2000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 d2 </a:t>
            </a:r>
            <a:r>
              <a:rPr lang="it-IT" sz="2000" err="1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rețin</a:t>
            </a:r>
            <a:r>
              <a:rPr lang="it-IT" sz="2000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it-IT" sz="2000" err="1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aceeași</a:t>
            </a:r>
            <a:r>
              <a:rPr lang="it-IT" sz="2000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it-IT" sz="2000" err="1">
                <a:solidFill>
                  <a:srgbClr val="696969"/>
                </a:solidFill>
                <a:latin typeface="Times New Roman" panose="02020603050405020304"/>
                <a:cs typeface="Times New Roman" panose="02020603050405020304"/>
              </a:rPr>
              <a:t>adresă</a:t>
            </a:r>
            <a:endParaRPr lang="en-US" sz="2000" err="1">
              <a:solidFill>
                <a:srgbClr val="696969"/>
              </a:solidFill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000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        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/>
                <a:cs typeface="Times New Roman" panose="02020603050405020304"/>
              </a:rPr>
              <a:t>b  = </a:t>
            </a:r>
            <a:r>
              <a:rPr lang="en-US" sz="2000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"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b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&lt;&lt;</a:t>
            </a:r>
            <a:r>
              <a:rPr lang="en-US" sz="2000">
                <a:latin typeface="Times New Roman" panose="02020603050405020304"/>
                <a:cs typeface="Times New Roman" panose="02020603050405020304"/>
              </a:rPr>
              <a:t> std::</a:t>
            </a:r>
            <a:r>
              <a:rPr lang="en-US" sz="2000" err="1">
                <a:solidFill>
                  <a:srgbClr val="603000"/>
                </a:solidFill>
                <a:latin typeface="Times New Roman" panose="02020603050405020304"/>
                <a:cs typeface="Times New Roman" panose="02020603050405020304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;</a:t>
            </a: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0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try{</a:t>
            </a: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    auto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d1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Dog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(*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;  //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dacă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nu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reușește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, se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aruncă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excepție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       auto&amp; d2 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Times New Roman" panose="02020603050405020304"/>
              </a:rPr>
              <a:t>dynamic_cast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Cat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Times New Roman" panose="02020603050405020304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(*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Times New Roman" panose="02020603050405020304"/>
              </a:rPr>
              <a:t>);</a:t>
            </a:r>
            <a:endParaRPr lang="en-US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    } catch(std::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bad_cast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&amp;) { std::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cout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&lt;&lt; "</a:t>
            </a:r>
            <a:r>
              <a:rPr lang="en-US" sz="2000" err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eroare</a:t>
            </a:r>
            <a:r>
              <a:rPr lang="en-US" sz="200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 cast\n"; }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</a:pP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0000FF"/>
              </a:solidFill>
            </a:endParaRPr>
          </a:p>
        </p:txBody>
      </p:sp>
      <p:sp>
        <p:nvSpPr>
          <p:cNvPr id="65542" name="Google Shape;845;p77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2.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Downcasting</a:t>
            </a:r>
            <a:endParaRPr lang="en-US" sz="2000" b="1" err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Google Shape;853;p78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64D5952D-40C9-4162-89EC-BFE2559DB2BB}" type="slidenum">
              <a:rPr lang="en-US" sz="1500"/>
              <a:t>44</a:t>
            </a:fld>
            <a:endParaRPr lang="en-US" sz="1800"/>
          </a:p>
        </p:txBody>
      </p:sp>
      <p:sp>
        <p:nvSpPr>
          <p:cNvPr id="66565" name="Google Shape;856;p78"/>
          <p:cNvSpPr txBox="1">
            <a:spLocks noChangeArrowheads="1"/>
          </p:cNvSpPr>
          <p:nvPr/>
        </p:nvSpPr>
        <p:spPr bwMode="auto">
          <a:xfrm>
            <a:off x="274638" y="1254125"/>
            <a:ext cx="5227637" cy="50720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lIns="91425" tIns="91425" rIns="91425" bIns="91425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</a:pPr>
            <a:r>
              <a:rPr lang="en-US" sz="2400" b="1" i="1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typeid</a:t>
            </a:r>
            <a:r>
              <a:rPr lang="en-US" sz="2400" b="1" i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(</a:t>
            </a:r>
            <a:r>
              <a:rPr lang="en-US" sz="2400" b="1" i="1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sau</a:t>
            </a:r>
            <a:r>
              <a:rPr lang="en-US" sz="2400" b="1" i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400" b="1" i="1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atribut</a:t>
            </a:r>
            <a:r>
              <a:rPr lang="en-US" sz="2400" b="1" i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intern) + </a:t>
            </a:r>
            <a:r>
              <a:rPr lang="en-US" sz="2400" b="1" i="1" err="1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static_cast</a:t>
            </a:r>
            <a:endParaRPr lang="en-US" sz="2400" b="1" i="1" err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 b="1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Shape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virtual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~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Shape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Circle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Shape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Square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: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public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Shape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class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Other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{};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int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400000"/>
                </a:solidFill>
                <a:latin typeface="Times New Roman" panose="02020603050405020304"/>
                <a:cs typeface="Arial" panose="020B0604020202020204"/>
              </a:rPr>
              <a:t>main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()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{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Circle c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Shape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s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&amp;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c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Upcast: normal and OK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More explicit but unnecessary: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s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b="1" err="1">
                <a:solidFill>
                  <a:srgbClr val="800000"/>
                </a:solidFill>
                <a:latin typeface="Times New Roman" panose="02020603050405020304"/>
                <a:cs typeface="Arial" panose="020B0604020202020204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&lt;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Shape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(&amp;</a:t>
            </a:r>
            <a:r>
              <a:rPr lang="en-US" sz="2000" b="1">
                <a:latin typeface="Times New Roman" panose="02020603050405020304"/>
                <a:cs typeface="Arial" panose="020B0604020202020204"/>
              </a:rPr>
              <a:t>c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 b="1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(Since upcasting is such a safe and common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</a:t>
            </a:r>
            <a:r>
              <a:rPr lang="en-US" sz="2000">
                <a:solidFill>
                  <a:srgbClr val="696969"/>
                </a:solidFill>
                <a:latin typeface="Times New Roman" panose="02020603050405020304"/>
                <a:cs typeface="Arial" panose="020B0604020202020204"/>
              </a:rPr>
              <a:t>// operation, the cast becomes cluttering)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Circle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cp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anose="02020603050405020304"/>
                <a:cs typeface="Arial" panose="020B0604020202020204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</a:pPr>
            <a:r>
              <a:rPr lang="en-US" sz="2000">
                <a:latin typeface="Times New Roman" panose="02020603050405020304"/>
                <a:cs typeface="Arial" panose="020B0604020202020204"/>
              </a:rPr>
              <a:t>  Square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*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 err="1">
                <a:latin typeface="Times New Roman" panose="02020603050405020304"/>
                <a:cs typeface="Arial" panose="020B0604020202020204"/>
              </a:rPr>
              <a:t>sp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/>
                <a:cs typeface="Arial" panose="020B0604020202020204"/>
              </a:rPr>
              <a:t>=</a:t>
            </a:r>
            <a:r>
              <a:rPr lang="en-US" sz="2000">
                <a:latin typeface="Times New Roman" panose="02020603050405020304"/>
                <a:cs typeface="Arial" panose="020B0604020202020204"/>
              </a:rPr>
              <a:t> </a:t>
            </a:r>
            <a:r>
              <a:rPr lang="en-US" sz="2000">
                <a:solidFill>
                  <a:srgbClr val="008C00"/>
                </a:solidFill>
                <a:latin typeface="Times New Roman" panose="02020603050405020304"/>
                <a:cs typeface="Arial" panose="020B0604020202020204"/>
              </a:rPr>
              <a:t>0</a:t>
            </a:r>
            <a:r>
              <a:rPr lang="en-US" sz="2000">
                <a:solidFill>
                  <a:srgbClr val="800080"/>
                </a:solidFill>
                <a:latin typeface="Times New Roman" panose="02020603050405020304"/>
                <a:cs typeface="Arial" panose="020B0604020202020204"/>
              </a:rPr>
              <a:t>;</a:t>
            </a:r>
            <a:endParaRPr lang="en-US" sz="2000">
              <a:latin typeface="Times New Roman" panose="02020603050405020304"/>
              <a:cs typeface="Arial" panose="020B0604020202020204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000"/>
          </a:p>
        </p:txBody>
      </p:sp>
      <p:sp>
        <p:nvSpPr>
          <p:cNvPr id="66566" name="Google Shape;857;p78"/>
          <p:cNvSpPr>
            <a:spLocks noChangeArrowheads="1"/>
          </p:cNvSpPr>
          <p:nvPr/>
        </p:nvSpPr>
        <p:spPr bwMode="auto">
          <a:xfrm>
            <a:off x="2322513" y="827088"/>
            <a:ext cx="6351587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  <a:buFont typeface="Arial" panose="020B0604020202020204" pitchFamily="34" charset="0"/>
              <a:buNone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2.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Downcasting</a:t>
            </a:r>
            <a:endParaRPr lang="en-US" sz="2000" b="1" err="1"/>
          </a:p>
        </p:txBody>
      </p:sp>
      <p:sp>
        <p:nvSpPr>
          <p:cNvPr id="66567" name="Google Shape;858;p78"/>
          <p:cNvSpPr txBox="1">
            <a:spLocks noChangeArrowheads="1"/>
          </p:cNvSpPr>
          <p:nvPr/>
        </p:nvSpPr>
        <p:spPr bwMode="auto">
          <a:xfrm>
            <a:off x="5245100" y="1371600"/>
            <a:ext cx="4665663" cy="5845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5" tIns="91425" rIns="91425" bIns="91425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Static Navigation of class hierarchies requires extra type information:  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  if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==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(c</a:t>
            </a:r>
            <a:r>
              <a:rPr lang="en-US" sz="2000" b="1">
                <a:latin typeface="Times New Roman" panose="02020603050405020304" pitchFamily="18" charset="0"/>
              </a:rPr>
              <a:t>p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))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 // C++ RTTI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  cp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=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&lt;</a:t>
            </a:r>
            <a:r>
              <a:rPr lang="en-US" sz="2000" b="1">
                <a:latin typeface="Times New Roman" panose="02020603050405020304" pitchFamily="18" charset="0"/>
              </a:rPr>
              <a:t>Circle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==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typeid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sp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))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  sp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=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static_cast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&lt;</a:t>
            </a:r>
            <a:r>
              <a:rPr lang="en-US" sz="2000" b="1">
                <a:latin typeface="Times New Roman" panose="02020603050405020304" pitchFamily="18" charset="0"/>
              </a:rPr>
              <a:t>Square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*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&gt;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cp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!=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anose="02020603050405020304" pitchFamily="18" charset="0"/>
              </a:rPr>
              <a:t>0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anose="02020603050405020304" pitchFamily="18" charset="0"/>
              </a:rPr>
              <a:t>cout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&lt;&lt;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 pitchFamily="18" charset="0"/>
              </a:rPr>
              <a:t>It's a circle!</a:t>
            </a:r>
            <a:r>
              <a:rPr 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"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&lt;&lt;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anose="02020603050405020304" pitchFamily="18" charset="0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 b="1">
                <a:solidFill>
                  <a:srgbClr val="800000"/>
                </a:solidFill>
                <a:latin typeface="Times New Roman" panose="02020603050405020304" pitchFamily="18" charset="0"/>
              </a:rPr>
              <a:t>if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</a:rPr>
              <a:t>sp 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!=</a:t>
            </a:r>
            <a:r>
              <a:rPr lang="en-US" sz="2000" b="1">
                <a:latin typeface="Times New Roman" panose="02020603050405020304" pitchFamily="18" charset="0"/>
              </a:rPr>
              <a:t> </a:t>
            </a:r>
            <a:r>
              <a:rPr lang="en-US" sz="2000" b="1">
                <a:solidFill>
                  <a:srgbClr val="008C00"/>
                </a:solidFill>
                <a:latin typeface="Times New Roman" panose="02020603050405020304" pitchFamily="18" charset="0"/>
              </a:rPr>
              <a:t>0</a:t>
            </a:r>
            <a:r>
              <a:rPr lang="en-US" sz="2000" b="1">
                <a:solidFill>
                  <a:srgbClr val="808030"/>
                </a:solidFill>
                <a:latin typeface="Times New Roman" panose="02020603050405020304" pitchFamily="18" charset="0"/>
              </a:rPr>
              <a:t>)</a:t>
            </a:r>
            <a:endParaRPr lang="en-US" sz="2000" b="1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  </a:t>
            </a:r>
            <a:r>
              <a:rPr lang="en-US" sz="2000">
                <a:solidFill>
                  <a:srgbClr val="603000"/>
                </a:solidFill>
                <a:latin typeface="Times New Roman" panose="02020603050405020304" pitchFamily="18" charset="0"/>
              </a:rPr>
              <a:t>cout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&lt;&lt;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"</a:t>
            </a:r>
            <a:r>
              <a:rPr lang="en-US" sz="2000">
                <a:solidFill>
                  <a:srgbClr val="0000E6"/>
                </a:solidFill>
                <a:latin typeface="Times New Roman" panose="02020603050405020304" pitchFamily="18" charset="0"/>
              </a:rPr>
              <a:t>It's a square!</a:t>
            </a:r>
            <a:r>
              <a:rPr lang="en-US" sz="2000">
                <a:solidFill>
                  <a:srgbClr val="800000"/>
                </a:solidFill>
                <a:latin typeface="Times New Roman" panose="02020603050405020304" pitchFamily="18" charset="0"/>
              </a:rPr>
              <a:t>"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&lt;&lt;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603000"/>
                </a:solidFill>
                <a:latin typeface="Times New Roman" panose="02020603050405020304" pitchFamily="18" charset="0"/>
              </a:rPr>
              <a:t>endl</a:t>
            </a:r>
            <a:r>
              <a:rPr 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Static navigation is ONLY an efficiency hack;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dynamic_cast is always safer. However: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Other* op = static_cast&lt;Other*&gt;(s);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Conveniently gives an error message, while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Other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*</a:t>
            </a:r>
            <a:r>
              <a:rPr lang="en-US" sz="2000">
                <a:latin typeface="Times New Roman" panose="02020603050405020304" pitchFamily="18" charset="0"/>
              </a:rPr>
              <a:t> op2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=</a:t>
            </a:r>
            <a:r>
              <a:rPr lang="en-US" sz="2000">
                <a:latin typeface="Times New Roman" panose="02020603050405020304" pitchFamily="18" charset="0"/>
              </a:rPr>
              <a:t> 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(</a:t>
            </a:r>
            <a:r>
              <a:rPr lang="en-US" sz="2000">
                <a:latin typeface="Times New Roman" panose="02020603050405020304" pitchFamily="18" charset="0"/>
              </a:rPr>
              <a:t>Other</a:t>
            </a:r>
            <a:r>
              <a:rPr lang="en-US" sz="2000">
                <a:solidFill>
                  <a:srgbClr val="808030"/>
                </a:solidFill>
                <a:latin typeface="Times New Roman" panose="02020603050405020304" pitchFamily="18" charset="0"/>
              </a:rPr>
              <a:t>*)</a:t>
            </a:r>
            <a:r>
              <a:rPr lang="en-US" sz="2000">
                <a:latin typeface="Times New Roman" panose="02020603050405020304" pitchFamily="18" charset="0"/>
              </a:rPr>
              <a:t>s</a:t>
            </a:r>
            <a:r>
              <a:rPr lang="en-US" sz="2000">
                <a:solidFill>
                  <a:srgbClr val="800080"/>
                </a:solidFill>
                <a:latin typeface="Times New Roman" panose="02020603050405020304" pitchFamily="18" charset="0"/>
              </a:rPr>
              <a:t>;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</a:rPr>
              <a:t>  </a:t>
            </a:r>
            <a:r>
              <a:rPr lang="en-US" sz="2000">
                <a:solidFill>
                  <a:srgbClr val="696969"/>
                </a:solidFill>
                <a:latin typeface="Times New Roman" panose="02020603050405020304" pitchFamily="18" charset="0"/>
              </a:rPr>
              <a:t>// does not</a:t>
            </a:r>
            <a:endParaRPr lang="en-US" sz="2000">
              <a:latin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800080"/>
                </a:solidFill>
                <a:latin typeface="Times New Roman" panose="02020603050405020304" pitchFamily="18" charset="0"/>
              </a:rPr>
              <a:t>}</a:t>
            </a:r>
            <a:endParaRPr lang="en-US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522;p51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DA2D4ACB-E0C1-4E16-BAAE-F70FA9362421}" type="slidenum">
              <a:rPr lang="en-US" sz="1500" dirty="0"/>
              <a:t>45</a:t>
            </a:fld>
            <a:endParaRPr lang="en-US" sz="1800"/>
          </a:p>
        </p:txBody>
      </p:sp>
      <p:sp>
        <p:nvSpPr>
          <p:cNvPr id="39941" name="Google Shape;525;p51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sp>
        <p:nvSpPr>
          <p:cNvPr id="526" name="Google Shape;526;p51"/>
          <p:cNvSpPr txBox="1"/>
          <p:nvPr/>
        </p:nvSpPr>
        <p:spPr>
          <a:xfrm>
            <a:off x="273925" y="1405750"/>
            <a:ext cx="9034200" cy="520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r>
              <a:rPr lang="en-US" sz="2400" b="1" i="1" kern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</a:t>
            </a:r>
            <a:r>
              <a:rPr lang="en-US" sz="2400" b="1" i="1" kern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b="1" i="1" kern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multiplă</a:t>
            </a:r>
            <a:r>
              <a:rPr lang="en-US" sz="2400" b="1" i="1" kern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(MM)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endParaRPr lang="en-US" sz="2400" ker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puține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limbaje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au MM;</a:t>
            </a:r>
            <a:endParaRPr lang="vi-VN" sz="2400" ker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endParaRPr lang="vi-VN" sz="2400" ker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moștenirea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multiplă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e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complicată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: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ambiguitate</a:t>
            </a:r>
            <a:r>
              <a:rPr lang="en-US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LA MOȘTENIREA IN ROMB / IN DIAMANT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;</a:t>
            </a:r>
            <a:endParaRPr lang="vi-VN" sz="2400" kern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SzPts val="1100"/>
              <a:buFont typeface="Calibri" panose="020F0502020204030204"/>
              <a:buChar char="-"/>
              <a:defRPr/>
            </a:pP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Soluție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: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interfață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 non-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</a:rPr>
              <a:t>virtuală</a:t>
            </a:r>
            <a:endParaRPr lang="vi-VN" sz="2400" kern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nu e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nevoie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de MM (se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simulează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cu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simplă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);</a:t>
            </a:r>
            <a:endParaRPr lang="vi-VN" sz="2400" kern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endParaRPr lang="vi-VN" sz="2400" ker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defRPr/>
            </a:pP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se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moștenește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în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același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timp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din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mai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multe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kern="0" err="1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clase</a:t>
            </a:r>
            <a:r>
              <a:rPr lang="vi-VN" sz="2400" kern="0">
                <a:solidFill>
                  <a:schemeClr val="tx1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rPr>
              <a:t>;</a:t>
            </a:r>
            <a:endParaRPr lang="vi-VN" sz="2400" kern="0">
              <a:solidFill>
                <a:schemeClr val="tx1"/>
              </a:solidFill>
              <a:latin typeface="Times New Roman" panose="02020603050405020304"/>
              <a:ea typeface="Arial" panose="020B0604020202020204"/>
              <a:cs typeface="Times New Roman" panose="020206030504050203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endParaRPr lang="en-US" sz="2400" b="1" i="1" kern="0">
              <a:solidFill>
                <a:schemeClr val="tx1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r>
              <a:rPr lang="en-US" sz="2400" b="1" i="1" kern="0" err="1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Sintaxa</a:t>
            </a:r>
            <a:r>
              <a:rPr lang="en-US" sz="2400" b="1" i="1" kern="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r>
              <a:rPr lang="en-US" sz="2400" b="1" i="1" kern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</a:t>
            </a:r>
            <a:r>
              <a:rPr lang="vi-VN" sz="2400" b="1" i="1" kern="0">
                <a:solidFill>
                  <a:srgbClr val="0000FF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lass Clasa_Derivată : [modificatori de acces] Clasa_de_Bază1, [modificatori de acces] Clasa_de_Bază2, [modificatori de acces] Clasa_de_Bază3 ........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/>
            </a:pPr>
            <a:endParaRPr lang="en-US" sz="2000" kern="0">
              <a:highlight>
                <a:srgbClr val="FFFFFF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305E3A1A-B149-4444-B1FA-55C629D37AED}" type="slidenum">
              <a:rPr lang="en-US" sz="1500"/>
              <a:t>46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grpSp>
        <p:nvGrpSpPr>
          <p:cNvPr id="43014" name="Group 7"/>
          <p:cNvGrpSpPr/>
          <p:nvPr/>
        </p:nvGrpSpPr>
        <p:grpSpPr bwMode="auto">
          <a:xfrm>
            <a:off x="274638" y="1254125"/>
            <a:ext cx="9032875" cy="5808663"/>
            <a:chOff x="273925" y="1253350"/>
            <a:chExt cx="9034200" cy="5809500"/>
          </a:xfrm>
        </p:grpSpPr>
        <p:sp>
          <p:nvSpPr>
            <p:cNvPr id="561" name="Google Shape;561;p54"/>
            <p:cNvSpPr txBox="1"/>
            <p:nvPr/>
          </p:nvSpPr>
          <p:spPr>
            <a:xfrm>
              <a:off x="273925" y="1253350"/>
              <a:ext cx="9034200" cy="580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lIns="91425" tIns="91425" rIns="91425" bIns="91425" anchor="t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  <a:defRPr/>
              </a:pPr>
              <a:r>
                <a:rPr lang="en-US" sz="2400" b="1" i="1" kern="0" err="1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Moștenire</a:t>
              </a:r>
              <a:r>
                <a:rPr lang="en-US" sz="2400" b="1" i="1" kern="0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vi-VN" sz="2400" b="1" i="1" kern="0" err="1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multiplă</a:t>
              </a:r>
              <a:r>
                <a:rPr lang="en-US" sz="2400" b="1" i="1" kern="0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(MM)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Char char="•"/>
                <a:defRPr/>
              </a:pP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dar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dac</a:t>
              </a:r>
              <a:r>
                <a:rPr lang="vi-VN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avem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nevoie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doar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de o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copie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a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lui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?</a:t>
              </a: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Char char="•"/>
                <a:defRPr/>
              </a:pP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nu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vrem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s</a:t>
              </a:r>
              <a:r>
                <a:rPr lang="vi-VN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consum</a:t>
              </a:r>
              <a:r>
                <a:rPr lang="vi-VN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spațiu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în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memorie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;</a:t>
              </a: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72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Char char="•"/>
                <a:defRPr/>
              </a:pPr>
              <a:r>
                <a:rPr lang="en-US" sz="2000" b="1" i="1" kern="0" err="1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folosim</a:t>
              </a:r>
              <a:r>
                <a:rPr lang="en-US" sz="2000" b="1" i="1" kern="0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b="1" i="1" kern="0" err="1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moștenire</a:t>
              </a:r>
              <a:r>
                <a:rPr lang="en-US" sz="2000" b="1" i="1" kern="0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virtual</a:t>
              </a:r>
              <a:r>
                <a:rPr lang="vi-VN" sz="2000" b="1" i="1" kern="0">
                  <a:solidFill>
                    <a:srgbClr val="0070C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:</a:t>
              </a: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72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err="1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derived1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virtual public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j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derived2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virtual public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k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derived3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derived1</a:t>
              </a:r>
              <a:r>
                <a:rPr lang="en-US" sz="2000" b="1" kern="0">
                  <a:solidFill>
                    <a:srgbClr val="80803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,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derived2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 </a:t>
              </a:r>
              <a:r>
                <a:rPr lang="en-US" sz="2000" b="1" kern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sum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sz="2000" kern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342900" indent="-3429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  <a:defRPr/>
              </a:pP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Dacă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avem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moștenire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de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două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sau mai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multe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ori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dintr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-o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clasă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de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bază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(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fiecare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moștenire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trebuie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să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fie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virtuală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)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atunci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compilatorul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alocă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spațiu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pentru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o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singură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copie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;</a:t>
              </a:r>
              <a:endParaRPr lang="vi-VN" sz="2000" kern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/>
                <a:ea typeface="Arial" panose="020B0604020202020204"/>
                <a:cs typeface="Arial" panose="020B0604020202020204"/>
              </a:endParaRPr>
            </a:p>
            <a:p>
              <a:pPr marL="342900" indent="-3429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  <a:defRPr/>
              </a:pP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În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clasele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derived1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și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2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moștenirea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e la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fel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ca mai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înainte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(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niciun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efect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pentru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virtual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în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acel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caz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  <a:sym typeface="Arial" panose="020B0604020202020204"/>
                </a:rPr>
                <a:t>)</a:t>
              </a:r>
              <a:endParaRPr lang="vi-VN" sz="2000" kern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/>
                <a:ea typeface="Arial" panose="020B0604020202020204"/>
                <a:cs typeface="Arial" panose="020B0604020202020204"/>
              </a:endParaRPr>
            </a:p>
            <a:p>
              <a:pPr marL="342900" indent="-34290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 pitchFamily="34" charset="0"/>
                <a:buChar char="•"/>
                <a:defRPr/>
              </a:pP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Dar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...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fiecare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moștenire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virtuală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crește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sizeof-ul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unui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obiect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al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acelei</a:t>
              </a:r>
              <a:r>
                <a:rPr lang="vi-VN" sz="2000" kern="0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 </a:t>
              </a:r>
              <a:r>
                <a:rPr lang="vi-VN" sz="2000" kern="0" err="1">
                  <a:solidFill>
                    <a:schemeClr val="tx1"/>
                  </a:solidFill>
                  <a:highlight>
                    <a:srgbClr val="FFFFFF"/>
                  </a:highlight>
                  <a:latin typeface="Times New Roman" panose="02020603050405020304"/>
                  <a:ea typeface="Arial" panose="020B0604020202020204"/>
                  <a:cs typeface="Arial" panose="020B0604020202020204"/>
                </a:rPr>
                <a:t>clase</a:t>
              </a:r>
              <a:endParaRPr lang="vi-VN" sz="2000" kern="0">
                <a:solidFill>
                  <a:schemeClr val="tx1"/>
                </a:solidFill>
                <a:highlight>
                  <a:srgbClr val="FFFFFF"/>
                </a:highlight>
                <a:latin typeface="Times New Roman" panose="02020603050405020304"/>
                <a:ea typeface="Arial" panose="020B0604020202020204"/>
                <a:cs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sz="2000" kern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91852" y="4084271"/>
              <a:ext cx="838323" cy="609688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kern="0"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305E3A1A-B149-4444-B1FA-55C629D37AED}" type="slidenum">
              <a:rPr lang="en-US" sz="1500"/>
              <a:t>47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grpSp>
        <p:nvGrpSpPr>
          <p:cNvPr id="43014" name="Group 7"/>
          <p:cNvGrpSpPr/>
          <p:nvPr/>
        </p:nvGrpSpPr>
        <p:grpSpPr bwMode="auto">
          <a:xfrm>
            <a:off x="518734" y="1279817"/>
            <a:ext cx="9032875" cy="5808663"/>
            <a:chOff x="273925" y="1253350"/>
            <a:chExt cx="9034200" cy="5809500"/>
          </a:xfrm>
        </p:grpSpPr>
        <p:sp>
          <p:nvSpPr>
            <p:cNvPr id="561" name="Google Shape;561;p54"/>
            <p:cNvSpPr txBox="1"/>
            <p:nvPr/>
          </p:nvSpPr>
          <p:spPr>
            <a:xfrm>
              <a:off x="273925" y="1253350"/>
              <a:ext cx="9034200" cy="580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lIns="91425" tIns="91425" rIns="91425" bIns="91425" anchor="t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  <a:defRPr/>
              </a:pPr>
              <a:r>
                <a:rPr lang="en-US" sz="2400" b="1" i="1" kern="0" dirty="0" err="1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Moștenire</a:t>
              </a:r>
              <a:r>
                <a:rPr lang="en-US" sz="2400" b="1" i="1" kern="0" dirty="0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vi-VN" sz="2400" b="1" i="1" kern="0" dirty="0" err="1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multiplă</a:t>
              </a:r>
              <a:r>
                <a:rPr lang="en-US" sz="2400" b="1" i="1" kern="0" dirty="0">
                  <a:solidFill>
                    <a:srgbClr val="0000FF"/>
                  </a:solidFill>
                  <a:latin typeface="Arial" panose="020B06040202020202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(MM)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indent="-3556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20204"/>
                <a:buChar char="•"/>
                <a:defRPr/>
              </a:pP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dac</a:t>
              </a:r>
              <a:r>
                <a:rPr lang="vi-VN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în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clasa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de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bază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avem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doar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constructor cu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parametri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,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derivatele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trebuie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apeleze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explicit </a:t>
              </a:r>
              <a:r>
                <a:rPr lang="en-US" sz="2000" kern="0" err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acest</a:t>
              </a:r>
              <a:r>
                <a:rPr lang="en-US" sz="2000" kern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constructor</a:t>
              </a:r>
            </a:p>
            <a:p>
              <a:pPr marL="914400" lvl="1" indent="-35560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 panose="020F0502020204030204"/>
                <a:buChar char="-"/>
                <a:defRPr/>
              </a:pP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ce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?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Clasa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de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bază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se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inițializează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o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singură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dată</a:t>
              </a:r>
              <a:r>
                <a:rPr lang="en-US" sz="2000" kern="0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, la </a:t>
              </a:r>
              <a:r>
                <a:rPr lang="en-US" sz="2000" kern="0" dirty="0" err="1">
                  <a:latin typeface="Arial" panose="020B0604020202020204"/>
                  <a:ea typeface="Arial" panose="020B0604020202020204"/>
                  <a:cs typeface="Arial" panose="020B0604020202020204"/>
                </a:rPr>
                <a:t>început</a:t>
              </a:r>
              <a:endParaRPr lang="en-US" dirty="0" err="1"/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endParaRPr lang="en-US" sz="2000" ker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  <a:p>
              <a:pPr marL="457200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/>
              </a:pPr>
              <a:endParaRPr sz="2000" kern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 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</a:t>
              </a:r>
              <a:r>
                <a:rPr lang="en-US" sz="2000" kern="0" dirty="0" err="1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  base(int z) : </a:t>
              </a:r>
              <a:r>
                <a:rPr lang="en-US" sz="2000" b="1" kern="0" dirty="0" err="1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(z) {} };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derived1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virtual public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j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   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  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derived1() : base(1) {} 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derived2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virtual public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base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    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int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k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 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 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derived2() : base(2) {}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class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derived3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derived1</a:t>
              </a:r>
              <a:r>
                <a:rPr lang="en-US" sz="2000" b="1" kern="0" dirty="0">
                  <a:solidFill>
                    <a:srgbClr val="80803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,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derived2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 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{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   int</a:t>
              </a:r>
              <a:r>
                <a:rPr lang="en-US" sz="2000" b="1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</a:t>
              </a: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sum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;</a:t>
              </a:r>
              <a:endParaRPr lang="en-US" sz="2000" kern="0" dirty="0">
                <a:solidFill>
                  <a:srgbClr val="800080"/>
                </a:solidFill>
                <a:latin typeface="Times New Roman" panose="02020603050405020304"/>
                <a:ea typeface="Arial" panose="020B0604020202020204"/>
                <a:cs typeface="Times New Roman" panose="02020603050405020304"/>
                <a:sym typeface="Arial" panose="020B0604020202020204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kern="0" dirty="0">
                  <a:solidFill>
                    <a:srgbClr val="80000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public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: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    derived3() : base(3), derived1(), derived2() {} </a:t>
              </a:r>
              <a:r>
                <a:rPr lang="en-US" sz="2000" b="1" kern="0" dirty="0">
                  <a:solidFill>
                    <a:srgbClr val="800080"/>
                  </a:solidFill>
                  <a:latin typeface="Times New Roman" panose="02020603050405020304"/>
                  <a:ea typeface="Arial" panose="020B0604020202020204"/>
                  <a:cs typeface="Times New Roman" panose="02020603050405020304"/>
                  <a:sym typeface="Arial" panose="020B0604020202020204"/>
                </a:rPr>
                <a:t>};</a:t>
              </a:r>
              <a:endParaRPr lang="en-US" sz="2000" b="1" kern="0" dirty="0">
                <a:latin typeface="Times New Roman" panose="02020603050405020304"/>
                <a:ea typeface="Arial" panose="020B0604020202020204"/>
                <a:cs typeface="Times New Roman" panose="02020603050405020304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sz="2000" kern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24814" y="5266254"/>
              <a:ext cx="3217390" cy="506821"/>
            </a:xfrm>
            <a:prstGeom prst="rect">
              <a:avLst/>
            </a:prstGeom>
            <a:solidFill>
              <a:srgbClr val="FFC000">
                <a:alpha val="25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buNone/>
                <a:defRPr/>
              </a:pPr>
              <a:endParaRPr lang="en-US" kern="0"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305E3A1A-B149-4444-B1FA-55C629D37AED}" type="slidenum">
              <a:rPr lang="en-US" sz="1500"/>
              <a:t>48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sp>
        <p:nvSpPr>
          <p:cNvPr id="561" name="Google Shape;561;p54"/>
          <p:cNvSpPr txBox="1"/>
          <p:nvPr/>
        </p:nvSpPr>
        <p:spPr bwMode="auto">
          <a:xfrm>
            <a:off x="518734" y="1279817"/>
            <a:ext cx="9032875" cy="5808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(MM)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2000" kern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/>
            </a:pP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În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exemplul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următor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afișăm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atributele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din derivate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printr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-un pointer de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bază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folosind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o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implementare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naivă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a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funcției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virtuale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2000" kern="0" err="1">
                <a:latin typeface="Arial" panose="020B0604020202020204"/>
                <a:cs typeface="Arial" panose="020B0604020202020204"/>
                <a:sym typeface="Arial" panose="020B0604020202020204"/>
              </a:rPr>
              <a:t>afișare</a:t>
            </a:r>
            <a:endParaRPr lang="en-US" sz="2000" kern="0" dirty="0" err="1"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lang="en-US" sz="20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#include &lt;iostream&gt;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class Baza {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int </a:t>
            </a:r>
            <a:r>
              <a:rPr lang="en-US" sz="1600" kern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{1};</a:t>
            </a:r>
            <a:endParaRPr lang="en-US" sz="160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protected:   virtual void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 const {    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 &lt;&lt; "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: " &lt;&lt;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 &lt;&lt; "\n";    }</a:t>
            </a:r>
            <a:endParaRPr lang="en-US" sz="160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public:</a:t>
            </a:r>
            <a:endParaRPr lang="en-US" sz="160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virtual ~Baza() = default;</a:t>
            </a:r>
            <a:endParaRPr lang="en-US" sz="160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friend 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operator&lt;&lt;(std::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, const Baza&amp; b) {   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b.afis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  return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; }  };</a:t>
            </a:r>
            <a:endParaRPr lang="en-US" sz="1600" dirty="0"/>
          </a:p>
          <a:p>
            <a:pPr>
              <a:defRPr/>
            </a:pPr>
            <a:endParaRPr lang="en-US" sz="1600" kern="0" dirty="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class Der1 : public virtual Baza {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int j{2};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protected:    void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 const override {  Baza::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 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 &lt;&lt; "j: " &lt;&lt; j &lt;&lt; "\n"; } };</a:t>
            </a:r>
            <a:endParaRPr lang="en-US" sz="1600" dirty="0"/>
          </a:p>
          <a:p>
            <a:pPr>
              <a:defRPr/>
            </a:pPr>
            <a:endParaRPr lang="en-US" sz="1600" kern="0" dirty="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class Der2 : public virtual Baza {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int k{3};</a:t>
            </a:r>
            <a:endParaRPr lang="en-US" sz="160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protected:    void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 const override { Baza::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 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 &lt;&lt; "k: " &lt;&lt; k &lt;&lt; "\n"; } };</a:t>
            </a:r>
            <a:endParaRPr lang="en-US" sz="1600" dirty="0"/>
          </a:p>
          <a:p>
            <a:pPr>
              <a:defRPr/>
            </a:pPr>
            <a:endParaRPr lang="en-US" sz="1600" kern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305E3A1A-B149-4444-B1FA-55C629D37AED}" type="slidenum">
              <a:rPr lang="en-US" sz="1500"/>
              <a:t>49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sp>
        <p:nvSpPr>
          <p:cNvPr id="561" name="Google Shape;561;p54"/>
          <p:cNvSpPr txBox="1"/>
          <p:nvPr/>
        </p:nvSpPr>
        <p:spPr bwMode="auto">
          <a:xfrm>
            <a:off x="518734" y="1279817"/>
            <a:ext cx="9032875" cy="5808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(MM)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2000" kern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/>
            </a:pP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Observăm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că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atributele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din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clasa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bază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se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afișează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două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ori</a:t>
            </a:r>
            <a:endParaRPr lang="en-US" sz="2000" kern="0" dirty="0" err="1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lang="en-US" sz="20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class Der3 : public virtual Der1, public virtual Der2 {</a:t>
            </a:r>
            <a:endParaRPr lang="en-US" sz="16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int l{4};</a:t>
            </a:r>
            <a:endParaRPr lang="en-US" sz="16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void 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 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 const override {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 Der1::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 Der2::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 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 &lt;&lt; "l: " &lt;&lt; l &lt;&lt; "\n";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}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};</a:t>
            </a:r>
            <a:endParaRPr lang="en-US" sz="16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int main() {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Baza* b = new Der3;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cout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 &lt;&lt; *b;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delete b;</a:t>
            </a: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}</a:t>
            </a:r>
            <a:endParaRPr lang="en-US" dirty="0"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// se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va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afișa</a:t>
            </a:r>
          </a:p>
          <a:p>
            <a:pPr>
              <a:defRPr/>
            </a:pPr>
            <a:r>
              <a:rPr lang="en-US" sz="1600" b="1" kern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: 1</a:t>
            </a:r>
            <a:endParaRPr lang="en-US" b="1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j: 2</a:t>
            </a:r>
            <a:endParaRPr lang="en-US" dirty="0"/>
          </a:p>
          <a:p>
            <a:pPr>
              <a:defRPr/>
            </a:pPr>
            <a:r>
              <a:rPr lang="en-US" sz="1600" b="1" kern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: 1</a:t>
            </a:r>
            <a:endParaRPr lang="en-US" b="1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k: 3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l: 4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58;p54"/>
          <p:cNvSpPr>
            <a:spLocks noChangeArrowheads="1"/>
          </p:cNvSpPr>
          <p:nvPr/>
        </p:nvSpPr>
        <p:spPr bwMode="auto">
          <a:xfrm>
            <a:off x="9307513" y="7062788"/>
            <a:ext cx="625475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305E3A1A-B149-4444-B1FA-55C629D37AED}" type="slidenum">
              <a:rPr lang="en-US" sz="1500"/>
              <a:t>50</a:t>
            </a:fld>
            <a:endParaRPr lang="en-US" sz="1800"/>
          </a:p>
        </p:txBody>
      </p:sp>
      <p:sp>
        <p:nvSpPr>
          <p:cNvPr id="43013" name="Google Shape;562;p54"/>
          <p:cNvSpPr>
            <a:spLocks noChangeArrowheads="1"/>
          </p:cNvSpPr>
          <p:nvPr/>
        </p:nvSpPr>
        <p:spPr bwMode="auto">
          <a:xfrm>
            <a:off x="2322513" y="827088"/>
            <a:ext cx="5540375" cy="444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 anchor="t"/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000" b="1">
                <a:latin typeface="Arial" panose="020B0604020202020204"/>
                <a:cs typeface="Arial" panose="020B0604020202020204"/>
              </a:rPr>
              <a:t>3.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Moștenire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multiplă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b="1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err="1">
                <a:latin typeface="Arial" panose="020B0604020202020204"/>
                <a:cs typeface="Arial" panose="020B0604020202020204"/>
              </a:rPr>
              <a:t>virtuală</a:t>
            </a:r>
          </a:p>
        </p:txBody>
      </p:sp>
      <p:sp>
        <p:nvSpPr>
          <p:cNvPr id="561" name="Google Shape;561;p54"/>
          <p:cNvSpPr txBox="1"/>
          <p:nvPr/>
        </p:nvSpPr>
        <p:spPr bwMode="auto">
          <a:xfrm>
            <a:off x="518734" y="1279817"/>
            <a:ext cx="9032875" cy="5808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 anchor="t"/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/>
            </a:pPr>
            <a:r>
              <a:rPr lang="en-US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Moștenire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</a:t>
            </a:r>
            <a:r>
              <a:rPr lang="vi-VN" sz="2400" b="1" i="1" kern="0" dirty="0" err="1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multiplă</a:t>
            </a:r>
            <a:r>
              <a:rPr lang="en-US" sz="2400" b="1" i="1" kern="0" dirty="0">
                <a:solidFill>
                  <a:srgbClr val="0000FF"/>
                </a:solidFill>
                <a:latin typeface="Arial" panose="020B0604020202020204"/>
                <a:ea typeface="Arial" panose="020B0604020202020204"/>
                <a:cs typeface="Times New Roman" panose="02020603050405020304"/>
                <a:sym typeface="Arial" panose="020B0604020202020204"/>
              </a:rPr>
              <a:t> (MM)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/>
            </a:pPr>
            <a:endParaRPr sz="2000" kern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/>
            </a:pP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Soluție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aplicăm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ideea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de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interfață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non-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virtuală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(NVI)</a:t>
            </a: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/>
            </a:pP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operator&lt;&lt;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este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funcția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publică</a:t>
            </a:r>
            <a:r>
              <a:rPr lang="en-US" sz="2000" kern="0" dirty="0">
                <a:latin typeface="Arial" panose="020B0604020202020204"/>
                <a:cs typeface="Arial" panose="020B0604020202020204"/>
                <a:sym typeface="Arial" panose="020B0604020202020204"/>
              </a:rPr>
              <a:t> non-</a:t>
            </a:r>
            <a:r>
              <a:rPr lang="en-US" sz="2000" kern="0" dirty="0" err="1">
                <a:latin typeface="Arial" panose="020B0604020202020204"/>
                <a:cs typeface="Arial" panose="020B0604020202020204"/>
                <a:sym typeface="Arial" panose="020B0604020202020204"/>
              </a:rPr>
              <a:t>virtuală</a:t>
            </a:r>
            <a:endParaRPr lang="en-US" sz="2000" kern="0" dirty="0" err="1">
              <a:latin typeface="Arial" panose="020B0604020202020204"/>
              <a:cs typeface="Arial" panose="020B0604020202020204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Char char="•"/>
              <a:defRPr/>
            </a:pPr>
            <a:r>
              <a:rPr lang="en-US" sz="2000" kern="0" dirty="0">
                <a:latin typeface="Arial" panose="020B0604020202020204"/>
                <a:cs typeface="Arial" panose="020B0604020202020204"/>
              </a:rPr>
              <a:t>Este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suficient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să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 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modificăm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clasa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de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bază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ca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mai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jos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,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iar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Der1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și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Der2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să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eliminăm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apelul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 Baza::</a:t>
            </a:r>
            <a:r>
              <a:rPr lang="en-US" sz="2000" kern="0" dirty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2000" kern="0" dirty="0">
                <a:latin typeface="Arial" panose="020B0604020202020204"/>
                <a:cs typeface="Arial" panose="020B0604020202020204"/>
              </a:rPr>
              <a:t>():</a:t>
            </a:r>
            <a:endParaRPr lang="en-US" sz="2000" kern="0" dirty="0"/>
          </a:p>
          <a:p>
            <a:pPr marL="10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lang="en-US" sz="2000" kern="0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class Baza {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int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{1};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protected: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virtual void 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afis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(std::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) const {}</a:t>
            </a:r>
            <a:endParaRPr lang="en-US" b="1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public: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virtual ~Baza() = default;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friend 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operator&lt;&lt;(std::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ostream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&amp;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, const Baza&amp; b) {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 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 &lt;&lt; "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i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: " &lt;&lt; </a:t>
            </a:r>
            <a:r>
              <a:rPr lang="en-US" sz="1600" b="1" kern="0" err="1">
                <a:latin typeface="Arial" panose="020B0604020202020204"/>
                <a:cs typeface="Arial" panose="020B0604020202020204"/>
              </a:rPr>
              <a:t>b.i</a:t>
            </a:r>
            <a:r>
              <a:rPr lang="en-US" sz="1600" b="1" kern="0" dirty="0">
                <a:latin typeface="Arial" panose="020B0604020202020204"/>
                <a:cs typeface="Arial" panose="020B0604020202020204"/>
              </a:rPr>
              <a:t> &lt;&lt; "\n";</a:t>
            </a:r>
            <a:endParaRPr lang="en-US" b="1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b.afis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(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);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     return </a:t>
            </a:r>
            <a:r>
              <a:rPr lang="en-US" sz="1600" kern="0" dirty="0" err="1">
                <a:latin typeface="Arial" panose="020B0604020202020204"/>
                <a:cs typeface="Arial" panose="020B0604020202020204"/>
              </a:rPr>
              <a:t>os</a:t>
            </a:r>
            <a:r>
              <a:rPr lang="en-US" sz="1600" kern="0" dirty="0">
                <a:latin typeface="Arial" panose="020B0604020202020204"/>
                <a:cs typeface="Arial" panose="020B0604020202020204"/>
              </a:rPr>
              <a:t>;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    }</a:t>
            </a:r>
            <a:endParaRPr lang="en-US" dirty="0"/>
          </a:p>
          <a:p>
            <a:pPr>
              <a:defRPr/>
            </a:pPr>
            <a:r>
              <a:rPr lang="en-US" sz="1600" kern="0" dirty="0">
                <a:latin typeface="Arial" panose="020B0604020202020204"/>
                <a:cs typeface="Arial" panose="020B0604020202020204"/>
              </a:rPr>
              <a:t>};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361276" y="5493326"/>
            <a:ext cx="1760681" cy="1420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// se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va</a:t>
            </a:r>
            <a:r>
              <a:rPr lang="en-US" sz="1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afișa</a:t>
            </a:r>
          </a:p>
          <a:p>
            <a:r>
              <a:rPr lang="en-US" sz="1600" b="1" dirty="0" err="1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: 1</a:t>
            </a:r>
            <a:endParaRPr lang="en-US" sz="16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j: 2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k: 3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l: 4</a:t>
            </a:r>
          </a:p>
          <a:p>
            <a:pPr algn="ctr"/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Google Shape;95;p1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96" name="Google Shape;96;p16"/>
          <p:cNvSpPr/>
          <p:nvPr/>
        </p:nvSpPr>
        <p:spPr>
          <a:xfrm>
            <a:off x="456779" y="1424439"/>
            <a:ext cx="9233572" cy="5631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r>
              <a:rPr lang="ro-RO" sz="2200" dirty="0">
                <a:latin typeface="Arial" panose="020B0604020202020204"/>
                <a:cs typeface="Arial" panose="020B0604020202020204"/>
              </a:rPr>
              <a:t>În urma execuției unui program pot apărea diverse erori.</a:t>
            </a:r>
          </a:p>
          <a:p>
            <a:endParaRPr lang="ro-RO" sz="2200">
              <a:latin typeface="Arial" panose="020B0604020202020204"/>
              <a:cs typeface="Arial" panose="020B0604020202020204"/>
            </a:endParaRPr>
          </a:p>
          <a:p>
            <a:r>
              <a:rPr lang="ro-RO" sz="2200" dirty="0">
                <a:latin typeface="Arial" panose="020B0604020202020204"/>
                <a:cs typeface="Arial" panose="020B0604020202020204"/>
              </a:rPr>
              <a:t>Câteva mecanisme de tratare a erorilor: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ro-RO" sz="2200" dirty="0">
                <a:latin typeface="Arial" panose="020B0604020202020204"/>
                <a:cs typeface="Arial" panose="020B0604020202020204"/>
              </a:rPr>
              <a:t>Coduri de eroare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ro-RO" sz="2200" dirty="0">
                <a:latin typeface="Arial" panose="020B0604020202020204"/>
                <a:cs typeface="Arial" panose="020B0604020202020204"/>
              </a:rPr>
              <a:t>Aserțiuni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ro-RO" sz="2200" dirty="0">
                <a:latin typeface="Arial" panose="020B0604020202020204"/>
                <a:cs typeface="Arial" panose="020B0604020202020204"/>
              </a:rPr>
              <a:t>Excepții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ro-RO" sz="2200" dirty="0">
                <a:latin typeface="Arial" panose="020B0604020202020204"/>
                <a:cs typeface="Arial" panose="020B0604020202020204"/>
                <a:hlinkClick r:id="rId3"/>
              </a:rPr>
              <a:t>Tipuri de date rezultat</a:t>
            </a:r>
            <a:r>
              <a:rPr lang="ro-RO" sz="2200" dirty="0">
                <a:latin typeface="Arial" panose="020B0604020202020204"/>
                <a:cs typeface="Arial" panose="020B0604020202020204"/>
              </a:rPr>
              <a:t> (vezi anul 3 semestrul 2)</a:t>
            </a:r>
          </a:p>
          <a:p>
            <a:endParaRPr lang="ro-RO" sz="2200">
              <a:latin typeface="Arial" panose="020B0604020202020204"/>
              <a:cs typeface="Arial" panose="020B0604020202020204"/>
            </a:endParaRPr>
          </a:p>
          <a:p>
            <a:r>
              <a:rPr lang="ro-RO" sz="2200" dirty="0">
                <a:latin typeface="Arial" panose="020B0604020202020204"/>
                <a:cs typeface="Arial" panose="020B0604020202020204"/>
              </a:rPr>
              <a:t>Excepțiile (în C++) pot fi cauzate</a:t>
            </a:r>
          </a:p>
          <a:p>
            <a:pPr marL="342900" indent="-342900">
              <a:buFont typeface="Calibri" panose="020F0502020204030204"/>
              <a:buChar char="-"/>
            </a:pPr>
            <a:r>
              <a:rPr lang="ro-RO" sz="2200" dirty="0">
                <a:latin typeface="Arial" panose="020B0604020202020204"/>
                <a:cs typeface="Arial" panose="020B0604020202020204"/>
              </a:rPr>
              <a:t>în mod implicit de către limbaj (alocare dinamică) și de funcții din biblioteca standard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(</a:t>
            </a:r>
            <a:r>
              <a:rPr lang="ro-RO" sz="2200" dirty="0">
                <a:latin typeface="Arial" panose="020B0604020202020204"/>
                <a:cs typeface="Arial" panose="020B0604020202020204"/>
              </a:rPr>
              <a:t>argumente invalide, erori de conversie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)​</a:t>
            </a:r>
            <a:endParaRPr lang="en-US" dirty="0"/>
          </a:p>
          <a:p>
            <a:pPr marL="342900" indent="-342900">
              <a:buFont typeface="Calibri" panose="020F0502020204030204"/>
              <a:buChar char="-"/>
            </a:pPr>
            <a:r>
              <a:rPr lang="en-US" sz="2200" dirty="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 mod explicit de </a:t>
            </a:r>
            <a:r>
              <a:rPr lang="en-US" sz="2200" dirty="0" err="1">
                <a:latin typeface="Arial" panose="020B0604020202020204"/>
                <a:cs typeface="Arial" panose="020B0604020202020204"/>
              </a:rPr>
              <a:t>către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200" dirty="0" err="1">
                <a:latin typeface="Arial" panose="020B0604020202020204"/>
                <a:cs typeface="Arial" panose="020B0604020202020204"/>
              </a:rPr>
              <a:t>noi</a:t>
            </a:r>
            <a:endParaRPr lang="en-US" sz="2200" dirty="0" err="1"/>
          </a:p>
          <a:p>
            <a:pPr>
              <a:defRPr/>
            </a:pPr>
            <a:endParaRPr lang="en-US" sz="2200">
              <a:latin typeface="+mn-lt"/>
              <a:cs typeface="Arial" panose="020B0604020202020204"/>
            </a:endParaRPr>
          </a:p>
          <a:p>
            <a:pPr>
              <a:defRPr/>
            </a:pPr>
            <a:r>
              <a:rPr lang="en-US" sz="2200" dirty="0">
                <a:latin typeface="+mn-lt"/>
                <a:cs typeface="Arial" panose="020B0604020202020204"/>
              </a:rPr>
              <a:t>Scop: </a:t>
            </a:r>
            <a:r>
              <a:rPr lang="en-US" sz="2200" dirty="0" err="1">
                <a:latin typeface="+mn-lt"/>
                <a:cs typeface="Arial" panose="020B0604020202020204"/>
              </a:rPr>
              <a:t>simplificarea</a:t>
            </a:r>
            <a:r>
              <a:rPr lang="ro-RO" sz="2200" dirty="0">
                <a:latin typeface="+mn-lt"/>
                <a:cs typeface="Arial" panose="020B0604020202020204"/>
              </a:rPr>
              <a:t> tratării erorilor</a:t>
            </a:r>
            <a:endParaRPr lang="ro-RO" sz="2200" dirty="0">
              <a:latin typeface="Calibri" panose="020F0502020204030204"/>
              <a:cs typeface="Arial" panose="020B0604020202020204"/>
            </a:endParaRPr>
          </a:p>
          <a:p>
            <a:pPr>
              <a:defRPr/>
            </a:pPr>
            <a:endParaRPr lang="ro-RO" sz="2200">
              <a:latin typeface="+mn-lt"/>
              <a:cs typeface="Arial" panose="020B0604020202020204"/>
            </a:endParaRPr>
          </a:p>
          <a:p>
            <a:pPr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Sintaxă: într-un bloc </a:t>
            </a:r>
            <a:r>
              <a:rPr lang="ro-RO" sz="2200" dirty="0" err="1">
                <a:latin typeface="+mn-lt"/>
                <a:cs typeface="Arial" panose="020B0604020202020204"/>
              </a:rPr>
              <a:t>try</a:t>
            </a:r>
            <a:r>
              <a:rPr lang="ro-RO" sz="2200" dirty="0">
                <a:latin typeface="+mn-lt"/>
                <a:cs typeface="Arial" panose="020B0604020202020204"/>
              </a:rPr>
              <a:t>/catch prindem excepții aruncate cu </a:t>
            </a:r>
            <a:r>
              <a:rPr lang="ro-RO" sz="2200" dirty="0" err="1">
                <a:latin typeface="+mn-lt"/>
                <a:cs typeface="Arial" panose="020B0604020202020204"/>
              </a:rPr>
              <a:t>throw</a:t>
            </a:r>
            <a:r>
              <a:rPr lang="ro-RO" sz="2200" dirty="0">
                <a:latin typeface="+mn-lt"/>
                <a:cs typeface="Arial" panose="020B0604020202020204"/>
              </a:rPr>
              <a:t>, iar în fiecare clauză catch tratăm un anumit tip de eroare</a:t>
            </a:r>
            <a:endParaRPr lang="ro-RO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Google Shape;107;p17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7173" name="Google Shape;109;p17"/>
          <p:cNvSpPr txBox="1">
            <a:spLocks noChangeArrowheads="1"/>
          </p:cNvSpPr>
          <p:nvPr/>
        </p:nvSpPr>
        <p:spPr bwMode="auto">
          <a:xfrm>
            <a:off x="4371771" y="1931917"/>
            <a:ext cx="5204823" cy="3947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16" tIns="91416" rIns="91416" bIns="91416"/>
          <a:lstStyle/>
          <a:p>
            <a:pPr>
              <a:spcBef>
                <a:spcPct val="0"/>
              </a:spcBef>
            </a:pPr>
            <a:r>
              <a:rPr lang="ro-RO" sz="2600"/>
              <a:t>tipul argumentului </a:t>
            </a:r>
            <a:r>
              <a:rPr lang="ro-RO" sz="2600" err="1"/>
              <a:t>arg</a:t>
            </a:r>
            <a:r>
              <a:rPr lang="ro-RO" sz="2600"/>
              <a:t> din catch arată care bloc catch este executat </a:t>
            </a:r>
          </a:p>
          <a:p>
            <a:pPr>
              <a:spcBef>
                <a:spcPct val="0"/>
              </a:spcBef>
            </a:pPr>
            <a:endParaRPr lang="ro-RO" sz="2600"/>
          </a:p>
          <a:p>
            <a:pPr>
              <a:spcBef>
                <a:spcPct val="0"/>
              </a:spcBef>
            </a:pPr>
            <a:r>
              <a:rPr lang="ro-RO" sz="2600"/>
              <a:t>dacă nu este generată excepție, nu se execută nici un bloc catch</a:t>
            </a:r>
          </a:p>
          <a:p>
            <a:pPr>
              <a:spcBef>
                <a:spcPct val="0"/>
              </a:spcBef>
            </a:pPr>
            <a:endParaRPr lang="ro-RO" sz="2600"/>
          </a:p>
          <a:p>
            <a:pPr>
              <a:spcBef>
                <a:spcPct val="0"/>
              </a:spcBef>
            </a:pPr>
            <a:r>
              <a:rPr lang="ro-RO" sz="2600"/>
              <a:t>instrucțiunile catch sunt verificate în ordinea în care sunt scrise, primul de tipul erorii este folosit</a:t>
            </a:r>
          </a:p>
          <a:p>
            <a:pPr>
              <a:spcBef>
                <a:spcPct val="0"/>
              </a:spcBef>
            </a:pPr>
            <a:endParaRPr lang="ro-RO" sz="2600"/>
          </a:p>
          <a:p>
            <a:pPr>
              <a:spcBef>
                <a:spcPct val="0"/>
              </a:spcBef>
            </a:pPr>
            <a:endParaRPr lang="ro-RO" sz="2600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588036" y="1511935"/>
            <a:ext cx="3444214" cy="5190277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lIns="100794" tIns="50397" rIns="100794" bIns="50397" anchor="ctr">
            <a:spAutoFit/>
          </a:bodyPr>
          <a:lstStyle/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 b="1">
                <a:solidFill>
                  <a:srgbClr val="8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try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200">
                <a:solidFill>
                  <a:srgbClr val="696969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// try block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 b="1">
                <a:solidFill>
                  <a:srgbClr val="8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type1 </a:t>
            </a:r>
            <a:r>
              <a:rPr lang="en-US" sz="2200" err="1">
                <a:solidFill>
                  <a:srgbClr val="4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arg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200">
                <a:solidFill>
                  <a:srgbClr val="696969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// catch block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 b="1">
                <a:solidFill>
                  <a:srgbClr val="8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type2 </a:t>
            </a:r>
            <a:r>
              <a:rPr lang="en-US" sz="2200" err="1">
                <a:solidFill>
                  <a:srgbClr val="4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arg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200">
                <a:solidFill>
                  <a:srgbClr val="696969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// catch block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 b="1">
                <a:solidFill>
                  <a:srgbClr val="8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type3 </a:t>
            </a:r>
            <a:r>
              <a:rPr lang="en-US" sz="2200" err="1">
                <a:solidFill>
                  <a:srgbClr val="4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arg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200">
                <a:solidFill>
                  <a:srgbClr val="696969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// catch block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 b="1">
                <a:solidFill>
                  <a:srgbClr val="8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catch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200" err="1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typeN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 err="1">
                <a:solidFill>
                  <a:srgbClr val="40000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arg</a:t>
            </a:r>
            <a:r>
              <a:rPr lang="en-US" sz="2200">
                <a:solidFill>
                  <a:srgbClr val="80803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US" sz="2200">
                <a:solidFill>
                  <a:srgbClr val="696969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// catch block</a:t>
            </a:r>
            <a:endParaRPr lang="en-US" sz="2200">
              <a:latin typeface="+mn-lt"/>
            </a:endParaRPr>
          </a:p>
          <a:p>
            <a:pPr>
              <a:tabLst>
                <a:tab pos="640080" algn="l"/>
                <a:tab pos="1282065" algn="l"/>
                <a:tab pos="1922780" algn="l"/>
                <a:tab pos="2564765" algn="l"/>
                <a:tab pos="3205480" algn="l"/>
                <a:tab pos="3846195" algn="l"/>
                <a:tab pos="4488180" algn="l"/>
                <a:tab pos="5128895" algn="l"/>
                <a:tab pos="5770880" algn="l"/>
                <a:tab pos="6411595" algn="l"/>
                <a:tab pos="7051675" algn="l"/>
                <a:tab pos="7694295" algn="l"/>
                <a:tab pos="8334375" algn="l"/>
                <a:tab pos="8976360" algn="l"/>
                <a:tab pos="9617075" algn="l"/>
                <a:tab pos="10257790" algn="l"/>
              </a:tabLst>
              <a:defRPr/>
            </a:pPr>
            <a:r>
              <a:rPr lang="en-US" sz="2200">
                <a:solidFill>
                  <a:srgbClr val="800080"/>
                </a:solidFill>
                <a:latin typeface="+mn-l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endParaRPr lang="en-US" sz="2200">
              <a:latin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Google Shape;95;p1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96" name="Google Shape;96;p16"/>
          <p:cNvSpPr/>
          <p:nvPr/>
        </p:nvSpPr>
        <p:spPr>
          <a:xfrm>
            <a:off x="456779" y="1424440"/>
            <a:ext cx="9233572" cy="49120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600" b="1" i="1" dirty="0">
                <a:latin typeface="+mn-lt"/>
                <a:cs typeface="Arial" panose="020B0604020202020204"/>
              </a:rPr>
              <a:t>Observații</a:t>
            </a:r>
            <a:r>
              <a:rPr lang="ro-RO" sz="2600" dirty="0">
                <a:latin typeface="+mn-lt"/>
                <a:cs typeface="Arial" panose="020B0604020202020204"/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600">
              <a:latin typeface="+mn-lt"/>
            </a:endParaRP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dac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se face </a:t>
            </a:r>
            <a:r>
              <a:rPr lang="ro-RO" sz="2600" err="1">
                <a:latin typeface="+mn-lt"/>
                <a:cs typeface="Arial" panose="020B0604020202020204"/>
              </a:rPr>
              <a:t>throw</a:t>
            </a:r>
            <a:r>
              <a:rPr lang="ro-RO" sz="2600" dirty="0">
                <a:latin typeface="+mn-lt"/>
                <a:cs typeface="Arial" panose="020B0604020202020204"/>
              </a:rPr>
              <a:t> </a:t>
            </a:r>
            <a:r>
              <a:rPr lang="ro-RO" sz="2600" err="1">
                <a:latin typeface="+mn-lt"/>
                <a:cs typeface="Arial" panose="020B0604020202020204"/>
              </a:rPr>
              <a:t>şi</a:t>
            </a:r>
            <a:r>
              <a:rPr lang="ro-RO" sz="2600" dirty="0">
                <a:latin typeface="+mn-lt"/>
                <a:cs typeface="Arial" panose="020B0604020202020204"/>
              </a:rPr>
              <a:t> nu exist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un bloc </a:t>
            </a:r>
            <a:r>
              <a:rPr lang="ro-RO" sz="2600" err="1">
                <a:latin typeface="+mn-lt"/>
                <a:cs typeface="Arial" panose="020B0604020202020204"/>
              </a:rPr>
              <a:t>try</a:t>
            </a:r>
            <a:r>
              <a:rPr lang="ro-RO" sz="2600" dirty="0">
                <a:latin typeface="+mn-lt"/>
                <a:cs typeface="Arial" panose="020B0604020202020204"/>
              </a:rPr>
              <a:t> din care a fost aruncat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excepția sau o funcție apelat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dintr-un bloc </a:t>
            </a:r>
            <a:r>
              <a:rPr lang="ro-RO" sz="2600" err="1">
                <a:latin typeface="+mn-lt"/>
                <a:cs typeface="Arial" panose="020B0604020202020204"/>
              </a:rPr>
              <a:t>try</a:t>
            </a:r>
            <a:r>
              <a:rPr lang="ro-RO" sz="2600" dirty="0">
                <a:latin typeface="+mn-lt"/>
                <a:cs typeface="Arial" panose="020B0604020202020204"/>
              </a:rPr>
              <a:t>: eroare</a:t>
            </a: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ro-RO" sz="2600">
              <a:latin typeface="+mn-lt"/>
            </a:endParaRP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dac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nu exist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un catch care s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fie asociat cu </a:t>
            </a:r>
            <a:r>
              <a:rPr lang="ro-RO" sz="2600" err="1">
                <a:latin typeface="+mn-lt"/>
                <a:cs typeface="Arial" panose="020B0604020202020204"/>
              </a:rPr>
              <a:t>throw-ul</a:t>
            </a:r>
            <a:r>
              <a:rPr lang="ro-RO" sz="2600" dirty="0">
                <a:latin typeface="+mn-lt"/>
                <a:cs typeface="Arial" panose="020B0604020202020204"/>
              </a:rPr>
              <a:t> respectiv (tipuri de date egale sau compatibile) atunci programul se termin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prin terminate()</a:t>
            </a: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ro-RO" sz="2600">
              <a:latin typeface="+mn-lt"/>
            </a:endParaRP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terminate() poate s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fie redefinit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s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fac</a:t>
            </a:r>
            <a:r>
              <a:rPr lang="ro-RO" sz="26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600" dirty="0">
                <a:latin typeface="+mn-lt"/>
                <a:cs typeface="Arial" panose="020B0604020202020204"/>
              </a:rPr>
              <a:t> altceva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endParaRPr lang="ro-RO" sz="2600">
              <a:latin typeface="+mn-lt"/>
            </a:endParaRP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Nu se recomandă folosirea excepțiilor dacă locul unde are loc eroarea este foarte apropiat de catch-</a:t>
            </a:r>
            <a:r>
              <a:rPr lang="ro-RO" sz="2600" dirty="0" err="1">
                <a:latin typeface="+mn-lt"/>
                <a:cs typeface="Arial" panose="020B0604020202020204"/>
              </a:rPr>
              <a:t>ul</a:t>
            </a:r>
            <a:r>
              <a:rPr lang="ro-RO" sz="2600" dirty="0">
                <a:latin typeface="+mn-lt"/>
                <a:cs typeface="Arial" panose="020B0604020202020204"/>
              </a:rPr>
              <a:t> asociat</a:t>
            </a:r>
            <a:endParaRPr lang="ro-RO" sz="2600" dirty="0">
              <a:latin typeface="+mn-lt"/>
            </a:endParaRP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Mai simplu și mai clar folosind coduri de eroare</a:t>
            </a:r>
            <a:endParaRPr lang="ro-RO" sz="2600"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Google Shape;120;p18"/>
          <p:cNvSpPr>
            <a:spLocks noChangeArrowheads="1"/>
          </p:cNvSpPr>
          <p:nvPr/>
        </p:nvSpPr>
        <p:spPr bwMode="auto">
          <a:xfrm>
            <a:off x="2322396" y="827717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3" rIns="0" bIns="10073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4. </a:t>
            </a:r>
            <a:r>
              <a:rPr lang="ro-RO" sz="2200" b="1" dirty="0">
                <a:latin typeface="Arial" panose="020B0604020202020204"/>
                <a:cs typeface="Arial" panose="020B0604020202020204"/>
              </a:rPr>
              <a:t>Tratarea excepțiilor în C++</a:t>
            </a:r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163513" y="1265238"/>
            <a:ext cx="9525000" cy="10250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0783" tIns="50392" rIns="100783" bIns="50392" anchor="t">
            <a:spAutoFit/>
          </a:bodyPr>
          <a:lstStyle/>
          <a:p>
            <a:r>
              <a:rPr lang="en-US" sz="2000" b="1" i="1" dirty="0" err="1">
                <a:latin typeface="Arial" panose="020B0604020202020204"/>
                <a:cs typeface="Arial" panose="020B0604020202020204"/>
              </a:rPr>
              <a:t>Toate</a:t>
            </a:r>
            <a:r>
              <a:rPr lang="en-US" sz="2000" b="1" i="1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dirty="0">
                <a:latin typeface="Arial" panose="020B0604020202020204"/>
                <a:cs typeface="Arial" panose="020B0604020202020204"/>
                <a:hlinkClick r:id="rId3"/>
              </a:rPr>
              <a:t>excepțiile standard</a:t>
            </a:r>
            <a:r>
              <a:rPr lang="en-US" sz="2000" b="1" i="1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b="1" i="1" dirty="0" err="1">
                <a:latin typeface="Arial" panose="020B0604020202020204"/>
                <a:cs typeface="Arial" panose="020B0604020202020204"/>
              </a:rPr>
              <a:t>moștenesc</a:t>
            </a:r>
            <a:r>
              <a:rPr lang="en-US" sz="2000" b="1" i="1" dirty="0">
                <a:latin typeface="Arial" panose="020B0604020202020204"/>
                <a:cs typeface="Arial" panose="020B0604020202020204"/>
              </a:rPr>
              <a:t> din std::exception</a:t>
            </a:r>
          </a:p>
          <a:p>
            <a:endParaRPr lang="en-US" sz="2000" b="1" i="1" dirty="0">
              <a:latin typeface="Arial" panose="020B0604020202020204"/>
              <a:cs typeface="Arial" panose="020B0604020202020204"/>
            </a:endParaRPr>
          </a:p>
          <a:p>
            <a:r>
              <a:rPr lang="en-US" sz="2000" dirty="0">
                <a:latin typeface="Arial" panose="020B0604020202020204"/>
                <a:cs typeface="Arial" panose="020B0604020202020204"/>
              </a:rPr>
              <a:t>Multe 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dintre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ele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 sunt 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în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headerele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 &lt;exception&gt; 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sau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 &lt;</a:t>
            </a:r>
            <a:r>
              <a:rPr lang="en-US" sz="2000" dirty="0" err="1">
                <a:latin typeface="Arial" panose="020B0604020202020204"/>
                <a:cs typeface="Arial" panose="020B0604020202020204"/>
              </a:rPr>
              <a:t>stdexcept</a:t>
            </a:r>
            <a:r>
              <a:rPr lang="en-US" sz="2000" dirty="0">
                <a:latin typeface="Arial" panose="020B0604020202020204"/>
                <a:cs typeface="Arial" panose="020B0604020202020204"/>
              </a:rPr>
              <a:t>&gt;</a:t>
            </a:r>
            <a:endParaRPr lang="en-US" sz="2000" dirty="0" err="1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Picture 3" descr="A screen shot of a computer program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65" y="2375999"/>
            <a:ext cx="4196435" cy="48680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259946"/>
            <a:ext cx="9296576" cy="210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/>
          <a:lstStyle/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ro-RO" sz="2600">
                <a:latin typeface="+mn-lt"/>
              </a:rPr>
              <a:t>aruncarea de erori din clase de baz</a:t>
            </a:r>
            <a:r>
              <a:rPr lang="ro-RO" sz="2600"/>
              <a:t>ă</a:t>
            </a:r>
            <a:r>
              <a:rPr lang="ro-RO" sz="2600">
                <a:latin typeface="+mn-lt"/>
              </a:rPr>
              <a:t> şi derivate</a:t>
            </a: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ro-RO" sz="2600">
                <a:latin typeface="+mn-lt"/>
              </a:rPr>
              <a:t>un catch pentru tipul de baz</a:t>
            </a:r>
            <a:r>
              <a:rPr lang="ro-RO" sz="2600"/>
              <a:t>ă</a:t>
            </a:r>
            <a:r>
              <a:rPr lang="ro-RO" sz="2600">
                <a:latin typeface="+mn-lt"/>
              </a:rPr>
              <a:t> va fi executat pentru un obiect aruncat de tipul derivat</a:t>
            </a: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ro-RO" sz="2600">
                <a:latin typeface="+mn-lt"/>
              </a:rPr>
              <a:t>s</a:t>
            </a:r>
            <a:r>
              <a:rPr lang="ro-RO" sz="2600"/>
              <a:t>ă</a:t>
            </a:r>
            <a:r>
              <a:rPr lang="ro-RO" sz="2600">
                <a:latin typeface="+mn-lt"/>
              </a:rPr>
              <a:t> se pună catch-ul pe tipul derivat primul şi apoi catchul pe tipul de baz</a:t>
            </a:r>
            <a:r>
              <a:rPr lang="ro-RO" sz="2600"/>
              <a:t>ă</a:t>
            </a:r>
            <a:endParaRPr lang="ro-RO" sz="260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60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600">
              <a:latin typeface="+mn-lt"/>
            </a:endParaRPr>
          </a:p>
        </p:txBody>
      </p:sp>
      <p:grpSp>
        <p:nvGrpSpPr>
          <p:cNvPr id="15366" name="Group 8"/>
          <p:cNvGrpSpPr/>
          <p:nvPr/>
        </p:nvGrpSpPr>
        <p:grpSpPr bwMode="auto">
          <a:xfrm>
            <a:off x="3192198" y="3370435"/>
            <a:ext cx="6636411" cy="3816430"/>
            <a:chOff x="2895600" y="3057573"/>
            <a:chExt cx="5715000" cy="3461705"/>
          </a:xfrm>
        </p:grpSpPr>
        <p:sp>
          <p:nvSpPr>
            <p:cNvPr id="253953" name="Rectangle 1"/>
            <p:cNvSpPr>
              <a:spLocks noChangeArrowheads="1"/>
            </p:cNvSpPr>
            <p:nvPr/>
          </p:nvSpPr>
          <p:spPr bwMode="auto">
            <a:xfrm>
              <a:off x="2895600" y="3057573"/>
              <a:ext cx="5715000" cy="346170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1440" tIns="45720" rIns="91440" bIns="45720" anchor="ctr">
              <a:spAutoFit/>
            </a:bodyPr>
            <a:lstStyle/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class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B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};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class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D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: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public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B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};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int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4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main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()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  D derived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;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  try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 </a:t>
              </a: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throw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derived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;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</a:t>
              </a:r>
              <a:endParaRPr lang="en-US" sz="2200" dirty="0">
                <a:solidFill>
                  <a:srgbClr val="800080"/>
                </a:solidFill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  catch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(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B b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)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 </a:t>
              </a:r>
              <a:r>
                <a:rPr lang="en-US" sz="2200" dirty="0" err="1">
                  <a:solidFill>
                    <a:srgbClr val="603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cout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&lt;&lt;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"</a:t>
              </a:r>
              <a:r>
                <a:rPr lang="en-US" sz="2200" dirty="0">
                  <a:solidFill>
                    <a:srgbClr val="0000E6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Caught a base class.</a:t>
              </a:r>
              <a:r>
                <a:rPr lang="en-US" sz="2200" dirty="0">
                  <a:solidFill>
                    <a:srgbClr val="0F69FF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\n</a:t>
              </a:r>
              <a:r>
                <a:rPr lang="en-US" sz="2200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"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;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</a:t>
              </a:r>
              <a:endParaRPr lang="en-US" sz="2200" dirty="0">
                <a:latin typeface="+mn-lt"/>
                <a:ea typeface="Times New Roman" panose="02020603050405020304" pitchFamily="18" charset="0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  catch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(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D d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)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{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    </a:t>
              </a:r>
              <a:r>
                <a:rPr lang="en-US" sz="2200" err="1">
                  <a:solidFill>
                    <a:srgbClr val="603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cout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803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&lt;&lt;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"</a:t>
              </a:r>
              <a:r>
                <a:rPr lang="en-US" sz="2200" dirty="0">
                  <a:solidFill>
                    <a:srgbClr val="0000E6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This won't execute.</a:t>
              </a:r>
              <a:r>
                <a:rPr lang="en-US" sz="2200" dirty="0">
                  <a:solidFill>
                    <a:srgbClr val="0F69FF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\n</a:t>
              </a:r>
              <a:r>
                <a:rPr lang="en-US" sz="2200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"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;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  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</a:t>
              </a:r>
              <a:endParaRPr lang="en-US" sz="2200">
                <a:latin typeface="+mn-lt"/>
                <a:ea typeface="Times New Roman" panose="02020603050405020304" pitchFamily="18" charset="0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       // </a:t>
              </a:r>
              <a:r>
                <a:rPr lang="en-US" sz="2200" dirty="0" err="1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primim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warning la </a:t>
              </a:r>
              <a:r>
                <a:rPr lang="en-US" sz="2200" dirty="0" err="1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compilare</a:t>
              </a:r>
              <a:endParaRPr lang="en-US" sz="2200" dirty="0" err="1">
                <a:solidFill>
                  <a:srgbClr val="800080"/>
                </a:solidFill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b="1" dirty="0">
                  <a:solidFill>
                    <a:srgbClr val="8000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return</a:t>
              </a:r>
              <a:r>
                <a:rPr lang="en-US" sz="2200" dirty="0"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 </a:t>
              </a:r>
              <a:r>
                <a:rPr lang="en-US" sz="2200" dirty="0">
                  <a:solidFill>
                    <a:srgbClr val="008C0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0</a:t>
              </a: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;</a:t>
              </a:r>
              <a:endParaRPr lang="en-US" sz="2200" dirty="0">
                <a:latin typeface="+mn-lt"/>
                <a:cs typeface="Courier New" panose="02070309020205020404"/>
              </a:endParaRPr>
            </a:p>
            <a:p>
              <a:pPr>
                <a:tabLst>
                  <a:tab pos="640080" algn="l"/>
                  <a:tab pos="1282065" algn="l"/>
                  <a:tab pos="1922780" algn="l"/>
                  <a:tab pos="2564765" algn="l"/>
                  <a:tab pos="3205480" algn="l"/>
                  <a:tab pos="3846195" algn="l"/>
                  <a:tab pos="4488180" algn="l"/>
                  <a:tab pos="5128895" algn="l"/>
                  <a:tab pos="5770880" algn="l"/>
                  <a:tab pos="6411595" algn="l"/>
                  <a:tab pos="7051675" algn="l"/>
                  <a:tab pos="7694295" algn="l"/>
                  <a:tab pos="8334375" algn="l"/>
                  <a:tab pos="8976360" algn="l"/>
                  <a:tab pos="9617075" algn="l"/>
                  <a:tab pos="10257790" algn="l"/>
                </a:tabLst>
                <a:defRPr/>
              </a:pPr>
              <a:r>
                <a:rPr lang="en-US" sz="2200" dirty="0">
                  <a:solidFill>
                    <a:srgbClr val="800080"/>
                  </a:solidFill>
                  <a:latin typeface="+mn-lt"/>
                  <a:ea typeface="Times New Roman" panose="02020603050405020304" pitchFamily="18" charset="0"/>
                  <a:cs typeface="Courier New" panose="02070309020205020404"/>
                </a:rPr>
                <a:t>}</a:t>
              </a:r>
              <a:endParaRPr lang="en-US" sz="2200" dirty="0">
                <a:latin typeface="+mn-lt"/>
                <a:cs typeface="Courier New" panose="02070309020205020404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12625" y="4976810"/>
              <a:ext cx="1371479" cy="614178"/>
            </a:xfrm>
            <a:prstGeom prst="rect">
              <a:avLst/>
            </a:prstGeom>
            <a:solidFill>
              <a:srgbClr val="FFCC99">
                <a:alpha val="25000"/>
              </a:srgbClr>
            </a:solidFill>
            <a:ln>
              <a:solidFill>
                <a:srgbClr val="FFCC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259946"/>
            <a:ext cx="9296576" cy="210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Când ar trebui să aruncăm excepții?</a:t>
            </a:r>
            <a:endParaRPr lang="en-US" dirty="0"/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În constructori și în funcții care aruncă obiecte dacă obiectul rezultat nu ar fi valid</a:t>
            </a:r>
            <a:endParaRPr lang="ro-RO" sz="2600" dirty="0">
              <a:latin typeface="Calibri" panose="020F0502020204030204"/>
            </a:endParaRPr>
          </a:p>
          <a:p>
            <a:pPr marL="1016000" lvl="1" indent="-457200">
              <a:spcBef>
                <a:spcPts val="0"/>
              </a:spcBef>
              <a:spcAft>
                <a:spcPts val="0"/>
              </a:spcAft>
              <a:buSzPts val="2000"/>
              <a:buFont typeface="Courier New" panose="02070309020205020404"/>
              <a:buChar char="o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împiedicăm construirea unui obiect invalid</a:t>
            </a:r>
            <a:endParaRPr lang="ro-RO" sz="2600" dirty="0">
              <a:latin typeface="Calibri" panose="020F0502020204030204"/>
            </a:endParaRPr>
          </a:p>
          <a:p>
            <a:pPr marL="1016000" lvl="1" indent="-457200">
              <a:spcBef>
                <a:spcPts val="0"/>
              </a:spcBef>
              <a:spcAft>
                <a:spcPts val="0"/>
              </a:spcAft>
              <a:buSzPts val="2000"/>
              <a:buFont typeface="Courier New" panose="02070309020205020404"/>
              <a:buChar char="o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Execuția sare la primul catch care se potrivește</a:t>
            </a:r>
            <a:endParaRPr lang="ro-RO" sz="2600" dirty="0">
              <a:latin typeface="Calibri" panose="020F0502020204030204"/>
            </a:endParaRP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Atunci când alternativa cu coduri de eroare este mai complicată</a:t>
            </a:r>
            <a:endParaRPr lang="ro-RO" sz="2600" dirty="0">
              <a:latin typeface="Calibri" panose="020F0502020204030204"/>
            </a:endParaRP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Atunci când codul este mai clar de înțeles cu excepții decât fără</a:t>
            </a:r>
            <a:endParaRPr lang="ro-RO" sz="2600" dirty="0">
              <a:latin typeface="Calibri" panose="020F0502020204030204"/>
            </a:endParaRPr>
          </a:p>
          <a:p>
            <a:pPr marL="1016000" lvl="1" indent="-457200">
              <a:spcBef>
                <a:spcPts val="0"/>
              </a:spcBef>
              <a:spcAft>
                <a:spcPts val="0"/>
              </a:spcAft>
              <a:buSzPts val="2000"/>
              <a:buFont typeface="Courier New" panose="02070309020205020404"/>
              <a:buChar char="o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Dacă avem separare clară între </a:t>
            </a:r>
            <a:r>
              <a:rPr lang="ro-RO" sz="2600" dirty="0">
                <a:latin typeface="Calibri" panose="020F0502020204030204"/>
                <a:cs typeface="Arial" panose="020B0604020202020204"/>
                <a:hlinkClick r:id="rId3"/>
              </a:rPr>
              <a:t>happy path și bad path</a:t>
            </a:r>
            <a:endParaRPr lang="ro-RO" sz="2600" dirty="0">
              <a:latin typeface="Calibri" panose="020F0502020204030204"/>
            </a:endParaRP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  <a:hlinkClick r:id="rId4"/>
              </a:rPr>
              <a:t>Dacă avem voie</a:t>
            </a:r>
            <a:endParaRPr lang="ro-RO" sz="2600" dirty="0">
              <a:latin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endParaRPr lang="ro-RO" sz="2600" dirty="0">
              <a:latin typeface="Calibri" panose="020F0502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Ce punem în catch?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Prindem excepțiile prin referință (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const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 dacă nu modificăm)</a:t>
            </a: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Încercăm să găsim un echilibru între a prinde doar erori cât mai generale (cod simplu) și erori specifice (util la depanare)</a:t>
            </a:r>
            <a:endParaRPr lang="ro-RO" sz="2600" dirty="0"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491180"/>
            <a:ext cx="9296576" cy="50989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+mn-lt"/>
                <a:cs typeface="Arial" panose="020B0604020202020204"/>
              </a:rPr>
              <a:t>Limbajul C++ ne permite să ne definim o ierarhie de excepții de la zero</a:t>
            </a: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De obicei nu este recomandat, deoarece modulul scris de noi va trebui tratat în mod special față de restul codului</a:t>
            </a: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endParaRPr lang="ro-RO" sz="2600" dirty="0">
              <a:latin typeface="Calibri" panose="020F0502020204030204"/>
            </a:endParaRP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Prima idee: moștenim din 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std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::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runtime_error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 (sau 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logic_error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)</a:t>
            </a:r>
          </a:p>
          <a:p>
            <a:pPr marL="1016000" lvl="1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Putem moșteni direct din 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std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::</a:t>
            </a:r>
            <a:r>
              <a:rPr lang="ro-RO" sz="2600" dirty="0" err="1">
                <a:latin typeface="Calibri" panose="020F0502020204030204"/>
                <a:cs typeface="Arial" panose="020B0604020202020204"/>
              </a:rPr>
              <a:t>exception</a:t>
            </a:r>
            <a:r>
              <a:rPr lang="ro-RO" sz="2600" dirty="0">
                <a:latin typeface="Calibri" panose="020F0502020204030204"/>
                <a:cs typeface="Arial" panose="020B0604020202020204"/>
              </a:rPr>
              <a:t>, dar nu avem constructor cu mesaj de eroare</a:t>
            </a: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endParaRPr lang="ro-RO" sz="2600" dirty="0">
              <a:latin typeface="Calibri" panose="020F0502020204030204"/>
              <a:cs typeface="Arial" panose="020B0604020202020204"/>
            </a:endParaRPr>
          </a:p>
          <a:p>
            <a:pPr marL="558800" indent="-4572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600" dirty="0">
                <a:latin typeface="Calibri" panose="020F0502020204030204"/>
                <a:cs typeface="Arial" panose="020B0604020202020204"/>
              </a:rPr>
              <a:t>Problemă: nu putem face distincția dintre excepții aruncate de codul nostru și excepții aruncate de biblioteca standard (sau de alte module/biblioteci)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491180"/>
            <a:ext cx="9540876" cy="5767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#include &lt;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fmi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&gt;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Calibri" panose="020F0502020204030204"/>
                <a:cs typeface="Calibri" panose="020F0502020204030204"/>
              </a:rPr>
              <a:t>class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{</a:t>
            </a:r>
            <a:endParaRPr lang="ro-RO" sz="200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using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;</a:t>
            </a:r>
            <a:endParaRPr lang="en-US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};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Calibri" panose="020F0502020204030204"/>
                <a:cs typeface="Calibri" panose="020F0502020204030204"/>
              </a:rPr>
              <a:t>class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TeacherError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{</a:t>
            </a:r>
            <a:endParaRPr lang="ro-RO" sz="200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using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;</a:t>
            </a:r>
            <a:endParaRPr lang="en-US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};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Calibri" panose="020F0502020204030204"/>
                <a:cs typeface="Calibri" panose="020F0502020204030204"/>
              </a:rPr>
              <a:t>int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main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try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Student st1, st2;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Teacher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t1, t2;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st1.studyLate();  t1.prepareLate();  //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/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TeacherError</a:t>
            </a: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  //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PPTError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FMIComputer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loadPPT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(t1.getLecture());</a:t>
            </a:r>
            <a:endParaRPr lang="ro-RO" sz="2000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st2.studyLate();  t2.prepareLate();  //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/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TeacherError</a:t>
            </a:r>
            <a:endParaRPr lang="ro-RO" sz="2000" dirty="0" err="1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 catch(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&amp;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) {</a:t>
            </a:r>
            <a:endParaRPr lang="ro-RO" sz="2000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cout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&lt;&lt;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err.what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&lt;&lt; "\n";   // am prins eroare din codul nostru sau din &lt;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fmi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&gt;?</a:t>
            </a:r>
            <a:endParaRPr lang="ro-RO" sz="2000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</a:t>
            </a:r>
            <a:endParaRPr lang="ro-RO" sz="2000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491180"/>
            <a:ext cx="9540876" cy="5767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Soluție: fiecare modul ar trebui să aibă o ierarhie proprie de excepții cu baza derivată direct sau indirect din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exception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Ierarhia noastră devine următoarea: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Calibri" panose="020F0502020204030204"/>
                <a:cs typeface="Calibri" panose="020F0502020204030204"/>
              </a:rPr>
              <a:t>class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: public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{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using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; };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Calibri" panose="020F0502020204030204"/>
                <a:cs typeface="Calibri" panose="020F0502020204030204"/>
              </a:rPr>
              <a:t>class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{ 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using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;  };</a:t>
            </a:r>
            <a:endParaRPr lang="ro-RO" sz="200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Calibri" panose="020F0502020204030204"/>
                <a:cs typeface="Calibri" panose="020F0502020204030204"/>
              </a:rPr>
              <a:t>class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TeacherError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{ 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using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;  };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Google Shape;216;p26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17" name="Google Shape;217;p26"/>
          <p:cNvSpPr/>
          <p:nvPr/>
        </p:nvSpPr>
        <p:spPr>
          <a:xfrm>
            <a:off x="456779" y="1491180"/>
            <a:ext cx="9540876" cy="5767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Soluție: fiecare modul ar trebui să aibă o ierarhie proprie de excepții cu baza derivată direct sau indirect din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exception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Codul din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main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>
              <a:latin typeface="Calibri" panose="020F0502020204030204"/>
              <a:cs typeface="Calibri" panose="020F050202020403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Calibri" panose="020F0502020204030204"/>
                <a:cs typeface="Calibri" panose="020F0502020204030204"/>
              </a:rPr>
              <a:t>int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main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try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Student st1, st2; 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Teacher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t1, t2;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st1.studyLate();  t1.prepareLate();  //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/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TeacherError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FMIComputer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loadPPT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(t1.getLecture());  //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PPTError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: public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FMIError</a:t>
            </a:r>
            <a:endParaRPr lang="ro-RO" sz="2000" dirty="0" err="1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st2.studyLate();  t2.prepareLate();  //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might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throw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StudentError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/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TeacherError</a:t>
            </a:r>
            <a:endParaRPr lang="ro-RO" sz="2000" dirty="0" err="1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 catch(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SchoolError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&amp;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) {</a:t>
            </a:r>
            <a:endParaRPr lang="ro-RO" sz="2000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cout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 &lt;&lt; 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err.what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&lt;&lt; "\n";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 catch(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FMIError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&amp;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err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) {</a:t>
            </a:r>
            <a:endParaRPr lang="ro-RO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cout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&lt;&lt;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err.what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&lt;&lt; "\n";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 catch(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runtime_error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&amp; </a:t>
            </a:r>
            <a:r>
              <a:rPr lang="ro-RO" sz="2000" err="1">
                <a:latin typeface="Calibri" panose="020F0502020204030204"/>
                <a:cs typeface="Calibri" panose="020F0502020204030204"/>
              </a:rPr>
              <a:t>err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) {</a:t>
            </a:r>
            <a:endParaRPr lang="ro-RO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   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std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::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cout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 &lt;&lt; </a:t>
            </a:r>
            <a:r>
              <a:rPr lang="ro-RO" sz="2000" dirty="0" err="1">
                <a:latin typeface="Calibri" panose="020F0502020204030204"/>
                <a:cs typeface="Calibri" panose="020F0502020204030204"/>
              </a:rPr>
              <a:t>err.what</a:t>
            </a:r>
            <a:r>
              <a:rPr lang="ro-RO" sz="2000" dirty="0">
                <a:latin typeface="Calibri" panose="020F0502020204030204"/>
                <a:cs typeface="Calibri" panose="020F0502020204030204"/>
              </a:rPr>
              <a:t>() &lt;&lt; "\n"; // alte erori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    }</a:t>
            </a:r>
            <a:endParaRPr lang="ro-RO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Calibri" panose="020F0502020204030204"/>
                <a:cs typeface="Calibri" panose="020F0502020204030204"/>
              </a:rP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Google Shape;228;p27"/>
          <p:cNvSpPr>
            <a:spLocks noChangeArrowheads="1"/>
          </p:cNvSpPr>
          <p:nvPr/>
        </p:nvSpPr>
        <p:spPr bwMode="auto">
          <a:xfrm>
            <a:off x="2322395" y="827715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4" rIns="0" bIns="10074" anchor="t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</a:p>
        </p:txBody>
      </p:sp>
      <p:sp>
        <p:nvSpPr>
          <p:cNvPr id="229" name="Google Shape;229;p27"/>
          <p:cNvSpPr/>
          <p:nvPr/>
        </p:nvSpPr>
        <p:spPr>
          <a:xfrm>
            <a:off x="456779" y="1424439"/>
            <a:ext cx="9296576" cy="44203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91" tIns="44996" rIns="89991" bIns="44996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200" b="1" dirty="0">
                <a:latin typeface="+mn-lt"/>
                <a:cs typeface="Arial" panose="020B0604020202020204"/>
              </a:rPr>
              <a:t>Observații: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200" dirty="0">
              <a:latin typeface="+mn-lt"/>
              <a:cs typeface="Calibri" panose="020F0502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200" b="1" i="1" dirty="0" err="1">
                <a:latin typeface="+mn-lt"/>
                <a:cs typeface="Calibri" panose="020F0502020204030204"/>
              </a:rPr>
              <a:t>void</a:t>
            </a:r>
            <a:r>
              <a:rPr lang="ro-RO" sz="2200" b="1" i="1" dirty="0">
                <a:latin typeface="+mn-lt"/>
                <a:cs typeface="Calibri" panose="020F0502020204030204"/>
              </a:rPr>
              <a:t> Xhandler1(</a:t>
            </a:r>
            <a:r>
              <a:rPr lang="ro-RO" sz="2200" b="1" i="1" dirty="0" err="1">
                <a:latin typeface="+mn-lt"/>
                <a:cs typeface="Calibri" panose="020F0502020204030204"/>
              </a:rPr>
              <a:t>int</a:t>
            </a:r>
            <a:r>
              <a:rPr lang="ro-RO" sz="2200" b="1" i="1" dirty="0">
                <a:latin typeface="+mn-lt"/>
                <a:cs typeface="Calibri" panose="020F0502020204030204"/>
              </a:rPr>
              <a:t> test) </a:t>
            </a:r>
            <a:r>
              <a:rPr lang="ro-RO" sz="2200" b="1" i="1" dirty="0" err="1">
                <a:latin typeface="+mn-lt"/>
                <a:cs typeface="Calibri" panose="020F0502020204030204"/>
              </a:rPr>
              <a:t>noexcept</a:t>
            </a:r>
            <a:endParaRPr lang="ro-RO" dirty="0" err="1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200" b="1" i="1" dirty="0" err="1">
                <a:latin typeface="+mn-lt"/>
                <a:cs typeface="Calibri" panose="020F0502020204030204"/>
              </a:rPr>
              <a:t>void</a:t>
            </a:r>
            <a:r>
              <a:rPr lang="ro-RO" sz="2200" b="1" i="1" dirty="0">
                <a:latin typeface="+mn-lt"/>
                <a:cs typeface="Calibri" panose="020F0502020204030204"/>
              </a:rPr>
              <a:t> Xhandler2(</a:t>
            </a:r>
            <a:r>
              <a:rPr lang="ro-RO" sz="2200" b="1" i="1" dirty="0" err="1">
                <a:latin typeface="+mn-lt"/>
                <a:cs typeface="Calibri" panose="020F0502020204030204"/>
              </a:rPr>
              <a:t>int</a:t>
            </a:r>
            <a:r>
              <a:rPr lang="ro-RO" sz="2200" b="1" i="1" dirty="0">
                <a:latin typeface="+mn-lt"/>
                <a:cs typeface="Calibri" panose="020F0502020204030204"/>
              </a:rPr>
              <a:t> test) </a:t>
            </a:r>
            <a:r>
              <a:rPr lang="ro-RO" sz="2200" b="1" i="1" dirty="0" err="1">
                <a:latin typeface="+mn-lt"/>
                <a:cs typeface="Calibri" panose="020F0502020204030204"/>
              </a:rPr>
              <a:t>noexcept</a:t>
            </a:r>
            <a:r>
              <a:rPr lang="ro-RO" sz="2200" b="1" i="1" dirty="0">
                <a:latin typeface="+mn-lt"/>
                <a:cs typeface="Calibri" panose="020F0502020204030204"/>
              </a:rPr>
              <a:t>(false)</a:t>
            </a:r>
            <a:endParaRPr lang="ro-RO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200" b="1">
              <a:latin typeface="+mn-lt"/>
            </a:endParaRP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/>
              <a:buChar char="•"/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se poate specifica dacă o funcție arunc</a:t>
            </a:r>
            <a:r>
              <a:rPr lang="ro-RO" sz="2200" dirty="0">
                <a:latin typeface="Arial" panose="020B0604020202020204"/>
                <a:cs typeface="Arial" panose="020B0604020202020204"/>
              </a:rPr>
              <a:t>ă</a:t>
            </a:r>
            <a:r>
              <a:rPr lang="ro-RO" sz="2200" dirty="0">
                <a:latin typeface="+mn-lt"/>
                <a:cs typeface="Arial" panose="020B0604020202020204"/>
              </a:rPr>
              <a:t> excepții sau nu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200">
              <a:latin typeface="+mn-lt"/>
            </a:endParaRPr>
          </a:p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re-aruncarea unei excepții: </a:t>
            </a:r>
            <a:r>
              <a:rPr lang="ro-RO" sz="2200" dirty="0" err="1">
                <a:latin typeface="+mn-lt"/>
                <a:cs typeface="Arial" panose="020B0604020202020204"/>
              </a:rPr>
              <a:t>throw</a:t>
            </a:r>
            <a:r>
              <a:rPr lang="ro-RO" sz="2200" dirty="0">
                <a:latin typeface="+mn-lt"/>
                <a:cs typeface="Arial" panose="020B0604020202020204"/>
              </a:rPr>
              <a:t>; // fără excepție din catch</a:t>
            </a:r>
          </a:p>
          <a:p>
            <a:pPr marL="901700" lvl="1" indent="-3429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Util pentru </a:t>
            </a:r>
            <a:r>
              <a:rPr lang="ro-RO" sz="2200" dirty="0" err="1">
                <a:latin typeface="+mn-lt"/>
                <a:cs typeface="Arial" panose="020B0604020202020204"/>
              </a:rPr>
              <a:t>handlers</a:t>
            </a:r>
            <a:r>
              <a:rPr lang="ro-RO" sz="2200" dirty="0">
                <a:latin typeface="+mn-lt"/>
                <a:cs typeface="Arial" panose="020B0604020202020204"/>
              </a:rPr>
              <a:t> care tratează erori comune</a:t>
            </a:r>
          </a:p>
          <a:p>
            <a:pPr marL="901700" lvl="1" indent="-342900">
              <a:spcBef>
                <a:spcPts val="0"/>
              </a:spcBef>
              <a:spcAft>
                <a:spcPts val="0"/>
              </a:spcAft>
              <a:buSzPts val="2000"/>
              <a:buFont typeface="Calibri" panose="020F0502020204030204"/>
              <a:buChar char="-"/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Atenție! </a:t>
            </a:r>
            <a:r>
              <a:rPr lang="ro-RO" sz="2200" dirty="0" err="1">
                <a:latin typeface="+mn-lt"/>
                <a:cs typeface="Arial" panose="020B0604020202020204"/>
              </a:rPr>
              <a:t>throw</a:t>
            </a:r>
            <a:r>
              <a:rPr lang="ro-RO" sz="2200" dirty="0">
                <a:latin typeface="+mn-lt"/>
                <a:cs typeface="Arial" panose="020B0604020202020204"/>
              </a:rPr>
              <a:t> </a:t>
            </a:r>
            <a:r>
              <a:rPr lang="ro-RO" sz="2200" dirty="0" err="1">
                <a:latin typeface="+mn-lt"/>
                <a:cs typeface="Arial" panose="020B0604020202020204"/>
              </a:rPr>
              <a:t>err</a:t>
            </a:r>
            <a:r>
              <a:rPr lang="ro-RO" sz="2200" dirty="0">
                <a:latin typeface="+mn-lt"/>
                <a:cs typeface="Arial" panose="020B0604020202020204"/>
              </a:rPr>
              <a:t>; efectuează o copie prin valoare</a:t>
            </a:r>
          </a:p>
          <a:p>
            <a:pPr marL="1358900" lvl="2" indent="-34290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/>
              <a:buChar char="§"/>
              <a:defRPr/>
            </a:pPr>
            <a:r>
              <a:rPr lang="ro-RO" sz="2200" dirty="0">
                <a:latin typeface="+mn-lt"/>
                <a:cs typeface="Arial" panose="020B0604020202020204"/>
              </a:rPr>
              <a:t>Poate cauza </a:t>
            </a:r>
            <a:r>
              <a:rPr lang="ro-RO" sz="2200" dirty="0" err="1">
                <a:latin typeface="+mn-lt"/>
                <a:cs typeface="Arial" panose="020B0604020202020204"/>
              </a:rPr>
              <a:t>object</a:t>
            </a:r>
            <a:r>
              <a:rPr lang="ro-RO" sz="2200" dirty="0">
                <a:latin typeface="+mn-lt"/>
                <a:cs typeface="Arial" panose="020B0604020202020204"/>
              </a:rPr>
              <a:t> </a:t>
            </a:r>
            <a:r>
              <a:rPr lang="ro-RO" sz="2200" dirty="0" err="1">
                <a:latin typeface="+mn-lt"/>
                <a:cs typeface="Arial" panose="020B0604020202020204"/>
              </a:rPr>
              <a:t>slicing</a:t>
            </a:r>
            <a:r>
              <a:rPr lang="ro-RO" sz="2200" dirty="0">
                <a:latin typeface="+mn-lt"/>
                <a:cs typeface="Arial" panose="020B0604020202020204"/>
              </a:rPr>
              <a:t> (la fel catch prin valoare)</a:t>
            </a:r>
          </a:p>
          <a:p>
            <a:pPr marL="1358900" lvl="2" indent="-34290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/>
              <a:buChar char="§"/>
              <a:defRPr/>
            </a:pPr>
            <a:r>
              <a:rPr lang="ro-RO" sz="2200" dirty="0">
                <a:latin typeface="Calibri" panose="020F0502020204030204"/>
                <a:cs typeface="Arial" panose="020B0604020202020204"/>
              </a:rPr>
              <a:t>Dacă totuși avem nevoie: </a:t>
            </a:r>
            <a:r>
              <a:rPr lang="ro-RO" sz="2000" dirty="0">
                <a:latin typeface="Arial" panose="020B0604020202020204"/>
                <a:cs typeface="Arial" panose="020B0604020202020204"/>
                <a:hlinkClick r:id="rId3"/>
              </a:rPr>
              <a:t>https://isocpp.org/wiki/faq/exceptions#throwing-polymorphically</a:t>
            </a:r>
            <a:endParaRPr lang="ro-RO" sz="2000" dirty="0">
              <a:latin typeface="Arial" panose="020B0604020202020204"/>
              <a:cs typeface="Arial" panose="020B0604020202020204"/>
            </a:endParaRPr>
          </a:p>
          <a:p>
            <a:pPr marL="1358900" lvl="2" indent="-342900"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/>
              <a:buChar char="§"/>
              <a:defRPr/>
            </a:pPr>
            <a:endParaRPr lang="ro-RO" sz="2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Google Shape;228;p27"/>
          <p:cNvSpPr>
            <a:spLocks noChangeArrowheads="1"/>
          </p:cNvSpPr>
          <p:nvPr/>
        </p:nvSpPr>
        <p:spPr bwMode="auto">
          <a:xfrm>
            <a:off x="2322396" y="827717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3" rIns="0" bIns="10073" anchor="t"/>
          <a:lstStyle/>
          <a:p>
            <a:pPr algn="ctr"/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  <a:endParaRPr lang="ro-RO" sz="2200" b="1" dirty="0"/>
          </a:p>
        </p:txBody>
      </p:sp>
      <p:sp>
        <p:nvSpPr>
          <p:cNvPr id="229" name="Google Shape;229;p27"/>
          <p:cNvSpPr/>
          <p:nvPr/>
        </p:nvSpPr>
        <p:spPr>
          <a:xfrm>
            <a:off x="456779" y="1424439"/>
            <a:ext cx="9296576" cy="450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82" tIns="44991" rIns="89982" bIns="44991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 err="1">
                <a:latin typeface="+mn-lt"/>
                <a:cs typeface="Arial" panose="020B0604020202020204"/>
              </a:rPr>
              <a:t>Rearuncarea</a:t>
            </a:r>
            <a:r>
              <a:rPr lang="en-US" sz="2200" b="1" dirty="0">
                <a:latin typeface="+mn-lt"/>
                <a:cs typeface="Arial" panose="020B0604020202020204"/>
              </a:rPr>
              <a:t> </a:t>
            </a:r>
            <a:r>
              <a:rPr lang="en-US" sz="2200" b="1" dirty="0" err="1">
                <a:latin typeface="+mn-lt"/>
                <a:cs typeface="Arial" panose="020B0604020202020204"/>
              </a:rPr>
              <a:t>unei</a:t>
            </a:r>
            <a:r>
              <a:rPr lang="en-US" sz="2200" b="1" dirty="0">
                <a:latin typeface="+mn-lt"/>
                <a:cs typeface="Arial" panose="020B0604020202020204"/>
              </a:rPr>
              <a:t> </a:t>
            </a:r>
            <a:r>
              <a:rPr lang="en-US" sz="2200" b="1" dirty="0" err="1">
                <a:latin typeface="+mn-lt"/>
                <a:cs typeface="Arial" panose="020B0604020202020204"/>
              </a:rPr>
              <a:t>excepții</a:t>
            </a:r>
            <a:endParaRPr lang="ro-RO" sz="2200" b="1" dirty="0" err="1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200" b="1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713" y="1951038"/>
            <a:ext cx="8686800" cy="5386082"/>
          </a:xfrm>
          <a:prstGeom prst="rect">
            <a:avLst/>
          </a:prstGeom>
        </p:spPr>
        <p:txBody>
          <a:bodyPr wrap="square" lIns="91430" tIns="45716" rIns="91430" bIns="45716" anchor="t">
            <a:spAutoFit/>
          </a:bodyPr>
          <a:lstStyle/>
          <a:p>
            <a:pPr marL="456565" indent="-354965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  <a:defRPr/>
            </a:pPr>
            <a:r>
              <a:rPr lang="ro-RO" sz="2200" dirty="0">
                <a:latin typeface="Arial" panose="020B0604020202020204"/>
                <a:cs typeface="Times New Roman" panose="02020603050405020304"/>
              </a:rPr>
              <a:t>re-aruncarea unei excepții: </a:t>
            </a:r>
            <a:r>
              <a:rPr lang="ro-RO" sz="2200" err="1">
                <a:latin typeface="Arial" panose="020B0604020202020204"/>
                <a:cs typeface="Times New Roman" panose="02020603050405020304"/>
              </a:rPr>
              <a:t>throw</a:t>
            </a:r>
            <a:r>
              <a:rPr lang="ro-RO" sz="2200" dirty="0">
                <a:latin typeface="Arial" panose="020B0604020202020204"/>
                <a:cs typeface="Times New Roman" panose="02020603050405020304"/>
              </a:rPr>
              <a:t>; // fără excepție din catch</a:t>
            </a:r>
            <a:endParaRPr lang="en-US" dirty="0">
              <a:latin typeface="Arial" panose="020B0604020202020204"/>
              <a:cs typeface="Times New Roman" panose="020206030504050203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200" dirty="0">
                <a:latin typeface="Arial" panose="020B0604020202020204"/>
                <a:cs typeface="Times New Roman" panose="02020603050405020304"/>
              </a:rPr>
              <a:t>Avem ierarhia următoare:</a:t>
            </a:r>
            <a:endParaRPr lang="ro-RO" sz="2200" dirty="0">
              <a:cs typeface="Times New Roman" panose="02020603050405020304" pitchFamily="18" charset="0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err="1">
                <a:latin typeface="Arial" panose="020B0604020202020204"/>
                <a:cs typeface="Times New Roman" panose="02020603050405020304"/>
              </a:rPr>
              <a:t>class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AppError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: public 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std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::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runtime_error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{</a:t>
            </a:r>
            <a:endParaRPr lang="ro-RO" sz="2000">
              <a:cs typeface="Times New Roman" panose="020206030504050203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    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using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std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::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runtime_error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::</a:t>
            </a:r>
            <a:r>
              <a:rPr lang="ro-RO" sz="2000" err="1">
                <a:latin typeface="Arial" panose="020B0604020202020204"/>
                <a:cs typeface="Times New Roman" panose="02020603050405020304"/>
              </a:rPr>
              <a:t>runtime_error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};</a:t>
            </a:r>
            <a:endParaRPr lang="ro-RO" sz="2000" dirty="0">
              <a:cs typeface="Times New Roman" panose="020206030504050203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err="1">
                <a:latin typeface="Arial" panose="020B0604020202020204"/>
                <a:cs typeface="Arial" panose="020B0604020202020204"/>
              </a:rPr>
              <a:t>class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SomeCommonError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: public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using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::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};</a:t>
            </a:r>
            <a:endParaRPr lang="ro-RO" sz="2000">
              <a:latin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Arial" panose="020B0604020202020204"/>
                <a:cs typeface="Arial" panose="020B0604020202020204"/>
              </a:rPr>
              <a:t>class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OtherCommonError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: public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{</a:t>
            </a:r>
            <a:endParaRPr lang="en-US" sz="2000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using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::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};</a:t>
            </a:r>
            <a:endParaRPr lang="ro-RO" sz="2000" dirty="0">
              <a:latin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Arial" panose="020B0604020202020204"/>
                <a:cs typeface="Arial" panose="020B0604020202020204"/>
              </a:rPr>
              <a:t>class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SomeSpecialError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: public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{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using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::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;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};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Arial" panose="020B0604020202020204"/>
                <a:cs typeface="Arial" panose="020B0604020202020204"/>
              </a:rPr>
              <a:t>class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OtherSpecialError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: public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{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using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::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;</a:t>
            </a:r>
            <a:endParaRPr lang="en-US" sz="2000" dirty="0">
              <a:latin typeface="Arial" panose="020B0604020202020204"/>
              <a:cs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cs typeface="Arial" panose="020B0604020202020204"/>
              </a:rPr>
              <a:t>};</a:t>
            </a:r>
            <a:endParaRPr lang="ro-RO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Google Shape;228;p27"/>
          <p:cNvSpPr>
            <a:spLocks noChangeArrowheads="1"/>
          </p:cNvSpPr>
          <p:nvPr/>
        </p:nvSpPr>
        <p:spPr bwMode="auto">
          <a:xfrm>
            <a:off x="2322396" y="827717"/>
            <a:ext cx="5540844" cy="4444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3" rIns="0" bIns="10073" anchor="t"/>
          <a:lstStyle/>
          <a:p>
            <a:pPr algn="ctr"/>
            <a:r>
              <a:rPr lang="ro-RO" sz="2200" b="1" dirty="0">
                <a:latin typeface="Arial" panose="020B0604020202020204"/>
                <a:cs typeface="Arial" panose="020B0604020202020204"/>
              </a:rPr>
              <a:t>4. Tratarea excepțiilor în C++</a:t>
            </a:r>
            <a:endParaRPr lang="ro-RO" sz="2200" b="1" dirty="0"/>
          </a:p>
        </p:txBody>
      </p:sp>
      <p:sp>
        <p:nvSpPr>
          <p:cNvPr id="229" name="Google Shape;229;p27"/>
          <p:cNvSpPr/>
          <p:nvPr/>
        </p:nvSpPr>
        <p:spPr>
          <a:xfrm>
            <a:off x="456779" y="1424439"/>
            <a:ext cx="9296576" cy="450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89982" tIns="44991" rIns="89982" bIns="44991" anchor="t"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 err="1">
                <a:latin typeface="+mn-lt"/>
                <a:cs typeface="Arial" panose="020B0604020202020204"/>
              </a:rPr>
              <a:t>Rearuncarea</a:t>
            </a:r>
            <a:r>
              <a:rPr lang="en-US" sz="2200" b="1" dirty="0">
                <a:latin typeface="+mn-lt"/>
                <a:cs typeface="Arial" panose="020B0604020202020204"/>
              </a:rPr>
              <a:t> </a:t>
            </a:r>
            <a:r>
              <a:rPr lang="en-US" sz="2200" b="1" dirty="0" err="1">
                <a:latin typeface="+mn-lt"/>
                <a:cs typeface="Arial" panose="020B0604020202020204"/>
              </a:rPr>
              <a:t>unei</a:t>
            </a:r>
            <a:r>
              <a:rPr lang="en-US" sz="2200" b="1" dirty="0">
                <a:latin typeface="+mn-lt"/>
                <a:cs typeface="Arial" panose="020B0604020202020204"/>
              </a:rPr>
              <a:t> </a:t>
            </a:r>
            <a:r>
              <a:rPr lang="en-US" sz="2200" b="1" dirty="0" err="1">
                <a:latin typeface="+mn-lt"/>
                <a:cs typeface="Arial" panose="020B0604020202020204"/>
              </a:rPr>
              <a:t>excepții</a:t>
            </a:r>
            <a:endParaRPr lang="ro-RO" sz="2200" b="1" dirty="0" err="1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ro-RO" sz="2200" b="1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713" y="1951038"/>
            <a:ext cx="8686800" cy="5324526"/>
          </a:xfrm>
          <a:prstGeom prst="rect">
            <a:avLst/>
          </a:prstGeom>
        </p:spPr>
        <p:txBody>
          <a:bodyPr wrap="square" lIns="91430" tIns="45716" rIns="91430" bIns="45716" anchor="t">
            <a:spAutoFit/>
          </a:bodyPr>
          <a:lstStyle/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void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 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handleCommonErrors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()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    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try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        </a:t>
            </a:r>
            <a:r>
              <a:rPr lang="ro-RO" sz="2000" b="1" err="1">
                <a:latin typeface="Arial" panose="020B0604020202020204"/>
                <a:cs typeface="Times New Roman" panose="02020603050405020304"/>
              </a:rPr>
              <a:t>throw</a:t>
            </a:r>
            <a:r>
              <a:rPr lang="ro-RO" sz="2000" b="1" dirty="0">
                <a:latin typeface="Arial" panose="020B0604020202020204"/>
                <a:cs typeface="Times New Roman" panose="02020603050405020304"/>
              </a:rPr>
              <a:t>;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    } catch(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SomeCommonError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&amp; 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err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) { /* 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handle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</a:t>
            </a:r>
            <a:r>
              <a:rPr lang="ro-RO" sz="2000" dirty="0" err="1">
                <a:latin typeface="Arial" panose="020B0604020202020204"/>
                <a:cs typeface="Times New Roman" panose="02020603050405020304"/>
              </a:rPr>
              <a:t>error</a:t>
            </a:r>
            <a:r>
              <a:rPr lang="ro-RO" sz="2000" dirty="0">
                <a:latin typeface="Arial" panose="020B0604020202020204"/>
                <a:cs typeface="Times New Roman" panose="02020603050405020304"/>
              </a:rPr>
              <a:t> */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} catch(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OtherCommonError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&amp;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) { /*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handle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*/</a:t>
            </a:r>
            <a:endParaRPr lang="ro-RO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  catch(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AppError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&amp;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) { /*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handle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*/</a:t>
            </a:r>
            <a:endParaRPr lang="ro-RO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}</a:t>
            </a:r>
            <a:endParaRPr lang="ro-RO" dirty="0"/>
          </a:p>
          <a:p>
            <a:pPr marL="101600">
              <a:spcBef>
                <a:spcPts val="0"/>
              </a:spcBef>
              <a:spcAft>
                <a:spcPts val="0"/>
              </a:spcAft>
              <a:buSzPts val="2000"/>
              <a:defRPr/>
            </a:pPr>
            <a:r>
              <a:rPr lang="ro-RO" sz="2000" dirty="0">
                <a:latin typeface="Arial" panose="020B0604020202020204"/>
                <a:cs typeface="Times New Roman" panose="02020603050405020304"/>
              </a:rPr>
              <a:t>}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>
              <a:latin typeface="Arial" panose="020B0604020202020204"/>
            </a:endParaRP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 err="1">
                <a:latin typeface="Arial" panose="020B0604020202020204"/>
                <a:cs typeface="Arial" panose="020B0604020202020204"/>
              </a:rPr>
              <a:t>void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 f()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</a:t>
            </a:r>
            <a:r>
              <a:rPr lang="ro-RO" sz="2000" err="1">
                <a:latin typeface="Arial" panose="020B0604020202020204"/>
                <a:cs typeface="Arial" panose="020B0604020202020204"/>
              </a:rPr>
              <a:t>try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 {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       // cod care aruncă diverse erori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} catch(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SomeSpecialError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&amp;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) { /*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handle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*/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} catch(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OtherSpecialError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&amp;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) { /*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handle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</a:t>
            </a:r>
            <a:r>
              <a:rPr lang="ro-RO" sz="2000" dirty="0" err="1">
                <a:latin typeface="Arial" panose="020B0604020202020204"/>
                <a:cs typeface="Arial" panose="020B0604020202020204"/>
              </a:rPr>
              <a:t>error</a:t>
            </a:r>
            <a:r>
              <a:rPr lang="ro-RO" sz="2000" dirty="0">
                <a:latin typeface="Arial" panose="020B0604020202020204"/>
                <a:cs typeface="Arial" panose="020B0604020202020204"/>
              </a:rPr>
              <a:t> */</a:t>
            </a:r>
            <a:endParaRPr lang="ro-RO" dirty="0"/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    </a:t>
            </a:r>
            <a:r>
              <a:rPr lang="ro-RO" sz="2000" b="1" dirty="0">
                <a:latin typeface="Arial" panose="020B0604020202020204"/>
                <a:cs typeface="Arial" panose="020B0604020202020204"/>
              </a:rPr>
              <a:t>} catch(...) { </a:t>
            </a:r>
            <a:r>
              <a:rPr lang="ro-RO" sz="2000" b="1" err="1">
                <a:latin typeface="Arial" panose="020B0604020202020204"/>
                <a:cs typeface="Arial" panose="020B0604020202020204"/>
              </a:rPr>
              <a:t>handleCommonErrors</a:t>
            </a:r>
            <a:r>
              <a:rPr lang="ro-RO" sz="2000" b="1" dirty="0">
                <a:latin typeface="Arial" panose="020B0604020202020204"/>
                <a:cs typeface="Arial" panose="020B0604020202020204"/>
              </a:rPr>
              <a:t>(); }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000" dirty="0">
                <a:latin typeface="Arial" panose="020B0604020202020204"/>
                <a:cs typeface="Arial" panose="020B0604020202020204"/>
              </a:rPr>
              <a:t>}</a:t>
            </a:r>
          </a:p>
          <a:p>
            <a:pPr marL="101600">
              <a:spcBef>
                <a:spcPts val="0"/>
              </a:spcBef>
              <a:spcAft>
                <a:spcPts val="0"/>
              </a:spcAft>
              <a:defRPr/>
            </a:pPr>
            <a:endParaRPr lang="ro-RO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Google Shape;866;p79"/>
          <p:cNvSpPr>
            <a:spLocks noChangeArrowheads="1"/>
          </p:cNvSpPr>
          <p:nvPr/>
        </p:nvSpPr>
        <p:spPr bwMode="auto">
          <a:xfrm>
            <a:off x="9236075" y="7062788"/>
            <a:ext cx="698500" cy="4016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0800" tIns="50400" rIns="100800" bIns="50400" anchor="b"/>
          <a:lstStyle/>
          <a:p>
            <a:pPr algn="r">
              <a:lnSpc>
                <a:spcPct val="104000"/>
              </a:lnSpc>
              <a:buClr>
                <a:srgbClr val="000000"/>
              </a:buClr>
              <a:buSzPts val="1500"/>
              <a:buFont typeface="Arial" panose="020B0604020202020204" pitchFamily="34" charset="0"/>
              <a:buNone/>
            </a:pPr>
            <a:fld id="{854B7120-4842-49D8-B105-2E9BDCFA2853}" type="slidenum">
              <a:rPr lang="en-US" sz="1500"/>
              <a:t>64</a:t>
            </a:fld>
            <a:endParaRPr lang="en-US" sz="1800"/>
          </a:p>
        </p:txBody>
      </p:sp>
      <p:sp>
        <p:nvSpPr>
          <p:cNvPr id="67589" name="Google Shape;869;p79"/>
          <p:cNvSpPr>
            <a:spLocks noChangeArrowheads="1"/>
          </p:cNvSpPr>
          <p:nvPr/>
        </p:nvSpPr>
        <p:spPr bwMode="auto">
          <a:xfrm>
            <a:off x="2322513" y="836613"/>
            <a:ext cx="5540375" cy="412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0075" rIns="0" bIns="10075"/>
          <a:lstStyle/>
          <a:p>
            <a:pPr algn="ctr">
              <a:buClr>
                <a:srgbClr val="000000"/>
              </a:buClr>
              <a:buSzPts val="2600"/>
              <a:buFont typeface="Arial" panose="020B0604020202020204" pitchFamily="34" charset="0"/>
              <a:buNone/>
            </a:pPr>
            <a:r>
              <a:rPr lang="en-US" sz="2600" b="1">
                <a:solidFill>
                  <a:srgbClr val="0C1C1D"/>
                </a:solidFill>
              </a:rPr>
              <a:t>Perspective</a:t>
            </a:r>
            <a:endParaRPr lang="en-US" sz="1800"/>
          </a:p>
        </p:txBody>
      </p:sp>
      <p:sp>
        <p:nvSpPr>
          <p:cNvPr id="67590" name="Google Shape;870;p79"/>
          <p:cNvSpPr>
            <a:spLocks noChangeArrowheads="1"/>
          </p:cNvSpPr>
          <p:nvPr/>
        </p:nvSpPr>
        <p:spPr bwMode="auto">
          <a:xfrm>
            <a:off x="1136650" y="1879600"/>
            <a:ext cx="8232775" cy="4602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000" tIns="45000" rIns="90000" bIns="45000" anchor="t"/>
          <a:lstStyle/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dirty="0" err="1">
                <a:latin typeface="Times New Roman" panose="02020603050405020304"/>
                <a:cs typeface="Times New Roman" panose="02020603050405020304"/>
              </a:rPr>
              <a:t>Cursul</a:t>
            </a:r>
            <a:r>
              <a:rPr lang="en-US" sz="2400" dirty="0">
                <a:latin typeface="Times New Roman" panose="02020603050405020304"/>
                <a:cs typeface="Times New Roman" panose="02020603050405020304"/>
              </a:rPr>
              <a:t> 9:</a:t>
            </a: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400" dirty="0" err="1" smtClean="0">
                <a:latin typeface="Times New Roman" panose="02020603050405020304"/>
                <a:cs typeface="Times New Roman" panose="02020603050405020304"/>
              </a:rPr>
              <a:t>Șabloane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ți un document nou." ma:contentTypeScope="" ma:versionID="399cf48525c93e7bd603b375853bb402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c6228155182473796e27d3838206c164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5F0668-CCE0-4DF5-8EC8-D6946AAA8879}">
  <ds:schemaRefs/>
</ds:datastoreItem>
</file>

<file path=customXml/itemProps2.xml><?xml version="1.0" encoding="utf-8"?>
<ds:datastoreItem xmlns:ds="http://schemas.openxmlformats.org/officeDocument/2006/customXml" ds:itemID="{06D1AEAC-39BC-4314-A20F-3B85927ED92B}">
  <ds:schemaRefs/>
</ds:datastoreItem>
</file>

<file path=customXml/itemProps3.xml><?xml version="1.0" encoding="utf-8"?>
<ds:datastoreItem xmlns:ds="http://schemas.openxmlformats.org/officeDocument/2006/customXml" ds:itemID="{43FF4F5B-48AA-41F9-A108-645B1E1962A0}"/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2846</Words>
  <Application>Microsoft Office PowerPoint</Application>
  <PresentationFormat>Custom</PresentationFormat>
  <Paragraphs>1237</Paragraphs>
  <Slides>64</Slides>
  <Notes>64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</dc:creator>
  <cp:lastModifiedBy>Admin</cp:lastModifiedBy>
  <cp:revision>500</cp:revision>
  <dcterms:created xsi:type="dcterms:W3CDTF">2023-11-24T09:11:00Z</dcterms:created>
  <dcterms:modified xsi:type="dcterms:W3CDTF">2026-04-19T20:11:45Z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  <property fmtid="{D5CDD505-2E9C-101B-9397-08002B2CF9AE}" pid="3" name="ICV">
    <vt:lpwstr>F6AAFC4D0403454A8710F181F2BF06BE_12</vt:lpwstr>
  </property>
  <property fmtid="{D5CDD505-2E9C-101B-9397-08002B2CF9AE}" pid="4" name="KSOProductBuildVer">
    <vt:lpwstr>1033-12.2.0.13306</vt:lpwstr>
  </property>
</Properties>
</file>