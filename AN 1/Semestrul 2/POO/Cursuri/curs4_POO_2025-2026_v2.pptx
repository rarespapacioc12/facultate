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sldIdLst>
    <p:sldId id="256" r:id="rId5"/>
    <p:sldId id="656" r:id="rId6"/>
    <p:sldId id="733" r:id="rId7"/>
    <p:sldId id="734" r:id="rId8"/>
    <p:sldId id="657" r:id="rId9"/>
    <p:sldId id="736" r:id="rId10"/>
    <p:sldId id="735" r:id="rId11"/>
    <p:sldId id="658" r:id="rId12"/>
    <p:sldId id="737" r:id="rId13"/>
    <p:sldId id="728" r:id="rId14"/>
    <p:sldId id="729" r:id="rId15"/>
    <p:sldId id="730" r:id="rId16"/>
    <p:sldId id="731" r:id="rId17"/>
    <p:sldId id="732" r:id="rId18"/>
    <p:sldId id="660" r:id="rId19"/>
    <p:sldId id="661" r:id="rId20"/>
    <p:sldId id="662" r:id="rId21"/>
    <p:sldId id="738" r:id="rId22"/>
    <p:sldId id="663" r:id="rId23"/>
    <p:sldId id="664" r:id="rId24"/>
    <p:sldId id="665" r:id="rId25"/>
    <p:sldId id="685" r:id="rId26"/>
    <p:sldId id="720" r:id="rId27"/>
    <p:sldId id="686" r:id="rId28"/>
    <p:sldId id="687" r:id="rId29"/>
    <p:sldId id="721" r:id="rId30"/>
    <p:sldId id="689" r:id="rId31"/>
    <p:sldId id="690" r:id="rId32"/>
    <p:sldId id="691" r:id="rId33"/>
    <p:sldId id="692" r:id="rId34"/>
    <p:sldId id="694" r:id="rId35"/>
    <p:sldId id="722" r:id="rId36"/>
    <p:sldId id="696" r:id="rId37"/>
    <p:sldId id="697" r:id="rId38"/>
    <p:sldId id="698" r:id="rId39"/>
    <p:sldId id="699" r:id="rId40"/>
    <p:sldId id="700" r:id="rId41"/>
    <p:sldId id="723" r:id="rId42"/>
    <p:sldId id="724" r:id="rId43"/>
    <p:sldId id="702" r:id="rId44"/>
    <p:sldId id="703" r:id="rId45"/>
    <p:sldId id="704" r:id="rId46"/>
    <p:sldId id="705" r:id="rId47"/>
    <p:sldId id="706" r:id="rId48"/>
    <p:sldId id="707" r:id="rId49"/>
    <p:sldId id="708" r:id="rId50"/>
    <p:sldId id="710" r:id="rId51"/>
    <p:sldId id="712" r:id="rId52"/>
    <p:sldId id="713" r:id="rId53"/>
    <p:sldId id="714" r:id="rId54"/>
    <p:sldId id="715" r:id="rId55"/>
    <p:sldId id="716" r:id="rId56"/>
    <p:sldId id="717" r:id="rId57"/>
    <p:sldId id="718" r:id="rId58"/>
    <p:sldId id="719" r:id="rId59"/>
    <p:sldId id="725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5FECC-403E-B146-FEC7-206EC685134F}" v="1" dt="2026-03-24T08:09:19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1" autoAdjust="0"/>
    <p:restoredTop sz="94660"/>
  </p:normalViewPr>
  <p:slideViewPr>
    <p:cSldViewPr>
      <p:cViewPr>
        <p:scale>
          <a:sx n="80" d="100"/>
          <a:sy n="80" d="100"/>
        </p:scale>
        <p:origin x="-888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LIA OBREJA" userId="S::camelia.obreja@unibuc.ro::b334adac-b9b2-48d3-857d-735123cc251e" providerId="AD" clId="Web-{C425FECC-403E-B146-FEC7-206EC685134F}"/>
    <pc:docChg chg="delSld">
      <pc:chgData name="CAMELIA OBREJA" userId="S::camelia.obreja@unibuc.ro::b334adac-b9b2-48d3-857d-735123cc251e" providerId="AD" clId="Web-{C425FECC-403E-B146-FEC7-206EC685134F}" dt="2026-03-24T08:09:19.220" v="0"/>
      <pc:docMkLst>
        <pc:docMk/>
      </pc:docMkLst>
      <pc:sldChg chg="del">
        <pc:chgData name="CAMELIA OBREJA" userId="S::camelia.obreja@unibuc.ro::b334adac-b9b2-48d3-857d-735123cc251e" providerId="AD" clId="Web-{C425FECC-403E-B146-FEC7-206EC685134F}" dt="2026-03-24T08:09:19.220" v="0"/>
        <pc:sldMkLst>
          <pc:docMk/>
          <pc:sldMk cId="0" sldId="709"/>
        </pc:sldMkLst>
      </pc:sldChg>
    </pc:docChg>
  </pc:docChgLst>
  <pc:docChgLst>
    <pc:chgData name="CAMELIA OBREJA" userId="S::camelia.obreja@unibuc.ro::b334adac-b9b2-48d3-857d-735123cc251e" providerId="AD" clId="Web-{2050B614-2F8D-E9F9-7AE4-FF43E5985601}"/>
    <pc:docChg chg="modSld">
      <pc:chgData name="CAMELIA OBREJA" userId="S::camelia.obreja@unibuc.ro::b334adac-b9b2-48d3-857d-735123cc251e" providerId="AD" clId="Web-{2050B614-2F8D-E9F9-7AE4-FF43E5985601}" dt="2026-03-21T16:46:17.647" v="1" actId="1076"/>
      <pc:docMkLst>
        <pc:docMk/>
      </pc:docMkLst>
      <pc:sldChg chg="modSp">
        <pc:chgData name="CAMELIA OBREJA" userId="S::camelia.obreja@unibuc.ro::b334adac-b9b2-48d3-857d-735123cc251e" providerId="AD" clId="Web-{2050B614-2F8D-E9F9-7AE4-FF43E5985601}" dt="2026-03-21T16:44:04.142" v="0" actId="1076"/>
        <pc:sldMkLst>
          <pc:docMk/>
          <pc:sldMk cId="0" sldId="705"/>
        </pc:sldMkLst>
        <pc:spChg chg="mod">
          <ac:chgData name="CAMELIA OBREJA" userId="S::camelia.obreja@unibuc.ro::b334adac-b9b2-48d3-857d-735123cc251e" providerId="AD" clId="Web-{2050B614-2F8D-E9F9-7AE4-FF43E5985601}" dt="2026-03-21T16:44:04.142" v="0" actId="1076"/>
          <ac:spMkLst>
            <pc:docMk/>
            <pc:sldMk cId="0" sldId="705"/>
            <ac:spMk id="254983" creationId="{00000000-0000-0000-0000-000000000000}"/>
          </ac:spMkLst>
        </pc:spChg>
      </pc:sldChg>
      <pc:sldChg chg="modSp">
        <pc:chgData name="CAMELIA OBREJA" userId="S::camelia.obreja@unibuc.ro::b334adac-b9b2-48d3-857d-735123cc251e" providerId="AD" clId="Web-{2050B614-2F8D-E9F9-7AE4-FF43E5985601}" dt="2026-03-21T16:46:17.647" v="1" actId="1076"/>
        <pc:sldMkLst>
          <pc:docMk/>
          <pc:sldMk cId="0" sldId="715"/>
        </pc:sldMkLst>
        <pc:spChg chg="mod">
          <ac:chgData name="CAMELIA OBREJA" userId="S::camelia.obreja@unibuc.ro::b334adac-b9b2-48d3-857d-735123cc251e" providerId="AD" clId="Web-{2050B614-2F8D-E9F9-7AE4-FF43E5985601}" dt="2026-03-21T16:46:17.647" v="1" actId="1076"/>
          <ac:spMkLst>
            <pc:docMk/>
            <pc:sldMk cId="0" sldId="715"/>
            <ac:spMk id="85000" creationId="{00000000-0000-0000-0000-000000000000}"/>
          </ac:spMkLst>
        </pc:spChg>
      </pc:sldChg>
    </pc:docChg>
  </pc:docChgLst>
  <pc:docChgLst>
    <pc:chgData name="RADU TUDOR VRINCEANU" userId="S::radu-tudor.vrinceanu@unibuc.ro::adfb49da-457c-4f80-8a49-66358f75a61a" providerId="AD" clId="Web-{340625F3-B424-A1CF-B328-D7CDCA53699E}"/>
    <pc:docChg chg="modSld">
      <pc:chgData name="RADU TUDOR VRINCEANU" userId="S::radu-tudor.vrinceanu@unibuc.ro::adfb49da-457c-4f80-8a49-66358f75a61a" providerId="AD" clId="Web-{340625F3-B424-A1CF-B328-D7CDCA53699E}" dt="2026-03-13T17:01:30.703" v="14" actId="20577"/>
      <pc:docMkLst>
        <pc:docMk/>
      </pc:docMkLst>
      <pc:sldChg chg="modSp">
        <pc:chgData name="RADU TUDOR VRINCEANU" userId="S::radu-tudor.vrinceanu@unibuc.ro::adfb49da-457c-4f80-8a49-66358f75a61a" providerId="AD" clId="Web-{340625F3-B424-A1CF-B328-D7CDCA53699E}" dt="2026-03-13T17:01:30.703" v="14" actId="20577"/>
        <pc:sldMkLst>
          <pc:docMk/>
          <pc:sldMk cId="0" sldId="714"/>
        </pc:sldMkLst>
        <pc:spChg chg="mod">
          <ac:chgData name="RADU TUDOR VRINCEANU" userId="S::radu-tudor.vrinceanu@unibuc.ro::adfb49da-457c-4f80-8a49-66358f75a61a" providerId="AD" clId="Web-{340625F3-B424-A1CF-B328-D7CDCA53699E}" dt="2026-03-13T17:01:30.703" v="14" actId="20577"/>
          <ac:spMkLst>
            <pc:docMk/>
            <pc:sldMk cId="0" sldId="714"/>
            <ac:spMk id="839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4766C11-F198-4F21-8C89-EC0C720FE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191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2D304F-615F-40B9-A7FF-F1AF32DA0F5F}" type="slidenum">
              <a:rPr lang="en-US" altLang="ro-RO" smtClean="0"/>
              <a:pPr/>
              <a:t>1</a:t>
            </a:fld>
            <a:endParaRPr lang="en-US" altLang="ro-RO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ACAF9E-A240-4908-862D-E6AA7C60A228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6444C-D807-46C8-9235-1BCC059D7366}" type="slidenum">
              <a:rPr lang="en-US" altLang="ro-RO" smtClean="0"/>
              <a:pPr/>
              <a:t>57</a:t>
            </a:fld>
            <a:endParaRPr lang="en-US" altLang="ro-RO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C20AB-2209-4B46-924F-015E90946B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09B40-6FE9-444A-9E25-FE3981E81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E10B8-03B3-478D-A371-3ED2FA122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904E0-3FA8-41D7-8C1B-8287817E1A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F5E2-5DC2-40E6-A5C0-F3088CF980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248C4-B94F-4AA5-B84F-CD0E1FB87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DE608-7D43-4761-966E-3997C21380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98F5C-460E-4232-9967-0E6D9B8C8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A15DF-9CE8-4FF6-94F3-8763F6818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E3615-03F5-42CF-AD01-1F1453E0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47BEB-E9E5-4700-8D3F-C58B022B92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563B7F-6C93-48CD-99C9-782215DD3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421706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4421706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24;p27"/>
          <p:cNvSpPr>
            <a:spLocks noChangeArrowheads="1"/>
          </p:cNvSpPr>
          <p:nvPr/>
        </p:nvSpPr>
        <p:spPr bwMode="auto">
          <a:xfrm>
            <a:off x="84138" y="84138"/>
            <a:ext cx="5040312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</a:pP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Facultatea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Matematic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şi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Informatic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/>
              <a:t>Universitatea</a:t>
            </a:r>
            <a:r>
              <a:rPr lang="en-US" sz="1800" b="1" dirty="0"/>
              <a:t> din </a:t>
            </a:r>
            <a:r>
              <a:rPr lang="en-US" sz="1800" b="1" dirty="0" err="1"/>
              <a:t>Bucure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</a:t>
            </a:r>
            <a:r>
              <a:rPr lang="en-US" sz="1800" b="1" dirty="0" err="1"/>
              <a:t>ti</a:t>
            </a:r>
            <a:endParaRPr lang="en-US" sz="1800" dirty="0"/>
          </a:p>
        </p:txBody>
      </p:sp>
      <p:pic>
        <p:nvPicPr>
          <p:cNvPr id="5123" name="Google Shape;125;p27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8200" y="31750"/>
            <a:ext cx="6572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Google Shape;128;p27"/>
          <p:cNvSpPr/>
          <p:nvPr/>
        </p:nvSpPr>
        <p:spPr>
          <a:xfrm>
            <a:off x="258763" y="1131888"/>
            <a:ext cx="8394700" cy="1484312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239025" rIns="0" bIns="0" anchor="ctr"/>
          <a:lstStyle/>
          <a:p>
            <a:pPr algn="ctr">
              <a:lnSpc>
                <a:spcPct val="72000"/>
              </a:lnSpc>
              <a:defRPr/>
            </a:pPr>
            <a:r>
              <a:rPr lang="en-US" sz="4000" b="1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Programare</a:t>
            </a:r>
            <a:r>
              <a:rPr lang="en-US" sz="4000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orientat</a:t>
            </a:r>
            <a:r>
              <a:rPr lang="ro-RO" altLang="ro-RO" sz="4000" b="1" dirty="0">
                <a:latin typeface="+mn-lt"/>
              </a:rPr>
              <a:t>ă</a:t>
            </a:r>
            <a:r>
              <a:rPr lang="en-US" sz="4000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pe</a:t>
            </a:r>
            <a:r>
              <a:rPr lang="en-US" sz="4000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obiecte</a:t>
            </a:r>
            <a:endParaRPr sz="1800" dirty="0">
              <a:latin typeface="+mn-lt"/>
            </a:endParaRPr>
          </a:p>
          <a:p>
            <a:pPr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800" dirty="0">
              <a:latin typeface="+mn-lt"/>
            </a:endParaRPr>
          </a:p>
          <a:p>
            <a:pPr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- </a:t>
            </a:r>
            <a:r>
              <a:rPr lang="en-US" sz="2600" b="1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suport</a:t>
            </a:r>
            <a:r>
              <a:rPr lang="en-US" sz="2600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de curs -</a:t>
            </a:r>
            <a:endParaRPr sz="1800" dirty="0">
              <a:latin typeface="+mn-lt"/>
            </a:endParaRPr>
          </a:p>
        </p:txBody>
      </p:sp>
      <p:sp>
        <p:nvSpPr>
          <p:cNvPr id="9" name="Google Shape;53;p3"/>
          <p:cNvSpPr txBox="1"/>
          <p:nvPr/>
        </p:nvSpPr>
        <p:spPr>
          <a:xfrm>
            <a:off x="2114550" y="4267200"/>
            <a:ext cx="40449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universitar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 – 2026</a:t>
            </a:r>
            <a:endParaRPr sz="2400" b="1"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Semestrul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Seriile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13, 14, 15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 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dirty="0"/>
          </a:p>
        </p:txBody>
      </p:sp>
      <p:sp>
        <p:nvSpPr>
          <p:cNvPr id="11" name="CustomShape 5"/>
          <p:cNvSpPr/>
          <p:nvPr/>
        </p:nvSpPr>
        <p:spPr>
          <a:xfrm>
            <a:off x="5059440" y="2895600"/>
            <a:ext cx="4053960" cy="1012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91440">
              <a:lnSpc>
                <a:spcPct val="104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Andrei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Păun</a:t>
            </a:r>
            <a:endParaRPr lang="en-US" sz="2800" b="0" strike="noStrike" spc="-1" dirty="0">
              <a:latin typeface="Arial"/>
            </a:endParaRPr>
          </a:p>
          <a:p>
            <a:pPr marL="91440">
              <a:lnSpc>
                <a:spcPct val="104000"/>
              </a:lnSpc>
            </a:pP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Anca</a:t>
            </a: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Dobrovăț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143000"/>
            <a:ext cx="8153400" cy="762000"/>
          </a:xfrm>
        </p:spPr>
        <p:txBody>
          <a:bodyPr/>
          <a:lstStyle/>
          <a:p>
            <a:pPr eaLnBrk="1" hangingPunct="1"/>
            <a:r>
              <a:rPr lang="en-US" altLang="en-US"/>
              <a:t>Cuprins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altLang="en-US" kern="0" dirty="0"/>
              <a:t>Recapitulare curs 3</a:t>
            </a:r>
          </a:p>
          <a:p>
            <a:r>
              <a:rPr lang="ro-RO" altLang="en-US" kern="0" dirty="0"/>
              <a:t>Membrii statici ai unei clase </a:t>
            </a:r>
          </a:p>
          <a:p>
            <a:r>
              <a:rPr lang="ro-RO" altLang="en-US" kern="0" dirty="0"/>
              <a:t>Clase locale (în funcții şi în alte clase)</a:t>
            </a:r>
          </a:p>
          <a:p>
            <a:r>
              <a:rPr lang="ro-RO" altLang="en-US" kern="0" dirty="0"/>
              <a:t>Operatorul ::</a:t>
            </a:r>
          </a:p>
          <a:p>
            <a:r>
              <a:rPr lang="ro-RO" altLang="en-US" kern="0" dirty="0"/>
              <a:t>supraîncărcarea funcțiilor în C++</a:t>
            </a:r>
          </a:p>
          <a:p>
            <a:r>
              <a:rPr lang="ro-RO" altLang="en-US" kern="0" dirty="0"/>
              <a:t>supraîncărcarea operatorilor în C++</a:t>
            </a:r>
          </a:p>
          <a:p>
            <a:pPr eaLnBrk="1" hangingPunct="1"/>
            <a:endParaRPr lang="ro-RO" altLang="en-US" kern="0" dirty="0"/>
          </a:p>
          <a:p>
            <a:pPr eaLnBrk="1" hangingPunct="1"/>
            <a:endParaRPr lang="ro-RO" altLang="en-US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286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Variabile</a:t>
            </a:r>
            <a:r>
              <a:rPr lang="en-US" altLang="ro-RO" dirty="0"/>
              <a:t> locale (reminder)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17270" y="3048000"/>
            <a:ext cx="35933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kern="0" dirty="0"/>
              <a:t>Se va afișa 57, </a:t>
            </a:r>
            <a:r>
              <a:rPr lang="ro-RO" sz="2000" kern="0" dirty="0" err="1"/>
              <a:t>57</a:t>
            </a:r>
            <a:r>
              <a:rPr lang="ro-RO" sz="2000" kern="0" dirty="0"/>
              <a:t>, </a:t>
            </a:r>
            <a:r>
              <a:rPr lang="ro-RO" sz="2000" kern="0" dirty="0" err="1"/>
              <a:t>57</a:t>
            </a:r>
            <a:endParaRPr lang="ro-RO" sz="2000" kern="0" dirty="0"/>
          </a:p>
          <a:p>
            <a:r>
              <a:rPr lang="ro-RO" sz="2000" kern="0" dirty="0"/>
              <a:t>- Adresa de memorie (pe PC-ul propriu): 0x8900fffaac – probabil o adresă pe </a:t>
            </a:r>
            <a:r>
              <a:rPr lang="ro-RO" sz="2000" kern="0" dirty="0" err="1"/>
              <a:t>stack</a:t>
            </a:r>
            <a:r>
              <a:rPr lang="ro-RO" sz="2000" kern="0" dirty="0"/>
              <a:t> (in general, adresele mari aparțin </a:t>
            </a:r>
            <a:r>
              <a:rPr lang="ro-RO" sz="2000" kern="0" dirty="0" err="1"/>
              <a:t>stack-ului</a:t>
            </a:r>
            <a:r>
              <a:rPr lang="ro-RO" sz="2000" kern="0" dirty="0"/>
              <a:t>)</a:t>
            </a:r>
            <a:endParaRPr lang="ro-RO" sz="20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914400"/>
            <a:ext cx="8077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Char char="-"/>
            </a:pPr>
            <a:r>
              <a:rPr lang="ro-RO" sz="2000" b="1" dirty="0"/>
              <a:t>declarate în interiorul unei funcții sau al unui bloc de cod</a:t>
            </a:r>
            <a:r>
              <a:rPr lang="ro-RO" sz="2000" dirty="0"/>
              <a:t> ({ ... })</a:t>
            </a:r>
          </a:p>
          <a:p>
            <a:pPr>
              <a:buFontTx/>
              <a:buChar char="-"/>
            </a:pPr>
            <a:r>
              <a:rPr lang="ro-RO" sz="2000" dirty="0"/>
              <a:t>domeniul de vizibilitate (</a:t>
            </a:r>
            <a:r>
              <a:rPr lang="ro-RO" sz="2000" dirty="0" err="1"/>
              <a:t>scope</a:t>
            </a:r>
            <a:r>
              <a:rPr lang="ro-RO" sz="2000" dirty="0"/>
              <a:t>): local, există </a:t>
            </a:r>
            <a:r>
              <a:rPr lang="ro-RO" sz="2000" b="1" dirty="0"/>
              <a:t>doar în interiorul acelui bloc</a:t>
            </a:r>
            <a:r>
              <a:rPr lang="ro-RO" sz="2000" dirty="0"/>
              <a:t> și nu poate fi accesată din afara lui</a:t>
            </a:r>
          </a:p>
          <a:p>
            <a:pPr>
              <a:buFontTx/>
              <a:buChar char="-"/>
            </a:pPr>
            <a:r>
              <a:rPr lang="ro-RO" sz="2000" dirty="0"/>
              <a:t>memoria este de obicei alocată pe </a:t>
            </a:r>
            <a:r>
              <a:rPr lang="ro-RO" sz="2000" b="1" dirty="0" err="1"/>
              <a:t>stack</a:t>
            </a:r>
            <a:endParaRPr lang="ro-RO" sz="2000" dirty="0"/>
          </a:p>
          <a:p>
            <a:pPr>
              <a:buFontTx/>
              <a:buChar char="-"/>
            </a:pPr>
            <a:r>
              <a:rPr lang="ro-RO" sz="2000" b="1" dirty="0"/>
              <a:t>nu sunt inițializate automat</a:t>
            </a:r>
            <a:endParaRPr lang="ro-RO" altLang="ro-RO" sz="2000" kern="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80" y="2763986"/>
            <a:ext cx="3944890" cy="335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113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286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Variabile</a:t>
            </a:r>
            <a:r>
              <a:rPr lang="en-US" altLang="ro-RO" dirty="0"/>
              <a:t> locale </a:t>
            </a:r>
            <a:r>
              <a:rPr lang="en-US" altLang="ro-RO" dirty="0" err="1"/>
              <a:t>statice</a:t>
            </a:r>
            <a:r>
              <a:rPr lang="en-US" altLang="ro-RO" dirty="0"/>
              <a:t> (reminder)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17270" y="3048000"/>
            <a:ext cx="35933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kern="0" dirty="0"/>
              <a:t>Se va afișa 57, 58, 59</a:t>
            </a:r>
          </a:p>
          <a:p>
            <a:r>
              <a:rPr lang="ro-RO" sz="2000" kern="0" dirty="0"/>
              <a:t>- Adresa de memorie (pe PC-ul propriu): 0x7ff785424010</a:t>
            </a:r>
            <a:endParaRPr lang="ro-RO" sz="20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914400"/>
            <a:ext cx="8077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Char char="-"/>
            </a:pPr>
            <a:r>
              <a:rPr lang="ro-RO" sz="2000" b="1" dirty="0"/>
              <a:t>declarate în interiorul unei funcții sau al unui bloc de cod</a:t>
            </a:r>
            <a:r>
              <a:rPr lang="ro-RO" sz="2000" dirty="0"/>
              <a:t> ({ ... }) dar folosind </a:t>
            </a:r>
            <a:r>
              <a:rPr lang="ro-RO" sz="2000" b="1" dirty="0"/>
              <a:t>“static”</a:t>
            </a:r>
          </a:p>
          <a:p>
            <a:pPr>
              <a:buFontTx/>
              <a:buChar char="-"/>
            </a:pPr>
            <a:r>
              <a:rPr lang="ro-RO" sz="2000" dirty="0"/>
              <a:t>domeniul de vizibilitate (</a:t>
            </a:r>
            <a:r>
              <a:rPr lang="ro-RO" sz="2000" dirty="0" err="1"/>
              <a:t>scope</a:t>
            </a:r>
            <a:r>
              <a:rPr lang="ro-RO" sz="2000" dirty="0"/>
              <a:t>): local, există </a:t>
            </a:r>
            <a:r>
              <a:rPr lang="ro-RO" sz="2000" b="1" dirty="0"/>
              <a:t>doar în interiorul acelui bloc</a:t>
            </a:r>
            <a:r>
              <a:rPr lang="ro-RO" sz="2000" dirty="0"/>
              <a:t> și nu poate fi accesată din afara lui</a:t>
            </a:r>
          </a:p>
          <a:p>
            <a:pPr>
              <a:buFontTx/>
              <a:buChar char="-"/>
            </a:pPr>
            <a:r>
              <a:rPr lang="ro-RO" sz="2000" b="1" dirty="0"/>
              <a:t>durată de viață statică</a:t>
            </a:r>
            <a:r>
              <a:rPr lang="ro-RO" sz="2000" dirty="0"/>
              <a:t> – există pe toată durata programului</a:t>
            </a:r>
            <a:endParaRPr lang="ro-RO" altLang="ro-RO" sz="2000" kern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95600"/>
            <a:ext cx="3810000" cy="3434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763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286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Membrii</a:t>
            </a:r>
            <a:r>
              <a:rPr lang="en-US" altLang="ro-RO" dirty="0"/>
              <a:t> </a:t>
            </a:r>
            <a:r>
              <a:rPr lang="en-US" altLang="ro-RO" dirty="0" err="1"/>
              <a:t>statici</a:t>
            </a:r>
            <a:r>
              <a:rPr lang="en-US" altLang="ro-RO" dirty="0"/>
              <a:t> </a:t>
            </a:r>
            <a:r>
              <a:rPr lang="en-US" altLang="ro-RO" dirty="0" err="1"/>
              <a:t>ai</a:t>
            </a:r>
            <a:r>
              <a:rPr lang="en-US" altLang="ro-RO" dirty="0"/>
              <a:t> </a:t>
            </a:r>
            <a:r>
              <a:rPr lang="en-US" altLang="ro-RO" dirty="0" err="1"/>
              <a:t>unei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sp>
        <p:nvSpPr>
          <p:cNvPr id="8" name="Rectangle 7"/>
          <p:cNvSpPr/>
          <p:nvPr/>
        </p:nvSpPr>
        <p:spPr>
          <a:xfrm>
            <a:off x="609600" y="985421"/>
            <a:ext cx="82296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- date membre: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nestatice (distincte pentru fiecare obiect);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</a:t>
            </a:r>
            <a:r>
              <a:rPr lang="ro-RO" sz="2800" b="1" dirty="0">
                <a:latin typeface="+mj-lt"/>
                <a:ea typeface="Arial"/>
                <a:cs typeface="Arial"/>
                <a:sym typeface="Arial"/>
              </a:rPr>
              <a:t>statice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 (unice pentru toate obiectele clasei, exist</a:t>
            </a:r>
            <a:r>
              <a:rPr lang="ro-RO" altLang="en-US" sz="2800" dirty="0"/>
              <a:t>ă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 o singur</a:t>
            </a:r>
            <a:r>
              <a:rPr lang="ro-RO" altLang="en-US" sz="2800" dirty="0"/>
              <a:t>ă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 copie pentru toate obiectele).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cuvânt cheie “</a:t>
            </a:r>
            <a:r>
              <a:rPr lang="ro-RO" sz="2800" b="1" dirty="0">
                <a:latin typeface="+mj-lt"/>
                <a:ea typeface="Arial"/>
                <a:cs typeface="Arial"/>
                <a:sym typeface="Arial"/>
              </a:rPr>
              <a:t>static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”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create, inițializate şi accesate – independent de obiectele clasei.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ro-RO" sz="2800" dirty="0">
              <a:latin typeface="+mj-lt"/>
            </a:endParaRP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Variabile - alocarea şi inițializarea – în afara clasei.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 err="1">
                <a:latin typeface="+mj-lt"/>
                <a:cs typeface="Arial"/>
                <a:sym typeface="Arial"/>
              </a:rPr>
              <a:t>Const</a:t>
            </a:r>
            <a:r>
              <a:rPr lang="ro-RO" sz="2800" dirty="0">
                <a:latin typeface="+mj-lt"/>
                <a:cs typeface="Arial"/>
                <a:sym typeface="Arial"/>
              </a:rPr>
              <a:t> – alocarea şi inițializarea – în interiorul clasei</a:t>
            </a:r>
            <a:endParaRPr lang="ro-RO" sz="28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286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Membrii</a:t>
            </a:r>
            <a:r>
              <a:rPr lang="en-US" altLang="ro-RO" dirty="0"/>
              <a:t> </a:t>
            </a:r>
            <a:r>
              <a:rPr lang="en-US" altLang="ro-RO" dirty="0" err="1"/>
              <a:t>statici</a:t>
            </a:r>
            <a:r>
              <a:rPr lang="en-US" altLang="ro-RO" dirty="0"/>
              <a:t> </a:t>
            </a:r>
            <a:r>
              <a:rPr lang="en-US" altLang="ro-RO" dirty="0" err="1"/>
              <a:t>ai</a:t>
            </a:r>
            <a:r>
              <a:rPr lang="en-US" altLang="ro-RO" dirty="0"/>
              <a:t> </a:t>
            </a:r>
            <a:r>
              <a:rPr lang="en-US" altLang="ro-RO" dirty="0" err="1"/>
              <a:t>unei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sp>
        <p:nvSpPr>
          <p:cNvPr id="8" name="Rectangle 7"/>
          <p:cNvSpPr/>
          <p:nvPr/>
        </p:nvSpPr>
        <p:spPr>
          <a:xfrm>
            <a:off x="609600" y="985421"/>
            <a:ext cx="82296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Variabile - alocarea şi inițializarea – în afara clasei.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o-RO" sz="2800" dirty="0" err="1">
                <a:latin typeface="+mj-lt"/>
                <a:cs typeface="Arial"/>
                <a:sym typeface="Arial"/>
              </a:rPr>
              <a:t>Const</a:t>
            </a:r>
            <a:r>
              <a:rPr lang="ro-RO" sz="2800" dirty="0">
                <a:latin typeface="+mj-lt"/>
                <a:cs typeface="Arial"/>
                <a:sym typeface="Arial"/>
              </a:rPr>
              <a:t> – alocarea şi inițializarea – în interiorul clasei</a:t>
            </a:r>
            <a:endParaRPr lang="ro-RO" sz="2800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33600"/>
            <a:ext cx="3733800" cy="32857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059" y="2133600"/>
            <a:ext cx="4259141" cy="32499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443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286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Membrii</a:t>
            </a:r>
            <a:r>
              <a:rPr lang="en-US" altLang="ro-RO" dirty="0"/>
              <a:t> </a:t>
            </a:r>
            <a:r>
              <a:rPr lang="en-US" altLang="ro-RO" dirty="0" err="1"/>
              <a:t>statici</a:t>
            </a:r>
            <a:r>
              <a:rPr lang="en-US" altLang="ro-RO" dirty="0"/>
              <a:t> </a:t>
            </a:r>
            <a:r>
              <a:rPr lang="en-US" altLang="ro-RO" dirty="0" err="1"/>
              <a:t>ai</a:t>
            </a:r>
            <a:r>
              <a:rPr lang="en-US" altLang="ro-RO" dirty="0"/>
              <a:t> </a:t>
            </a:r>
            <a:r>
              <a:rPr lang="en-US" altLang="ro-RO" dirty="0" err="1"/>
              <a:t>unei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sp>
        <p:nvSpPr>
          <p:cNvPr id="8" name="Rectangle 7"/>
          <p:cNvSpPr/>
          <p:nvPr/>
        </p:nvSpPr>
        <p:spPr>
          <a:xfrm>
            <a:off x="609600" y="985421"/>
            <a:ext cx="82296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- create, inițializate şi accesate – independent de obiectele clasei.</a:t>
            </a:r>
            <a:endParaRPr lang="ro-RO" sz="28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4532293"/>
            <a:ext cx="449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dirty="0">
                <a:latin typeface="+mj-lt"/>
                <a:ea typeface="Arial"/>
                <a:cs typeface="Arial"/>
                <a:sym typeface="Arial"/>
              </a:rPr>
              <a:t>- Se afișează 1 (dimensiunea “onorific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” a unei clase f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r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 date membre nestatice).</a:t>
            </a:r>
            <a:endParaRPr lang="ro-RO" dirty="0">
              <a:latin typeface="+mj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4800" y="2127738"/>
            <a:ext cx="5435600" cy="2241062"/>
            <a:chOff x="304800" y="2127738"/>
            <a:chExt cx="5435600" cy="224106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133600"/>
              <a:ext cx="2540000" cy="2235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127738"/>
              <a:ext cx="2921000" cy="2228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2133600"/>
            <a:ext cx="2552700" cy="2247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6210300" y="4684693"/>
            <a:ext cx="25527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dirty="0">
                <a:latin typeface="+mj-lt"/>
                <a:ea typeface="Arial"/>
                <a:cs typeface="Arial"/>
                <a:sym typeface="Arial"/>
              </a:rPr>
              <a:t>- Se afișează 4 (dimensiunea unui </a:t>
            </a:r>
            <a:r>
              <a:rPr lang="ro-RO" dirty="0" err="1">
                <a:latin typeface="+mj-lt"/>
                <a:ea typeface="Arial"/>
                <a:cs typeface="Arial"/>
                <a:sym typeface="Arial"/>
              </a:rPr>
              <a:t>int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 – dat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 membr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 nestatic</a:t>
            </a:r>
            <a:r>
              <a:rPr lang="ro-RO" altLang="en-US" dirty="0"/>
              <a:t>ă</a:t>
            </a:r>
            <a:r>
              <a:rPr lang="ro-RO" dirty="0">
                <a:latin typeface="+mj-lt"/>
                <a:ea typeface="Arial"/>
                <a:cs typeface="Arial"/>
                <a:sym typeface="Arial"/>
              </a:rPr>
              <a:t> x).</a:t>
            </a:r>
            <a:endParaRPr lang="ro-RO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83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524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Membrii</a:t>
            </a:r>
            <a:r>
              <a:rPr lang="en-US" altLang="ro-RO" dirty="0"/>
              <a:t> </a:t>
            </a:r>
            <a:r>
              <a:rPr lang="en-US" altLang="ro-RO" dirty="0" err="1"/>
              <a:t>statici</a:t>
            </a:r>
            <a:r>
              <a:rPr lang="en-US" altLang="ro-RO" dirty="0"/>
              <a:t> </a:t>
            </a:r>
            <a:r>
              <a:rPr lang="en-US" altLang="ro-RO" dirty="0" err="1"/>
              <a:t>ai</a:t>
            </a:r>
            <a:r>
              <a:rPr lang="en-US" altLang="ro-RO" dirty="0"/>
              <a:t> </a:t>
            </a:r>
            <a:r>
              <a:rPr lang="en-US" altLang="ro-RO" dirty="0" err="1"/>
              <a:t>unei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sp>
        <p:nvSpPr>
          <p:cNvPr id="8" name="Rectangle 7"/>
          <p:cNvSpPr/>
          <p:nvPr/>
        </p:nvSpPr>
        <p:spPr>
          <a:xfrm>
            <a:off x="609600" y="1457325"/>
            <a:ext cx="8229600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- funcțiile statice: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efectuează operații asupra întregii clase;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nu au cuvântul cheie “</a:t>
            </a:r>
            <a:r>
              <a:rPr lang="ro-RO" sz="2800" dirty="0" err="1">
                <a:latin typeface="+mj-lt"/>
                <a:ea typeface="Arial"/>
                <a:cs typeface="Arial"/>
                <a:sym typeface="Arial"/>
              </a:rPr>
              <a:t>this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”;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se pot referi doar la membrii statici.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- referirea membrilor statici: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clasa :: membru;</a:t>
            </a:r>
            <a:endParaRPr lang="ro-RO" sz="2800" dirty="0">
              <a:latin typeface="+mj-lt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	- </a:t>
            </a:r>
            <a:r>
              <a:rPr lang="ro-RO" sz="2800" dirty="0" err="1">
                <a:latin typeface="+mj-lt"/>
                <a:ea typeface="Arial"/>
                <a:cs typeface="Arial"/>
                <a:sym typeface="Arial"/>
              </a:rPr>
              <a:t>obiect.membru</a:t>
            </a:r>
            <a:r>
              <a:rPr lang="ro-RO" sz="2800" dirty="0">
                <a:latin typeface="+mj-lt"/>
                <a:ea typeface="Arial"/>
                <a:cs typeface="Arial"/>
                <a:sym typeface="Arial"/>
              </a:rPr>
              <a:t> (identic cu nestatic).</a:t>
            </a:r>
            <a:endParaRPr lang="ro-RO" sz="28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524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Membrii</a:t>
            </a:r>
            <a:r>
              <a:rPr lang="en-US" altLang="ro-RO" dirty="0"/>
              <a:t> </a:t>
            </a:r>
            <a:r>
              <a:rPr lang="en-US" altLang="ro-RO" dirty="0" err="1"/>
              <a:t>statici</a:t>
            </a:r>
            <a:r>
              <a:rPr lang="en-US" altLang="ro-RO" dirty="0"/>
              <a:t> </a:t>
            </a:r>
            <a:r>
              <a:rPr lang="en-US" altLang="ro-RO" dirty="0" err="1"/>
              <a:t>ai</a:t>
            </a:r>
            <a:r>
              <a:rPr lang="en-US" altLang="ro-RO" dirty="0"/>
              <a:t> </a:t>
            </a:r>
            <a:r>
              <a:rPr lang="en-US" altLang="ro-RO" dirty="0" err="1"/>
              <a:t>unei</a:t>
            </a:r>
            <a:r>
              <a:rPr lang="en-US" altLang="ro-RO" dirty="0"/>
              <a:t> </a:t>
            </a:r>
            <a:r>
              <a:rPr lang="en-US" altLang="ro-RO" dirty="0" err="1"/>
              <a:t>clase</a:t>
            </a:r>
            <a:endParaRPr lang="en-US" altLang="ro-RO" dirty="0"/>
          </a:p>
        </p:txBody>
      </p:sp>
      <p:grpSp>
        <p:nvGrpSpPr>
          <p:cNvPr id="24" name="Group 23"/>
          <p:cNvGrpSpPr/>
          <p:nvPr/>
        </p:nvGrpSpPr>
        <p:grpSpPr>
          <a:xfrm>
            <a:off x="298062" y="762000"/>
            <a:ext cx="8541138" cy="5943600"/>
            <a:chOff x="152400" y="762000"/>
            <a:chExt cx="8541138" cy="59436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162236"/>
              <a:ext cx="2233595" cy="2543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0" name="Group 19"/>
            <p:cNvGrpSpPr/>
            <p:nvPr/>
          </p:nvGrpSpPr>
          <p:grpSpPr>
            <a:xfrm>
              <a:off x="152400" y="762000"/>
              <a:ext cx="8541138" cy="5632847"/>
              <a:chOff x="228600" y="762000"/>
              <a:chExt cx="8541138" cy="563284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5098662" y="1473874"/>
                <a:ext cx="366433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- poate fi apelat</a:t>
                </a:r>
                <a:r>
                  <a:rPr lang="ro-RO" altLang="en-US" sz="2000" dirty="0"/>
                  <a:t>ă</a:t>
                </a: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 înainte de crearea obiectelor;</a:t>
                </a:r>
                <a:endParaRPr lang="ro-RO" sz="2000" dirty="0">
                  <a:latin typeface="+mj-lt"/>
                </a:endParaRPr>
              </a:p>
            </p:txBody>
          </p:sp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8600" y="762000"/>
                <a:ext cx="4870062" cy="3276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" name="Rectangle 8"/>
              <p:cNvSpPr/>
              <p:nvPr/>
            </p:nvSpPr>
            <p:spPr>
              <a:xfrm>
                <a:off x="5105400" y="2260937"/>
                <a:ext cx="366433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- poate referi membri statici</a:t>
                </a:r>
                <a:endParaRPr lang="ro-RO" sz="2000" dirty="0">
                  <a:latin typeface="+mj-lt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105400" y="2870537"/>
                <a:ext cx="366433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- poate fi apelat</a:t>
                </a:r>
                <a:r>
                  <a:rPr lang="ro-RO" altLang="en-US" sz="2000" dirty="0"/>
                  <a:t>ă</a:t>
                </a: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 şi ca funcțiile membre nestatice prin </a:t>
                </a:r>
                <a:r>
                  <a:rPr lang="ro-RO" sz="2000" dirty="0" err="1">
                    <a:latin typeface="+mj-lt"/>
                    <a:ea typeface="Arial"/>
                    <a:cs typeface="Arial"/>
                    <a:sym typeface="Arial"/>
                  </a:rPr>
                  <a:t>obiect.nume</a:t>
                </a:r>
                <a:r>
                  <a:rPr lang="ro-RO" sz="2000" dirty="0">
                    <a:latin typeface="+mj-lt"/>
                    <a:ea typeface="Arial"/>
                    <a:cs typeface="Arial"/>
                    <a:sym typeface="Arial"/>
                  </a:rPr>
                  <a:t>_</a:t>
                </a:r>
                <a:r>
                  <a:rPr lang="ro-RO" sz="2000" dirty="0" err="1">
                    <a:latin typeface="+mj-lt"/>
                    <a:ea typeface="Arial"/>
                    <a:cs typeface="Arial"/>
                    <a:sym typeface="Arial"/>
                  </a:rPr>
                  <a:t>functie</a:t>
                </a:r>
                <a:endParaRPr lang="ro-RO" sz="2000" dirty="0">
                  <a:latin typeface="+mj-lt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105400" y="4038600"/>
                <a:ext cx="366433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- nu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poate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referi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în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mod direct, date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sau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funcţii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membre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nestatice</a:t>
                </a:r>
                <a:endParaRPr lang="en-US" sz="2000" dirty="0">
                  <a:latin typeface="+mj-lt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105400" y="4953000"/>
                <a:ext cx="366433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-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poate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referi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în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mod indirect,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prin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intermediul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unui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obiect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local, date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sau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funcţii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membre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nestatice</a:t>
                </a:r>
                <a:endParaRPr lang="en-US" sz="2000" dirty="0">
                  <a:latin typeface="+mj-lt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105400" y="819090"/>
                <a:ext cx="366433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o-RO" sz="2000" b="1" dirty="0">
                    <a:latin typeface="+mj-lt"/>
                    <a:ea typeface="Arial"/>
                    <a:cs typeface="Arial"/>
                    <a:sym typeface="Arial"/>
                  </a:rPr>
                  <a:t>O funcție </a:t>
                </a:r>
                <a:r>
                  <a:rPr lang="ro-RO" sz="2000" b="1" dirty="0" err="1">
                    <a:latin typeface="+mj-lt"/>
                    <a:ea typeface="Arial"/>
                    <a:cs typeface="Arial"/>
                    <a:sym typeface="Arial"/>
                  </a:rPr>
                  <a:t>membr</a:t>
                </a:r>
                <a:r>
                  <a:rPr lang="vi-VN" sz="2000" b="1" dirty="0">
                    <a:latin typeface="+mj-lt"/>
                    <a:ea typeface="Arial"/>
                    <a:cs typeface="Arial"/>
                    <a:sym typeface="Arial"/>
                  </a:rPr>
                  <a:t>ă</a:t>
                </a:r>
                <a:r>
                  <a:rPr lang="ro-RO" sz="2000" b="1" dirty="0">
                    <a:latin typeface="+mj-lt"/>
                    <a:ea typeface="Arial"/>
                    <a:cs typeface="Arial"/>
                    <a:sym typeface="Arial"/>
                  </a:rPr>
                  <a:t> static</a:t>
                </a:r>
                <a:r>
                  <a:rPr lang="vi-VN" sz="2000" b="1" dirty="0">
                    <a:latin typeface="+mj-lt"/>
                    <a:ea typeface="Arial"/>
                    <a:cs typeface="Arial"/>
                    <a:sym typeface="Arial"/>
                  </a:rPr>
                  <a:t>ă</a:t>
                </a:r>
                <a:r>
                  <a:rPr lang="ro-RO" sz="2000" b="1" dirty="0">
                    <a:latin typeface="+mj-lt"/>
                    <a:ea typeface="Arial"/>
                    <a:cs typeface="Arial"/>
                    <a:sym typeface="Arial"/>
                  </a:rPr>
                  <a:t>:</a:t>
                </a:r>
                <a:endParaRPr lang="ro-RO" sz="2000" b="1" dirty="0">
                  <a:latin typeface="+mj-lt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105400" y="5994737"/>
                <a:ext cx="366433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- nu au </a:t>
                </a:r>
                <a:r>
                  <a:rPr lang="en-US" sz="2000" dirty="0" err="1">
                    <a:latin typeface="+mj-lt"/>
                    <a:ea typeface="Arial"/>
                    <a:cs typeface="Arial"/>
                    <a:sym typeface="Arial"/>
                  </a:rPr>
                  <a:t>pointerul</a:t>
                </a:r>
                <a:r>
                  <a:rPr lang="en-US" sz="2000" dirty="0">
                    <a:latin typeface="+mj-lt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2000" b="1" dirty="0">
                    <a:latin typeface="+mj-lt"/>
                    <a:ea typeface="Arial"/>
                    <a:cs typeface="Arial"/>
                    <a:sym typeface="Arial"/>
                  </a:rPr>
                  <a:t>this</a:t>
                </a:r>
                <a:endParaRPr lang="en-US" sz="2000" b="1" dirty="0">
                  <a:latin typeface="+mj-lt"/>
                </a:endParaRPr>
              </a:p>
            </p:txBody>
          </p:sp>
          <p:cxnSp>
            <p:nvCxnSpPr>
              <p:cNvPr id="3" name="Straight Arrow Connector 2"/>
              <p:cNvCxnSpPr>
                <a:endCxn id="6" idx="1"/>
              </p:cNvCxnSpPr>
              <p:nvPr/>
            </p:nvCxnSpPr>
            <p:spPr>
              <a:xfrm flipV="1">
                <a:off x="2819400" y="1827817"/>
                <a:ext cx="2279262" cy="291867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V="1">
                <a:off x="2819400" y="2661047"/>
                <a:ext cx="2209800" cy="20854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V="1">
                <a:off x="2514600" y="3581400"/>
                <a:ext cx="2514600" cy="167640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endCxn id="11" idx="1"/>
              </p:cNvCxnSpPr>
              <p:nvPr/>
            </p:nvCxnSpPr>
            <p:spPr>
              <a:xfrm flipV="1">
                <a:off x="2819400" y="4392543"/>
                <a:ext cx="2286000" cy="109385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V="1">
                <a:off x="2971800" y="5433918"/>
                <a:ext cx="1905000" cy="3572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895600" y="6148482"/>
                <a:ext cx="19812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9434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4572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Obiecte</a:t>
            </a:r>
            <a:r>
              <a:rPr lang="en-US" altLang="ro-RO" dirty="0"/>
              <a:t> </a:t>
            </a:r>
            <a:r>
              <a:rPr lang="en-US" altLang="ro-RO" dirty="0" err="1"/>
              <a:t>statice</a:t>
            </a:r>
            <a:endParaRPr lang="en-US" altLang="ro-RO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8424" y="990600"/>
            <a:ext cx="8077200" cy="5383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Char char="-"/>
            </a:pPr>
            <a:r>
              <a:rPr lang="ro-RO" altLang="ro-RO" kern="0" dirty="0"/>
              <a:t>Precedate de cuvântul </a:t>
            </a:r>
            <a:r>
              <a:rPr lang="ro-RO" altLang="ro-RO" b="1" kern="0" dirty="0"/>
              <a:t>static</a:t>
            </a:r>
          </a:p>
          <a:p>
            <a:pPr>
              <a:buFontTx/>
              <a:buChar char="-"/>
            </a:pPr>
            <a:r>
              <a:rPr lang="ro-RO" altLang="ro-RO" kern="0" dirty="0"/>
              <a:t>Se inițializează o singur</a:t>
            </a:r>
            <a:r>
              <a:rPr lang="ro-RO" altLang="en-US" dirty="0"/>
              <a:t>ă</a:t>
            </a:r>
            <a:r>
              <a:rPr lang="ro-RO" altLang="ro-RO" kern="0" dirty="0"/>
              <a:t> dat</a:t>
            </a:r>
            <a:r>
              <a:rPr lang="ro-RO" altLang="en-US" dirty="0"/>
              <a:t>ă</a:t>
            </a:r>
            <a:r>
              <a:rPr lang="ro-RO" altLang="ro-RO" kern="0" dirty="0"/>
              <a:t> şi se utilizează daca se dorește păstrarea valorii la apelul multiplu al funcției</a:t>
            </a:r>
          </a:p>
          <a:p>
            <a:pPr>
              <a:buFontTx/>
              <a:buChar char="-"/>
            </a:pPr>
            <a:r>
              <a:rPr lang="ro-RO" altLang="ro-RO" kern="0" dirty="0"/>
              <a:t>2 tipuri: - obiecte </a:t>
            </a:r>
            <a:r>
              <a:rPr lang="ro-RO" altLang="ro-RO" b="1" kern="0" dirty="0"/>
              <a:t>locale</a:t>
            </a:r>
            <a:r>
              <a:rPr lang="ro-RO" altLang="ro-RO" kern="0" dirty="0"/>
              <a:t> statice şi obiecte </a:t>
            </a:r>
            <a:r>
              <a:rPr lang="ro-RO" altLang="ro-RO" b="1" kern="0" dirty="0"/>
              <a:t>globale</a:t>
            </a:r>
            <a:r>
              <a:rPr lang="ro-RO" altLang="ro-RO" kern="0" dirty="0"/>
              <a:t> statice</a:t>
            </a:r>
          </a:p>
          <a:p>
            <a:pPr>
              <a:buFontTx/>
              <a:buChar char="-"/>
            </a:pPr>
            <a:r>
              <a:rPr lang="ro-RO" altLang="ro-RO" kern="0" dirty="0"/>
              <a:t>Un obiect static local este distrus la finalul programului, dar, este vizibil doar în scope-ul în care a fost definit.</a:t>
            </a:r>
          </a:p>
          <a:p>
            <a:pPr>
              <a:buFontTx/>
              <a:buChar char="-"/>
            </a:pPr>
            <a:r>
              <a:rPr lang="ro-RO" altLang="ro-RO" kern="0" dirty="0"/>
              <a:t>Obiecte globale statice sunt ultimele distruse</a:t>
            </a:r>
          </a:p>
        </p:txBody>
      </p:sp>
    </p:spTree>
    <p:extLst>
      <p:ext uri="{BB962C8B-B14F-4D97-AF65-F5344CB8AC3E}">
        <p14:creationId xmlns:p14="http://schemas.microsoft.com/office/powerpoint/2010/main" val="200265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4572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Obiecte</a:t>
            </a:r>
            <a:r>
              <a:rPr lang="en-US" altLang="ro-RO" dirty="0"/>
              <a:t> </a:t>
            </a:r>
            <a:r>
              <a:rPr lang="en-US" altLang="ro-RO" dirty="0" err="1"/>
              <a:t>statice</a:t>
            </a:r>
            <a:r>
              <a:rPr lang="en-US" altLang="ro-RO" dirty="0"/>
              <a:t> locale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066800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o-RO" kern="0" dirty="0"/>
              <a:t>Un </a:t>
            </a:r>
            <a:r>
              <a:rPr lang="en-US" altLang="ro-RO" kern="0" dirty="0" err="1"/>
              <a:t>obiect</a:t>
            </a:r>
            <a:r>
              <a:rPr lang="en-US" altLang="ro-RO" kern="0" dirty="0"/>
              <a:t> static local </a:t>
            </a:r>
            <a:r>
              <a:rPr lang="en-US" altLang="ro-RO" kern="0" dirty="0" err="1"/>
              <a:t>este</a:t>
            </a:r>
            <a:r>
              <a:rPr lang="en-US" altLang="ro-RO" kern="0" dirty="0"/>
              <a:t> </a:t>
            </a:r>
            <a:r>
              <a:rPr lang="en-US" altLang="ro-RO" kern="0" dirty="0" err="1"/>
              <a:t>distrus</a:t>
            </a:r>
            <a:r>
              <a:rPr lang="en-US" altLang="ro-RO" kern="0" dirty="0"/>
              <a:t> la </a:t>
            </a:r>
            <a:r>
              <a:rPr lang="en-US" altLang="ro-RO" kern="0" dirty="0" err="1"/>
              <a:t>finalul</a:t>
            </a:r>
            <a:r>
              <a:rPr lang="en-US" altLang="ro-RO" kern="0" dirty="0"/>
              <a:t> </a:t>
            </a:r>
            <a:r>
              <a:rPr lang="en-US" altLang="ro-RO" kern="0" dirty="0" err="1"/>
              <a:t>programului</a:t>
            </a:r>
            <a:r>
              <a:rPr lang="en-US" altLang="ro-RO" kern="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39849" y="1752600"/>
            <a:ext cx="6508751" cy="3976687"/>
            <a:chOff x="838199" y="1752600"/>
            <a:chExt cx="6508751" cy="3976687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1752600"/>
              <a:ext cx="5856733" cy="3976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4269861"/>
              <a:ext cx="869950" cy="1315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397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457200"/>
            <a:ext cx="63246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Obiecte</a:t>
            </a:r>
            <a:r>
              <a:rPr lang="en-US" altLang="ro-RO" dirty="0"/>
              <a:t> </a:t>
            </a:r>
            <a:r>
              <a:rPr lang="en-US" altLang="ro-RO" dirty="0" err="1"/>
              <a:t>statice</a:t>
            </a:r>
            <a:r>
              <a:rPr lang="en-US" altLang="ro-RO" dirty="0"/>
              <a:t> locale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066800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o-RO" kern="0" dirty="0"/>
              <a:t>Ce se </a:t>
            </a:r>
            <a:r>
              <a:rPr lang="en-US" altLang="ro-RO" kern="0" dirty="0" err="1"/>
              <a:t>intampl</a:t>
            </a:r>
            <a:r>
              <a:rPr lang="vi-VN" altLang="ro-RO" kern="0" dirty="0"/>
              <a:t>ă</a:t>
            </a:r>
            <a:r>
              <a:rPr lang="en-US" altLang="ro-RO" kern="0" dirty="0"/>
              <a:t> </a:t>
            </a:r>
            <a:r>
              <a:rPr lang="en-US" altLang="ro-RO" kern="0" dirty="0" err="1"/>
              <a:t>dac</a:t>
            </a:r>
            <a:r>
              <a:rPr lang="vi-VN" altLang="ro-RO" kern="0" dirty="0"/>
              <a:t>ă</a:t>
            </a:r>
            <a:r>
              <a:rPr lang="en-US" altLang="ro-RO" kern="0" dirty="0"/>
              <a:t> se </a:t>
            </a:r>
            <a:r>
              <a:rPr lang="en-US" altLang="ro-RO" kern="0" dirty="0" err="1"/>
              <a:t>apeleaz</a:t>
            </a:r>
            <a:r>
              <a:rPr lang="vi-VN" altLang="ro-RO" kern="0" dirty="0"/>
              <a:t>ă</a:t>
            </a:r>
            <a:r>
              <a:rPr lang="en-US" altLang="ro-RO" kern="0" dirty="0"/>
              <a:t> </a:t>
            </a:r>
            <a:r>
              <a:rPr lang="en-US" altLang="ro-RO" kern="0" dirty="0" err="1"/>
              <a:t>funcţia</a:t>
            </a:r>
            <a:r>
              <a:rPr lang="en-US" altLang="ro-RO" kern="0" dirty="0"/>
              <a:t> de </a:t>
            </a:r>
            <a:r>
              <a:rPr lang="en-US" altLang="ro-RO" kern="0" dirty="0" err="1"/>
              <a:t>mai</a:t>
            </a:r>
            <a:r>
              <a:rPr lang="en-US" altLang="ro-RO" kern="0" dirty="0"/>
              <a:t> </a:t>
            </a:r>
            <a:r>
              <a:rPr lang="en-US" altLang="ro-RO" kern="0" dirty="0" err="1"/>
              <a:t>multe</a:t>
            </a:r>
            <a:r>
              <a:rPr lang="en-US" altLang="ro-RO" kern="0" dirty="0"/>
              <a:t> </a:t>
            </a:r>
            <a:r>
              <a:rPr lang="en-US" altLang="ro-RO" kern="0" dirty="0" err="1"/>
              <a:t>ori</a:t>
            </a:r>
            <a:r>
              <a:rPr lang="en-US" altLang="ro-RO" kern="0" dirty="0"/>
              <a:t>?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59436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kern="0" dirty="0"/>
              <a:t>De câte ori este creat şi distrus obiectul static local? Răspuns: o singur</a:t>
            </a:r>
            <a:r>
              <a:rPr lang="ro-RO" altLang="en-US" dirty="0"/>
              <a:t>ă</a:t>
            </a:r>
            <a:r>
              <a:rPr lang="ro-RO" altLang="ro-RO" kern="0" dirty="0"/>
              <a:t> dat</a:t>
            </a:r>
            <a:r>
              <a:rPr lang="ro-RO" altLang="en-US" dirty="0"/>
              <a:t>ă</a:t>
            </a:r>
            <a:endParaRPr lang="ro-RO" altLang="ro-RO" kern="0" dirty="0"/>
          </a:p>
        </p:txBody>
      </p:sp>
      <p:grpSp>
        <p:nvGrpSpPr>
          <p:cNvPr id="3" name="Group 2"/>
          <p:cNvGrpSpPr/>
          <p:nvPr/>
        </p:nvGrpSpPr>
        <p:grpSpPr>
          <a:xfrm>
            <a:off x="1050389" y="1536001"/>
            <a:ext cx="6798211" cy="4173537"/>
            <a:chOff x="533400" y="1536001"/>
            <a:chExt cx="6798211" cy="4173537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536001"/>
              <a:ext cx="6798211" cy="417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4028838"/>
              <a:ext cx="1089025" cy="168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1092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389" y="457200"/>
            <a:ext cx="7865011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Obiecte</a:t>
            </a:r>
            <a:r>
              <a:rPr lang="en-US" altLang="ro-RO" dirty="0"/>
              <a:t> </a:t>
            </a:r>
            <a:r>
              <a:rPr lang="en-US" altLang="ro-RO" dirty="0" err="1"/>
              <a:t>statice</a:t>
            </a:r>
            <a:r>
              <a:rPr lang="en-US" altLang="ro-RO" dirty="0"/>
              <a:t> locale (</a:t>
            </a:r>
            <a:r>
              <a:rPr lang="en-US" altLang="ro-RO" dirty="0" err="1"/>
              <a:t>în</a:t>
            </a:r>
            <a:r>
              <a:rPr lang="en-US" altLang="ro-RO" dirty="0"/>
              <a:t> </a:t>
            </a:r>
            <a:r>
              <a:rPr lang="en-US" altLang="ro-RO" dirty="0" err="1"/>
              <a:t>funcţii</a:t>
            </a:r>
            <a:r>
              <a:rPr lang="en-US" altLang="ro-RO" dirty="0"/>
              <a:t> </a:t>
            </a:r>
            <a:r>
              <a:rPr lang="en-US" altLang="ro-RO" dirty="0" err="1"/>
              <a:t>membru</a:t>
            </a:r>
            <a:r>
              <a:rPr lang="en-US" altLang="ro-RO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59436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kern="0" dirty="0"/>
              <a:t>De câte ori este creat şi distrus obiectul static local? Răspuns: o singur</a:t>
            </a:r>
            <a:r>
              <a:rPr lang="ro-RO" altLang="en-US" dirty="0"/>
              <a:t>ă</a:t>
            </a:r>
            <a:r>
              <a:rPr lang="ro-RO" altLang="ro-RO" kern="0" dirty="0"/>
              <a:t> dat</a:t>
            </a:r>
            <a:r>
              <a:rPr lang="ro-RO" altLang="en-US" dirty="0"/>
              <a:t>ă</a:t>
            </a:r>
            <a:endParaRPr lang="ro-RO" altLang="ro-RO" kern="0" dirty="0"/>
          </a:p>
        </p:txBody>
      </p:sp>
      <p:grpSp>
        <p:nvGrpSpPr>
          <p:cNvPr id="4" name="Group 3"/>
          <p:cNvGrpSpPr/>
          <p:nvPr/>
        </p:nvGrpSpPr>
        <p:grpSpPr>
          <a:xfrm>
            <a:off x="1943100" y="1219200"/>
            <a:ext cx="5410200" cy="4419600"/>
            <a:chOff x="990600" y="1219200"/>
            <a:chExt cx="5000625" cy="4268826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219200"/>
              <a:ext cx="5000625" cy="4268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8875" y="3353613"/>
              <a:ext cx="1022350" cy="1774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64121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389" y="457200"/>
            <a:ext cx="7865011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o-RO" dirty="0" err="1"/>
              <a:t>Obiecte</a:t>
            </a:r>
            <a:r>
              <a:rPr lang="en-US" altLang="ro-RO" dirty="0"/>
              <a:t> </a:t>
            </a:r>
            <a:r>
              <a:rPr lang="en-US" altLang="ro-RO" dirty="0" err="1"/>
              <a:t>statice</a:t>
            </a:r>
            <a:r>
              <a:rPr lang="en-US" altLang="ro-RO" dirty="0"/>
              <a:t> </a:t>
            </a:r>
            <a:r>
              <a:rPr lang="en-US" altLang="ro-RO" dirty="0" err="1"/>
              <a:t>globale</a:t>
            </a:r>
            <a:r>
              <a:rPr lang="en-US" altLang="ro-RO" dirty="0"/>
              <a:t> (</a:t>
            </a:r>
            <a:r>
              <a:rPr lang="en-US" altLang="ro-RO" dirty="0" err="1"/>
              <a:t>sunt</a:t>
            </a:r>
            <a:r>
              <a:rPr lang="en-US" altLang="ro-RO" dirty="0"/>
              <a:t> </a:t>
            </a:r>
            <a:r>
              <a:rPr lang="en-US" altLang="ro-RO" dirty="0" err="1"/>
              <a:t>distruse</a:t>
            </a:r>
            <a:r>
              <a:rPr lang="en-US" altLang="ro-RO" dirty="0"/>
              <a:t> </a:t>
            </a:r>
            <a:r>
              <a:rPr lang="en-US" altLang="ro-RO" dirty="0" err="1"/>
              <a:t>ultimele</a:t>
            </a:r>
            <a:r>
              <a:rPr lang="en-US" altLang="ro-RO" dirty="0"/>
              <a:t>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43001" y="1324556"/>
            <a:ext cx="7396568" cy="5025526"/>
            <a:chOff x="1143001" y="1324556"/>
            <a:chExt cx="7396568" cy="5025526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1" y="1324556"/>
              <a:ext cx="7396568" cy="45428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3124200"/>
              <a:ext cx="1403350" cy="3225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8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/>
              <a:t>Operatorul de rezolutie de scop ::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152400" y="1933575"/>
            <a:ext cx="36576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ro-RO" sz="2400" b="1" dirty="0">
                <a:solidFill>
                  <a:srgbClr val="800000"/>
                </a:solidFill>
              </a:rPr>
              <a:t>int</a:t>
            </a:r>
            <a:r>
              <a:rPr lang="ro-RO" sz="2400" dirty="0">
                <a:solidFill>
                  <a:srgbClr val="000000"/>
                </a:solidFill>
              </a:rPr>
              <a:t> i</a:t>
            </a:r>
            <a:r>
              <a:rPr lang="ro-RO" sz="2400" dirty="0">
                <a:solidFill>
                  <a:srgbClr val="800080"/>
                </a:solidFill>
              </a:rPr>
              <a:t>;</a:t>
            </a:r>
            <a:r>
              <a:rPr lang="ro-RO" sz="2400" dirty="0">
                <a:solidFill>
                  <a:srgbClr val="000000"/>
                </a:solidFill>
              </a:rPr>
              <a:t> </a:t>
            </a:r>
            <a:r>
              <a:rPr lang="ro-RO" sz="2400" dirty="0">
                <a:solidFill>
                  <a:srgbClr val="696969"/>
                </a:solidFill>
              </a:rPr>
              <a:t>// global i</a:t>
            </a:r>
            <a:endParaRPr lang="en-US" sz="2400" dirty="0">
              <a:solidFill>
                <a:srgbClr val="696969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ro-RO" sz="2400" b="1" dirty="0">
                <a:solidFill>
                  <a:srgbClr val="800000"/>
                </a:solidFill>
              </a:rPr>
              <a:t>void</a:t>
            </a:r>
            <a:r>
              <a:rPr lang="ro-RO" sz="2400" dirty="0">
                <a:solidFill>
                  <a:srgbClr val="000000"/>
                </a:solidFill>
              </a:rPr>
              <a:t> f</a:t>
            </a:r>
            <a:r>
              <a:rPr lang="ro-RO" sz="2400" dirty="0">
                <a:solidFill>
                  <a:srgbClr val="808030"/>
                </a:solidFill>
              </a:rPr>
              <a:t>()</a:t>
            </a:r>
            <a:endParaRPr lang="en-US" sz="2400" dirty="0">
              <a:solidFill>
                <a:srgbClr val="808030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ro-RO" sz="2400" dirty="0">
                <a:solidFill>
                  <a:srgbClr val="800080"/>
                </a:solidFill>
              </a:rPr>
              <a:t>{</a:t>
            </a:r>
            <a:r>
              <a:rPr lang="ro-RO" sz="2400" dirty="0">
                <a:solidFill>
                  <a:srgbClr val="000000"/>
                </a:solidFill>
              </a:rPr>
              <a:t>    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sz="2400" b="1" dirty="0">
                <a:solidFill>
                  <a:srgbClr val="000000"/>
                </a:solidFill>
              </a:rPr>
              <a:t>	</a:t>
            </a:r>
            <a:r>
              <a:rPr lang="ro-RO" sz="2400" b="1" dirty="0">
                <a:solidFill>
                  <a:srgbClr val="800000"/>
                </a:solidFill>
              </a:rPr>
              <a:t>int</a:t>
            </a:r>
            <a:r>
              <a:rPr lang="ro-RO" sz="2400" dirty="0">
                <a:solidFill>
                  <a:srgbClr val="000000"/>
                </a:solidFill>
              </a:rPr>
              <a:t> i</a:t>
            </a:r>
            <a:r>
              <a:rPr lang="ro-RO" sz="2400" dirty="0">
                <a:solidFill>
                  <a:srgbClr val="800080"/>
                </a:solidFill>
              </a:rPr>
              <a:t>;</a:t>
            </a:r>
            <a:r>
              <a:rPr lang="ro-RO" sz="2400" dirty="0">
                <a:solidFill>
                  <a:srgbClr val="000000"/>
                </a:solidFill>
              </a:rPr>
              <a:t> </a:t>
            </a:r>
            <a:r>
              <a:rPr lang="ro-RO" sz="2400" dirty="0">
                <a:solidFill>
                  <a:srgbClr val="696969"/>
                </a:solidFill>
              </a:rPr>
              <a:t>// local i</a:t>
            </a:r>
            <a:r>
              <a:rPr lang="ro-RO" sz="2400" dirty="0">
                <a:solidFill>
                  <a:srgbClr val="000000"/>
                </a:solidFill>
              </a:rPr>
              <a:t>    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sz="2400" dirty="0">
                <a:solidFill>
                  <a:srgbClr val="000000"/>
                </a:solidFill>
              </a:rPr>
              <a:t>	</a:t>
            </a:r>
            <a:r>
              <a:rPr lang="ro-RO" sz="2400" dirty="0">
                <a:solidFill>
                  <a:srgbClr val="000000"/>
                </a:solidFill>
              </a:rPr>
              <a:t>i </a:t>
            </a:r>
            <a:r>
              <a:rPr lang="ro-RO" sz="2400" dirty="0">
                <a:solidFill>
                  <a:srgbClr val="808030"/>
                </a:solidFill>
              </a:rPr>
              <a:t>=</a:t>
            </a:r>
            <a:r>
              <a:rPr lang="ro-RO" sz="2400" dirty="0">
                <a:solidFill>
                  <a:srgbClr val="000000"/>
                </a:solidFill>
              </a:rPr>
              <a:t> </a:t>
            </a:r>
            <a:r>
              <a:rPr lang="ro-RO" sz="2400" dirty="0">
                <a:solidFill>
                  <a:srgbClr val="008C00"/>
                </a:solidFill>
              </a:rPr>
              <a:t>10</a:t>
            </a:r>
            <a:r>
              <a:rPr lang="ro-RO" sz="2400" dirty="0">
                <a:solidFill>
                  <a:srgbClr val="800080"/>
                </a:solidFill>
              </a:rPr>
              <a:t>;</a:t>
            </a:r>
            <a:r>
              <a:rPr lang="ro-RO" sz="2400" dirty="0">
                <a:solidFill>
                  <a:srgbClr val="000000"/>
                </a:solidFill>
              </a:rPr>
              <a:t> </a:t>
            </a:r>
            <a:r>
              <a:rPr lang="ro-RO" sz="2400" dirty="0">
                <a:solidFill>
                  <a:srgbClr val="696969"/>
                </a:solidFill>
              </a:rPr>
              <a:t>// uses local i</a:t>
            </a:r>
            <a:r>
              <a:rPr lang="ro-RO" sz="2400" dirty="0">
                <a:solidFill>
                  <a:srgbClr val="808030"/>
                </a:solidFill>
              </a:rPr>
              <a:t>.</a:t>
            </a:r>
            <a:endParaRPr lang="en-US" sz="2400" dirty="0">
              <a:solidFill>
                <a:srgbClr val="808030"/>
              </a:solidFill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ro-RO" sz="2400" dirty="0">
                <a:solidFill>
                  <a:srgbClr val="800080"/>
                </a:solidFill>
              </a:rPr>
              <a:t>}</a:t>
            </a:r>
            <a:endParaRPr lang="en-US" altLang="ro-RO" sz="2400" b="1" dirty="0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762000" y="4800600"/>
            <a:ext cx="3286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o-RO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962400" y="1905000"/>
            <a:ext cx="5029200" cy="3046988"/>
            <a:chOff x="4038600" y="1906012"/>
            <a:chExt cx="5029200" cy="3048275"/>
          </a:xfrm>
        </p:grpSpPr>
        <p:sp>
          <p:nvSpPr>
            <p:cNvPr id="12296" name="Rectangle 5"/>
            <p:cNvSpPr>
              <a:spLocks noChangeArrowheads="1"/>
            </p:cNvSpPr>
            <p:nvPr/>
          </p:nvSpPr>
          <p:spPr bwMode="auto">
            <a:xfrm>
              <a:off x="4038600" y="1906012"/>
              <a:ext cx="5029200" cy="304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ro-RO" sz="2400" b="1" dirty="0">
                  <a:solidFill>
                    <a:srgbClr val="800000"/>
                  </a:solidFill>
                </a:rPr>
                <a:t>int</a:t>
              </a:r>
              <a:r>
                <a:rPr lang="ro-RO" sz="2400" dirty="0"/>
                <a:t> i</a:t>
              </a:r>
              <a:r>
                <a:rPr lang="ro-RO" sz="2400" dirty="0">
                  <a:solidFill>
                    <a:srgbClr val="800080"/>
                  </a:solidFill>
                </a:rPr>
                <a:t>;</a:t>
              </a:r>
              <a:r>
                <a:rPr lang="ro-RO" sz="2400" dirty="0"/>
                <a:t> </a:t>
              </a:r>
              <a:r>
                <a:rPr lang="ro-RO" sz="2400" dirty="0">
                  <a:solidFill>
                    <a:srgbClr val="696969"/>
                  </a:solidFill>
                </a:rPr>
                <a:t>// global i</a:t>
              </a:r>
              <a:r>
                <a:rPr lang="ro-RO" sz="2400" dirty="0"/>
                <a:t> </a:t>
              </a:r>
              <a:endParaRPr lang="en-US" sz="2400" dirty="0"/>
            </a:p>
            <a:p>
              <a:pPr>
                <a:buFontTx/>
                <a:buNone/>
              </a:pPr>
              <a:r>
                <a:rPr lang="ro-RO" sz="2400" b="1" dirty="0">
                  <a:solidFill>
                    <a:srgbClr val="800000"/>
                  </a:solidFill>
                </a:rPr>
                <a:t>void</a:t>
              </a:r>
              <a:r>
                <a:rPr lang="ro-RO" sz="2400" dirty="0"/>
                <a:t> f</a:t>
              </a:r>
              <a:r>
                <a:rPr lang="ro-RO" sz="2400" dirty="0">
                  <a:solidFill>
                    <a:srgbClr val="808030"/>
                  </a:solidFill>
                </a:rPr>
                <a:t>()</a:t>
              </a:r>
              <a:r>
                <a:rPr lang="ro-RO" sz="2400" dirty="0"/>
                <a:t> </a:t>
              </a:r>
              <a:endParaRPr lang="en-US" sz="2400" dirty="0"/>
            </a:p>
            <a:p>
              <a:pPr>
                <a:buFontTx/>
                <a:buNone/>
              </a:pPr>
              <a:r>
                <a:rPr lang="ro-RO" sz="2400" dirty="0">
                  <a:solidFill>
                    <a:srgbClr val="800080"/>
                  </a:solidFill>
                </a:rPr>
                <a:t>{</a:t>
              </a:r>
              <a:r>
                <a:rPr lang="ro-RO" sz="2400" dirty="0"/>
                <a:t> </a:t>
              </a:r>
              <a:endParaRPr lang="en-US" sz="2400" dirty="0"/>
            </a:p>
            <a:p>
              <a:pPr>
                <a:buFontTx/>
                <a:buNone/>
              </a:pPr>
              <a:r>
                <a:rPr lang="en-US" sz="2400" b="1" dirty="0">
                  <a:solidFill>
                    <a:srgbClr val="800000"/>
                  </a:solidFill>
                </a:rPr>
                <a:t>	</a:t>
              </a:r>
              <a:r>
                <a:rPr lang="ro-RO" sz="2400" b="1" dirty="0" err="1">
                  <a:solidFill>
                    <a:srgbClr val="800000"/>
                  </a:solidFill>
                </a:rPr>
                <a:t>int</a:t>
              </a:r>
              <a:r>
                <a:rPr lang="ro-RO" sz="2400" dirty="0"/>
                <a:t> </a:t>
              </a:r>
              <a:r>
                <a:rPr lang="en-US" sz="2400" dirty="0" err="1"/>
                <a:t>i</a:t>
              </a:r>
              <a:r>
                <a:rPr lang="en-US" sz="2400" dirty="0"/>
                <a:t> = 7</a:t>
              </a:r>
              <a:r>
                <a:rPr lang="ro-RO" sz="2400" dirty="0">
                  <a:solidFill>
                    <a:srgbClr val="800080"/>
                  </a:solidFill>
                </a:rPr>
                <a:t>;</a:t>
              </a:r>
              <a:r>
                <a:rPr lang="ro-RO" sz="2400" dirty="0"/>
                <a:t> </a:t>
              </a:r>
              <a:r>
                <a:rPr lang="ro-RO" sz="2400" dirty="0">
                  <a:solidFill>
                    <a:srgbClr val="696969"/>
                  </a:solidFill>
                </a:rPr>
                <a:t>// local i</a:t>
              </a:r>
              <a:r>
                <a:rPr lang="ro-RO" sz="2400" dirty="0"/>
                <a:t> </a:t>
              </a:r>
              <a:endParaRPr lang="en-US" sz="2400" dirty="0"/>
            </a:p>
            <a:p>
              <a:pPr>
                <a:buFontTx/>
                <a:buNone/>
              </a:pPr>
              <a:r>
                <a:rPr lang="en-US" sz="2400" dirty="0">
                  <a:solidFill>
                    <a:srgbClr val="800080"/>
                  </a:solidFill>
                </a:rPr>
                <a:t>	</a:t>
              </a:r>
              <a:r>
                <a:rPr lang="ro-RO" sz="2400" dirty="0">
                  <a:solidFill>
                    <a:srgbClr val="800080"/>
                  </a:solidFill>
                </a:rPr>
                <a:t>::</a:t>
              </a:r>
              <a:r>
                <a:rPr lang="ro-RO" sz="2400" dirty="0"/>
                <a:t>i </a:t>
              </a:r>
              <a:r>
                <a:rPr lang="ro-RO" sz="2400" dirty="0">
                  <a:solidFill>
                    <a:srgbClr val="808030"/>
                  </a:solidFill>
                </a:rPr>
                <a:t>=</a:t>
              </a:r>
              <a:r>
                <a:rPr lang="ro-RO" sz="2400" dirty="0"/>
                <a:t> </a:t>
              </a:r>
              <a:r>
                <a:rPr lang="ro-RO" sz="2400" dirty="0">
                  <a:solidFill>
                    <a:srgbClr val="008C00"/>
                  </a:solidFill>
                </a:rPr>
                <a:t>10</a:t>
              </a:r>
              <a:r>
                <a:rPr lang="ro-RO" sz="2400" dirty="0">
                  <a:solidFill>
                    <a:srgbClr val="800080"/>
                  </a:solidFill>
                </a:rPr>
                <a:t>;</a:t>
              </a:r>
              <a:r>
                <a:rPr lang="ro-RO" sz="2400" dirty="0"/>
                <a:t> </a:t>
              </a:r>
              <a:r>
                <a:rPr lang="ro-RO" sz="2400" dirty="0">
                  <a:solidFill>
                    <a:srgbClr val="696969"/>
                  </a:solidFill>
                </a:rPr>
                <a:t>// now refers to global i</a:t>
              </a:r>
              <a:endParaRPr lang="en-US" sz="2400" dirty="0">
                <a:solidFill>
                  <a:srgbClr val="696969"/>
                </a:solidFill>
              </a:endParaRPr>
            </a:p>
            <a:p>
              <a:pPr>
                <a:buFontTx/>
                <a:buNone/>
              </a:pPr>
              <a:r>
                <a:rPr lang="en-US" dirty="0" err="1">
                  <a:solidFill>
                    <a:srgbClr val="696969"/>
                  </a:solidFill>
                </a:rPr>
                <a:t>Cout</a:t>
              </a:r>
              <a:r>
                <a:rPr lang="en-US" dirty="0">
                  <a:solidFill>
                    <a:srgbClr val="696969"/>
                  </a:solidFill>
                </a:rPr>
                <a:t>&lt;&lt;::</a:t>
              </a:r>
              <a:r>
                <a:rPr lang="en-US" dirty="0" err="1">
                  <a:solidFill>
                    <a:srgbClr val="696969"/>
                  </a:solidFill>
                </a:rPr>
                <a:t>i</a:t>
              </a:r>
              <a:r>
                <a:rPr lang="en-US" dirty="0">
                  <a:solidFill>
                    <a:srgbClr val="696969"/>
                  </a:solidFill>
                </a:rPr>
                <a:t>;</a:t>
              </a:r>
            </a:p>
            <a:p>
              <a:pPr>
                <a:buFontTx/>
                <a:buNone/>
              </a:pPr>
              <a:r>
                <a:rPr lang="ro-RO" sz="2400" dirty="0"/>
                <a:t> </a:t>
              </a:r>
              <a:endParaRPr lang="en-US" sz="2400" dirty="0"/>
            </a:p>
            <a:p>
              <a:pPr>
                <a:buFontTx/>
                <a:buNone/>
              </a:pPr>
              <a:r>
                <a:rPr lang="ro-RO" sz="2400" dirty="0">
                  <a:solidFill>
                    <a:srgbClr val="800080"/>
                  </a:solidFill>
                </a:rPr>
                <a:t>}</a:t>
              </a:r>
              <a:endParaRPr lang="en-US" altLang="ro-RO" sz="2400" b="1" dirty="0"/>
            </a:p>
          </p:txBody>
        </p:sp>
        <p:sp>
          <p:nvSpPr>
            <p:cNvPr id="12297" name="TextBox 5"/>
            <p:cNvSpPr txBox="1">
              <a:spLocks noChangeArrowheads="1"/>
            </p:cNvSpPr>
            <p:nvPr/>
          </p:nvSpPr>
          <p:spPr bwMode="auto">
            <a:xfrm>
              <a:off x="4953000" y="3430656"/>
              <a:ext cx="2590800" cy="461963"/>
            </a:xfrm>
            <a:prstGeom prst="rect">
              <a:avLst/>
            </a:prstGeom>
            <a:solidFill>
              <a:srgbClr val="FFFF00">
                <a:alpha val="27058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ro-RO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/>
              <a:t>Clase</a:t>
            </a:r>
            <a:r>
              <a:rPr lang="en-US" altLang="ro-RO" dirty="0"/>
              <a:t> locale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ro-RO" altLang="ro-RO" dirty="0"/>
              <a:t>putem defini </a:t>
            </a:r>
            <a:r>
              <a:rPr lang="ro-RO" altLang="ro-RO" b="1" dirty="0"/>
              <a:t>clase în clase </a:t>
            </a:r>
            <a:r>
              <a:rPr lang="ro-RO" altLang="ro-RO" dirty="0"/>
              <a:t>sau </a:t>
            </a:r>
            <a:r>
              <a:rPr lang="ro-RO" altLang="ro-RO" b="1" dirty="0"/>
              <a:t>în funcții</a:t>
            </a:r>
          </a:p>
          <a:p>
            <a:r>
              <a:rPr lang="ro-RO" altLang="ro-RO" b="1" dirty="0" err="1"/>
              <a:t>class</a:t>
            </a:r>
            <a:r>
              <a:rPr lang="ro-RO" altLang="ro-RO" dirty="0"/>
              <a:t> este o declarație, deci definește un scop</a:t>
            </a:r>
          </a:p>
          <a:p>
            <a:r>
              <a:rPr lang="ro-RO" altLang="ro-RO" dirty="0"/>
              <a:t>operatorul de rezoluție de scop ajut</a:t>
            </a:r>
            <a:r>
              <a:rPr lang="ro-RO" altLang="en-US" dirty="0"/>
              <a:t>ă</a:t>
            </a:r>
            <a:r>
              <a:rPr lang="ro-RO" altLang="ro-RO" dirty="0"/>
              <a:t> în aceste cazuri</a:t>
            </a:r>
          </a:p>
          <a:p>
            <a:r>
              <a:rPr lang="ro-RO" altLang="ro-RO" dirty="0"/>
              <a:t>rar utilizate clase în clase</a:t>
            </a:r>
          </a:p>
          <a:p>
            <a:endParaRPr lang="ro-RO" altLang="ro-RO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r>
              <a:rPr lang="en-US" altLang="ro-RO" sz="3400" dirty="0" err="1"/>
              <a:t>Clase</a:t>
            </a:r>
            <a:r>
              <a:rPr lang="en-US" altLang="ro-RO" sz="3400" dirty="0"/>
              <a:t> locale (</a:t>
            </a:r>
            <a:r>
              <a:rPr lang="en-US" altLang="ro-RO" sz="3400" dirty="0" err="1"/>
              <a:t>în</a:t>
            </a:r>
            <a:r>
              <a:rPr lang="en-US" altLang="ro-RO" sz="3400" dirty="0"/>
              <a:t> </a:t>
            </a:r>
            <a:r>
              <a:rPr lang="en-US" altLang="ro-RO" sz="3400" dirty="0" err="1"/>
              <a:t>funcţii</a:t>
            </a:r>
            <a:r>
              <a:rPr lang="en-US" altLang="ro-RO" sz="3400" dirty="0"/>
              <a:t>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724400" y="990600"/>
            <a:ext cx="4267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ro-RO" altLang="ro-RO" sz="2400" kern="0" dirty="0"/>
              <a:t>Funcțiile membre: </a:t>
            </a:r>
          </a:p>
          <a:p>
            <a:r>
              <a:rPr lang="ro-RO" altLang="ro-RO" sz="2400" kern="0" dirty="0"/>
              <a:t>trebuie definite în clas</a:t>
            </a:r>
            <a:r>
              <a:rPr lang="ro-RO" altLang="en-US" sz="2400" dirty="0"/>
              <a:t>ă</a:t>
            </a:r>
            <a:endParaRPr lang="ro-RO" altLang="ro-RO" sz="2400" kern="0" dirty="0"/>
          </a:p>
          <a:p>
            <a:r>
              <a:rPr lang="ro-RO" altLang="ro-RO" sz="2400" kern="0" dirty="0"/>
              <a:t>nu pot accesa variabilele locale ale funcției</a:t>
            </a:r>
          </a:p>
          <a:p>
            <a:r>
              <a:rPr lang="ro-RO" altLang="ro-RO" sz="2400" kern="0" dirty="0"/>
              <a:t>pot accesa variabilele locale statice</a:t>
            </a:r>
          </a:p>
          <a:p>
            <a:r>
              <a:rPr lang="ro-RO" altLang="ro-RO" sz="2400" kern="0" dirty="0"/>
              <a:t>pot accesa variabilele globale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62130"/>
            <a:ext cx="4546382" cy="338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90600" y="4495800"/>
            <a:ext cx="754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kern="0" dirty="0"/>
              <a:t>Clasele locale:</a:t>
            </a:r>
          </a:p>
          <a:p>
            <a:pPr marL="342900" indent="-342900">
              <a:buFontTx/>
              <a:buChar char="-"/>
            </a:pPr>
            <a:r>
              <a:rPr lang="ro-RO" altLang="ro-RO" kern="0" dirty="0"/>
              <a:t>Nu pot avea variabile statice, dar pot folosi funcții statice </a:t>
            </a:r>
          </a:p>
          <a:p>
            <a:pPr marL="342900" indent="-342900">
              <a:buFontTx/>
              <a:buChar char="-"/>
            </a:pPr>
            <a:r>
              <a:rPr lang="ro-RO" altLang="ro-RO" kern="0" dirty="0"/>
              <a:t>Pot fi puse în legătur</a:t>
            </a:r>
            <a:r>
              <a:rPr lang="ro-RO" altLang="en-US" dirty="0"/>
              <a:t>ă</a:t>
            </a:r>
            <a:r>
              <a:rPr lang="ro-RO" altLang="ro-RO" kern="0" dirty="0"/>
              <a:t> cu alte clase locale din aceeași funcție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6167735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o-RO" kern="0" dirty="0"/>
              <a:t>! Mai </a:t>
            </a:r>
            <a:r>
              <a:rPr lang="en-US" altLang="ro-RO" kern="0" dirty="0" err="1"/>
              <a:t>multe</a:t>
            </a:r>
            <a:r>
              <a:rPr lang="en-US" altLang="ro-RO" kern="0" dirty="0"/>
              <a:t> </a:t>
            </a:r>
            <a:r>
              <a:rPr lang="en-US" altLang="ro-RO" kern="0" dirty="0" err="1"/>
              <a:t>exemple</a:t>
            </a:r>
            <a:r>
              <a:rPr lang="en-US" altLang="ro-RO" kern="0" dirty="0"/>
              <a:t> </a:t>
            </a:r>
            <a:r>
              <a:rPr lang="en-US" altLang="ro-RO" kern="0" dirty="0" err="1"/>
              <a:t>în</a:t>
            </a:r>
            <a:r>
              <a:rPr lang="en-US" altLang="ro-RO" kern="0" dirty="0"/>
              <a:t> </a:t>
            </a:r>
            <a:r>
              <a:rPr lang="en-US" altLang="ro-RO" kern="0" dirty="0" err="1"/>
              <a:t>fisierul</a:t>
            </a:r>
            <a:r>
              <a:rPr lang="en-US" altLang="ro-RO" kern="0" dirty="0"/>
              <a:t> </a:t>
            </a:r>
            <a:r>
              <a:rPr lang="en-US" altLang="ro-RO" kern="0" dirty="0" err="1"/>
              <a:t>cpp</a:t>
            </a:r>
            <a:r>
              <a:rPr lang="en-US" altLang="ro-RO" kern="0" dirty="0"/>
              <a:t> </a:t>
            </a:r>
            <a:r>
              <a:rPr lang="en-US" altLang="ro-RO" kern="0" dirty="0" err="1"/>
              <a:t>înc</a:t>
            </a:r>
            <a:r>
              <a:rPr lang="ro-RO" altLang="en-US" dirty="0"/>
              <a:t>ă</a:t>
            </a:r>
            <a:r>
              <a:rPr lang="en-US" altLang="ro-RO" kern="0" dirty="0" err="1"/>
              <a:t>rcat</a:t>
            </a:r>
            <a:r>
              <a:rPr lang="en-US" altLang="ro-RO" kern="0" dirty="0"/>
              <a:t> </a:t>
            </a:r>
            <a:r>
              <a:rPr lang="en-US" altLang="ro-RO" kern="0" dirty="0" err="1"/>
              <a:t>în</a:t>
            </a:r>
            <a:r>
              <a:rPr lang="en-US" altLang="ro-RO" kern="0" dirty="0"/>
              <a:t> </a:t>
            </a:r>
            <a:r>
              <a:rPr lang="en-US" altLang="ro-RO" kern="0" dirty="0" err="1"/>
              <a:t>Moodle</a:t>
            </a:r>
            <a:endParaRPr lang="en-US" altLang="ro-RO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altLang="ro-RO" sz="3400" dirty="0" err="1"/>
              <a:t>Clase</a:t>
            </a:r>
            <a:r>
              <a:rPr lang="en-US" altLang="ro-RO" sz="3400" dirty="0"/>
              <a:t> locale (</a:t>
            </a:r>
            <a:r>
              <a:rPr lang="en-US" altLang="ro-RO" sz="3400" dirty="0" err="1"/>
              <a:t>în</a:t>
            </a:r>
            <a:r>
              <a:rPr lang="en-US" altLang="ro-RO" sz="3400" dirty="0"/>
              <a:t> </a:t>
            </a:r>
            <a:r>
              <a:rPr lang="en-US" altLang="ro-RO" sz="3400" dirty="0" err="1"/>
              <a:t>alte</a:t>
            </a:r>
            <a:r>
              <a:rPr lang="en-US" altLang="ro-RO" sz="3400" dirty="0"/>
              <a:t> </a:t>
            </a:r>
            <a:r>
              <a:rPr lang="en-US" altLang="ro-RO" sz="3400" dirty="0" err="1"/>
              <a:t>clase</a:t>
            </a:r>
            <a:r>
              <a:rPr lang="en-US" altLang="ro-RO" sz="3400" dirty="0"/>
              <a:t>) – imbricate (“nested”)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200" y="1689080"/>
            <a:ext cx="33528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ro-RO" dirty="0"/>
              <a:t>Funcțiile membre ale clasei locale trebuie declarate şi definite în clasa interioar</a:t>
            </a:r>
            <a:r>
              <a:rPr lang="ro-RO" altLang="en-US" dirty="0"/>
              <a:t>ă</a:t>
            </a:r>
            <a:r>
              <a:rPr lang="ro-RO" dirty="0"/>
              <a:t> sau în afara clasei exterioare</a:t>
            </a:r>
          </a:p>
          <a:p>
            <a:pPr marL="342900" indent="-342900">
              <a:buFontTx/>
              <a:buChar char="-"/>
            </a:pPr>
            <a:r>
              <a:rPr lang="ro-RO" dirty="0"/>
              <a:t>Pot avea date membre statice</a:t>
            </a:r>
          </a:p>
          <a:p>
            <a:pPr marL="342900" indent="-342900">
              <a:buFontTx/>
              <a:buChar char="-"/>
            </a:pPr>
            <a:r>
              <a:rPr lang="ro-RO" dirty="0"/>
              <a:t>Pot accesa variabile globale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474194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33400" y="5769114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FF0000"/>
                </a:solidFill>
              </a:rPr>
              <a:t>!atenție “public”: doar </a:t>
            </a:r>
            <a:r>
              <a:rPr lang="ro-RO" sz="2000" b="1" dirty="0" err="1">
                <a:solidFill>
                  <a:srgbClr val="FF0000"/>
                </a:solidFill>
              </a:rPr>
              <a:t>dpv</a:t>
            </a:r>
            <a:r>
              <a:rPr lang="ro-RO" sz="2000" b="1" dirty="0">
                <a:solidFill>
                  <a:srgbClr val="FF0000"/>
                </a:solidFill>
              </a:rPr>
              <a:t> didactic/demonstrativ - </a:t>
            </a:r>
            <a:r>
              <a:rPr lang="ro-RO" sz="2000" b="1" dirty="0" err="1">
                <a:solidFill>
                  <a:srgbClr val="FF0000"/>
                </a:solidFill>
              </a:rPr>
              <a:t>pt</a:t>
            </a:r>
            <a:r>
              <a:rPr lang="ro-RO" sz="2000" b="1" dirty="0">
                <a:solidFill>
                  <a:srgbClr val="FF0000"/>
                </a:solidFill>
              </a:rPr>
              <a:t> a avea acces direct la ob2 din </a:t>
            </a:r>
            <a:r>
              <a:rPr lang="ro-RO" sz="2000" b="1" dirty="0" err="1">
                <a:solidFill>
                  <a:srgbClr val="FF0000"/>
                </a:solidFill>
              </a:rPr>
              <a:t>main</a:t>
            </a:r>
            <a:endParaRPr lang="ro-RO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7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ro-RO" dirty="0"/>
              <a:t>Funcții care întorc obiecte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ro-RO" sz="2800" dirty="0"/>
              <a:t>o funcție poate întoarce obiecte</a:t>
            </a:r>
          </a:p>
          <a:p>
            <a:r>
              <a:rPr lang="ro-RO" altLang="ro-RO" sz="2800" dirty="0"/>
              <a:t>un obiect temporar este creat automat pentru a ţine informațiile din obiectul de întors</a:t>
            </a:r>
          </a:p>
          <a:p>
            <a:r>
              <a:rPr lang="ro-RO" altLang="ro-RO" sz="2800" dirty="0"/>
              <a:t>acesta este obiectul care este întors</a:t>
            </a:r>
          </a:p>
          <a:p>
            <a:r>
              <a:rPr lang="ro-RO" altLang="ro-RO" sz="2800" dirty="0"/>
              <a:t>după ce valoarea a fost întoars</a:t>
            </a:r>
            <a:r>
              <a:rPr lang="ro-RO" altLang="en-US" sz="2800" dirty="0"/>
              <a:t>ă</a:t>
            </a:r>
            <a:r>
              <a:rPr lang="ro-RO" altLang="ro-RO" sz="2800" dirty="0"/>
              <a:t>, acest obiect este distrus</a:t>
            </a:r>
          </a:p>
          <a:p>
            <a:r>
              <a:rPr lang="ro-RO" altLang="ro-RO" sz="2800" dirty="0"/>
              <a:t>probleme cu memoria dinamic</a:t>
            </a:r>
            <a:r>
              <a:rPr lang="ro-RO" altLang="en-US" sz="2800" dirty="0"/>
              <a:t>ă</a:t>
            </a:r>
            <a:r>
              <a:rPr lang="ro-RO" altLang="ro-RO" sz="2800" dirty="0"/>
              <a:t>: soluție </a:t>
            </a:r>
            <a:r>
              <a:rPr lang="ro-RO" altLang="ro-RO" sz="2800" b="1" dirty="0"/>
              <a:t>polimorfism pe = şi pe constructorul de copiere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304800" y="806450"/>
            <a:ext cx="4953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ro-RO" sz="2000" dirty="0">
                <a:solidFill>
                  <a:srgbClr val="696969"/>
                </a:solidFill>
              </a:rPr>
              <a:t>// Returning objects from a function.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ro-RO" sz="2000" dirty="0">
                <a:solidFill>
                  <a:srgbClr val="004A43"/>
                </a:solidFill>
              </a:rPr>
              <a:t>#include </a:t>
            </a:r>
            <a:r>
              <a:rPr lang="ro-RO" sz="2000" dirty="0">
                <a:solidFill>
                  <a:srgbClr val="800000"/>
                </a:solidFill>
              </a:rPr>
              <a:t>&lt;</a:t>
            </a:r>
            <a:r>
              <a:rPr lang="ro-RO" sz="2000" dirty="0">
                <a:solidFill>
                  <a:srgbClr val="40015A"/>
                </a:solidFill>
              </a:rPr>
              <a:t>iostream</a:t>
            </a:r>
            <a:r>
              <a:rPr lang="ro-RO" sz="2000" dirty="0">
                <a:solidFill>
                  <a:srgbClr val="800000"/>
                </a:solidFill>
              </a:rPr>
              <a:t>&gt;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ro-RO" sz="2000" b="1" dirty="0">
                <a:solidFill>
                  <a:srgbClr val="800000"/>
                </a:solidFill>
              </a:rPr>
              <a:t>using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namespace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66616"/>
                </a:solidFill>
              </a:rPr>
              <a:t>std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endParaRPr lang="en-US" sz="2000" b="1" dirty="0">
              <a:solidFill>
                <a:srgbClr val="800000"/>
              </a:solidFill>
            </a:endParaRPr>
          </a:p>
          <a:p>
            <a:pPr>
              <a:buFontTx/>
              <a:buNone/>
            </a:pPr>
            <a:r>
              <a:rPr lang="ro-RO" sz="2000" b="1" dirty="0">
                <a:solidFill>
                  <a:srgbClr val="800000"/>
                </a:solidFill>
              </a:rPr>
              <a:t>class</a:t>
            </a:r>
            <a:r>
              <a:rPr lang="ro-RO" sz="2000" dirty="0"/>
              <a:t> myclass </a:t>
            </a:r>
            <a:endParaRPr lang="en-US" sz="2000" dirty="0"/>
          </a:p>
          <a:p>
            <a:pPr>
              <a:buFontTx/>
              <a:buNone/>
            </a:pP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</a:t>
            </a:r>
          </a:p>
          <a:p>
            <a:pPr>
              <a:buFontTx/>
              <a:buNone/>
            </a:pPr>
            <a:r>
              <a:rPr lang="ro-RO" sz="2000" b="1" dirty="0">
                <a:solidFill>
                  <a:srgbClr val="800000"/>
                </a:solidFill>
              </a:rPr>
              <a:t>public</a:t>
            </a:r>
            <a:r>
              <a:rPr lang="ro-RO" sz="2000" dirty="0">
                <a:solidFill>
                  <a:srgbClr val="E34ADC"/>
                </a:solidFill>
              </a:rPr>
              <a:t>: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 err="1"/>
              <a:t>myclass</a:t>
            </a:r>
            <a:r>
              <a:rPr lang="en-US" sz="2000" dirty="0"/>
              <a:t>(){ </a:t>
            </a:r>
            <a:r>
              <a:rPr lang="en-US" sz="2000" dirty="0" err="1"/>
              <a:t>i</a:t>
            </a:r>
            <a:r>
              <a:rPr lang="en-US" sz="2000" dirty="0"/>
              <a:t>=0;}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void</a:t>
            </a:r>
            <a:r>
              <a:rPr lang="ro-RO" sz="2000" dirty="0"/>
              <a:t> set_i</a:t>
            </a:r>
            <a:r>
              <a:rPr lang="ro-RO" sz="2000" dirty="0">
                <a:solidFill>
                  <a:srgbClr val="808030"/>
                </a:solidFill>
              </a:rPr>
              <a:t>(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n</a:t>
            </a:r>
            <a:r>
              <a:rPr lang="ro-RO" sz="2000" dirty="0">
                <a:solidFill>
                  <a:srgbClr val="808030"/>
                </a:solidFill>
              </a:rPr>
              <a:t>)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8030"/>
                </a:solidFill>
              </a:rPr>
              <a:t>=</a:t>
            </a:r>
            <a:r>
              <a:rPr lang="ro-RO" sz="2000" dirty="0"/>
              <a:t>n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ro-RO" sz="2000" b="1" dirty="0">
                <a:solidFill>
                  <a:srgbClr val="800000"/>
                </a:solidFill>
              </a:rPr>
              <a:t>int</a:t>
            </a:r>
            <a:r>
              <a:rPr lang="ro-RO" sz="2000" dirty="0"/>
              <a:t> get_i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{</a:t>
            </a:r>
            <a:r>
              <a:rPr lang="ro-RO" sz="2000" dirty="0"/>
              <a:t> </a:t>
            </a:r>
            <a:r>
              <a:rPr lang="ro-RO" sz="2000" b="1" dirty="0">
                <a:solidFill>
                  <a:srgbClr val="800000"/>
                </a:solidFill>
              </a:rPr>
              <a:t>return</a:t>
            </a:r>
            <a:r>
              <a:rPr lang="ro-RO" sz="2000" dirty="0"/>
              <a:t> i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800080"/>
                </a:solidFill>
              </a:rPr>
              <a:t>}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r>
              <a:rPr lang="ro-RO" sz="2000" dirty="0">
                <a:solidFill>
                  <a:srgbClr val="800080"/>
                </a:solidFill>
              </a:rPr>
              <a:t>};</a:t>
            </a:r>
            <a:r>
              <a:rPr lang="ro-RO" sz="2000" dirty="0"/>
              <a:t> </a:t>
            </a: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ro-RO" sz="2000" dirty="0"/>
              <a:t>myclass f</a:t>
            </a:r>
            <a:r>
              <a:rPr lang="ro-RO" sz="2000" dirty="0">
                <a:solidFill>
                  <a:srgbClr val="808030"/>
                </a:solidFill>
              </a:rPr>
              <a:t>()</a:t>
            </a:r>
            <a:r>
              <a:rPr lang="ro-RO" sz="2000" dirty="0">
                <a:solidFill>
                  <a:srgbClr val="800080"/>
                </a:solidFill>
              </a:rPr>
              <a:t>;</a:t>
            </a:r>
            <a:r>
              <a:rPr lang="ro-RO" sz="2000" dirty="0"/>
              <a:t> </a:t>
            </a:r>
            <a:r>
              <a:rPr lang="ro-RO" sz="2000" dirty="0">
                <a:solidFill>
                  <a:srgbClr val="696969"/>
                </a:solidFill>
              </a:rPr>
              <a:t>// return object of type myclass</a:t>
            </a:r>
            <a:r>
              <a:rPr lang="ro-RO" sz="2000" dirty="0"/>
              <a:t> </a:t>
            </a:r>
            <a:endParaRPr lang="en-US" sz="2000" dirty="0"/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953000" y="754063"/>
            <a:ext cx="3886200" cy="55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endParaRPr lang="en-US" sz="2000" b="1">
              <a:solidFill>
                <a:srgbClr val="800000"/>
              </a:solidFill>
            </a:endParaRPr>
          </a:p>
          <a:p>
            <a:pPr>
              <a:buFontTx/>
              <a:buNone/>
            </a:pPr>
            <a:r>
              <a:rPr lang="ro-RO" sz="2000" b="1">
                <a:solidFill>
                  <a:srgbClr val="800000"/>
                </a:solidFill>
              </a:rPr>
              <a:t>int</a:t>
            </a:r>
            <a:r>
              <a:rPr lang="ro-RO" sz="2000"/>
              <a:t> </a:t>
            </a:r>
            <a:r>
              <a:rPr lang="ro-RO" sz="2000">
                <a:solidFill>
                  <a:srgbClr val="400000"/>
                </a:solidFill>
              </a:rPr>
              <a:t>main</a:t>
            </a:r>
            <a:r>
              <a:rPr lang="ro-RO" sz="2000">
                <a:solidFill>
                  <a:srgbClr val="808030"/>
                </a:solidFill>
              </a:rPr>
              <a:t>()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ro-RO" sz="2000">
                <a:solidFill>
                  <a:srgbClr val="800080"/>
                </a:solidFill>
              </a:rPr>
              <a:t>{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</a:t>
            </a:r>
            <a:r>
              <a:rPr lang="ro-RO" sz="2000"/>
              <a:t>myclass o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</a:t>
            </a:r>
            <a:r>
              <a:rPr lang="ro-RO" sz="2000"/>
              <a:t>o </a:t>
            </a:r>
            <a:r>
              <a:rPr lang="ro-RO" sz="2000">
                <a:solidFill>
                  <a:srgbClr val="808030"/>
                </a:solidFill>
              </a:rPr>
              <a:t>=</a:t>
            </a:r>
            <a:r>
              <a:rPr lang="ro-RO" sz="2000"/>
              <a:t> f</a:t>
            </a:r>
            <a:r>
              <a:rPr lang="ro-RO" sz="2000">
                <a:solidFill>
                  <a:srgbClr val="808030"/>
                </a:solidFill>
              </a:rPr>
              <a:t>()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>
                <a:solidFill>
                  <a:srgbClr val="603000"/>
                </a:solidFill>
              </a:rPr>
              <a:t>	</a:t>
            </a:r>
            <a:r>
              <a:rPr lang="ro-RO" sz="2000">
                <a:solidFill>
                  <a:srgbClr val="603000"/>
                </a:solidFill>
              </a:rPr>
              <a:t>cout</a:t>
            </a:r>
            <a:r>
              <a:rPr lang="ro-RO" sz="2000"/>
              <a:t> </a:t>
            </a:r>
            <a:r>
              <a:rPr lang="ro-RO" sz="2000">
                <a:solidFill>
                  <a:srgbClr val="808030"/>
                </a:solidFill>
              </a:rPr>
              <a:t>&lt;&lt;</a:t>
            </a:r>
            <a:r>
              <a:rPr lang="ro-RO" sz="2000"/>
              <a:t> o</a:t>
            </a:r>
            <a:r>
              <a:rPr lang="ro-RO" sz="2000">
                <a:solidFill>
                  <a:srgbClr val="808030"/>
                </a:solidFill>
              </a:rPr>
              <a:t>.</a:t>
            </a:r>
            <a:r>
              <a:rPr lang="ro-RO" sz="2000"/>
              <a:t>get_i</a:t>
            </a:r>
            <a:r>
              <a:rPr lang="ro-RO" sz="2000">
                <a:solidFill>
                  <a:srgbClr val="808030"/>
                </a:solidFill>
              </a:rPr>
              <a:t>()</a:t>
            </a:r>
            <a:r>
              <a:rPr lang="ro-RO" sz="2000"/>
              <a:t> </a:t>
            </a:r>
            <a:r>
              <a:rPr lang="ro-RO" sz="2000">
                <a:solidFill>
                  <a:srgbClr val="808030"/>
                </a:solidFill>
              </a:rPr>
              <a:t>&lt;&lt;</a:t>
            </a:r>
            <a:r>
              <a:rPr lang="ro-RO" sz="2000"/>
              <a:t> </a:t>
            </a:r>
            <a:r>
              <a:rPr lang="ro-RO" sz="2000">
                <a:solidFill>
                  <a:srgbClr val="800000"/>
                </a:solidFill>
              </a:rPr>
              <a:t>"</a:t>
            </a:r>
            <a:r>
              <a:rPr lang="ro-RO" sz="2000">
                <a:solidFill>
                  <a:srgbClr val="0F69FF"/>
                </a:solidFill>
              </a:rPr>
              <a:t>\n</a:t>
            </a:r>
            <a:r>
              <a:rPr lang="ro-RO" sz="2000">
                <a:solidFill>
                  <a:srgbClr val="800000"/>
                </a:solidFill>
              </a:rPr>
              <a:t>"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 b="1">
                <a:solidFill>
                  <a:srgbClr val="800000"/>
                </a:solidFill>
              </a:rPr>
              <a:t>	</a:t>
            </a:r>
            <a:r>
              <a:rPr lang="ro-RO" sz="2000" b="1">
                <a:solidFill>
                  <a:srgbClr val="800000"/>
                </a:solidFill>
              </a:rPr>
              <a:t>return</a:t>
            </a:r>
            <a:r>
              <a:rPr lang="ro-RO" sz="2000"/>
              <a:t> </a:t>
            </a:r>
            <a:r>
              <a:rPr lang="ro-RO" sz="2000">
                <a:solidFill>
                  <a:srgbClr val="008C00"/>
                </a:solidFill>
              </a:rPr>
              <a:t>0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ro-RO" sz="2000">
                <a:solidFill>
                  <a:srgbClr val="800080"/>
                </a:solidFill>
              </a:rPr>
              <a:t>}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endParaRPr lang="en-US" sz="2000"/>
          </a:p>
          <a:p>
            <a:pPr>
              <a:buFontTx/>
              <a:buNone/>
            </a:pPr>
            <a:r>
              <a:rPr lang="ro-RO" sz="2000"/>
              <a:t>myclass f</a:t>
            </a:r>
            <a:r>
              <a:rPr lang="ro-RO" sz="2000">
                <a:solidFill>
                  <a:srgbClr val="808030"/>
                </a:solidFill>
              </a:rPr>
              <a:t>()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ro-RO" sz="2000">
                <a:solidFill>
                  <a:srgbClr val="800080"/>
                </a:solidFill>
              </a:rPr>
              <a:t>{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</a:t>
            </a:r>
            <a:r>
              <a:rPr lang="ro-RO" sz="2000"/>
              <a:t>myclass x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/>
              <a:t>	</a:t>
            </a:r>
            <a:r>
              <a:rPr lang="ro-RO" sz="2000"/>
              <a:t>x</a:t>
            </a:r>
            <a:r>
              <a:rPr lang="ro-RO" sz="2000">
                <a:solidFill>
                  <a:srgbClr val="808030"/>
                </a:solidFill>
              </a:rPr>
              <a:t>.</a:t>
            </a:r>
            <a:r>
              <a:rPr lang="ro-RO" sz="2000"/>
              <a:t>set_i</a:t>
            </a:r>
            <a:r>
              <a:rPr lang="ro-RO" sz="2000">
                <a:solidFill>
                  <a:srgbClr val="808030"/>
                </a:solidFill>
              </a:rPr>
              <a:t>(</a:t>
            </a:r>
            <a:r>
              <a:rPr lang="ro-RO" sz="2000">
                <a:solidFill>
                  <a:srgbClr val="008C00"/>
                </a:solidFill>
              </a:rPr>
              <a:t>1</a:t>
            </a:r>
            <a:r>
              <a:rPr lang="ro-RO" sz="2000">
                <a:solidFill>
                  <a:srgbClr val="808030"/>
                </a:solidFill>
              </a:rPr>
              <a:t>)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en-US" sz="2000" b="1">
                <a:solidFill>
                  <a:srgbClr val="800000"/>
                </a:solidFill>
              </a:rPr>
              <a:t>	</a:t>
            </a:r>
            <a:r>
              <a:rPr lang="ro-RO" sz="2000" b="1">
                <a:solidFill>
                  <a:srgbClr val="800000"/>
                </a:solidFill>
              </a:rPr>
              <a:t>return</a:t>
            </a:r>
            <a:r>
              <a:rPr lang="ro-RO" sz="2000"/>
              <a:t> x</a:t>
            </a:r>
            <a:r>
              <a:rPr lang="ro-RO" sz="2000">
                <a:solidFill>
                  <a:srgbClr val="800080"/>
                </a:solidFill>
              </a:rPr>
              <a:t>;</a:t>
            </a:r>
            <a:r>
              <a:rPr lang="ro-RO" sz="2000"/>
              <a:t> </a:t>
            </a:r>
            <a:endParaRPr lang="en-US" sz="2000"/>
          </a:p>
          <a:p>
            <a:pPr>
              <a:buFontTx/>
              <a:buNone/>
            </a:pPr>
            <a:r>
              <a:rPr lang="ro-RO" sz="2000">
                <a:solidFill>
                  <a:srgbClr val="800080"/>
                </a:solidFill>
              </a:rPr>
              <a:t>}</a:t>
            </a:r>
            <a:endParaRPr lang="en-US" altLang="ro-RO" sz="2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ro-RO"/>
              <a:t>copierea prin operatorul =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1676400"/>
          </a:xfrm>
        </p:spPr>
        <p:txBody>
          <a:bodyPr/>
          <a:lstStyle/>
          <a:p>
            <a:r>
              <a:rPr lang="en-US" altLang="ro-RO" dirty="0" err="1"/>
              <a:t>este</a:t>
            </a:r>
            <a:r>
              <a:rPr lang="en-US" altLang="ro-RO" dirty="0"/>
              <a:t> </a:t>
            </a:r>
            <a:r>
              <a:rPr lang="en-US" altLang="ro-RO" dirty="0" err="1"/>
              <a:t>posibil</a:t>
            </a:r>
            <a:r>
              <a:rPr lang="en-US" altLang="ro-RO" dirty="0"/>
              <a:t> s</a:t>
            </a:r>
            <a:r>
              <a:rPr lang="ro-RO" altLang="en-US" dirty="0"/>
              <a:t>ă</a:t>
            </a:r>
            <a:r>
              <a:rPr lang="en-US" altLang="ro-RO" dirty="0"/>
              <a:t> d</a:t>
            </a:r>
            <a:r>
              <a:rPr lang="ro-RO" altLang="en-US" dirty="0"/>
              <a:t>ă</a:t>
            </a:r>
            <a:r>
              <a:rPr lang="en-US" altLang="ro-RO" dirty="0"/>
              <a:t>m </a:t>
            </a:r>
            <a:r>
              <a:rPr lang="en-US" altLang="ro-RO" dirty="0" err="1"/>
              <a:t>valoarea</a:t>
            </a:r>
            <a:r>
              <a:rPr lang="en-US" altLang="ro-RO" dirty="0"/>
              <a:t> </a:t>
            </a:r>
            <a:r>
              <a:rPr lang="en-US" altLang="ro-RO" dirty="0" err="1"/>
              <a:t>unui</a:t>
            </a:r>
            <a:r>
              <a:rPr lang="en-US" altLang="ro-RO" dirty="0"/>
              <a:t> </a:t>
            </a:r>
            <a:r>
              <a:rPr lang="en-US" altLang="ro-RO" dirty="0" err="1"/>
              <a:t>obiect</a:t>
            </a:r>
            <a:r>
              <a:rPr lang="en-US" altLang="ro-RO" dirty="0"/>
              <a:t> </a:t>
            </a:r>
            <a:r>
              <a:rPr lang="en-US" altLang="ro-RO" dirty="0" err="1"/>
              <a:t>altui</a:t>
            </a:r>
            <a:r>
              <a:rPr lang="en-US" altLang="ro-RO" dirty="0"/>
              <a:t> </a:t>
            </a:r>
            <a:r>
              <a:rPr lang="en-US" altLang="ro-RO" dirty="0" err="1"/>
              <a:t>obiect</a:t>
            </a:r>
            <a:endParaRPr lang="en-US" altLang="ro-RO" dirty="0"/>
          </a:p>
          <a:p>
            <a:r>
              <a:rPr lang="en-US" altLang="ro-RO" dirty="0" err="1"/>
              <a:t>trebuie</a:t>
            </a:r>
            <a:r>
              <a:rPr lang="en-US" altLang="ro-RO" dirty="0"/>
              <a:t> s</a:t>
            </a:r>
            <a:r>
              <a:rPr lang="ro-RO" altLang="en-US" dirty="0"/>
              <a:t>ă</a:t>
            </a:r>
            <a:r>
              <a:rPr lang="en-US" altLang="ro-RO" dirty="0"/>
              <a:t> fie de </a:t>
            </a:r>
            <a:r>
              <a:rPr lang="en-US" altLang="ro-RO" dirty="0" err="1"/>
              <a:t>acelaşi</a:t>
            </a:r>
            <a:r>
              <a:rPr lang="en-US" altLang="ro-RO" dirty="0"/>
              <a:t> tip (</a:t>
            </a:r>
            <a:r>
              <a:rPr lang="en-US" altLang="ro-RO" dirty="0" err="1"/>
              <a:t>aceeasi</a:t>
            </a:r>
            <a:r>
              <a:rPr lang="en-US" altLang="ro-RO" dirty="0"/>
              <a:t> </a:t>
            </a:r>
            <a:r>
              <a:rPr lang="en-US" altLang="ro-RO" dirty="0" err="1"/>
              <a:t>clas</a:t>
            </a:r>
            <a:r>
              <a:rPr lang="ro-RO" altLang="en-US" dirty="0"/>
              <a:t>ă</a:t>
            </a:r>
            <a:r>
              <a:rPr lang="en-US" altLang="ro-RO" dirty="0"/>
              <a:t>)</a:t>
            </a:r>
          </a:p>
          <a:p>
            <a:endParaRPr lang="en-US" altLang="ro-RO" dirty="0"/>
          </a:p>
        </p:txBody>
      </p:sp>
      <p:sp>
        <p:nvSpPr>
          <p:cNvPr id="23556" name="Google Shape;124;p27"/>
          <p:cNvSpPr>
            <a:spLocks noChangeArrowheads="1"/>
          </p:cNvSpPr>
          <p:nvPr/>
        </p:nvSpPr>
        <p:spPr bwMode="auto">
          <a:xfrm>
            <a:off x="84138" y="84138"/>
            <a:ext cx="5040312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  <a:buFontTx/>
              <a:buNone/>
            </a:pPr>
            <a:r>
              <a:rPr lang="en-US" sz="1800" b="1">
                <a:solidFill>
                  <a:srgbClr val="000000"/>
                </a:solidFill>
                <a:cs typeface="Arial" charset="0"/>
                <a:sym typeface="Arial" charset="0"/>
              </a:rPr>
              <a:t>Facultatea de Matematic</a:t>
            </a:r>
            <a:r>
              <a:rPr lang="ro-RO" altLang="ro-RO" sz="1800" b="1"/>
              <a:t>ă</a:t>
            </a:r>
            <a:r>
              <a:rPr lang="en-US" sz="1800" b="1">
                <a:solidFill>
                  <a:srgbClr val="000000"/>
                </a:solidFill>
                <a:cs typeface="Arial" charset="0"/>
                <a:sym typeface="Arial" charset="0"/>
              </a:rPr>
              <a:t> şi Informatic</a:t>
            </a:r>
            <a:r>
              <a:rPr lang="ro-RO" altLang="ro-RO" sz="1800" b="1"/>
              <a:t>ă</a:t>
            </a:r>
            <a:r>
              <a:rPr lang="en-US" sz="1800" b="1">
                <a:solidFill>
                  <a:srgbClr val="000000"/>
                </a:solidFill>
                <a:cs typeface="Arial" charset="0"/>
                <a:sym typeface="Arial" charset="0"/>
              </a:rPr>
              <a:t> </a:t>
            </a:r>
            <a:r>
              <a:rPr lang="en-US" sz="1800" b="1"/>
              <a:t>Universitatea din Bucure</a:t>
            </a:r>
            <a:r>
              <a:rPr lang="en-US" sz="1800" b="1">
                <a:solidFill>
                  <a:srgbClr val="000000"/>
                </a:solidFill>
                <a:cs typeface="Arial" charset="0"/>
                <a:sym typeface="Arial" charset="0"/>
              </a:rPr>
              <a:t>ş</a:t>
            </a:r>
            <a:r>
              <a:rPr lang="en-US" sz="1800" b="1"/>
              <a:t>ti</a:t>
            </a:r>
            <a:endParaRPr lang="ro-RO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ro-RO" altLang="en-US" sz="4000" dirty="0"/>
              <a:t>Supraîncărcarea operatorilor în C++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dirty="0"/>
              <a:t>majoritatea operatorilor pot fi supraîncărcaţi</a:t>
            </a:r>
          </a:p>
          <a:p>
            <a:pPr>
              <a:lnSpc>
                <a:spcPct val="90000"/>
              </a:lnSpc>
            </a:pPr>
            <a:r>
              <a:rPr lang="ro-RO" altLang="en-US" dirty="0"/>
              <a:t>similar ca la funcții</a:t>
            </a:r>
          </a:p>
          <a:p>
            <a:pPr>
              <a:lnSpc>
                <a:spcPct val="90000"/>
              </a:lnSpc>
            </a:pPr>
            <a:r>
              <a:rPr lang="ro-RO" altLang="en-US" dirty="0"/>
              <a:t>una din proprietățile C++ care îi conferă putere</a:t>
            </a:r>
          </a:p>
          <a:p>
            <a:pPr>
              <a:lnSpc>
                <a:spcPct val="90000"/>
              </a:lnSpc>
            </a:pPr>
            <a:r>
              <a:rPr lang="ro-RO" altLang="en-US" dirty="0"/>
              <a:t>s-a făcut supraîncărcarea operatorilor si pentru operații de I/O (&lt;&lt;,&gt;&gt;)</a:t>
            </a:r>
          </a:p>
          <a:p>
            <a:pPr>
              <a:lnSpc>
                <a:spcPct val="90000"/>
              </a:lnSpc>
            </a:pPr>
            <a:r>
              <a:rPr lang="ro-RO" altLang="en-US" dirty="0"/>
              <a:t>supraîncărcarea se face definind o funcție operator: membru al clasei sau nu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533400"/>
          </a:xfrm>
        </p:spPr>
        <p:txBody>
          <a:bodyPr/>
          <a:lstStyle/>
          <a:p>
            <a:r>
              <a:rPr lang="en-US" altLang="en-US" dirty="0" err="1"/>
              <a:t>Restricţii</a:t>
            </a:r>
            <a:endParaRPr lang="en-US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763000" cy="6019800"/>
          </a:xfrm>
        </p:spPr>
        <p:txBody>
          <a:bodyPr/>
          <a:lstStyle/>
          <a:p>
            <a:r>
              <a:rPr lang="ro-RO" altLang="en-US" sz="2200" dirty="0"/>
              <a:t>nu se poate redefini si precedenţa operatorilor</a:t>
            </a:r>
          </a:p>
          <a:p>
            <a:r>
              <a:rPr lang="ro-RO" altLang="en-US" sz="2200" dirty="0"/>
              <a:t>nu se poate redefini numărul de operanzi</a:t>
            </a:r>
          </a:p>
          <a:p>
            <a:pPr lvl="1"/>
            <a:r>
              <a:rPr lang="ro-RO" altLang="en-US" sz="2200" dirty="0"/>
              <a:t>rezonabil pentru ca redefinim pentru lizibilitate</a:t>
            </a:r>
          </a:p>
          <a:p>
            <a:pPr lvl="1"/>
            <a:r>
              <a:rPr lang="ro-RO" altLang="en-US" sz="2200" dirty="0"/>
              <a:t>putem ignora un operand dac</a:t>
            </a:r>
            <a:r>
              <a:rPr lang="vi-VN" altLang="en-US" sz="2200" dirty="0"/>
              <a:t>ă</a:t>
            </a:r>
            <a:r>
              <a:rPr lang="ro-RO" altLang="en-US" sz="2200" dirty="0"/>
              <a:t> vrem</a:t>
            </a:r>
          </a:p>
          <a:p>
            <a:r>
              <a:rPr lang="ro-RO" altLang="en-US" sz="2200" dirty="0"/>
              <a:t>nu putem avea valori implicite; excepție pentru ( )</a:t>
            </a:r>
          </a:p>
          <a:p>
            <a:r>
              <a:rPr lang="ro-RO" altLang="en-US" sz="2200" b="1" dirty="0">
                <a:solidFill>
                  <a:srgbClr val="FF0000"/>
                </a:solidFill>
              </a:rPr>
              <a:t>nu putem face </a:t>
            </a:r>
            <a:r>
              <a:rPr lang="ro-RO" altLang="en-US" sz="2200" b="1" dirty="0" err="1">
                <a:solidFill>
                  <a:srgbClr val="FF0000"/>
                </a:solidFill>
              </a:rPr>
              <a:t>overload</a:t>
            </a:r>
            <a:r>
              <a:rPr lang="ro-RO" altLang="en-US" sz="2200" b="1" dirty="0">
                <a:solidFill>
                  <a:srgbClr val="FF0000"/>
                </a:solidFill>
              </a:rPr>
              <a:t> pe</a:t>
            </a:r>
          </a:p>
          <a:p>
            <a:pPr marL="0" indent="0"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. (acces de membru) </a:t>
            </a:r>
          </a:p>
          <a:p>
            <a:pPr>
              <a:buFontTx/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	:: (</a:t>
            </a:r>
            <a:r>
              <a:rPr lang="ro-RO" altLang="en-US" sz="2200" b="1" dirty="0" err="1">
                <a:solidFill>
                  <a:srgbClr val="FF0000"/>
                </a:solidFill>
              </a:rPr>
              <a:t>rezolutie</a:t>
            </a:r>
            <a:r>
              <a:rPr lang="ro-RO" altLang="en-US" sz="2200" b="1" dirty="0">
                <a:solidFill>
                  <a:srgbClr val="FF0000"/>
                </a:solidFill>
              </a:rPr>
              <a:t> de scop) </a:t>
            </a:r>
          </a:p>
          <a:p>
            <a:pPr>
              <a:buFontTx/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	.*(acces membru prin pointer) </a:t>
            </a:r>
          </a:p>
          <a:p>
            <a:pPr>
              <a:buFontTx/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	?: (ternar)</a:t>
            </a:r>
          </a:p>
          <a:p>
            <a:pPr>
              <a:buFontTx/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	</a:t>
            </a:r>
            <a:r>
              <a:rPr lang="ro-RO" altLang="en-US" sz="2200" b="1" dirty="0" err="1">
                <a:solidFill>
                  <a:srgbClr val="FF0000"/>
                </a:solidFill>
              </a:rPr>
              <a:t>sizeof</a:t>
            </a:r>
            <a:r>
              <a:rPr lang="ro-RO" altLang="en-US" sz="2200" b="1" dirty="0">
                <a:solidFill>
                  <a:srgbClr val="FF0000"/>
                </a:solidFill>
              </a:rPr>
              <a:t>()</a:t>
            </a:r>
          </a:p>
          <a:p>
            <a:pPr>
              <a:buFontTx/>
              <a:buNone/>
            </a:pPr>
            <a:r>
              <a:rPr lang="ro-RO" altLang="en-US" sz="2200" b="1" dirty="0">
                <a:solidFill>
                  <a:srgbClr val="FF0000"/>
                </a:solidFill>
              </a:rPr>
              <a:t>		</a:t>
            </a:r>
            <a:r>
              <a:rPr lang="ro-RO" altLang="en-US" sz="2200" b="1" dirty="0" err="1">
                <a:solidFill>
                  <a:srgbClr val="FF0000"/>
                </a:solidFill>
              </a:rPr>
              <a:t>typeid</a:t>
            </a:r>
            <a:endParaRPr lang="ro-RO" altLang="en-US" sz="2200" b="1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ro-RO" altLang="en-US" sz="2200" dirty="0">
                <a:solidFill>
                  <a:srgbClr val="FF0000"/>
                </a:solidFill>
              </a:rPr>
              <a:t>		</a:t>
            </a:r>
            <a:r>
              <a:rPr lang="ro-RO" altLang="en-US" sz="2200" dirty="0" err="1">
                <a:solidFill>
                  <a:srgbClr val="FF0000"/>
                </a:solidFill>
              </a:rPr>
              <a:t>alignof</a:t>
            </a:r>
            <a:r>
              <a:rPr lang="ro-RO" altLang="en-US" sz="2200" dirty="0">
                <a:solidFill>
                  <a:srgbClr val="FF0000"/>
                </a:solidFill>
              </a:rPr>
              <a:t> (operator pentru alinierea tipurilor; din C++11)</a:t>
            </a:r>
          </a:p>
          <a:p>
            <a:r>
              <a:rPr lang="ro-RO" altLang="en-US" sz="2200" dirty="0"/>
              <a:t>Se recomand</a:t>
            </a:r>
            <a:r>
              <a:rPr lang="vi-VN" altLang="en-US" sz="2200" dirty="0"/>
              <a:t>ă</a:t>
            </a:r>
            <a:r>
              <a:rPr lang="ro-RO" altLang="en-US" sz="2200" dirty="0"/>
              <a:t> operațiuni apropiate de înțelesul operatorilor respectivi</a:t>
            </a:r>
          </a:p>
        </p:txBody>
      </p:sp>
    </p:spTree>
    <p:extLst>
      <p:ext uri="{BB962C8B-B14F-4D97-AF65-F5344CB8AC3E}">
        <p14:creationId xmlns:p14="http://schemas.microsoft.com/office/powerpoint/2010/main" val="712930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ro-RO" altLang="en-US" dirty="0"/>
              <a:t>Funcții operator membri ai clasei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276600"/>
            <a:ext cx="7772400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sz="2800" dirty="0"/>
              <a:t># este operatorul supraîncărcat (+ - * / ++ -- = , etc.)</a:t>
            </a:r>
          </a:p>
          <a:p>
            <a:pPr>
              <a:lnSpc>
                <a:spcPct val="90000"/>
              </a:lnSpc>
            </a:pPr>
            <a:r>
              <a:rPr lang="ro-RO" altLang="en-US" sz="2800" dirty="0" err="1"/>
              <a:t>deobicei</a:t>
            </a:r>
            <a:r>
              <a:rPr lang="ro-RO" altLang="en-US" sz="2800" dirty="0"/>
              <a:t> </a:t>
            </a:r>
            <a:r>
              <a:rPr lang="ro-RO" altLang="en-US" sz="2800" dirty="0" err="1"/>
              <a:t>ret-type</a:t>
            </a:r>
            <a:r>
              <a:rPr lang="ro-RO" altLang="en-US" sz="2800" dirty="0"/>
              <a:t> este tipul clasei, dar avem flexibilitate</a:t>
            </a:r>
          </a:p>
          <a:p>
            <a:pPr>
              <a:lnSpc>
                <a:spcPct val="90000"/>
              </a:lnSpc>
            </a:pPr>
            <a:r>
              <a:rPr lang="ro-RO" altLang="en-US" sz="2800" dirty="0"/>
              <a:t>pentru operatori unari </a:t>
            </a:r>
            <a:r>
              <a:rPr lang="ro-RO" altLang="en-US" sz="2800" dirty="0" err="1"/>
              <a:t>arg-list</a:t>
            </a:r>
            <a:r>
              <a:rPr lang="ro-RO" altLang="en-US" sz="2800" dirty="0"/>
              <a:t> este vida</a:t>
            </a:r>
          </a:p>
          <a:p>
            <a:pPr>
              <a:lnSpc>
                <a:spcPct val="90000"/>
              </a:lnSpc>
            </a:pPr>
            <a:r>
              <a:rPr lang="ro-RO" altLang="en-US" sz="2800" dirty="0"/>
              <a:t>pentru operatori binari: </a:t>
            </a:r>
            <a:r>
              <a:rPr lang="ro-RO" altLang="en-US" sz="2800" dirty="0" err="1"/>
              <a:t>arg-list</a:t>
            </a:r>
            <a:r>
              <a:rPr lang="ro-RO" altLang="en-US" sz="2800" dirty="0"/>
              <a:t> conține un element</a:t>
            </a:r>
          </a:p>
          <a:p>
            <a:pPr>
              <a:lnSpc>
                <a:spcPct val="90000"/>
              </a:lnSpc>
            </a:pPr>
            <a:endParaRPr lang="ro-RO" altLang="en-US" sz="2800" dirty="0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1676400" y="1371600"/>
            <a:ext cx="5257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 dirty="0"/>
              <a:t>ret-type class-name::</a:t>
            </a:r>
            <a:r>
              <a:rPr lang="en-US" altLang="en-US" b="1" dirty="0"/>
              <a:t>operator</a:t>
            </a:r>
            <a:r>
              <a:rPr lang="en-US" altLang="en-US" b="1" i="1" dirty="0"/>
              <a:t>#(</a:t>
            </a:r>
            <a:r>
              <a:rPr lang="en-US" altLang="en-US" b="1" i="1" dirty="0" err="1"/>
              <a:t>arg</a:t>
            </a:r>
            <a:r>
              <a:rPr lang="en-US" altLang="en-US" b="1" i="1" dirty="0"/>
              <a:t>-list)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	// operations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ChangeArrowheads="1"/>
          </p:cNvSpPr>
          <p:nvPr/>
        </p:nvSpPr>
        <p:spPr bwMode="auto">
          <a:xfrm>
            <a:off x="4572000" y="581025"/>
            <a:ext cx="45720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loc loc::operator+(loc op2)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loc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temp.longitude = op2.longitude + longitude;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temp.latitude = op2.latitude + latitude;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return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}</a:t>
            </a:r>
            <a:endParaRPr lang="en-US" altLang="en-US" sz="1600" b="1"/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4400" y="4953000"/>
            <a:ext cx="7772400" cy="18288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sz="2400" dirty="0"/>
              <a:t>un singur argument pentru că avem </a:t>
            </a:r>
            <a:r>
              <a:rPr lang="ro-RO" altLang="en-US" sz="2400" b="1" dirty="0" err="1"/>
              <a:t>this</a:t>
            </a:r>
            <a:endParaRPr lang="ro-RO" altLang="en-US" sz="2400" b="1" dirty="0"/>
          </a:p>
          <a:p>
            <a:pPr>
              <a:lnSpc>
                <a:spcPct val="90000"/>
              </a:lnSpc>
            </a:pPr>
            <a:r>
              <a:rPr lang="ro-RO" altLang="en-US" sz="2400" dirty="0" err="1"/>
              <a:t>longitude</a:t>
            </a:r>
            <a:r>
              <a:rPr lang="ro-RO" altLang="en-US" sz="2400" dirty="0"/>
              <a:t>==</a:t>
            </a:r>
            <a:r>
              <a:rPr lang="ro-RO" altLang="en-US" sz="2400" dirty="0" err="1"/>
              <a:t>this-</a:t>
            </a:r>
            <a:r>
              <a:rPr lang="ro-RO" altLang="en-US" sz="2400" dirty="0"/>
              <a:t>&gt;</a:t>
            </a:r>
            <a:r>
              <a:rPr lang="ro-RO" altLang="en-US" sz="2400" dirty="0" err="1"/>
              <a:t>longitude</a:t>
            </a:r>
            <a:endParaRPr lang="ro-RO" altLang="en-US" sz="2400" dirty="0"/>
          </a:p>
          <a:p>
            <a:pPr>
              <a:lnSpc>
                <a:spcPct val="90000"/>
              </a:lnSpc>
            </a:pPr>
            <a:r>
              <a:rPr lang="ro-RO" altLang="en-US" sz="2400" dirty="0"/>
              <a:t>obiectul din stânga face apelul la funcția operator</a:t>
            </a:r>
          </a:p>
          <a:p>
            <a:pPr lvl="1">
              <a:lnSpc>
                <a:spcPct val="90000"/>
              </a:lnSpc>
            </a:pPr>
            <a:r>
              <a:rPr lang="ro-RO" altLang="en-US" sz="2400" dirty="0"/>
              <a:t> ob1a chemat operatorul + redefinit în clasa lui ob1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304800" y="838200"/>
            <a:ext cx="3733800" cy="40259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endParaRPr 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800" dirty="0"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+mn-lt"/>
              </a:rPr>
              <a:t>loc operator+(loc op2);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};</a:t>
            </a:r>
            <a:endParaRPr lang="en-US" altLang="en-US" sz="1800" b="1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endParaRPr lang="en-US" sz="1800" dirty="0">
              <a:latin typeface="+mn-lt"/>
            </a:endParaRP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4648200" y="228600"/>
            <a:ext cx="3048000" cy="2762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+ for loc.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5410200" y="2438400"/>
            <a:ext cx="3200400" cy="243681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loc ob1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20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5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30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ob1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  <a:ea typeface="Times New Roman" pitchFamily="18" charset="0"/>
                <a:cs typeface="Courier New" pitchFamily="49" charset="0"/>
              </a:rPr>
              <a:t>// displays 10 20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ob2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  <a:ea typeface="Times New Roman" pitchFamily="18" charset="0"/>
                <a:cs typeface="Courier New" pitchFamily="49" charset="0"/>
              </a:rPr>
              <a:t>// displays 5 30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ob1 = ob1 + ob2; 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ob1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  <a:ea typeface="Times New Roman" pitchFamily="18" charset="0"/>
                <a:cs typeface="Courier New" pitchFamily="49" charset="0"/>
              </a:rPr>
              <a:t>// displays 15 50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610600" cy="556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o-RO" altLang="en-US" sz="2800" b="1" dirty="0">
                <a:solidFill>
                  <a:schemeClr val="accent2">
                    <a:lumMod val="75000"/>
                  </a:schemeClr>
                </a:solidFill>
              </a:rPr>
              <a:t>daca întoarcem același tip de date în operator putem avea expresii </a:t>
            </a:r>
          </a:p>
          <a:p>
            <a:pPr marL="0" indent="0">
              <a:lnSpc>
                <a:spcPct val="80000"/>
              </a:lnSpc>
              <a:buNone/>
            </a:pPr>
            <a:endParaRPr lang="ro-RO" altLang="en-US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80000"/>
              </a:lnSpc>
            </a:pPr>
            <a:r>
              <a:rPr lang="ro-RO" altLang="en-US" sz="2800" dirty="0"/>
              <a:t>daca întorceam alt tip nu puteam face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altLang="en-US" sz="2800" dirty="0"/>
              <a:t>			ob1 = </a:t>
            </a:r>
            <a:r>
              <a:rPr lang="ro-RO" altLang="en-US" sz="2800" dirty="0" err="1"/>
              <a:t>ob1</a:t>
            </a:r>
            <a:r>
              <a:rPr lang="ro-RO" altLang="en-US" sz="2800" dirty="0"/>
              <a:t> + ob2;</a:t>
            </a:r>
          </a:p>
          <a:p>
            <a:pPr>
              <a:lnSpc>
                <a:spcPct val="80000"/>
              </a:lnSpc>
            </a:pPr>
            <a:endParaRPr lang="ro-RO" altLang="en-US" sz="2800" dirty="0"/>
          </a:p>
          <a:p>
            <a:pPr>
              <a:lnSpc>
                <a:spcPct val="80000"/>
              </a:lnSpc>
            </a:pPr>
            <a:r>
              <a:rPr lang="ro-RO" altLang="en-US" sz="2800" dirty="0"/>
              <a:t>putem avea si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altLang="en-US" sz="2800" dirty="0"/>
              <a:t>(ob1+ob2).show(); // </a:t>
            </a:r>
            <a:r>
              <a:rPr lang="ro-RO" altLang="en-US" sz="2800" dirty="0" err="1"/>
              <a:t>displays</a:t>
            </a:r>
            <a:r>
              <a:rPr lang="ro-RO" altLang="en-US" sz="2800" dirty="0"/>
              <a:t> </a:t>
            </a:r>
            <a:r>
              <a:rPr lang="ro-RO" altLang="en-US" sz="2800" dirty="0" err="1"/>
              <a:t>outcome</a:t>
            </a:r>
            <a:r>
              <a:rPr lang="ro-RO" altLang="en-US" sz="2800" dirty="0"/>
              <a:t> of ob1+ob2</a:t>
            </a:r>
          </a:p>
          <a:p>
            <a:pPr>
              <a:lnSpc>
                <a:spcPct val="80000"/>
              </a:lnSpc>
              <a:buFontTx/>
              <a:buNone/>
            </a:pPr>
            <a:endParaRPr lang="ro-RO" altLang="en-US" sz="2800" dirty="0"/>
          </a:p>
          <a:p>
            <a:pPr>
              <a:lnSpc>
                <a:spcPct val="80000"/>
              </a:lnSpc>
            </a:pPr>
            <a:r>
              <a:rPr lang="ro-RO" altLang="en-US" sz="2800" dirty="0"/>
              <a:t>pentru ca funcția show() este definita in clasa lui ob1</a:t>
            </a:r>
          </a:p>
          <a:p>
            <a:pPr>
              <a:lnSpc>
                <a:spcPct val="80000"/>
              </a:lnSpc>
            </a:pPr>
            <a:endParaRPr lang="ro-RO" altLang="en-US" sz="2800" dirty="0"/>
          </a:p>
          <a:p>
            <a:pPr>
              <a:lnSpc>
                <a:spcPct val="80000"/>
              </a:lnSpc>
            </a:pPr>
            <a:r>
              <a:rPr lang="ro-RO" altLang="en-US" sz="2800" dirty="0"/>
              <a:t>se generează un obiect temporar </a:t>
            </a:r>
          </a:p>
          <a:p>
            <a:pPr lvl="1">
              <a:lnSpc>
                <a:spcPct val="80000"/>
              </a:lnSpc>
            </a:pPr>
            <a:r>
              <a:rPr lang="ro-RO" altLang="en-US" sz="2400" dirty="0"/>
              <a:t>(constructor de copiere)</a:t>
            </a:r>
          </a:p>
        </p:txBody>
      </p:sp>
    </p:spTree>
    <p:extLst>
      <p:ext uri="{BB962C8B-B14F-4D97-AF65-F5344CB8AC3E}">
        <p14:creationId xmlns:p14="http://schemas.microsoft.com/office/powerpoint/2010/main" val="3500831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4876800" y="228600"/>
            <a:ext cx="4267200" cy="637063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</a:t>
            </a:r>
            <a:r>
              <a:rPr lang="en-US" sz="1800" dirty="0" err="1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asignment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 for loc.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object that generated call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prefix ++ for loc.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longitude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latitude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loc ob1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20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5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30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ob3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90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90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            ob1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ob2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ob1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ob1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displays 11 21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ob1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ob1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displays 12 22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ob2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displays 12 22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ob1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ob3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multiple assignment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ob1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displays 90 90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displays 90 90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76200" y="728663"/>
            <a:ext cx="4800600" cy="54165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n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n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66616"/>
                </a:solidFill>
                <a:latin typeface="+mn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6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needed to construct temporaries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void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+ for loc.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6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6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endParaRPr lang="en-US" sz="1600" dirty="0">
              <a:solidFill>
                <a:srgbClr val="80008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dirty="0" err="1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temp.longitude</a:t>
            </a:r>
            <a:r>
              <a:rPr lang="en-US" sz="1600" dirty="0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= longitude - op2.longitude;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dirty="0" err="1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temp.latitude</a:t>
            </a:r>
            <a:r>
              <a:rPr lang="en-US" sz="1600" dirty="0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= latitude - op2.latitude;  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6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dirty="0"/>
              <a:t>apelul la funcția operator se face din obiectul din stânga (pentru operatori binari)</a:t>
            </a:r>
          </a:p>
          <a:p>
            <a:pPr lvl="1">
              <a:lnSpc>
                <a:spcPct val="90000"/>
              </a:lnSpc>
            </a:pPr>
            <a:r>
              <a:rPr lang="ro-RO" altLang="en-US" dirty="0"/>
              <a:t>din aceasta cauza pentru – avem funcția definita </a:t>
            </a:r>
            <a:r>
              <a:rPr lang="ro-RO" altLang="en-US" dirty="0" err="1"/>
              <a:t>asa</a:t>
            </a:r>
            <a:endParaRPr lang="ro-RO" altLang="en-US" dirty="0"/>
          </a:p>
          <a:p>
            <a:pPr>
              <a:lnSpc>
                <a:spcPct val="90000"/>
              </a:lnSpc>
            </a:pPr>
            <a:r>
              <a:rPr lang="ro-RO" altLang="en-US" dirty="0"/>
              <a:t>operatorul = face copiere pe variabilele de instanță, întoarce *</a:t>
            </a:r>
            <a:r>
              <a:rPr lang="ro-RO" altLang="en-US" dirty="0" err="1"/>
              <a:t>this</a:t>
            </a:r>
            <a:r>
              <a:rPr lang="ro-RO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ro-RO" altLang="en-US" dirty="0"/>
              <a:t>se pot face atribuiri multiple (dreapta spre stânga)</a:t>
            </a:r>
          </a:p>
          <a:p>
            <a:pPr>
              <a:lnSpc>
                <a:spcPct val="90000"/>
              </a:lnSpc>
            </a:pPr>
            <a:endParaRPr lang="ro-RO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</p:spPr>
        <p:txBody>
          <a:bodyPr/>
          <a:lstStyle/>
          <a:p>
            <a:r>
              <a:rPr lang="ro-RO" altLang="en-US" dirty="0"/>
              <a:t>Formele prefix şi </a:t>
            </a:r>
            <a:r>
              <a:rPr lang="ro-RO" altLang="en-US" dirty="0" err="1"/>
              <a:t>postfix</a:t>
            </a:r>
            <a:endParaRPr lang="ro-RO" alt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295400"/>
          </a:xfrm>
        </p:spPr>
        <p:txBody>
          <a:bodyPr/>
          <a:lstStyle/>
          <a:p>
            <a:r>
              <a:rPr lang="ro-RO" altLang="en-US" dirty="0"/>
              <a:t>am văzut prefix, pentru </a:t>
            </a:r>
            <a:r>
              <a:rPr lang="ro-RO" altLang="en-US" dirty="0" err="1"/>
              <a:t>postfix</a:t>
            </a:r>
            <a:r>
              <a:rPr lang="ro-RO" altLang="en-US" dirty="0"/>
              <a:t>: definim un parametru </a:t>
            </a:r>
            <a:r>
              <a:rPr lang="ro-RO" altLang="en-US" dirty="0" err="1"/>
              <a:t>int</a:t>
            </a:r>
            <a:r>
              <a:rPr lang="ro-RO" altLang="en-US" dirty="0"/>
              <a:t> “</a:t>
            </a:r>
            <a:r>
              <a:rPr lang="ro-RO" altLang="en-US" dirty="0" err="1"/>
              <a:t>dummy</a:t>
            </a:r>
            <a:r>
              <a:rPr lang="ro-RO" altLang="en-US" dirty="0"/>
              <a:t>”</a:t>
            </a:r>
          </a:p>
          <a:p>
            <a:endParaRPr lang="ro-RO" altLang="en-US" dirty="0"/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381000" y="3429000"/>
            <a:ext cx="3886200" cy="16986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24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Prefix increment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type </a:t>
            </a:r>
            <a:r>
              <a:rPr lang="en-US" sz="24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</a:t>
            </a:r>
            <a:r>
              <a:rPr lang="en-US" sz="24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body of prefix operator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2400" dirty="0">
                <a:latin typeface="+mn-lt"/>
              </a:rPr>
              <a:t> 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876800" y="3406775"/>
            <a:ext cx="3886200" cy="147732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24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Postfix increment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type </a:t>
            </a:r>
            <a:r>
              <a:rPr lang="en-US" sz="24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x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</a:t>
            </a:r>
            <a:r>
              <a:rPr lang="en-US" sz="24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body of postfix operator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24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Supraînc</a:t>
            </a:r>
            <a:r>
              <a:rPr lang="ro-RO" altLang="en-US" dirty="0"/>
              <a:t>ă</a:t>
            </a:r>
            <a:r>
              <a:rPr lang="en-US" altLang="en-US" dirty="0" err="1"/>
              <a:t>rcarea</a:t>
            </a:r>
            <a:r>
              <a:rPr lang="en-US" altLang="en-US" dirty="0"/>
              <a:t> +=,*=, etc.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1371600" y="2133600"/>
            <a:ext cx="6096000" cy="258603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</a:t>
            </a:r>
            <a:r>
              <a:rPr lang="en-US" sz="24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24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+=(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  longitude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  latitude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24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24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}</a:t>
            </a:r>
            <a:r>
              <a:rPr lang="en-US" sz="24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dirty="0"/>
              <a:t>Este posibil să facem o decuplare completă între înțelesul inițial al operatorului </a:t>
            </a:r>
          </a:p>
          <a:p>
            <a:pPr lvl="1">
              <a:lnSpc>
                <a:spcPct val="90000"/>
              </a:lnSpc>
            </a:pPr>
            <a:r>
              <a:rPr lang="ro-RO" altLang="en-US" dirty="0"/>
              <a:t>exemplu: &lt;&lt; &gt;&gt;</a:t>
            </a:r>
          </a:p>
          <a:p>
            <a:pPr lvl="1">
              <a:lnSpc>
                <a:spcPct val="90000"/>
              </a:lnSpc>
            </a:pPr>
            <a:endParaRPr lang="ro-RO" altLang="en-US" dirty="0"/>
          </a:p>
          <a:p>
            <a:pPr>
              <a:lnSpc>
                <a:spcPct val="90000"/>
              </a:lnSpc>
            </a:pPr>
            <a:r>
              <a:rPr lang="ro-RO" altLang="en-US" dirty="0"/>
              <a:t>moștenire: operatorii (mai puțin =) sunt moșteniți de clasă derivată</a:t>
            </a:r>
          </a:p>
          <a:p>
            <a:pPr>
              <a:lnSpc>
                <a:spcPct val="90000"/>
              </a:lnSpc>
              <a:buFontTx/>
              <a:buNone/>
            </a:pPr>
            <a:endParaRPr lang="ro-RO" altLang="en-US" dirty="0"/>
          </a:p>
          <a:p>
            <a:pPr>
              <a:lnSpc>
                <a:spcPct val="90000"/>
              </a:lnSpc>
            </a:pPr>
            <a:r>
              <a:rPr lang="ro-RO" altLang="en-US" dirty="0"/>
              <a:t>clasa derivată poate sa își redefinească operatorii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ro-RO" altLang="en-US" sz="3600" b="1" dirty="0"/>
              <a:t>Supraîncărcarea operatorilor ca funcții prieten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sz="2800" dirty="0"/>
              <a:t>operatorii pot fi definiți si ca funcție nemembră a clasei</a:t>
            </a:r>
          </a:p>
          <a:p>
            <a:pPr>
              <a:lnSpc>
                <a:spcPct val="90000"/>
              </a:lnSpc>
            </a:pPr>
            <a:r>
              <a:rPr lang="ro-RO" altLang="en-US" sz="2800" dirty="0"/>
              <a:t>o facem funcție prietena pentru a putea accesa rapid câmpurile protejate</a:t>
            </a:r>
          </a:p>
          <a:p>
            <a:pPr>
              <a:lnSpc>
                <a:spcPct val="90000"/>
              </a:lnSpc>
            </a:pPr>
            <a:r>
              <a:rPr lang="ro-RO" altLang="en-US" sz="2800" b="1" dirty="0"/>
              <a:t>nu avem pointerul “</a:t>
            </a:r>
            <a:r>
              <a:rPr lang="ro-RO" altLang="en-US" sz="2800" b="1" dirty="0" err="1"/>
              <a:t>this</a:t>
            </a:r>
            <a:r>
              <a:rPr lang="ro-RO" altLang="en-US" sz="2800" b="1" dirty="0"/>
              <a:t>”</a:t>
            </a:r>
          </a:p>
          <a:p>
            <a:pPr>
              <a:lnSpc>
                <a:spcPct val="90000"/>
              </a:lnSpc>
            </a:pPr>
            <a:r>
              <a:rPr lang="ro-RO" altLang="en-US" sz="2800" b="1" dirty="0"/>
              <a:t>deci vom avea nevoie de toți operanzii</a:t>
            </a:r>
            <a:r>
              <a:rPr lang="ro-RO" altLang="en-US" sz="2800" dirty="0"/>
              <a:t> ca parametri pentru funcția operator</a:t>
            </a:r>
          </a:p>
          <a:p>
            <a:pPr>
              <a:lnSpc>
                <a:spcPct val="90000"/>
              </a:lnSpc>
            </a:pPr>
            <a:r>
              <a:rPr lang="ro-RO" altLang="en-US" sz="2800" dirty="0"/>
              <a:t>primul parametru este operandul din stânga, al doilea parametru este operandul din dreapta</a:t>
            </a:r>
          </a:p>
        </p:txBody>
      </p:sp>
    </p:spTree>
    <p:extLst>
      <p:ext uri="{BB962C8B-B14F-4D97-AF65-F5344CB8AC3E}">
        <p14:creationId xmlns:p14="http://schemas.microsoft.com/office/powerpoint/2010/main" val="1024734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152400" y="728663"/>
            <a:ext cx="5181600" cy="51403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n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n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66616"/>
                </a:solidFill>
                <a:latin typeface="+mn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6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needed to construct temporaries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void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friend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(loc op1, 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 </a:t>
            </a:r>
            <a:r>
              <a:rPr 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friend</a:t>
            </a:r>
            <a:endParaRPr lang="en-US" sz="1600" dirty="0">
              <a:solidFill>
                <a:srgbClr val="80008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</a:t>
            </a:r>
            <a:r>
              <a:rPr lang="en-US" alt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Now, + is overloaded using friend function. </a:t>
            </a:r>
            <a:endParaRPr lang="en-US" sz="18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loc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op1, </a:t>
            </a:r>
            <a:r>
              <a:rPr lang="en-US" sz="18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loc temp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op2</a:t>
            </a:r>
            <a:r>
              <a:rPr lang="en-US" sz="18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op1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op2</a:t>
            </a:r>
            <a:r>
              <a:rPr lang="en-US" sz="18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temp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5181600" y="228600"/>
            <a:ext cx="3886200" cy="59578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notice order of operands</a:t>
            </a:r>
            <a:endParaRPr lang="en-US" altLang="en-US" sz="1600" dirty="0"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dirty="0" err="1">
                <a:latin typeface="+mn-lt"/>
                <a:ea typeface="Times New Roman" pitchFamily="18" charset="0"/>
                <a:cs typeface="Courier New" pitchFamily="49" charset="0"/>
              </a:rPr>
              <a:t>temp.longitude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op2.longitude;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dirty="0" err="1">
                <a:latin typeface="+mn-lt"/>
                <a:ea typeface="Times New Roman" pitchFamily="18" charset="0"/>
                <a:cs typeface="Courier New" pitchFamily="49" charset="0"/>
              </a:rPr>
              <a:t>temp.latitude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-</a:t>
            </a:r>
            <a:r>
              <a:rPr lang="en-US" sz="1600" dirty="0">
                <a:latin typeface="+mn-lt"/>
                <a:ea typeface="Times New Roman" pitchFamily="18" charset="0"/>
                <a:cs typeface="Courier New" pitchFamily="49" charset="0"/>
              </a:rPr>
              <a:t> op2.latitude;</a:t>
            </a:r>
            <a:r>
              <a:rPr lang="en-US" sz="1600" dirty="0">
                <a:solidFill>
                  <a:srgbClr val="FF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temp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600" dirty="0"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</a:t>
            </a:r>
            <a:r>
              <a:rPr lang="en-US" sz="1600" dirty="0" err="1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asignment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 for loc.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object that generated call</a:t>
            </a:r>
          </a:p>
          <a:p>
            <a:pPr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latitude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buFontTx/>
              <a:buNone/>
              <a:defRPr/>
            </a:pP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4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main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loc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5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30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ob1 = ob1 + ob2;             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0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6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ro-RO" altLang="en-US" sz="4000" dirty="0"/>
              <a:t>Restricții pentru operatorii definiți ca prieten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048000"/>
          </a:xfrm>
        </p:spPr>
        <p:txBody>
          <a:bodyPr/>
          <a:lstStyle/>
          <a:p>
            <a:r>
              <a:rPr lang="ro-RO" altLang="en-US" sz="2800" b="1" dirty="0">
                <a:solidFill>
                  <a:srgbClr val="FF0000"/>
                </a:solidFill>
              </a:rPr>
              <a:t>nu se pot supraîncărca utilizând funcții prieten:</a:t>
            </a:r>
          </a:p>
          <a:p>
            <a:pPr lvl="1"/>
            <a:r>
              <a:rPr lang="ro-RO" altLang="en-US" dirty="0">
                <a:solidFill>
                  <a:srgbClr val="FF0000"/>
                </a:solidFill>
              </a:rPr>
              <a:t>Operatorul de atribuire = </a:t>
            </a:r>
          </a:p>
          <a:p>
            <a:pPr lvl="1"/>
            <a:r>
              <a:rPr lang="ro-RO" altLang="en-US" dirty="0">
                <a:solidFill>
                  <a:srgbClr val="FF0000"/>
                </a:solidFill>
              </a:rPr>
              <a:t>Operatorul apel de funcție ()</a:t>
            </a:r>
          </a:p>
          <a:p>
            <a:pPr lvl="1"/>
            <a:r>
              <a:rPr lang="ro-RO" altLang="en-US" dirty="0">
                <a:solidFill>
                  <a:srgbClr val="FF0000"/>
                </a:solidFill>
              </a:rPr>
              <a:t>Operatorul de indexare []</a:t>
            </a:r>
          </a:p>
          <a:p>
            <a:pPr lvl="1"/>
            <a:r>
              <a:rPr lang="ro-RO" altLang="en-US" dirty="0">
                <a:solidFill>
                  <a:srgbClr val="FF0000"/>
                </a:solidFill>
              </a:rPr>
              <a:t>Operatorul de acces prin pointer la funcții membre -&gt;</a:t>
            </a:r>
          </a:p>
          <a:p>
            <a:r>
              <a:rPr lang="ro-RO" altLang="en-US" sz="2800" dirty="0"/>
              <a:t>pentru ++ sau -- trebuie să folosim referințe</a:t>
            </a:r>
          </a:p>
          <a:p>
            <a:endParaRPr lang="ro-RO" alt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 sz="4000" dirty="0"/>
              <a:t>Funcții prieten pentru operatori unari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pentru ++, -- folosim referința pentru a transmite operandul </a:t>
            </a:r>
          </a:p>
          <a:p>
            <a:pPr lvl="1"/>
            <a:r>
              <a:rPr lang="ro-RO" altLang="en-US" dirty="0"/>
              <a:t>pentru că trebuie să se modifice şi nu avem pointerul </a:t>
            </a:r>
            <a:r>
              <a:rPr lang="ro-RO" altLang="en-US" dirty="0" err="1"/>
              <a:t>this</a:t>
            </a:r>
            <a:endParaRPr lang="ro-RO" altLang="en-US" dirty="0"/>
          </a:p>
          <a:p>
            <a:pPr lvl="1"/>
            <a:r>
              <a:rPr lang="ro-RO" altLang="en-US" dirty="0"/>
              <a:t>apel prin valoare: primim o copie a obiectului şi nu putem modifica operandul (ci doar copia)</a:t>
            </a:r>
          </a:p>
          <a:p>
            <a:pPr lvl="1"/>
            <a:endParaRPr lang="ro-RO" altLang="en-US" dirty="0"/>
          </a:p>
          <a:p>
            <a:pPr lvl="1"/>
            <a:endParaRPr lang="ro-RO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304800" y="728663"/>
            <a:ext cx="5181600" cy="609441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n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n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66616"/>
                </a:solidFill>
                <a:latin typeface="+mn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6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needed to construct temporaries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void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   friend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(loc&amp; op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 </a:t>
            </a:r>
            <a:endParaRPr lang="en-US" sz="16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friend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--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(loc&amp; op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 </a:t>
            </a:r>
            <a:endParaRPr lang="en-US" sz="1600" dirty="0">
              <a:solidFill>
                <a:srgbClr val="80008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};</a:t>
            </a:r>
            <a:endParaRPr lang="en-US" sz="1600" dirty="0">
              <a:solidFill>
                <a:srgbClr val="696969"/>
              </a:solidFill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Overload assignment for loc.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loc </a:t>
            </a:r>
            <a:r>
              <a:rPr lang="en-US" sz="1600" dirty="0" err="1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loc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this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object that generated call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</a:t>
            </a:r>
            <a:r>
              <a:rPr lang="en-US" alt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Now a friend, use a reference parameter. </a:t>
            </a:r>
            <a:endParaRPr lang="en-US" sz="18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loc </a:t>
            </a:r>
            <a:r>
              <a:rPr lang="en-US" sz="18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ea typeface="Times New Roman" pitchFamily="18" charset="0"/>
                <a:cs typeface="Courier New" pitchFamily="49" charset="0"/>
              </a:rPr>
              <a:t>(loc&amp; op</a:t>
            </a:r>
            <a:r>
              <a:rPr lang="en-US" sz="18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++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5791200" y="1081088"/>
            <a:ext cx="2895600" cy="448151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Make – a friend. Use reference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 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--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(loc&amp; op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 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600" dirty="0" err="1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op</a:t>
            </a:r>
            <a:r>
              <a:rPr lang="en-US" sz="1600" dirty="0" err="1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--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1600" dirty="0" err="1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op</a:t>
            </a:r>
            <a:r>
              <a:rPr lang="en-US" sz="1600" dirty="0" err="1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--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op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}</a:t>
            </a:r>
          </a:p>
          <a:p>
            <a:pPr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4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main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loc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altLang="en-US" sz="1600" dirty="0">
                <a:solidFill>
                  <a:srgbClr val="000000"/>
                </a:solidFill>
                <a:latin typeface="+mn-lt"/>
                <a:cs typeface="Courier New" pitchFamily="49" charset="0"/>
              </a:rPr>
              <a:t>   </a:t>
            </a:r>
            <a:r>
              <a:rPr lang="en-US" altLang="en-US" sz="1600" dirty="0"/>
              <a:t>++ob1;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ob1.show(); 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displays 11 21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ob2 = ++ob1;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ob2.show(); 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displays 12 22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--ob2;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ob2.show(); 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displays 11 21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0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6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pentru varianta postfix ++ --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la fel ca la supraîncărcarea operatorilor prin funcții membru ale clasei: parametru </a:t>
            </a:r>
            <a:r>
              <a:rPr lang="ro-RO" altLang="en-US" dirty="0" err="1"/>
              <a:t>int</a:t>
            </a:r>
            <a:endParaRPr lang="ro-RO" altLang="en-US" dirty="0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2362200" y="3360738"/>
            <a:ext cx="51816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// friend, postfix version of ++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friend loc operator++(loc &amp;op, int x);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 sz="4000" dirty="0"/>
              <a:t>Diferențe supraîncărcarea prin membri sau prieteni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58200" cy="4343400"/>
          </a:xfrm>
        </p:spPr>
        <p:txBody>
          <a:bodyPr/>
          <a:lstStyle/>
          <a:p>
            <a:r>
              <a:rPr lang="ro-RO" altLang="en-US" sz="2400" dirty="0"/>
              <a:t>de multe ori nu avem diferențe, </a:t>
            </a:r>
          </a:p>
          <a:p>
            <a:pPr lvl="1"/>
            <a:r>
              <a:rPr lang="ro-RO" altLang="en-US" sz="2400" dirty="0"/>
              <a:t>atunci e indicat să folosim funcții membru</a:t>
            </a:r>
          </a:p>
          <a:p>
            <a:pPr lvl="1"/>
            <a:r>
              <a:rPr lang="ro-RO" sz="2400" dirty="0"/>
              <a:t>ca funcții membru: operatori unari, cei compuși (+=, *= </a:t>
            </a:r>
            <a:r>
              <a:rPr lang="ro-RO" sz="2400" dirty="0" err="1"/>
              <a:t>etc</a:t>
            </a:r>
            <a:r>
              <a:rPr lang="ro-RO" sz="2400" dirty="0"/>
              <a:t>)</a:t>
            </a:r>
            <a:endParaRPr lang="ro-RO" altLang="en-US" sz="2400" dirty="0"/>
          </a:p>
          <a:p>
            <a:r>
              <a:rPr lang="ro-RO" altLang="en-US" sz="2400" dirty="0"/>
              <a:t>uneori avem însă diferențe: poziția operanzilor</a:t>
            </a:r>
          </a:p>
          <a:p>
            <a:pPr lvl="1"/>
            <a:r>
              <a:rPr lang="ro-RO" altLang="en-US" sz="2400" dirty="0"/>
              <a:t>pentru funcții membru operandul din stânga apelează funcția operator supraîncărcată</a:t>
            </a:r>
          </a:p>
          <a:p>
            <a:pPr lvl="1"/>
            <a:r>
              <a:rPr lang="ro-RO" altLang="en-US" sz="2400" dirty="0"/>
              <a:t>daca vrem sa scriem expresie: 100+</a:t>
            </a:r>
            <a:r>
              <a:rPr lang="ro-RO" altLang="en-US" sz="2400" dirty="0" err="1"/>
              <a:t>ob</a:t>
            </a:r>
            <a:r>
              <a:rPr lang="ro-RO" altLang="en-US" sz="2400" dirty="0"/>
              <a:t>; probleme la compilare=&gt; funcții prieten</a:t>
            </a:r>
          </a:p>
          <a:p>
            <a:r>
              <a:rPr lang="ro-RO" altLang="en-US" sz="2400" dirty="0"/>
              <a:t>Interesant: </a:t>
            </a:r>
            <a:r>
              <a:rPr lang="ro-RO" sz="2400" dirty="0"/>
              <a:t>depinde de operator și de situație (sursa: </a:t>
            </a:r>
            <a:r>
              <a:rPr lang="ro-RO" sz="2400" dirty="0">
                <a:hlinkClick r:id="rId3"/>
              </a:rPr>
              <a:t>https://stackoverflow.com/questions/4421706</a:t>
            </a:r>
            <a:r>
              <a:rPr lang="ro-RO" dirty="0"/>
              <a:t>)</a:t>
            </a:r>
            <a:endParaRPr lang="ro-RO" altLang="en-US" dirty="0"/>
          </a:p>
        </p:txBody>
      </p:sp>
    </p:spTree>
    <p:extLst>
      <p:ext uri="{BB962C8B-B14F-4D97-AF65-F5344CB8AC3E}">
        <p14:creationId xmlns:p14="http://schemas.microsoft.com/office/powerpoint/2010/main" val="3180533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Google Shape;124;p27"/>
          <p:cNvSpPr>
            <a:spLocks noChangeArrowheads="1"/>
          </p:cNvSpPr>
          <p:nvPr/>
        </p:nvSpPr>
        <p:spPr bwMode="auto">
          <a:xfrm>
            <a:off x="228600" y="685800"/>
            <a:ext cx="73914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  <a:buFontTx/>
              <a:buNone/>
            </a:pPr>
            <a:r>
              <a:rPr lang="ro-RO" sz="2800" b="1" dirty="0">
                <a:solidFill>
                  <a:srgbClr val="000000"/>
                </a:solidFill>
                <a:cs typeface="Arial" charset="0"/>
                <a:sym typeface="Arial" charset="0"/>
              </a:rPr>
              <a:t>“</a:t>
            </a:r>
            <a:r>
              <a:rPr lang="ro-RO" sz="2800" b="1" dirty="0" err="1">
                <a:solidFill>
                  <a:srgbClr val="000000"/>
                </a:solidFill>
                <a:cs typeface="Arial" charset="0"/>
                <a:sym typeface="Arial" charset="0"/>
              </a:rPr>
              <a:t>Spaceship</a:t>
            </a:r>
            <a:r>
              <a:rPr lang="ro-RO" sz="2800" b="1" dirty="0">
                <a:solidFill>
                  <a:srgbClr val="000000"/>
                </a:solidFill>
                <a:cs typeface="Arial" charset="0"/>
                <a:sym typeface="Arial" charset="0"/>
              </a:rPr>
              <a:t> operator” &lt; = &gt; in C++20</a:t>
            </a:r>
          </a:p>
          <a:p>
            <a:pPr>
              <a:lnSpc>
                <a:spcPct val="104000"/>
              </a:lnSpc>
              <a:buFontTx/>
              <a:buNone/>
            </a:pPr>
            <a:endParaRPr lang="ro-RO" sz="2800" b="1" dirty="0">
              <a:solidFill>
                <a:srgbClr val="000000"/>
              </a:solidFill>
              <a:cs typeface="Arial" charset="0"/>
              <a:sym typeface="Arial" charset="0"/>
            </a:endParaRPr>
          </a:p>
          <a:p>
            <a:pPr>
              <a:lnSpc>
                <a:spcPct val="104000"/>
              </a:lnSpc>
              <a:buFontTx/>
              <a:buNone/>
            </a:pPr>
            <a:r>
              <a:rPr lang="ro-RO" sz="2800" dirty="0">
                <a:solidFill>
                  <a:srgbClr val="000000"/>
                </a:solidFill>
                <a:cs typeface="Arial" charset="0"/>
                <a:sym typeface="Arial" charset="0"/>
              </a:rPr>
              <a:t>- Se supraîncărca toți operatorii de comparație “în același timp”</a:t>
            </a:r>
            <a:endParaRPr lang="ro-RO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43200"/>
            <a:ext cx="7807592" cy="16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4724400"/>
            <a:ext cx="8112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sursa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https://stackoverflow.com/questions/4421706</a:t>
            </a:r>
            <a:r>
              <a:rPr lang="en-US" dirty="0"/>
              <a:t>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9086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în aceste cazuri trebuie să definim două funcții de supraîncărcare: </a:t>
            </a:r>
          </a:p>
          <a:p>
            <a:pPr lvl="1"/>
            <a:r>
              <a:rPr lang="ro-RO" altLang="en-US" dirty="0" err="1"/>
              <a:t>int</a:t>
            </a:r>
            <a:r>
              <a:rPr lang="ro-RO" altLang="en-US" dirty="0"/>
              <a:t> + </a:t>
            </a:r>
            <a:r>
              <a:rPr lang="ro-RO" altLang="en-US" dirty="0" err="1"/>
              <a:t>tipClasa</a:t>
            </a:r>
            <a:r>
              <a:rPr lang="ro-RO" altLang="en-US" dirty="0"/>
              <a:t> </a:t>
            </a:r>
          </a:p>
          <a:p>
            <a:pPr lvl="1"/>
            <a:r>
              <a:rPr lang="ro-RO" altLang="en-US" dirty="0" err="1"/>
              <a:t>tipClasa</a:t>
            </a:r>
            <a:r>
              <a:rPr lang="ro-RO" altLang="en-US" dirty="0"/>
              <a:t> + </a:t>
            </a:r>
            <a:r>
              <a:rPr lang="ro-RO" altLang="en-US" dirty="0" err="1"/>
              <a:t>int</a:t>
            </a:r>
            <a:endParaRPr lang="ro-RO" altLang="en-US" dirty="0"/>
          </a:p>
          <a:p>
            <a:pPr lvl="1"/>
            <a:endParaRPr lang="ro-RO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304800" y="728663"/>
            <a:ext cx="5181600" cy="5908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n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n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66616"/>
                </a:solidFill>
                <a:latin typeface="+mn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6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needed to construct temporaries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void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loc </a:t>
            </a: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=(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   friend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(loc op1, </a:t>
            </a:r>
            <a:r>
              <a:rPr lang="en-US" sz="1600" b="1" dirty="0" err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 </a:t>
            </a:r>
            <a:endParaRPr lang="en-US" sz="16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friend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ea typeface="Times New Roman" pitchFamily="18" charset="0"/>
                <a:cs typeface="Courier New" pitchFamily="49" charset="0"/>
              </a:rPr>
              <a:t> op1, loc op2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  </a:t>
            </a:r>
            <a:endParaRPr lang="en-US" sz="1600" dirty="0">
              <a:solidFill>
                <a:srgbClr val="80008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};</a:t>
            </a:r>
            <a:endParaRPr lang="en-US" sz="1600" dirty="0">
              <a:solidFill>
                <a:srgbClr val="696969"/>
              </a:solidFill>
              <a:ea typeface="Times New Roman" pitchFamily="18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+ is overloaded for loc + int</a:t>
            </a:r>
            <a:r>
              <a:rPr lang="en-US" altLang="en-US" sz="1600" dirty="0"/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(loc op1, </a:t>
            </a:r>
            <a:r>
              <a:rPr lang="en-US" sz="1600" b="1" dirty="0" err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altLang="en-US" sz="1600" dirty="0"/>
              <a:t> op2){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loc temp;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</a:t>
            </a:r>
            <a:r>
              <a:rPr lang="en-US" altLang="en-US" sz="1600" dirty="0" err="1"/>
              <a:t>temp.longitude</a:t>
            </a:r>
            <a:r>
              <a:rPr lang="en-US" altLang="en-US" sz="1600" dirty="0"/>
              <a:t>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altLang="en-US" sz="1600" dirty="0"/>
              <a:t> op1.longitude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 op2;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</a:t>
            </a:r>
            <a:r>
              <a:rPr lang="en-US" altLang="en-US" sz="1600" dirty="0" err="1"/>
              <a:t>temp.latitude</a:t>
            </a:r>
            <a:r>
              <a:rPr lang="en-US" altLang="en-US" sz="1600" dirty="0"/>
              <a:t>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altLang="en-US" sz="1600" dirty="0"/>
              <a:t>op1.latitude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 op2;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altLang="en-US" sz="1600" dirty="0"/>
              <a:t> temp;}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endParaRPr lang="en-US" sz="1600" dirty="0">
              <a:solidFill>
                <a:srgbClr val="696969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+ is overloaded for </a:t>
            </a:r>
            <a:r>
              <a:rPr lang="en-US" altLang="en-US" sz="1600" dirty="0" err="1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 + loc</a:t>
            </a:r>
            <a:r>
              <a:rPr lang="en-US" altLang="en-US" sz="1600" dirty="0"/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loc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(</a:t>
            </a:r>
            <a:r>
              <a:rPr lang="en-US" sz="1600" b="1" dirty="0" err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altLang="en-US" sz="1600" dirty="0"/>
              <a:t> op1, loc op2){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loc temp;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</a:t>
            </a:r>
            <a:r>
              <a:rPr lang="en-US" altLang="en-US" sz="1600" dirty="0" err="1"/>
              <a:t>temp.longitude</a:t>
            </a:r>
            <a:r>
              <a:rPr lang="en-US" altLang="en-US" sz="1600" dirty="0"/>
              <a:t>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altLang="en-US" sz="1600" dirty="0"/>
              <a:t> op1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 op2.longitude;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</a:t>
            </a:r>
            <a:r>
              <a:rPr lang="en-US" altLang="en-US" sz="1600" dirty="0" err="1"/>
              <a:t>temp.latitude</a:t>
            </a:r>
            <a:r>
              <a:rPr lang="en-US" altLang="en-US" sz="1600" dirty="0"/>
              <a:t>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=</a:t>
            </a:r>
            <a:r>
              <a:rPr lang="en-US" altLang="en-US" sz="1600" dirty="0"/>
              <a:t>op1 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+</a:t>
            </a:r>
            <a:r>
              <a:rPr lang="en-US" altLang="en-US" sz="1600" dirty="0"/>
              <a:t> op2.latitude;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</a:t>
            </a:r>
            <a:r>
              <a:rPr lang="en-US" sz="1600" b="1" dirty="0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altLang="en-US" sz="1600" dirty="0"/>
              <a:t> temp;}</a:t>
            </a:r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5334000" y="762000"/>
            <a:ext cx="3581400" cy="30527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6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4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main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+mn-lt"/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loc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8C00"/>
                </a:solidFill>
                <a:ea typeface="Times New Roman" pitchFamily="18" charset="0"/>
                <a:cs typeface="Courier New" pitchFamily="49" charset="0"/>
              </a:rPr>
              <a:t>5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ea typeface="Times New Roman" pitchFamily="18" charset="0"/>
                <a:cs typeface="Courier New" pitchFamily="49" charset="0"/>
              </a:rPr>
              <a:t>30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 ,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ob3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dirty="0">
                <a:solidFill>
                  <a:srgbClr val="008C00"/>
                </a:solidFill>
                <a:ea typeface="Times New Roman" pitchFamily="18" charset="0"/>
                <a:cs typeface="Courier New" pitchFamily="49" charset="0"/>
              </a:rPr>
              <a:t>7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ea typeface="Times New Roman" pitchFamily="18" charset="0"/>
                <a:cs typeface="Courier New" pitchFamily="49" charset="0"/>
              </a:rPr>
              <a:t>14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ob1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altLang="en-US" sz="1600" dirty="0"/>
              <a:t> 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ob2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altLang="en-US" sz="1600" dirty="0"/>
              <a:t> 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ob3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show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600" dirty="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altLang="en-US" sz="1600" dirty="0"/>
              <a:t>   ob1 = ob2 + 10; 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both of these</a:t>
            </a:r>
          </a:p>
          <a:p>
            <a:pPr>
              <a:buFontTx/>
              <a:buNone/>
              <a:defRPr/>
            </a:pPr>
            <a:r>
              <a:rPr lang="en-US" altLang="en-US" sz="1600" dirty="0"/>
              <a:t>   ob3 = 10 + ob2; </a:t>
            </a:r>
            <a:r>
              <a:rPr lang="en-US" altLang="en-US" sz="1600" dirty="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are valid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/>
              <a:t>   </a:t>
            </a:r>
            <a:r>
              <a:rPr lang="en-US" altLang="en-US" sz="1600" dirty="0"/>
              <a:t>ob1.show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altLang="en-US" sz="16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   ob3.show</a:t>
            </a:r>
            <a:r>
              <a:rPr lang="en-US" sz="1600" dirty="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altLang="en-US" sz="16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600" dirty="0">
              <a:solidFill>
                <a:srgbClr val="696969"/>
              </a:solidFill>
              <a:ea typeface="Times New Roman" pitchFamily="18" charset="0"/>
              <a:cs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0</a:t>
            </a:r>
            <a:r>
              <a:rPr lang="en-US" sz="16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6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 dirty="0"/>
              <a:t>supraîncărcarea </a:t>
            </a:r>
            <a:r>
              <a:rPr lang="ro-RO" altLang="en-US" dirty="0" err="1"/>
              <a:t>new</a:t>
            </a:r>
            <a:r>
              <a:rPr lang="ro-RO" altLang="en-US" dirty="0"/>
              <a:t> şi </a:t>
            </a:r>
            <a:r>
              <a:rPr lang="ro-RO" altLang="en-US" dirty="0" err="1"/>
              <a:t>delete</a:t>
            </a:r>
            <a:endParaRPr lang="ro-RO" alt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ro-RO" altLang="en-US" sz="2800" dirty="0"/>
              <a:t>supraîncărcare op. de folosire memorie în mod dinamic pentru cazuri speciale</a:t>
            </a:r>
          </a:p>
          <a:p>
            <a:endParaRPr lang="ro-RO" altLang="en-US" sz="2800" dirty="0"/>
          </a:p>
          <a:p>
            <a:endParaRPr lang="ro-RO" altLang="en-US" sz="2800" dirty="0"/>
          </a:p>
          <a:p>
            <a:r>
              <a:rPr lang="ro-RO" altLang="en-US" sz="2800" dirty="0" err="1"/>
              <a:t>size</a:t>
            </a:r>
            <a:r>
              <a:rPr lang="ro-RO" altLang="en-US" sz="2800" dirty="0"/>
              <a:t>_t: predefinit</a:t>
            </a:r>
          </a:p>
          <a:p>
            <a:r>
              <a:rPr lang="ro-RO" altLang="en-US" sz="2800" dirty="0"/>
              <a:t>pentru </a:t>
            </a:r>
            <a:r>
              <a:rPr lang="ro-RO" altLang="en-US" sz="2800" dirty="0" err="1"/>
              <a:t>new</a:t>
            </a:r>
            <a:r>
              <a:rPr lang="ro-RO" altLang="en-US" sz="2800" dirty="0"/>
              <a:t>: constructorul este chemat automat</a:t>
            </a:r>
          </a:p>
          <a:p>
            <a:r>
              <a:rPr lang="ro-RO" altLang="en-US" sz="2800" dirty="0"/>
              <a:t>pentru </a:t>
            </a:r>
            <a:r>
              <a:rPr lang="ro-RO" altLang="en-US" sz="2800" dirty="0" err="1"/>
              <a:t>delete</a:t>
            </a:r>
            <a:r>
              <a:rPr lang="ro-RO" altLang="en-US" sz="2800" dirty="0"/>
              <a:t>: destructorul este chemat automat</a:t>
            </a:r>
          </a:p>
          <a:p>
            <a:r>
              <a:rPr lang="ro-RO" altLang="en-US" sz="2800" dirty="0"/>
              <a:t>supraîncărcare la nivel de clasă sau globală</a:t>
            </a:r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4343400" y="2971800"/>
            <a:ext cx="4572000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60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Allocate an object.</a:t>
            </a:r>
          </a:p>
          <a:p>
            <a:pPr>
              <a:buFontTx/>
              <a:buNone/>
            </a:pP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new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>
                <a:solidFill>
                  <a:srgbClr val="603000"/>
                </a:solidFill>
                <a:ea typeface="Times New Roman" pitchFamily="18" charset="0"/>
                <a:cs typeface="Courier New" pitchFamily="49" charset="0"/>
              </a:rPr>
              <a:t>size_t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size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     </a:t>
            </a:r>
            <a:r>
              <a:rPr lang="en-US" sz="160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/* Perform allocation. Throw bad_alloc on failure.Constructor called automatically. */</a:t>
            </a:r>
          </a:p>
          <a:p>
            <a:pPr>
              <a:buFontTx/>
              <a:buNone/>
            </a:pP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pointer_to_memory</a:t>
            </a: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// Delete an object.</a:t>
            </a:r>
          </a:p>
          <a:p>
            <a:pPr>
              <a:buFontTx/>
              <a:buNone/>
            </a:pP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delete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600" b="1">
                <a:solidFill>
                  <a:srgbClr val="800000"/>
                </a:solidFill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60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p</a:t>
            </a:r>
            <a:r>
              <a:rPr lang="en-US" sz="1600">
                <a:solidFill>
                  <a:srgbClr val="808030"/>
                </a:solidFill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696969"/>
                </a:solidFill>
                <a:ea typeface="Times New Roman" pitchFamily="18" charset="0"/>
                <a:cs typeface="Courier New" pitchFamily="49" charset="0"/>
              </a:rPr>
              <a:t>/* Free memory pointed to by p.Destructor called automatically. */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800080"/>
                </a:solidFill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600">
                <a:ea typeface="Times New Roman" pitchFamily="18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228600" y="831850"/>
            <a:ext cx="4267200" cy="58181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j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j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j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j-lt"/>
                <a:ea typeface="Times New Roman" pitchFamily="18" charset="0"/>
                <a:cs typeface="Courier New" pitchFamily="49" charset="0"/>
              </a:rPr>
              <a:t>cstdlib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j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800" dirty="0">
                <a:solidFill>
                  <a:srgbClr val="40015A"/>
                </a:solidFill>
                <a:latin typeface="+mj-lt"/>
                <a:ea typeface="Times New Roman" pitchFamily="18" charset="0"/>
                <a:cs typeface="Courier New" pitchFamily="49" charset="0"/>
              </a:rPr>
              <a:t>new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j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b="1" dirty="0" err="1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j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loc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loc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    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                     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F69FF"/>
                </a:solidFill>
                <a:latin typeface="+mj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new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size_t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size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delete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};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  <a:ea typeface="Times New Roman" pitchFamily="18" charset="0"/>
                <a:cs typeface="Courier New" pitchFamily="49" charset="0"/>
              </a:rPr>
              <a:t>// new overloaded relative to loc.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loc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new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size_t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size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p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j-lt"/>
                <a:ea typeface="Times New Roman" pitchFamily="18" charset="0"/>
                <a:cs typeface="Courier New" pitchFamily="49" charset="0"/>
              </a:rPr>
              <a:t>In overloaded new.</a:t>
            </a:r>
            <a:r>
              <a:rPr lang="en-US" sz="1800" dirty="0">
                <a:solidFill>
                  <a:srgbClr val="0F69FF"/>
                </a:solidFill>
                <a:latin typeface="+mj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p 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malloc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size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if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(!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j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bad_alloc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ba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throw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ba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Times New Roman" pitchFamily="18" charset="0"/>
                <a:cs typeface="Courier New" pitchFamily="49" charset="0"/>
              </a:rPr>
              <a:t> p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800080"/>
                </a:solidFill>
                <a:latin typeface="+mj-lt"/>
                <a:ea typeface="Calibri" pitchFamily="34" charset="0"/>
                <a:cs typeface="Times New Roman" pitchFamily="18" charset="0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4114800" y="762000"/>
            <a:ext cx="4953000" cy="568801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</a:rPr>
              <a:t>// delete overloaded relative to loc.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loc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delete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</a:rPr>
              <a:t>In overloaded delete.</a:t>
            </a:r>
            <a:r>
              <a:rPr lang="en-US" sz="1800" dirty="0">
                <a:solidFill>
                  <a:srgbClr val="0F69FF"/>
                </a:solidFill>
                <a:latin typeface="+mn-lt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800" dirty="0">
                <a:solidFill>
                  <a:srgbClr val="603000"/>
                </a:solidFill>
                <a:latin typeface="+mn-lt"/>
              </a:rPr>
              <a:t>free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n-lt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loc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p2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try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p1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loc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bad_alloc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xa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</a:rPr>
              <a:t>Allocation error for p1.</a:t>
            </a:r>
            <a:r>
              <a:rPr lang="en-US" sz="1800" dirty="0">
                <a:solidFill>
                  <a:srgbClr val="0F69FF"/>
                </a:solidFill>
                <a:latin typeface="+mn-lt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;}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try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p2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loc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(-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-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bad_alloc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xa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</a:rPr>
              <a:t>Allocation error for p2.</a:t>
            </a:r>
            <a:r>
              <a:rPr lang="en-US" sz="1800" dirty="0">
                <a:solidFill>
                  <a:srgbClr val="0F69FF"/>
                </a:solidFill>
                <a:latin typeface="+mn-lt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;}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p1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-&gt;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p2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-&gt;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delete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p1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delete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p2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254983" name="Rectangle 7"/>
          <p:cNvSpPr>
            <a:spLocks noChangeArrowheads="1"/>
          </p:cNvSpPr>
          <p:nvPr/>
        </p:nvSpPr>
        <p:spPr bwMode="auto">
          <a:xfrm>
            <a:off x="7922332" y="108901"/>
            <a:ext cx="4572000" cy="350043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altLang="en-US"/>
              <a:t>In overloaded new.</a:t>
            </a:r>
          </a:p>
          <a:p>
            <a:pPr marL="342900" indent="-342900"/>
            <a:r>
              <a:rPr lang="en-US" altLang="en-US"/>
              <a:t>In overloaded new.</a:t>
            </a:r>
          </a:p>
          <a:p>
            <a:pPr marL="342900" indent="-342900"/>
            <a:r>
              <a:rPr lang="en-US" altLang="en-US"/>
              <a:t>10 20</a:t>
            </a:r>
          </a:p>
          <a:p>
            <a:pPr marL="342900" indent="-342900"/>
            <a:r>
              <a:rPr lang="en-US" altLang="en-US"/>
              <a:t>-10 -20</a:t>
            </a:r>
          </a:p>
          <a:p>
            <a:pPr marL="342900" indent="-342900"/>
            <a:r>
              <a:rPr lang="en-US" altLang="en-US"/>
              <a:t>In overloaded delete.</a:t>
            </a:r>
          </a:p>
          <a:p>
            <a:pPr marL="342900" indent="-342900"/>
            <a:r>
              <a:rPr lang="en-US" altLang="en-US"/>
              <a:t>In overloaded delete.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altLang="en-US" dirty="0"/>
              <a:t>dacă </a:t>
            </a:r>
            <a:r>
              <a:rPr lang="ro-RO" altLang="en-US" dirty="0" err="1"/>
              <a:t>new</a:t>
            </a:r>
            <a:r>
              <a:rPr lang="ro-RO" altLang="en-US" dirty="0"/>
              <a:t> sau </a:t>
            </a:r>
            <a:r>
              <a:rPr lang="ro-RO" altLang="en-US" dirty="0" err="1"/>
              <a:t>delete</a:t>
            </a:r>
            <a:r>
              <a:rPr lang="ro-RO" altLang="en-US" dirty="0"/>
              <a:t> sunt folosiți pentru alt tip de date în program, versiunile originale sunt folosite</a:t>
            </a:r>
          </a:p>
          <a:p>
            <a:pPr>
              <a:lnSpc>
                <a:spcPct val="90000"/>
              </a:lnSpc>
              <a:buFontTx/>
              <a:buNone/>
            </a:pPr>
            <a:endParaRPr lang="ro-RO" altLang="en-US" dirty="0"/>
          </a:p>
          <a:p>
            <a:pPr>
              <a:lnSpc>
                <a:spcPct val="90000"/>
              </a:lnSpc>
            </a:pPr>
            <a:r>
              <a:rPr lang="ro-RO" altLang="en-US" dirty="0"/>
              <a:t>se poate face </a:t>
            </a:r>
            <a:r>
              <a:rPr lang="ro-RO" altLang="en-US" dirty="0" err="1"/>
              <a:t>overload</a:t>
            </a:r>
            <a:r>
              <a:rPr lang="ro-RO" altLang="en-US" dirty="0"/>
              <a:t> pe </a:t>
            </a:r>
            <a:r>
              <a:rPr lang="ro-RO" altLang="en-US" dirty="0" err="1"/>
              <a:t>new</a:t>
            </a:r>
            <a:r>
              <a:rPr lang="ro-RO" altLang="en-US" dirty="0"/>
              <a:t> şi </a:t>
            </a:r>
            <a:r>
              <a:rPr lang="ro-RO" altLang="en-US" dirty="0" err="1"/>
              <a:t>delete</a:t>
            </a:r>
            <a:r>
              <a:rPr lang="ro-RO" altLang="en-US" dirty="0"/>
              <a:t> la nivel global</a:t>
            </a:r>
          </a:p>
          <a:p>
            <a:pPr lvl="1">
              <a:lnSpc>
                <a:spcPct val="90000"/>
              </a:lnSpc>
            </a:pPr>
            <a:r>
              <a:rPr lang="ro-RO" altLang="en-US" dirty="0"/>
              <a:t>se declara in afara oricărei clase</a:t>
            </a:r>
          </a:p>
          <a:p>
            <a:pPr lvl="1">
              <a:lnSpc>
                <a:spcPct val="90000"/>
              </a:lnSpc>
            </a:pPr>
            <a:r>
              <a:rPr lang="ro-RO" altLang="en-US" dirty="0"/>
              <a:t>pentru </a:t>
            </a:r>
            <a:r>
              <a:rPr lang="ro-RO" altLang="en-US" dirty="0" err="1"/>
              <a:t>new</a:t>
            </a:r>
            <a:r>
              <a:rPr lang="ro-RO" altLang="en-US" dirty="0"/>
              <a:t>/</a:t>
            </a:r>
            <a:r>
              <a:rPr lang="ro-RO" altLang="en-US" dirty="0" err="1"/>
              <a:t>delete</a:t>
            </a:r>
            <a:r>
              <a:rPr lang="ro-RO" altLang="en-US" dirty="0"/>
              <a:t> definiți şi global şi în clasă, cel din clasă e folosit pentru elemente de tipul clasei, şi în rest e folosit cel redefinit global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4495800" y="398463"/>
            <a:ext cx="4267200" cy="600233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latin typeface="+mj-lt"/>
              </a:rPr>
              <a:t>// Global delete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delete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603000"/>
                </a:solidFill>
                <a:latin typeface="+mj-lt"/>
              </a:rPr>
              <a:t>free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400000"/>
                </a:solidFill>
                <a:latin typeface="+mj-lt"/>
              </a:rPr>
              <a:t>main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loc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p2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f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p1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loc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bad_alloc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xa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 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j-lt"/>
              </a:rPr>
              <a:t>Allocation error for p1.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80"/>
                </a:solidFill>
                <a:latin typeface="+mj-lt"/>
              </a:rPr>
              <a:t>    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p2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loc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(-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-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bad_alloc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xa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 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j-lt"/>
              </a:rPr>
              <a:t>Allocation error for p2.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“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  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    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f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float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j-lt"/>
              </a:rPr>
              <a:t>// uses overloaded new, too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bad_alloc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xa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 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j-lt"/>
              </a:rPr>
              <a:t>Allocation error for f.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   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f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+mj-lt"/>
              </a:rPr>
              <a:t>10.10</a:t>
            </a:r>
            <a:r>
              <a:rPr lang="en-US" sz="1600" dirty="0">
                <a:solidFill>
                  <a:srgbClr val="006600"/>
                </a:solidFill>
                <a:latin typeface="+mj-lt"/>
              </a:rPr>
              <a:t>F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f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p1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-&gt;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p2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-&gt;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delete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p1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delete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p2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delete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f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latin typeface="+mj-lt"/>
              </a:rPr>
              <a:t> </a:t>
            </a:r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76200" y="762000"/>
            <a:ext cx="4191000" cy="59150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j-lt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j-lt"/>
              </a:rPr>
              <a:t>iostream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j-lt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40015A"/>
                </a:solidFill>
                <a:latin typeface="+mj-lt"/>
              </a:rPr>
              <a:t>cstdlib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4A43"/>
                </a:solidFill>
                <a:latin typeface="+mj-lt"/>
              </a:rPr>
              <a:t>#include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&lt;</a:t>
            </a:r>
            <a:r>
              <a:rPr lang="en-US" sz="1600" dirty="0">
                <a:solidFill>
                  <a:srgbClr val="40015A"/>
                </a:solidFill>
                <a:latin typeface="+mj-lt"/>
              </a:rPr>
              <a:t>new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j-lt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666616"/>
                </a:solidFill>
                <a:latin typeface="+mj-lt"/>
              </a:rPr>
              <a:t>std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j-lt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loc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longitude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public</a:t>
            </a:r>
            <a:r>
              <a:rPr lang="en-US" sz="1600" dirty="0">
                <a:solidFill>
                  <a:srgbClr val="E34ADC"/>
                </a:solidFill>
                <a:latin typeface="+mj-lt"/>
              </a:rPr>
              <a:t>: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E34ADC"/>
                </a:solidFill>
                <a:latin typeface="+mj-lt"/>
              </a:rPr>
              <a:t>    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loc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loc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lg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lt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     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longitude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lg</a:t>
            </a:r>
            <a:r>
              <a:rPr lang="en-US" sz="1600" dirty="0" err="1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latitude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lt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longitude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000E6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         </a:t>
            </a: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latitude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};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// Global new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new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 err="1">
                <a:solidFill>
                  <a:srgbClr val="603000"/>
                </a:solidFill>
                <a:latin typeface="+mj-lt"/>
              </a:rPr>
              <a:t>size_t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size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p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p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</a:rPr>
              <a:t>malloc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size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if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(!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</a:rPr>
              <a:t>bad_alloc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ba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throw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ba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p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new </a:t>
            </a:r>
            <a:r>
              <a:rPr lang="en-US" altLang="en-US" dirty="0" err="1"/>
              <a:t>şi</a:t>
            </a:r>
            <a:r>
              <a:rPr lang="en-US" altLang="en-US" dirty="0"/>
              <a:t> delete </a:t>
            </a:r>
            <a:r>
              <a:rPr lang="en-US" altLang="en-US" dirty="0" err="1"/>
              <a:t>pentru</a:t>
            </a:r>
            <a:r>
              <a:rPr lang="en-US" altLang="en-US" dirty="0"/>
              <a:t> array-</a:t>
            </a:r>
            <a:r>
              <a:rPr lang="en-US" altLang="en-US" dirty="0" err="1"/>
              <a:t>uri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7772400" cy="533400"/>
          </a:xfrm>
        </p:spPr>
        <p:txBody>
          <a:bodyPr/>
          <a:lstStyle/>
          <a:p>
            <a:r>
              <a:rPr lang="en-US" altLang="en-US" dirty="0" err="1"/>
              <a:t>facem</a:t>
            </a:r>
            <a:r>
              <a:rPr lang="en-US" altLang="en-US" dirty="0"/>
              <a:t> overload de </a:t>
            </a:r>
            <a:r>
              <a:rPr lang="en-US" altLang="en-US" dirty="0" err="1"/>
              <a:t>dou</a:t>
            </a:r>
            <a:r>
              <a:rPr lang="ro-RO" altLang="en-US" dirty="0"/>
              <a:t>ă</a:t>
            </a:r>
            <a:r>
              <a:rPr lang="en-US" altLang="en-US" dirty="0"/>
              <a:t> </a:t>
            </a:r>
            <a:r>
              <a:rPr lang="en-US" altLang="en-US" dirty="0" err="1"/>
              <a:t>ori</a:t>
            </a:r>
            <a:endParaRPr lang="en-US" altLang="en-US" dirty="0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2133600" y="2322513"/>
            <a:ext cx="5562600" cy="35274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// Allocate an array of objects.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new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[](</a:t>
            </a:r>
            <a:r>
              <a:rPr lang="en-US" sz="1800" dirty="0" err="1">
                <a:solidFill>
                  <a:srgbClr val="603000"/>
                </a:solidFill>
                <a:latin typeface="+mj-lt"/>
              </a:rPr>
              <a:t>size_t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size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/* Perform allocation. Throw </a:t>
            </a:r>
            <a:r>
              <a:rPr lang="en-US" sz="1800" dirty="0" err="1">
                <a:solidFill>
                  <a:srgbClr val="696969"/>
                </a:solidFill>
                <a:latin typeface="+mj-lt"/>
              </a:rPr>
              <a:t>bad_alloc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 on failure.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Constructor for each element called automatically. */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pointer_to_memory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// Delete an array of objects.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delete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[](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p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/* Free memory pointed to by p.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Destructor for each element called automatically.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*/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990600" y="1231900"/>
            <a:ext cx="6324600" cy="40259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n-lt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n-lt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n-lt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n-lt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j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k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j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k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[](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</a:rPr>
              <a:t>};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n-lt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</a:rPr>
              <a:t>// displays 2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o-RO" altLang="en-US" dirty="0"/>
              <a:t>supraîncărcarea []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4953000"/>
            <a:ext cx="7772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altLang="en-US" kern="0" dirty="0"/>
              <a:t>operatorul [] poate fi folosit şi la stânga unei atribuiri (obiectul întors este atunci referinț</a:t>
            </a:r>
            <a:r>
              <a:rPr lang="ro-RO" altLang="en-US" dirty="0"/>
              <a:t>ă</a:t>
            </a:r>
            <a:r>
              <a:rPr lang="ro-RO" altLang="en-US" kern="0" dirty="0"/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0"/>
            <a:ext cx="7772400" cy="1447800"/>
          </a:xfrm>
          <a:noFill/>
        </p:spPr>
        <p:txBody>
          <a:bodyPr/>
          <a:lstStyle/>
          <a:p>
            <a:r>
              <a:rPr lang="ro-RO" altLang="en-US" dirty="0"/>
              <a:t>putem în acest fel verifică </a:t>
            </a:r>
            <a:r>
              <a:rPr lang="ro-RO" altLang="en-US" dirty="0" err="1"/>
              <a:t>array-urile</a:t>
            </a:r>
            <a:endParaRPr lang="ro-RO" altLang="en-US" dirty="0"/>
          </a:p>
          <a:p>
            <a:r>
              <a:rPr lang="ro-RO" altLang="en-US" dirty="0"/>
              <a:t>exemplul următor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990600" y="685800"/>
            <a:ext cx="6324600" cy="4691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n-lt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n-lt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n-lt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n-lt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j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k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j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k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&amp;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[](</a:t>
            </a: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</a:rPr>
              <a:t>};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n-lt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n-lt"/>
              </a:rPr>
              <a:t>atype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</a:rPr>
              <a:t>// displays 2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25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</a:rPr>
              <a:t>// [] on left of 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n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n-lt"/>
              </a:rPr>
              <a:t>// now displays 25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609600"/>
            <a:ext cx="5562600" cy="1143000"/>
          </a:xfrm>
        </p:spPr>
        <p:txBody>
          <a:bodyPr/>
          <a:lstStyle/>
          <a:p>
            <a:r>
              <a:rPr lang="ro-RO" altLang="en-US" dirty="0"/>
              <a:t>supraîncărcarea</a:t>
            </a:r>
            <a:r>
              <a:rPr lang="en-US" altLang="en-US" dirty="0"/>
              <a:t> []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76200" y="1027113"/>
            <a:ext cx="5562600" cy="53562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// A safe array example.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j-lt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j-lt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j-lt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j-lt"/>
              </a:rPr>
              <a:t>cstdlib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j-lt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atype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3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j-lt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atype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j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k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a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0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a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j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a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k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 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&amp;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[](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// Provide range checking for </a:t>
            </a:r>
            <a:r>
              <a:rPr lang="en-US" sz="1800" dirty="0" err="1">
                <a:solidFill>
                  <a:srgbClr val="696969"/>
                </a:solidFill>
                <a:latin typeface="+mj-lt"/>
              </a:rPr>
              <a:t>atype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&amp;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atype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[](</a:t>
            </a: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if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0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||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j-lt"/>
              </a:rPr>
              <a:t>Boundary Error</a:t>
            </a:r>
            <a:r>
              <a:rPr lang="en-US" sz="18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03000"/>
                </a:solidFill>
                <a:latin typeface="+mj-lt"/>
              </a:rPr>
              <a:t>exit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a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]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4114800" y="355600"/>
            <a:ext cx="4724400" cy="28432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alt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altLang="en-US" sz="1600" dirty="0"/>
              <a:t> main() {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atype</a:t>
            </a:r>
            <a:r>
              <a:rPr lang="en-US" altLang="en-US" sz="1600" dirty="0"/>
              <a:t> ob(1, 2, 3);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</a:t>
            </a:r>
            <a:r>
              <a:rPr lang="en-US" sz="1600" dirty="0" err="1">
                <a:solidFill>
                  <a:srgbClr val="603000"/>
                </a:solidFill>
              </a:rPr>
              <a:t>cout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808030"/>
                </a:solidFill>
              </a:rPr>
              <a:t>&lt;&lt;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ob[1]; // </a:t>
            </a:r>
            <a:r>
              <a:rPr lang="en-US" altLang="en-US" sz="1800" b="1" dirty="0">
                <a:solidFill>
                  <a:srgbClr val="800000"/>
                </a:solidFill>
                <a:latin typeface="+mj-lt"/>
              </a:rPr>
              <a:t>displays</a:t>
            </a:r>
            <a:r>
              <a:rPr lang="en-US" altLang="en-US" sz="1600" dirty="0"/>
              <a:t> 2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</a:t>
            </a:r>
            <a:r>
              <a:rPr lang="en-US" sz="1600" dirty="0" err="1">
                <a:solidFill>
                  <a:srgbClr val="603000"/>
                </a:solidFill>
              </a:rPr>
              <a:t>cout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808030"/>
                </a:solidFill>
              </a:rPr>
              <a:t>&lt;&lt;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" ";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ob[1] = 25; // [] appears on left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</a:t>
            </a:r>
            <a:r>
              <a:rPr lang="en-US" sz="1600" dirty="0" err="1">
                <a:solidFill>
                  <a:srgbClr val="603000"/>
                </a:solidFill>
              </a:rPr>
              <a:t>cout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808030"/>
                </a:solidFill>
              </a:rPr>
              <a:t>&lt;&lt;</a:t>
            </a:r>
            <a:r>
              <a:rPr lang="en-US" altLang="en-US" sz="1600" dirty="0"/>
              <a:t> ob[1]; // displays 25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ob[3] = 44; 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              // generates runtime error, 3 out-of-range</a:t>
            </a:r>
          </a:p>
          <a:p>
            <a:pPr marL="342900" indent="-342900">
              <a:buFontTx/>
              <a:buNone/>
              <a:defRPr/>
            </a:pPr>
            <a:r>
              <a:rPr lang="en-US" altLang="en-US" sz="1600" dirty="0"/>
              <a:t>   </a:t>
            </a:r>
            <a:r>
              <a:rPr lang="en-US" alt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altLang="en-US" sz="1600" dirty="0"/>
              <a:t> 0; 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 dirty="0"/>
              <a:t>supraîncărcarea</a:t>
            </a:r>
            <a:r>
              <a:rPr lang="en-US" altLang="en-US" dirty="0"/>
              <a:t> ()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nu creăm un nou fel de a chema funcții</a:t>
            </a:r>
            <a:endParaRPr lang="ro-RO" dirty="0"/>
          </a:p>
          <a:p>
            <a:r>
              <a:rPr lang="ro-RO" altLang="en-US" dirty="0"/>
              <a:t>definim un mod de a chema funcții cu număr arbitrar de parametri</a:t>
            </a:r>
            <a:endParaRPr lang="ro-RO" altLang="en-US" dirty="0">
              <a:cs typeface="Times New Roman"/>
            </a:endParaRPr>
          </a:p>
          <a:p>
            <a:endParaRPr lang="ro-RO" altLang="en-US" dirty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457200" y="4209871"/>
            <a:ext cx="8321509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buFontTx/>
              <a:buNone/>
            </a:pPr>
            <a:r>
              <a:rPr lang="en-US" altLang="en-US" b="1" dirty="0"/>
              <a:t>double operator()(</a:t>
            </a:r>
            <a:r>
              <a:rPr lang="en-US" altLang="en-US" b="1" dirty="0" err="1"/>
              <a:t>int</a:t>
            </a:r>
            <a:r>
              <a:rPr lang="en-US" altLang="en-US" b="1" dirty="0"/>
              <a:t> a, float f, char *s);</a:t>
            </a:r>
          </a:p>
          <a:p>
            <a:pPr marL="342900" indent="-342900">
              <a:buFontTx/>
              <a:buNone/>
            </a:pPr>
            <a:r>
              <a:rPr lang="en-US" altLang="en-US" b="1" dirty="0"/>
              <a:t>O(10, 23.34, "hi");</a:t>
            </a:r>
          </a:p>
          <a:p>
            <a:pPr marL="342900" indent="-342900">
              <a:buFontTx/>
              <a:buNone/>
            </a:pPr>
            <a:r>
              <a:rPr lang="en-US" altLang="en-US" b="1" dirty="0"/>
              <a:t>                                </a:t>
            </a:r>
            <a:r>
              <a:rPr lang="en-US" altLang="en-US" b="1" dirty="0" err="1"/>
              <a:t>echivalent</a:t>
            </a:r>
            <a:r>
              <a:rPr lang="en-US" altLang="en-US" b="1" dirty="0"/>
              <a:t> cu </a:t>
            </a:r>
            <a:r>
              <a:rPr lang="en-US" altLang="en-US" b="1" dirty="0" err="1"/>
              <a:t>O.operator</a:t>
            </a:r>
            <a:r>
              <a:rPr lang="en-US" altLang="en-US" b="1" dirty="0"/>
              <a:t>()(10, 23.34, "hi");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4269977" y="989790"/>
            <a:ext cx="4800600" cy="45243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j-lt"/>
              </a:rPr>
              <a:t>// Overload + for loc.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loc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loc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+(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  loc temp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longitude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longitude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j-lt"/>
              </a:rPr>
              <a:t>latitude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latitude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temp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+mj-lt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loc 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20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ob2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7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8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// can be executed by itself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ob1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ob2 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+mj-lt"/>
              </a:rPr>
              <a:t>// can be used in expressions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ob1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8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+mj-lt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800" dirty="0">
                <a:latin typeface="+mj-lt"/>
              </a:rPr>
              <a:t> </a:t>
            </a:r>
          </a:p>
        </p:txBody>
      </p:sp>
      <p:sp>
        <p:nvSpPr>
          <p:cNvPr id="275463" name="Rectangle 7"/>
          <p:cNvSpPr>
            <a:spLocks noChangeArrowheads="1"/>
          </p:cNvSpPr>
          <p:nvPr/>
        </p:nvSpPr>
        <p:spPr bwMode="auto">
          <a:xfrm>
            <a:off x="5562600" y="4633913"/>
            <a:ext cx="1828800" cy="17668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None/>
            </a:pPr>
            <a:r>
              <a:rPr lang="en-US" altLang="en-US" b="1"/>
              <a:t>10 20</a:t>
            </a:r>
          </a:p>
          <a:p>
            <a:pPr marL="342900" indent="-342900">
              <a:buFontTx/>
              <a:buNone/>
            </a:pPr>
            <a:r>
              <a:rPr lang="en-US" altLang="en-US" b="1"/>
              <a:t>7 8</a:t>
            </a:r>
          </a:p>
          <a:p>
            <a:pPr marL="342900" indent="-342900">
              <a:buFontTx/>
              <a:buNone/>
            </a:pPr>
            <a:r>
              <a:rPr lang="en-US" altLang="en-US" b="1"/>
              <a:t>11 11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195263" y="838200"/>
            <a:ext cx="4071937" cy="55768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n-lt"/>
                <a:cs typeface="Arial" pitchFamily="34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n-lt"/>
                <a:cs typeface="Arial" pitchFamily="34" charset="0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n-lt"/>
                <a:cs typeface="Arial" pitchFamily="34" charset="0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loc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longitude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latitude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n-lt"/>
                <a:cs typeface="Arial" pitchFamily="34" charset="0"/>
              </a:rPr>
              <a:t>: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E34ADC"/>
                </a:solidFill>
                <a:latin typeface="+mn-lt"/>
                <a:cs typeface="Arial" pitchFamily="34" charset="0"/>
              </a:rPr>
              <a:t>   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loc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{}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   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loc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lg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lt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lg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 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lt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   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show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{</a:t>
            </a:r>
            <a:r>
              <a:rPr lang="en-US" sz="1800" dirty="0" err="1">
                <a:solidFill>
                  <a:srgbClr val="603000"/>
                </a:solidFill>
                <a:latin typeface="+mn-lt"/>
                <a:cs typeface="Arial" pitchFamily="34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longitude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603000"/>
                </a:solidFill>
                <a:latin typeface="+mn-lt"/>
                <a:cs typeface="Arial" pitchFamily="34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"</a:t>
            </a:r>
            <a:r>
              <a:rPr lang="en-US" sz="1800" dirty="0">
                <a:solidFill>
                  <a:srgbClr val="0F69FF"/>
                </a:solidFill>
                <a:latin typeface="+mn-lt"/>
                <a:cs typeface="Arial" pitchFamily="34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  <a:cs typeface="Arial" pitchFamily="34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   loc 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+(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   loc 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()(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j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};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cs typeface="Arial" pitchFamily="34" charset="0"/>
              </a:rPr>
              <a:t>// Overload ( ) for loc.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loc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loc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()(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i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cs typeface="Arial" pitchFamily="34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j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longitude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cs typeface="Arial" pitchFamily="34" charset="0"/>
              </a:rPr>
              <a:t>i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j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cs typeface="Arial" pitchFamily="34" charset="0"/>
              </a:rPr>
              <a:t>*</a:t>
            </a:r>
            <a:r>
              <a:rPr lang="en-US" sz="1800" b="1" dirty="0">
                <a:solidFill>
                  <a:srgbClr val="800000"/>
                </a:solidFill>
                <a:latin typeface="+mn-lt"/>
                <a:cs typeface="Arial" pitchFamily="34" charset="0"/>
              </a:rPr>
              <a:t>this</a:t>
            </a: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cs typeface="Arial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cs typeface="Arial" pitchFamily="34" charset="0"/>
              </a:rPr>
              <a:t>}</a:t>
            </a:r>
            <a:endParaRPr lang="en-US" sz="1800" dirty="0">
              <a:latin typeface="+mn-lt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ro-RO" altLang="en-US" dirty="0"/>
              <a:t>supraîncărcarea</a:t>
            </a:r>
            <a:r>
              <a:rPr lang="en-US" altLang="en-US" dirty="0"/>
              <a:t> 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3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 pe -&gt;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operator unar</a:t>
            </a:r>
          </a:p>
          <a:p>
            <a:r>
              <a:rPr lang="ro-RO" altLang="en-US" dirty="0" err="1"/>
              <a:t>obiect-</a:t>
            </a:r>
            <a:r>
              <a:rPr lang="ro-RO" altLang="en-US" dirty="0"/>
              <a:t>&gt;element</a:t>
            </a:r>
          </a:p>
          <a:p>
            <a:pPr lvl="1"/>
            <a:r>
              <a:rPr lang="ro-RO" altLang="en-US" dirty="0"/>
              <a:t>obiect generează apelul</a:t>
            </a:r>
          </a:p>
          <a:p>
            <a:pPr lvl="1"/>
            <a:r>
              <a:rPr lang="ro-RO" altLang="en-US" dirty="0"/>
              <a:t>element trebuie să fie accesibil</a:t>
            </a:r>
          </a:p>
          <a:p>
            <a:pPr lvl="1"/>
            <a:r>
              <a:rPr lang="ro-RO" altLang="en-US" dirty="0"/>
              <a:t>întoarce un pointer către un obiect din clasă</a:t>
            </a:r>
          </a:p>
          <a:p>
            <a:pPr lvl="1"/>
            <a:endParaRPr lang="ro-RO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1600200" y="1143000"/>
            <a:ext cx="6400800" cy="48323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2000" dirty="0">
                <a:solidFill>
                  <a:srgbClr val="004A43"/>
                </a:solidFill>
                <a:latin typeface="+mn-lt"/>
              </a:rPr>
              <a:t>#include </a:t>
            </a:r>
            <a:r>
              <a:rPr lang="en-US" sz="2000" dirty="0">
                <a:solidFill>
                  <a:srgbClr val="800000"/>
                </a:solidFill>
                <a:latin typeface="+mn-lt"/>
              </a:rPr>
              <a:t>&lt;</a:t>
            </a:r>
            <a:r>
              <a:rPr lang="en-US" sz="2000" dirty="0" err="1">
                <a:solidFill>
                  <a:srgbClr val="40015A"/>
                </a:solidFill>
                <a:latin typeface="+mn-lt"/>
              </a:rPr>
              <a:t>iostream</a:t>
            </a:r>
            <a:r>
              <a:rPr lang="en-US" sz="2000" dirty="0">
                <a:solidFill>
                  <a:srgbClr val="800000"/>
                </a:solidFill>
                <a:latin typeface="+mn-lt"/>
              </a:rPr>
              <a:t>&gt;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+mn-lt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+mn-lt"/>
              </a:rPr>
              <a:t>namespace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666616"/>
                </a:solidFill>
                <a:latin typeface="+mn-lt"/>
              </a:rPr>
              <a:t>std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+mn-lt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myclass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000" b="1" dirty="0">
                <a:solidFill>
                  <a:srgbClr val="800000"/>
                </a:solidFill>
                <a:latin typeface="+mn-lt"/>
              </a:rPr>
              <a:t>public</a:t>
            </a:r>
            <a:r>
              <a:rPr lang="en-US" sz="2000" dirty="0">
                <a:solidFill>
                  <a:srgbClr val="E34ADC"/>
                </a:solidFill>
                <a:latin typeface="+mn-lt"/>
              </a:rPr>
              <a:t>: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0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+mn-lt"/>
              </a:rPr>
              <a:t>   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myclass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*</a:t>
            </a:r>
            <a:r>
              <a:rPr lang="en-US" sz="2000" b="1" dirty="0">
                <a:solidFill>
                  <a:srgbClr val="800000"/>
                </a:solidFill>
                <a:latin typeface="+mn-lt"/>
              </a:rPr>
              <a:t>operator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-&gt;()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20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+mn-lt"/>
              </a:rPr>
              <a:t>this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;}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+mn-lt"/>
              </a:rPr>
              <a:t>};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endParaRPr lang="en-US" sz="2000" dirty="0">
              <a:solidFill>
                <a:srgbClr val="000000"/>
              </a:solidFill>
              <a:latin typeface="+mn-lt"/>
            </a:endParaRPr>
          </a:p>
          <a:p>
            <a:pPr>
              <a:buFontTx/>
              <a:buNone/>
              <a:defRPr/>
            </a:pPr>
            <a:r>
              <a:rPr lang="en-US" sz="2000" b="1" dirty="0" err="1">
                <a:solidFill>
                  <a:srgbClr val="800000"/>
                </a:solidFill>
                <a:latin typeface="+mn-lt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+mn-lt"/>
              </a:rPr>
              <a:t>main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()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myclass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-&gt;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008C00"/>
                </a:solidFill>
                <a:latin typeface="+mn-lt"/>
              </a:rPr>
              <a:t>10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696969"/>
                </a:solidFill>
                <a:latin typeface="+mn-lt"/>
              </a:rPr>
              <a:t>// same as </a:t>
            </a:r>
            <a:r>
              <a:rPr lang="en-US" sz="2000" dirty="0" err="1">
                <a:solidFill>
                  <a:srgbClr val="696969"/>
                </a:solidFill>
                <a:latin typeface="+mn-lt"/>
              </a:rPr>
              <a:t>ob.i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2000" dirty="0" err="1">
                <a:solidFill>
                  <a:srgbClr val="603000"/>
                </a:solidFill>
                <a:latin typeface="+mn-lt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ob</a:t>
            </a:r>
            <a:r>
              <a:rPr lang="en-US" sz="2000" dirty="0" err="1">
                <a:solidFill>
                  <a:srgbClr val="808030"/>
                </a:solidFill>
                <a:latin typeface="+mn-lt"/>
              </a:rPr>
              <a:t>.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+mn-l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ob</a:t>
            </a:r>
            <a:r>
              <a:rPr lang="en-US" sz="2000" dirty="0">
                <a:solidFill>
                  <a:srgbClr val="808030"/>
                </a:solidFill>
                <a:latin typeface="+mn-lt"/>
              </a:rPr>
              <a:t>-&gt;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+mn-lt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008C00"/>
                </a:solidFill>
                <a:latin typeface="+mn-lt"/>
              </a:rPr>
              <a:t>0</a:t>
            </a:r>
            <a:r>
              <a:rPr lang="en-US" sz="2000" dirty="0">
                <a:solidFill>
                  <a:srgbClr val="800080"/>
                </a:solidFill>
                <a:latin typeface="+mn-lt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+mn-lt"/>
              </a:rPr>
              <a:t>}</a:t>
            </a:r>
            <a:r>
              <a:rPr lang="en-US" sz="2000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 dirty="0"/>
              <a:t>supraîncărcarea operatorului ,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altLang="en-US" dirty="0"/>
              <a:t>operator binar</a:t>
            </a:r>
          </a:p>
          <a:p>
            <a:r>
              <a:rPr lang="ro-RO" altLang="en-US" dirty="0"/>
              <a:t>ar trebui ignorate toate valorile mai puțin a celui mai din dreapta operand</a:t>
            </a:r>
          </a:p>
          <a:p>
            <a:endParaRPr lang="ro-RO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152400" y="762000"/>
            <a:ext cx="4648200" cy="55403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4A43"/>
                </a:solidFill>
                <a:latin typeface="+mn-lt"/>
                <a:ea typeface="Times New Roman" pitchFamily="18" charset="0"/>
                <a:cs typeface="Courier New" pitchFamily="49" charset="0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+mn-lt"/>
                <a:ea typeface="Times New Roman" pitchFamily="18" charset="0"/>
                <a:cs typeface="Courier New" pitchFamily="49" charset="0"/>
              </a:rPr>
              <a:t>iostream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666616"/>
                </a:solidFill>
                <a:latin typeface="+mn-lt"/>
                <a:ea typeface="Times New Roman" pitchFamily="18" charset="0"/>
                <a:cs typeface="Courier New" pitchFamily="49" charset="0"/>
              </a:rPr>
              <a:t>std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loc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public</a:t>
            </a:r>
            <a:r>
              <a:rPr lang="en-US" sz="1800" dirty="0">
                <a:solidFill>
                  <a:srgbClr val="E34ADC"/>
                </a:solidFill>
                <a:latin typeface="+mn-lt"/>
                <a:ea typeface="Times New Roman" pitchFamily="18" charset="0"/>
                <a:cs typeface="Courier New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loc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{}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loc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lg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 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lt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show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                   </a:t>
            </a:r>
            <a:r>
              <a:rPr lang="en-US" sz="18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;}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loc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+(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loc 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// overload comma for loc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696969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loc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::</a:t>
            </a: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operator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,(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loc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loc temp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temp</a:t>
            </a:r>
            <a:r>
              <a:rPr lang="en-US" sz="1800" dirty="0" err="1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dirty="0" err="1">
                <a:solidFill>
                  <a:srgbClr val="603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longitude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000E6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“;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800" dirty="0" err="1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op2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latitude </a:t>
            </a:r>
            <a:r>
              <a:rPr lang="en-US" sz="1800" dirty="0">
                <a:solidFill>
                  <a:srgbClr val="808030"/>
                </a:solidFill>
                <a:latin typeface="+mn-lt"/>
                <a:ea typeface="Times New Roman" pitchFamily="18" charset="0"/>
                <a:cs typeface="Courier New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0F69FF"/>
                </a:solidFill>
                <a:latin typeface="+mn-lt"/>
                <a:ea typeface="Times New Roman" pitchFamily="18" charset="0"/>
                <a:cs typeface="Courier New" pitchFamily="49" charset="0"/>
              </a:rPr>
              <a:t>\n</a:t>
            </a:r>
            <a:r>
              <a:rPr lang="en-US" sz="1800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"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 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b="1" dirty="0">
                <a:solidFill>
                  <a:srgbClr val="8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+mn-lt"/>
                <a:ea typeface="Times New Roman" pitchFamily="18" charset="0"/>
                <a:cs typeface="Courier New" pitchFamily="49" charset="0"/>
              </a:rPr>
              <a:t> temp</a:t>
            </a: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srgbClr val="800080"/>
                </a:solidFill>
                <a:latin typeface="+mn-lt"/>
                <a:ea typeface="Times New Roman" pitchFamily="18" charset="0"/>
                <a:cs typeface="Courier New" pitchFamily="49" charset="0"/>
              </a:rPr>
              <a:t>}</a:t>
            </a:r>
            <a:r>
              <a:rPr lang="en-US" sz="1800" dirty="0">
                <a:latin typeface="+mn-lt"/>
              </a:rPr>
              <a:t> </a:t>
            </a:r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4572000" y="831850"/>
            <a:ext cx="4419600" cy="44259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Tx/>
              <a:buNone/>
              <a:defRPr/>
            </a:pPr>
            <a:r>
              <a:rPr lang="en-US" sz="1600" dirty="0">
                <a:solidFill>
                  <a:srgbClr val="696969"/>
                </a:solidFill>
                <a:latin typeface="+mj-lt"/>
              </a:rPr>
              <a:t>// Overload + for loc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loc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loc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::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operator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+(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loc op2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loc temp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temp</a:t>
            </a:r>
            <a:r>
              <a:rPr lang="en-US" sz="1600" dirty="0" err="1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longitude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longitude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longitude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temp</a:t>
            </a:r>
            <a:r>
              <a:rPr lang="en-US" sz="1600" dirty="0" err="1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latitude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op2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latitude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latitude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temp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endParaRPr lang="en-US" sz="1600" dirty="0">
              <a:solidFill>
                <a:srgbClr val="000000"/>
              </a:solidFill>
              <a:latin typeface="+mj-lt"/>
            </a:endParaRPr>
          </a:p>
          <a:p>
            <a:pPr>
              <a:buFontTx/>
              <a:buNone/>
              <a:defRPr/>
            </a:pPr>
            <a:r>
              <a:rPr lang="en-US" sz="1600" b="1" dirty="0" err="1">
                <a:solidFill>
                  <a:srgbClr val="800000"/>
                </a:solidFill>
                <a:latin typeface="+mj-lt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400000"/>
                </a:solidFill>
                <a:latin typeface="+mj-lt"/>
              </a:rPr>
              <a:t>main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loc ob1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20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5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30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ob3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ob3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 err="1">
                <a:solidFill>
                  <a:srgbClr val="603000"/>
                </a:solidFill>
                <a:latin typeface="+mj-lt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0F69FF"/>
                </a:solidFill>
                <a:latin typeface="+mj-lt"/>
              </a:rPr>
              <a:t>\n</a:t>
            </a:r>
            <a:r>
              <a:rPr lang="en-US" sz="1600" dirty="0">
                <a:solidFill>
                  <a:srgbClr val="800000"/>
                </a:solidFill>
                <a:latin typeface="+mj-lt"/>
              </a:rPr>
              <a:t>"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ob1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ob1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ob2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ob3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ob1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show</a:t>
            </a:r>
            <a:r>
              <a:rPr lang="en-US" sz="1600" dirty="0">
                <a:solidFill>
                  <a:srgbClr val="808030"/>
                </a:solidFill>
                <a:latin typeface="+mj-lt"/>
              </a:rPr>
              <a:t>()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696969"/>
                </a:solidFill>
                <a:latin typeface="+mj-lt"/>
              </a:rPr>
              <a:t>// displays 1 1, the value of ob3</a:t>
            </a:r>
          </a:p>
          <a:p>
            <a:pPr>
              <a:buFontTx/>
              <a:buNone/>
              <a:defRPr/>
            </a:pPr>
            <a:r>
              <a:rPr lang="en-US" sz="1600" b="1" dirty="0">
                <a:solidFill>
                  <a:srgbClr val="800000"/>
                </a:solidFill>
                <a:latin typeface="+mj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8C0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800080"/>
                </a:solidFill>
                <a:latin typeface="+mj-lt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1600" dirty="0">
                <a:solidFill>
                  <a:srgbClr val="800080"/>
                </a:solidFill>
                <a:latin typeface="+mj-lt"/>
              </a:rPr>
              <a:t>}</a:t>
            </a:r>
            <a:r>
              <a:rPr lang="en-US" sz="1600" dirty="0">
                <a:latin typeface="+mj-lt"/>
              </a:rPr>
              <a:t> </a:t>
            </a:r>
          </a:p>
        </p:txBody>
      </p:sp>
      <p:sp>
        <p:nvSpPr>
          <p:cNvPr id="283655" name="Rectangle 7"/>
          <p:cNvSpPr>
            <a:spLocks noChangeArrowheads="1"/>
          </p:cNvSpPr>
          <p:nvPr/>
        </p:nvSpPr>
        <p:spPr bwMode="auto">
          <a:xfrm>
            <a:off x="6248400" y="4556361"/>
            <a:ext cx="990600" cy="175432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None/>
            </a:pPr>
            <a:r>
              <a:rPr lang="en-US" altLang="en-US" sz="1800" b="1" dirty="0"/>
              <a:t>10 20</a:t>
            </a:r>
          </a:p>
          <a:p>
            <a:pPr marL="342900" indent="-342900">
              <a:buFontTx/>
              <a:buNone/>
            </a:pPr>
            <a:r>
              <a:rPr lang="en-US" altLang="en-US" sz="1800" b="1" dirty="0"/>
              <a:t>5 30</a:t>
            </a:r>
          </a:p>
          <a:p>
            <a:pPr marL="342900" indent="-342900">
              <a:buFontTx/>
              <a:buNone/>
            </a:pPr>
            <a:r>
              <a:rPr lang="en-US" altLang="en-US" sz="1800" b="1" dirty="0"/>
              <a:t>1 1</a:t>
            </a:r>
          </a:p>
          <a:p>
            <a:pPr marL="342900" indent="-342900">
              <a:buFontTx/>
              <a:buNone/>
            </a:pPr>
            <a:r>
              <a:rPr lang="en-US" altLang="en-US" sz="1800" b="1" dirty="0"/>
              <a:t>10 60</a:t>
            </a:r>
          </a:p>
          <a:p>
            <a:pPr marL="342900" indent="-342900">
              <a:buFontTx/>
              <a:buNone/>
            </a:pPr>
            <a:r>
              <a:rPr lang="en-US" altLang="en-US" sz="1800" b="1" dirty="0"/>
              <a:t>1 1</a:t>
            </a:r>
          </a:p>
          <a:p>
            <a:pPr marL="342900" indent="-342900">
              <a:buFontTx/>
              <a:buNone/>
            </a:pPr>
            <a:r>
              <a:rPr lang="en-US" altLang="en-US" sz="1800" b="1" dirty="0"/>
              <a:t>1 1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5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ro-RO" sz="4000" dirty="0"/>
              <a:t>Perspective</a:t>
            </a:r>
            <a:endParaRPr lang="ro-RO" altLang="ro-RO" sz="40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3429000"/>
          </a:xfrm>
        </p:spPr>
        <p:txBody>
          <a:bodyPr/>
          <a:lstStyle/>
          <a:p>
            <a:pPr>
              <a:buNone/>
              <a:defRPr/>
            </a:pPr>
            <a:r>
              <a:rPr lang="ro-RO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Curs 5</a:t>
            </a:r>
          </a:p>
          <a:p>
            <a:pPr marL="92161" indent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ro-RO" sz="2400" dirty="0">
                <a:solidFill>
                  <a:schemeClr val="dk1"/>
                </a:solidFill>
              </a:rPr>
              <a:t>Proiectarea descendenta a claselor. Moștenirea </a:t>
            </a:r>
            <a:r>
              <a:rPr lang="ro-RO" sz="2400" dirty="0"/>
              <a:t>î</a:t>
            </a:r>
            <a:r>
              <a:rPr lang="ro-RO" sz="2400" dirty="0">
                <a:solidFill>
                  <a:schemeClr val="dk1"/>
                </a:solidFill>
              </a:rPr>
              <a:t>n C++.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None/>
              <a:defRPr/>
            </a:pPr>
            <a:r>
              <a:rPr lang="ro-RO" sz="2400" dirty="0">
                <a:solidFill>
                  <a:schemeClr val="dk1"/>
                </a:solidFill>
              </a:rPr>
              <a:t>	1 Controlul accesului la clasa de bază.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None/>
              <a:defRPr/>
            </a:pPr>
            <a:r>
              <a:rPr lang="ro-RO" sz="2400" dirty="0">
                <a:solidFill>
                  <a:schemeClr val="dk1"/>
                </a:solidFill>
              </a:rPr>
              <a:t>	2 Constructori, destructori şi moştenire.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None/>
              <a:defRPr/>
            </a:pPr>
            <a:r>
              <a:rPr lang="ro-RO" sz="2400" dirty="0">
                <a:solidFill>
                  <a:schemeClr val="dk1"/>
                </a:solidFill>
              </a:rPr>
              <a:t>	3 Redefinirea membrilor unei clase de bază într-o clasă derivată.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None/>
              <a:defRPr/>
            </a:pPr>
            <a:r>
              <a:rPr lang="ro-RO" sz="2400" dirty="0">
                <a:solidFill>
                  <a:schemeClr val="dk1"/>
                </a:solidFill>
              </a:rPr>
              <a:t>	4 Declaraţii de acces.</a:t>
            </a:r>
          </a:p>
          <a:p>
            <a:pPr lvl="0" eaLnBrk="1" hangingPunct="1">
              <a:defRPr/>
            </a:pPr>
            <a:endParaRPr lang="ro-RO" altLang="en-US" sz="2800" dirty="0"/>
          </a:p>
          <a:p>
            <a:pPr lvl="0" eaLnBrk="1" hangingPunct="1">
              <a:defRPr/>
            </a:pPr>
            <a:endParaRPr lang="ro-RO" altLang="en-US" sz="2800" dirty="0"/>
          </a:p>
          <a:p>
            <a:pPr marL="0" indent="0" eaLnBrk="1" hangingPunct="1">
              <a:buFontTx/>
              <a:buNone/>
              <a:defRPr/>
            </a:pPr>
            <a:endParaRPr lang="ro-RO" altLang="ro-RO" sz="2800" dirty="0"/>
          </a:p>
        </p:txBody>
      </p:sp>
    </p:spTree>
    <p:extLst>
      <p:ext uri="{BB962C8B-B14F-4D97-AF65-F5344CB8AC3E}">
        <p14:creationId xmlns:p14="http://schemas.microsoft.com/office/powerpoint/2010/main" val="414164428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te a new document." ma:contentTypeScope="" ma:versionID="c4b86bf4112670e546faf249db29eaac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385c4a4ff57182115937dd93269c8853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4521F5-2C59-43FF-8446-0C6DA4EEE619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2.xml><?xml version="1.0" encoding="utf-8"?>
<ds:datastoreItem xmlns:ds="http://schemas.openxmlformats.org/officeDocument/2006/customXml" ds:itemID="{4192633E-ABBF-4EDA-AAAD-1A4CF3A5D5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11d0cb-f29a-4db3-9b8c-3b4d1a821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B0EF28-D7BB-444C-A5BA-2CF8741081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6372</TotalTime>
  <Words>4449</Words>
  <Application>Microsoft Office PowerPoint</Application>
  <PresentationFormat>On-screen Show (4:3)</PresentationFormat>
  <Paragraphs>735</Paragraphs>
  <Slides>56</Slides>
  <Notes>56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Default Design</vt:lpstr>
      <vt:lpstr>PowerPoint Presentation</vt:lpstr>
      <vt:lpstr>Cuprins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Operatorul de rezolutie de scop ::</vt:lpstr>
      <vt:lpstr>Clase locale</vt:lpstr>
      <vt:lpstr>Clase locale (în funcţii)</vt:lpstr>
      <vt:lpstr>Clase locale (în alte clase) – imbricate (“nested”)</vt:lpstr>
      <vt:lpstr>Funcții care întorc obiecte</vt:lpstr>
      <vt:lpstr>PowerPoint Presentation</vt:lpstr>
      <vt:lpstr>copierea prin operatorul =</vt:lpstr>
      <vt:lpstr>Supraîncărcarea operatorilor în C++</vt:lpstr>
      <vt:lpstr>Restricţii</vt:lpstr>
      <vt:lpstr>Funcții operator membri ai clasei</vt:lpstr>
      <vt:lpstr>PowerPoint Presentation</vt:lpstr>
      <vt:lpstr>PowerPoint Presentation</vt:lpstr>
      <vt:lpstr>PowerPoint Presentation</vt:lpstr>
      <vt:lpstr>PowerPoint Presentation</vt:lpstr>
      <vt:lpstr>Formele prefix şi postfix</vt:lpstr>
      <vt:lpstr>Supraîncărcarea +=,*=, etc.</vt:lpstr>
      <vt:lpstr>PowerPoint Presentation</vt:lpstr>
      <vt:lpstr>Supraîncărcarea operatorilor ca funcții prieten</vt:lpstr>
      <vt:lpstr>PowerPoint Presentation</vt:lpstr>
      <vt:lpstr>Restricții pentru operatorii definiți ca prieten</vt:lpstr>
      <vt:lpstr>Funcții prieten pentru operatori unari</vt:lpstr>
      <vt:lpstr>PowerPoint Presentation</vt:lpstr>
      <vt:lpstr>pentru varianta postfix ++ --</vt:lpstr>
      <vt:lpstr>Diferențe supraîncărcarea prin membri sau prieteni</vt:lpstr>
      <vt:lpstr>PowerPoint Presentation</vt:lpstr>
      <vt:lpstr>PowerPoint Presentation</vt:lpstr>
      <vt:lpstr>PowerPoint Presentation</vt:lpstr>
      <vt:lpstr>supraîncărcarea new şi delete</vt:lpstr>
      <vt:lpstr>PowerPoint Presentation</vt:lpstr>
      <vt:lpstr>PowerPoint Presentation</vt:lpstr>
      <vt:lpstr>PowerPoint Presentation</vt:lpstr>
      <vt:lpstr>new şi delete pentru array-uri</vt:lpstr>
      <vt:lpstr>supraîncărcarea []</vt:lpstr>
      <vt:lpstr>supraîncărcarea []</vt:lpstr>
      <vt:lpstr>PowerPoint Presentation</vt:lpstr>
      <vt:lpstr>supraîncărcarea ()</vt:lpstr>
      <vt:lpstr>supraîncărcarea ()</vt:lpstr>
      <vt:lpstr>overload pe -&gt;</vt:lpstr>
      <vt:lpstr>PowerPoint Presentation</vt:lpstr>
      <vt:lpstr>supraîncărcarea operatorului ,</vt:lpstr>
      <vt:lpstr>PowerPoint Presentation</vt:lpstr>
      <vt:lpstr>Perspective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andrei</dc:creator>
  <cp:lastModifiedBy>user</cp:lastModifiedBy>
  <cp:revision>361</cp:revision>
  <dcterms:created xsi:type="dcterms:W3CDTF">1601-01-01T00:00:00Z</dcterms:created>
  <dcterms:modified xsi:type="dcterms:W3CDTF">2026-03-24T08:09:19Z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