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11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394" r:id="rId12"/>
    <p:sldId id="395" r:id="rId13"/>
    <p:sldId id="396" r:id="rId14"/>
    <p:sldId id="397" r:id="rId15"/>
    <p:sldId id="271" r:id="rId16"/>
    <p:sldId id="273" r:id="rId17"/>
    <p:sldId id="274" r:id="rId18"/>
    <p:sldId id="276" r:id="rId19"/>
    <p:sldId id="277" r:id="rId20"/>
    <p:sldId id="278" r:id="rId21"/>
    <p:sldId id="279" r:id="rId22"/>
    <p:sldId id="398" r:id="rId23"/>
    <p:sldId id="399" r:id="rId24"/>
    <p:sldId id="400" r:id="rId25"/>
    <p:sldId id="283" r:id="rId26"/>
    <p:sldId id="401" r:id="rId27"/>
    <p:sldId id="402" r:id="rId28"/>
    <p:sldId id="286" r:id="rId29"/>
    <p:sldId id="287" r:id="rId30"/>
    <p:sldId id="288" r:id="rId31"/>
    <p:sldId id="289" r:id="rId32"/>
    <p:sldId id="290" r:id="rId33"/>
    <p:sldId id="393" r:id="rId34"/>
    <p:sldId id="291" r:id="rId35"/>
    <p:sldId id="296" r:id="rId36"/>
    <p:sldId id="297" r:id="rId37"/>
    <p:sldId id="298" r:id="rId38"/>
    <p:sldId id="403" r:id="rId39"/>
    <p:sldId id="368" r:id="rId40"/>
    <p:sldId id="369" r:id="rId41"/>
    <p:sldId id="370" r:id="rId42"/>
    <p:sldId id="371" r:id="rId43"/>
    <p:sldId id="404" r:id="rId44"/>
    <p:sldId id="372" r:id="rId45"/>
    <p:sldId id="405" r:id="rId46"/>
    <p:sldId id="406" r:id="rId47"/>
    <p:sldId id="407" r:id="rId48"/>
    <p:sldId id="408" r:id="rId49"/>
    <p:sldId id="409" r:id="rId50"/>
    <p:sldId id="311" r:id="rId51"/>
    <p:sldId id="312" r:id="rId52"/>
    <p:sldId id="313" r:id="rId53"/>
    <p:sldId id="314" r:id="rId54"/>
    <p:sldId id="315" r:id="rId55"/>
    <p:sldId id="316" r:id="rId56"/>
    <p:sldId id="410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411" r:id="rId66"/>
    <p:sldId id="327" r:id="rId67"/>
    <p:sldId id="374" r:id="rId68"/>
    <p:sldId id="329" r:id="rId69"/>
    <p:sldId id="330" r:id="rId70"/>
    <p:sldId id="331" r:id="rId71"/>
    <p:sldId id="332" r:id="rId72"/>
    <p:sldId id="412" r:id="rId73"/>
    <p:sldId id="413" r:id="rId74"/>
    <p:sldId id="335" r:id="rId75"/>
    <p:sldId id="336" r:id="rId76"/>
    <p:sldId id="337" r:id="rId77"/>
    <p:sldId id="338" r:id="rId78"/>
    <p:sldId id="414" r:id="rId79"/>
    <p:sldId id="340" r:id="rId80"/>
    <p:sldId id="341" r:id="rId81"/>
    <p:sldId id="342" r:id="rId82"/>
    <p:sldId id="343" r:id="rId83"/>
    <p:sldId id="373" r:id="rId84"/>
    <p:sldId id="391" r:id="rId85"/>
    <p:sldId id="392" r:id="rId86"/>
    <p:sldId id="375" r:id="rId87"/>
    <p:sldId id="376" r:id="rId88"/>
    <p:sldId id="377" r:id="rId89"/>
    <p:sldId id="415" r:id="rId90"/>
    <p:sldId id="378" r:id="rId91"/>
    <p:sldId id="379" r:id="rId92"/>
    <p:sldId id="380" r:id="rId93"/>
    <p:sldId id="381" r:id="rId94"/>
    <p:sldId id="382" r:id="rId95"/>
    <p:sldId id="416" r:id="rId96"/>
    <p:sldId id="417" r:id="rId97"/>
    <p:sldId id="418" r:id="rId98"/>
    <p:sldId id="419" r:id="rId99"/>
    <p:sldId id="420" r:id="rId100"/>
    <p:sldId id="388" r:id="rId101"/>
    <p:sldId id="421" r:id="rId102"/>
    <p:sldId id="389" r:id="rId103"/>
    <p:sldId id="390" r:id="rId104"/>
    <p:sldId id="422" r:id="rId105"/>
    <p:sldId id="423" r:id="rId106"/>
    <p:sldId id="424" r:id="rId107"/>
    <p:sldId id="425" r:id="rId108"/>
    <p:sldId id="426" r:id="rId109"/>
    <p:sldId id="367" r:id="rId110"/>
  </p:sldIdLst>
  <p:sldSz cx="10080625" cy="7559675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81">
          <p15:clr>
            <a:srgbClr val="000000"/>
          </p15:clr>
        </p15:guide>
        <p15:guide id="2" pos="3175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8" roundtripDataSignature="AMtx7mgr2NsBc2MUTcje2qmSnjnaTAhn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-1148" y="16"/>
      </p:cViewPr>
      <p:guideLst>
        <p:guide orient="horz" pos="2381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102" Type="http://schemas.openxmlformats.org/officeDocument/2006/relationships/slide" Target="slides/slide98.xml"/><Relationship Id="rId110" Type="http://schemas.openxmlformats.org/officeDocument/2006/relationships/slide" Target="slides/slide106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18" Type="http://customschemas.google.com/relationships/presentationmetadata" Target="meta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9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82687" y="768350"/>
            <a:ext cx="4733925" cy="383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17931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/>
        </p:nvSpPr>
        <p:spPr>
          <a:xfrm>
            <a:off x="4017962" y="9721850"/>
            <a:ext cx="305435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</a:t>
            </a:fld>
            <a:endParaRPr/>
          </a:p>
        </p:txBody>
      </p:sp>
      <p:sp>
        <p:nvSpPr>
          <p:cNvPr id="82" name="Google Shape;82;p1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</a:t>
            </a:fld>
            <a:endParaRPr/>
          </a:p>
        </p:txBody>
      </p:sp>
      <p:sp>
        <p:nvSpPr>
          <p:cNvPr id="83" name="Google Shape;83;p1:notes"/>
          <p:cNvSpPr txBox="1"/>
          <p:nvPr/>
        </p:nvSpPr>
        <p:spPr>
          <a:xfrm>
            <a:off x="711200" y="4860925"/>
            <a:ext cx="5665787" cy="458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V2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22.4.2020</a:t>
            </a: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/>
        </p:nvSpPr>
        <p:spPr>
          <a:xfrm>
            <a:off x="4017962" y="9721850"/>
            <a:ext cx="305435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</a:t>
            </a:fld>
            <a:endParaRPr/>
          </a:p>
        </p:txBody>
      </p:sp>
      <p:sp>
        <p:nvSpPr>
          <p:cNvPr id="95" name="Google Shape;95;p2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</a:t>
            </a:fld>
            <a:endParaRPr/>
          </a:p>
        </p:txBody>
      </p:sp>
      <p:sp>
        <p:nvSpPr>
          <p:cNvPr id="96" name="Google Shape;96;p2:notes"/>
          <p:cNvSpPr txBox="1"/>
          <p:nvPr/>
        </p:nvSpPr>
        <p:spPr>
          <a:xfrm>
            <a:off x="711200" y="4860925"/>
            <a:ext cx="5665787" cy="459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2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2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2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2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2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2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2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3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3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3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3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3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3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3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3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4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4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4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4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4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4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4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4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4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4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5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4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5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5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5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5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5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6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p6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6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6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6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6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6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6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6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6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7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7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7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7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7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7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p7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7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7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7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8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8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8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1" name="Google Shape;611;p8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8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6" name="Google Shape;626;p8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5" name="Google Shape;635;p8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6" name="Google Shape;916;p12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8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8" name="Google Shape;668;p9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p9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9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1" name="Google Shape;691;p9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9" name="Google Shape;699;p9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8" name="Google Shape;708;p9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9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4" name="Google Shape;724;p9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9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p9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6" name="Google Shape;746;p10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4" name="Google Shape;754;p10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1" name="Google Shape;761;p10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10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10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10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10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7" name="Google Shape;777;p10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5" name="Google Shape;785;p10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3" name="Google Shape;793;p10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0" name="Google Shape;800;p10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7" name="Google Shape;807;p10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5" name="Google Shape;815;p10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2" name="Google Shape;822;p11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0" name="Google Shape;830;p11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7" name="Google Shape;837;p11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p11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4" name="Google Shape;854;p11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1" name="Google Shape;861;p11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8" name="Google Shape;868;p11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6" name="Google Shape;876;p11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3" name="Google Shape;883;p11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3" name="Google Shape;893;p119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0" name="Google Shape;900;p120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7" name="Google Shape;907;p12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6" name="Google Shape;916;p12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2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2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2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2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27:notes"/>
          <p:cNvSpPr txBox="1"/>
          <p:nvPr/>
        </p:nvSpPr>
        <p:spPr>
          <a:xfrm>
            <a:off x="4017962" y="9721850"/>
            <a:ext cx="305435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106</a:t>
            </a:fld>
            <a:endParaRPr/>
          </a:p>
        </p:txBody>
      </p:sp>
      <p:sp>
        <p:nvSpPr>
          <p:cNvPr id="953" name="Google Shape;953;p1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106</a:t>
            </a:fld>
            <a:endParaRPr/>
          </a:p>
        </p:txBody>
      </p:sp>
      <p:sp>
        <p:nvSpPr>
          <p:cNvPr id="954" name="Google Shape;954;p127:notes"/>
          <p:cNvSpPr txBox="1"/>
          <p:nvPr/>
        </p:nvSpPr>
        <p:spPr>
          <a:xfrm>
            <a:off x="711200" y="4860925"/>
            <a:ext cx="5665787" cy="458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2" cy="457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9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9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9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0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0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30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0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0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1"/>
          <p:cNvSpPr txBox="1">
            <a:spLocks noGrp="1"/>
          </p:cNvSpPr>
          <p:nvPr>
            <p:ph type="title"/>
          </p:nvPr>
        </p:nvSpPr>
        <p:spPr>
          <a:xfrm rot="5400000">
            <a:off x="5752980" y="2638755"/>
            <a:ext cx="7109944" cy="2500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1"/>
          <p:cNvSpPr txBox="1">
            <a:spLocks noGrp="1"/>
          </p:cNvSpPr>
          <p:nvPr>
            <p:ph type="body" idx="1"/>
          </p:nvPr>
        </p:nvSpPr>
        <p:spPr>
          <a:xfrm rot="5400000">
            <a:off x="667165" y="221856"/>
            <a:ext cx="7109944" cy="733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1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1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1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2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2"/>
          <p:cNvSpPr txBox="1">
            <a:spLocks noGrp="1"/>
          </p:cNvSpPr>
          <p:nvPr>
            <p:ph type="body" idx="1"/>
          </p:nvPr>
        </p:nvSpPr>
        <p:spPr>
          <a:xfrm rot="5400000">
            <a:off x="2545556" y="-278607"/>
            <a:ext cx="4989512" cy="907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32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2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2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3"/>
          <p:cNvSpPr txBox="1"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3"/>
          <p:cNvSpPr>
            <a:spLocks noGrp="1"/>
          </p:cNvSpPr>
          <p:nvPr>
            <p:ph type="pic" idx="2"/>
          </p:nvPr>
        </p:nvSpPr>
        <p:spPr>
          <a:xfrm>
            <a:off x="1975873" y="675471"/>
            <a:ext cx="6048375" cy="453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R="0" lvl="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33"/>
          <p:cNvSpPr txBox="1">
            <a:spLocks noGrp="1"/>
          </p:cNvSpPr>
          <p:nvPr>
            <p:ph type="body" idx="1"/>
          </p:nvPr>
        </p:nvSpPr>
        <p:spPr>
          <a:xfrm>
            <a:off x="1975873" y="5916496"/>
            <a:ext cx="6048375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marL="1371600" lvl="2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" name="Google Shape;37;p133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3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3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4"/>
          <p:cNvSpPr txBox="1">
            <a:spLocks noGrp="1"/>
          </p:cNvSpPr>
          <p:nvPr>
            <p:ph type="title"/>
          </p:nvPr>
        </p:nvSpPr>
        <p:spPr>
          <a:xfrm>
            <a:off x="504033" y="300987"/>
            <a:ext cx="3316456" cy="128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4"/>
          <p:cNvSpPr txBox="1">
            <a:spLocks noGrp="1"/>
          </p:cNvSpPr>
          <p:nvPr>
            <p:ph type="body" idx="1"/>
          </p:nvPr>
        </p:nvSpPr>
        <p:spPr>
          <a:xfrm>
            <a:off x="3941246" y="300989"/>
            <a:ext cx="5635349" cy="64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45085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  <a:defRPr sz="3500"/>
            </a:lvl1pPr>
            <a:lvl2pPr marL="914400" lvl="1" indent="-42545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–"/>
              <a:defRPr sz="3100"/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6pPr>
            <a:lvl7pPr marL="3200400" lvl="6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7pPr>
            <a:lvl8pPr marL="3657600" lvl="7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8pPr>
            <a:lvl9pPr marL="4114800" lvl="8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9pPr>
          </a:lstStyle>
          <a:p>
            <a:endParaRPr/>
          </a:p>
        </p:txBody>
      </p:sp>
      <p:sp>
        <p:nvSpPr>
          <p:cNvPr id="43" name="Google Shape;43;p134"/>
          <p:cNvSpPr txBox="1">
            <a:spLocks noGrp="1"/>
          </p:cNvSpPr>
          <p:nvPr>
            <p:ph type="body" idx="2"/>
          </p:nvPr>
        </p:nvSpPr>
        <p:spPr>
          <a:xfrm>
            <a:off x="504033" y="1581934"/>
            <a:ext cx="3316456" cy="517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marL="1371600" lvl="2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4" name="Google Shape;44;p134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4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4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5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5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5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5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6"/>
          <p:cNvSpPr txBox="1"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6"/>
          <p:cNvSpPr txBox="1">
            <a:spLocks noGrp="1"/>
          </p:cNvSpPr>
          <p:nvPr>
            <p:ph type="body" idx="1"/>
          </p:nvPr>
        </p:nvSpPr>
        <p:spPr>
          <a:xfrm>
            <a:off x="504031" y="1692179"/>
            <a:ext cx="4454027" cy="70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457200" lvl="0" indent="-228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1pPr>
            <a:lvl2pPr marL="914400" lvl="1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5pPr>
            <a:lvl6pPr marL="2743200" lvl="5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6pPr>
            <a:lvl7pPr marL="3200400" lvl="6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7pPr>
            <a:lvl8pPr marL="3657600" lvl="7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8pPr>
            <a:lvl9pPr marL="4114800" lvl="8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55" name="Google Shape;55;p136"/>
          <p:cNvSpPr txBox="1">
            <a:spLocks noGrp="1"/>
          </p:cNvSpPr>
          <p:nvPr>
            <p:ph type="body" idx="2"/>
          </p:nvPr>
        </p:nvSpPr>
        <p:spPr>
          <a:xfrm>
            <a:off x="504031" y="2397397"/>
            <a:ext cx="4454027" cy="435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136"/>
          <p:cNvSpPr txBox="1">
            <a:spLocks noGrp="1"/>
          </p:cNvSpPr>
          <p:nvPr>
            <p:ph type="body" idx="3"/>
          </p:nvPr>
        </p:nvSpPr>
        <p:spPr>
          <a:xfrm>
            <a:off x="5120818" y="1692179"/>
            <a:ext cx="4455776" cy="70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457200" lvl="0" indent="-228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1pPr>
            <a:lvl2pPr marL="914400" lvl="1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5pPr>
            <a:lvl6pPr marL="2743200" lvl="5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6pPr>
            <a:lvl7pPr marL="3200400" lvl="6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7pPr>
            <a:lvl8pPr marL="3657600" lvl="7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8pPr>
            <a:lvl9pPr marL="4114800" lvl="8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57" name="Google Shape;57;p136"/>
          <p:cNvSpPr txBox="1">
            <a:spLocks noGrp="1"/>
          </p:cNvSpPr>
          <p:nvPr>
            <p:ph type="body" idx="4"/>
          </p:nvPr>
        </p:nvSpPr>
        <p:spPr>
          <a:xfrm>
            <a:off x="5120818" y="2397397"/>
            <a:ext cx="4455776" cy="435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8" name="Google Shape;58;p136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6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6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7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7"/>
          <p:cNvSpPr txBox="1">
            <a:spLocks noGrp="1"/>
          </p:cNvSpPr>
          <p:nvPr>
            <p:ph type="body" idx="1"/>
          </p:nvPr>
        </p:nvSpPr>
        <p:spPr>
          <a:xfrm>
            <a:off x="554787" y="1944167"/>
            <a:ext cx="4917805" cy="55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42545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37"/>
          <p:cNvSpPr txBox="1">
            <a:spLocks noGrp="1"/>
          </p:cNvSpPr>
          <p:nvPr>
            <p:ph type="body" idx="2"/>
          </p:nvPr>
        </p:nvSpPr>
        <p:spPr>
          <a:xfrm>
            <a:off x="5640602" y="1944167"/>
            <a:ext cx="4917805" cy="55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42545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37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7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7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8"/>
          <p:cNvSpPr txBox="1">
            <a:spLocks noGrp="1"/>
          </p:cNvSpPr>
          <p:nvPr>
            <p:ph type="title"/>
          </p:nvPr>
        </p:nvSpPr>
        <p:spPr>
          <a:xfrm>
            <a:off x="796300" y="4857793"/>
            <a:ext cx="8568531" cy="150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8"/>
          <p:cNvSpPr txBox="1">
            <a:spLocks noGrp="1"/>
          </p:cNvSpPr>
          <p:nvPr>
            <p:ph type="body" idx="1"/>
          </p:nvPr>
        </p:nvSpPr>
        <p:spPr>
          <a:xfrm>
            <a:off x="796300" y="3204115"/>
            <a:ext cx="8568531" cy="165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38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8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8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9"/>
          <p:cNvSpPr txBox="1">
            <a:spLocks noGrp="1"/>
          </p:cNvSpPr>
          <p:nvPr>
            <p:ph type="ctrTitle"/>
          </p:nvPr>
        </p:nvSpPr>
        <p:spPr>
          <a:xfrm>
            <a:off x="756047" y="2348401"/>
            <a:ext cx="8568531" cy="1620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9"/>
          <p:cNvSpPr txBox="1">
            <a:spLocks noGrp="1"/>
          </p:cNvSpPr>
          <p:nvPr>
            <p:ph type="subTitle" idx="1"/>
          </p:nvPr>
        </p:nvSpPr>
        <p:spPr>
          <a:xfrm>
            <a:off x="1512094" y="4283817"/>
            <a:ext cx="7056438" cy="193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5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0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39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9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9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8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28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45085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5450" algn="l" rtl="0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8"/>
          <p:cNvSpPr txBox="1">
            <a:spLocks noGrp="1"/>
          </p:cNvSpPr>
          <p:nvPr>
            <p:ph type="dt" idx="10"/>
          </p:nvPr>
        </p:nvSpPr>
        <p:spPr>
          <a:xfrm>
            <a:off x="503237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28"/>
          <p:cNvSpPr txBox="1">
            <a:spLocks noGrp="1"/>
          </p:cNvSpPr>
          <p:nvPr>
            <p:ph type="ftr" idx="11"/>
          </p:nvPr>
        </p:nvSpPr>
        <p:spPr>
          <a:xfrm>
            <a:off x="3444875" y="7007225"/>
            <a:ext cx="31908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28"/>
          <p:cNvSpPr txBox="1">
            <a:spLocks noGrp="1"/>
          </p:cNvSpPr>
          <p:nvPr>
            <p:ph type="sldNum" idx="12"/>
          </p:nvPr>
        </p:nvSpPr>
        <p:spPr>
          <a:xfrm>
            <a:off x="7224712" y="7007225"/>
            <a:ext cx="2352675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968375" y="1847850"/>
            <a:ext cx="8393112" cy="1481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25" rIns="0" bIns="0" anchor="ctr" anchorCtr="0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Programare orientată pe obiecte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suport de curs -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28600" y="3733800"/>
            <a:ext cx="34496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Andrei Păun</a:t>
            </a:r>
            <a:endParaRPr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Anca Dobrovăț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052762" y="4999037"/>
            <a:ext cx="4044950" cy="163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universitar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2025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Semestrul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Seriile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13, 14 </a:t>
            </a:r>
            <a:r>
              <a:rPr lang="en-US" sz="2000" b="1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15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Curs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9532937" y="7062787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b" anchorCtr="0">
            <a:noAutofit/>
          </a:bodyPr>
          <a:lstStyle/>
          <a:p>
            <a:pPr marL="0" marR="0" lvl="0" indent="0" algn="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t>2</a:t>
            </a:fld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2322512" y="979487"/>
            <a:ext cx="55403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cursului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457200" y="1933575"/>
            <a:ext cx="9232900" cy="497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AutoNum type="arabicPeriod"/>
            </a:pP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AutoNum type="arabicPeriod"/>
            </a:pPr>
            <a:r>
              <a:rPr lang="en-US"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Pointeri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şi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referințe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AutoNum type="arabicPeriod"/>
            </a:pPr>
            <a:r>
              <a:rPr lang="en-US"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endParaRPr lang="en-US" sz="24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Mutable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endParaRPr lang="en-US" sz="24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Pointerii în C/C++</a:t>
            </a:r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261475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variabilă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ţine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adresă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memorie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un tip,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compilatorul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știe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tipul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date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către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care se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pointează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Operațiile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aritmetice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țin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 de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tipul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date din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memorie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++ ==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pointer+sizeof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(tip)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Definiție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tip *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nume_pointer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endParaRPr dirty="0"/>
          </a:p>
          <a:p>
            <a:pPr marL="817562" lvl="1" indent="-314324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tip*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nume_pointer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</p:txBody>
      </p:sp>
      <p:sp>
        <p:nvSpPr>
          <p:cNvPr id="119" name="Google Shape;119;p1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Operatori</a:t>
            </a: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pointeri</a:t>
            </a:r>
            <a:endParaRPr dirty="0"/>
          </a:p>
        </p:txBody>
      </p:sp>
      <p:sp>
        <p:nvSpPr>
          <p:cNvPr id="126" name="Google Shape;126;p20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*, &amp;,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 (</a:t>
            </a:r>
            <a:r>
              <a:rPr lang="en-US" sz="3500" b="0" i="1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cast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*== “la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adresa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&amp;==“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adresa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lui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=7, *j;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j=&amp;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*j=9;</a:t>
            </a:r>
            <a:endParaRPr dirty="0"/>
          </a:p>
        </p:txBody>
      </p:sp>
      <p:sp>
        <p:nvSpPr>
          <p:cNvPr id="127" name="Google Shape;127;p2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5380037" y="1646238"/>
            <a:ext cx="4537075" cy="14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2000" b="0" i="0" u="none" dirty="0" err="1">
                <a:solidFill>
                  <a:schemeClr val="dk1"/>
                </a:solidFill>
                <a:sym typeface="Calibri"/>
              </a:rPr>
              <a:t>Schimbarea</a:t>
            </a:r>
            <a:r>
              <a:rPr lang="en-US" sz="2000" b="0" i="0" u="none" dirty="0">
                <a:solidFill>
                  <a:schemeClr val="dk1"/>
                </a:solidFill>
                <a:sym typeface="Calibri"/>
              </a:rPr>
              <a:t> de tip nu e </a:t>
            </a:r>
            <a:r>
              <a:rPr lang="en-US" sz="2000" b="0" i="0" u="none" dirty="0" err="1">
                <a:solidFill>
                  <a:schemeClr val="dk1"/>
                </a:solidFill>
                <a:sym typeface="Calibri"/>
              </a:rPr>
              <a:t>controlată</a:t>
            </a:r>
            <a:r>
              <a:rPr lang="en-US" sz="2000" b="0" i="0" u="none" dirty="0">
                <a:solidFill>
                  <a:schemeClr val="dk1"/>
                </a:solidFill>
                <a:sym typeface="Calibri"/>
              </a:rPr>
              <a:t> de </a:t>
            </a:r>
            <a:r>
              <a:rPr lang="en-US" sz="2000" b="0" i="0" u="none" dirty="0" err="1">
                <a:solidFill>
                  <a:schemeClr val="dk1"/>
                </a:solidFill>
                <a:sym typeface="Calibri"/>
              </a:rPr>
              <a:t>compilator</a:t>
            </a:r>
            <a:endParaRPr sz="2000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2000" b="0" i="0" u="none" dirty="0" err="1">
                <a:solidFill>
                  <a:schemeClr val="dk1"/>
                </a:solidFill>
                <a:sym typeface="Calibri"/>
              </a:rPr>
              <a:t>în</a:t>
            </a:r>
            <a:r>
              <a:rPr lang="en-US" sz="2000" b="0" i="0" u="none" dirty="0">
                <a:solidFill>
                  <a:schemeClr val="dk1"/>
                </a:solidFill>
                <a:sym typeface="Calibri"/>
              </a:rPr>
              <a:t> C++ </a:t>
            </a:r>
            <a:r>
              <a:rPr lang="en-US" sz="2000" b="0" i="0" u="none" dirty="0" err="1">
                <a:solidFill>
                  <a:schemeClr val="dk1"/>
                </a:solidFill>
                <a:sym typeface="Calibri"/>
              </a:rPr>
              <a:t>conversiile</a:t>
            </a:r>
            <a:r>
              <a:rPr lang="en-US" sz="2000" b="0" i="0" u="none" dirty="0">
                <a:solidFill>
                  <a:schemeClr val="dk1"/>
                </a:solidFill>
                <a:sym typeface="Calibri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sym typeface="Calibri"/>
              </a:rPr>
              <a:t>trebuiesc</a:t>
            </a:r>
            <a:r>
              <a:rPr lang="en-US" sz="2000" b="0" i="0" u="none" dirty="0">
                <a:solidFill>
                  <a:schemeClr val="dk1"/>
                </a:solidFill>
                <a:sym typeface="Calibri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sym typeface="Calibri"/>
              </a:rPr>
              <a:t>făcute</a:t>
            </a:r>
            <a:r>
              <a:rPr lang="en-US" sz="2000" b="0" i="0" u="none" dirty="0">
                <a:solidFill>
                  <a:schemeClr val="dk1"/>
                </a:solidFill>
                <a:sym typeface="Calibri"/>
              </a:rPr>
              <a:t> cu </a:t>
            </a:r>
            <a:r>
              <a:rPr lang="en-US" sz="2000" b="0" i="0" u="none" dirty="0" err="1">
                <a:solidFill>
                  <a:schemeClr val="dk1"/>
                </a:solidFill>
                <a:sym typeface="Calibri"/>
              </a:rPr>
              <a:t>schimbarea</a:t>
            </a:r>
            <a:r>
              <a:rPr lang="en-US" sz="2000" b="0" i="0" u="none" dirty="0">
                <a:solidFill>
                  <a:schemeClr val="dk1"/>
                </a:solidFill>
                <a:sym typeface="Calibri"/>
              </a:rPr>
              <a:t> de tip</a:t>
            </a:r>
            <a:endParaRPr sz="2000" dirty="0"/>
          </a:p>
        </p:txBody>
      </p:sp>
      <p:sp>
        <p:nvSpPr>
          <p:cNvPr id="135" name="Google Shape;135;p2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11" y="1232522"/>
            <a:ext cx="4476750" cy="217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75811" y="3695524"/>
            <a:ext cx="36968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chemeClr val="dk1"/>
                </a:solidFill>
              </a:rPr>
              <a:t>Pe</a:t>
            </a:r>
            <a:r>
              <a:rPr lang="en-US" sz="2000" b="1" dirty="0">
                <a:solidFill>
                  <a:schemeClr val="dk1"/>
                </a:solidFill>
              </a:rPr>
              <a:t> </a:t>
            </a:r>
            <a:r>
              <a:rPr lang="en-US" sz="2000" b="1" dirty="0" err="1">
                <a:solidFill>
                  <a:schemeClr val="dk1"/>
                </a:solidFill>
              </a:rPr>
              <a:t>tipuri</a:t>
            </a:r>
            <a:r>
              <a:rPr lang="en-US" sz="2000" b="1" dirty="0">
                <a:solidFill>
                  <a:schemeClr val="dk1"/>
                </a:solidFill>
              </a:rPr>
              <a:t> definite de </a:t>
            </a:r>
            <a:r>
              <a:rPr lang="en-US" sz="2000" b="1" dirty="0" err="1">
                <a:solidFill>
                  <a:schemeClr val="dk1"/>
                </a:solidFill>
              </a:rPr>
              <a:t>utilizator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275811" y="831418"/>
            <a:ext cx="2688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chemeClr val="dk1"/>
                </a:solidFill>
              </a:rPr>
              <a:t>Pe</a:t>
            </a:r>
            <a:r>
              <a:rPr lang="en-US" sz="2000" b="1" dirty="0">
                <a:solidFill>
                  <a:schemeClr val="dk1"/>
                </a:solidFill>
              </a:rPr>
              <a:t> </a:t>
            </a:r>
            <a:r>
              <a:rPr lang="en-US" sz="2000" b="1" dirty="0" err="1">
                <a:solidFill>
                  <a:schemeClr val="dk1"/>
                </a:solidFill>
              </a:rPr>
              <a:t>tipuri</a:t>
            </a:r>
            <a:r>
              <a:rPr lang="en-US" sz="2000" b="1" dirty="0">
                <a:solidFill>
                  <a:schemeClr val="dk1"/>
                </a:solidFill>
              </a:rPr>
              <a:t> </a:t>
            </a:r>
            <a:r>
              <a:rPr lang="en-US" sz="2000" b="1" dirty="0" err="1">
                <a:solidFill>
                  <a:schemeClr val="dk1"/>
                </a:solidFill>
              </a:rPr>
              <a:t>predefinite</a:t>
            </a:r>
            <a:endParaRPr lang="en-US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11" y="4344712"/>
            <a:ext cx="6667500" cy="26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133;p21"/>
          <p:cNvSpPr txBox="1">
            <a:spLocks/>
          </p:cNvSpPr>
          <p:nvPr/>
        </p:nvSpPr>
        <p:spPr>
          <a:xfrm>
            <a:off x="4674773" y="5158064"/>
            <a:ext cx="4537075" cy="14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77825" indent="-377825">
              <a:spcBef>
                <a:spcPts val="0"/>
              </a:spcBef>
              <a:buSzPts val="3500"/>
            </a:pPr>
            <a:r>
              <a:rPr lang="en-US" sz="2000" dirty="0" err="1"/>
              <a:t>Atentie</a:t>
            </a:r>
            <a:r>
              <a:rPr lang="en-US" sz="2000" dirty="0"/>
              <a:t> la </a:t>
            </a:r>
            <a:r>
              <a:rPr lang="en-US" sz="2000" dirty="0" err="1"/>
              <a:t>necesitatea</a:t>
            </a:r>
            <a:r>
              <a:rPr lang="en-US" sz="2000" dirty="0"/>
              <a:t> </a:t>
            </a:r>
            <a:r>
              <a:rPr lang="en-US" sz="2000" dirty="0" err="1"/>
              <a:t>supraincarcarii</a:t>
            </a:r>
            <a:r>
              <a:rPr lang="en-US" sz="2000" dirty="0"/>
              <a:t> </a:t>
            </a:r>
            <a:r>
              <a:rPr lang="en-US" sz="2000" dirty="0" err="1"/>
              <a:t>operatorilor</a:t>
            </a:r>
            <a:r>
              <a:rPr lang="en-US" sz="2000" dirty="0"/>
              <a:t> (=, cast </a:t>
            </a:r>
            <a:r>
              <a:rPr lang="en-US" sz="2000" dirty="0" err="1"/>
              <a:t>etc</a:t>
            </a:r>
            <a:r>
              <a:rPr lang="en-US" sz="2000" dirty="0"/>
              <a:t>)</a:t>
            </a:r>
            <a:endParaRPr lang="vi-V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503237" y="4635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Aritmetica pe pointeri</a:t>
            </a: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pointer++; pointer--;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pointer+7;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pointer-4;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pointer1-pointer2;  întoarce un întreg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comparații: &lt;,&gt;,==, etc.</a:t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 şi array-uri</a:t>
            </a:r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numele array-ului este pointer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lista[5]==*(lista+5)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sz="3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de pointeri, numele listei este un pointer către pointeri (dublă indirectare)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**p;   (dublă indirectare) 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152" name="Google Shape;15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C++: Array-uri de obiecte</a:t>
            </a:r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</a:t>
            </a:r>
            <a:r>
              <a:rPr lang="en-US" sz="32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ă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un tip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putem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array-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uri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 date de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orice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tip (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inclusiv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pot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neinițializate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inițializate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clasa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[10];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clasa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[10]={1,2,3,4,5,6,7,8,9,0};</a:t>
            </a:r>
            <a:endParaRPr dirty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cazul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inițializat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avem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nevoie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constructor care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primește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parametru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întreg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182" name="Google Shape;182;p2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3245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/>
        </p:nvSpPr>
        <p:spPr>
          <a:xfrm>
            <a:off x="1676400" y="1036637"/>
            <a:ext cx="5040312" cy="594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4A43"/>
                </a:solidFill>
                <a:latin typeface="Arial"/>
                <a:ea typeface="Arial"/>
                <a:cs typeface="Arial"/>
                <a:sym typeface="Arial"/>
              </a:rPr>
              <a:t>#include </a:t>
            </a:r>
            <a:r>
              <a:rPr lang="en-US" sz="20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>
                <a:solidFill>
                  <a:srgbClr val="40015A"/>
                </a:solidFill>
                <a:latin typeface="Arial"/>
                <a:ea typeface="Arial"/>
                <a:cs typeface="Arial"/>
                <a:sym typeface="Arial"/>
              </a:rPr>
              <a:t>iostream</a:t>
            </a:r>
            <a:r>
              <a:rPr lang="en-US" sz="20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666616"/>
                </a:solidFill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 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int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-US" sz="2000" b="0" i="0" u="none">
                <a:solidFill>
                  <a:srgbClr val="E34AD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cl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// constructor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int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get_i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4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cl ob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// initializers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int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for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++)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3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603000"/>
                </a:solidFill>
                <a:latin typeface="Arial"/>
                <a:ea typeface="Arial"/>
                <a:cs typeface="Arial"/>
                <a:sym typeface="Arial"/>
              </a:rPr>
              <a:t>		cout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].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get_i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 b="0" i="0" u="none">
                <a:solidFill>
                  <a:srgbClr val="0F69FF"/>
                </a:solidFill>
                <a:latin typeface="Arial"/>
                <a:ea typeface="Arial"/>
                <a:cs typeface="Arial"/>
                <a:sym typeface="Arial"/>
              </a:rPr>
              <a:t>\n</a:t>
            </a:r>
            <a:r>
              <a:rPr lang="en-US" sz="20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return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89" name="Google Shape;189;p28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7683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body" idx="1"/>
          </p:nvPr>
        </p:nvSpPr>
        <p:spPr>
          <a:xfrm>
            <a:off x="755650" y="1722437"/>
            <a:ext cx="9156700" cy="4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inițializare pentru constructori cu mai mulți parametri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sz="3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clasa lista[3]={clasa(1,5), clasa(2,4), clasa(3,3)};</a:t>
            </a:r>
            <a:endParaRPr/>
          </a:p>
        </p:txBody>
      </p:sp>
      <p:sp>
        <p:nvSpPr>
          <p:cNvPr id="196" name="Google Shape;196;p2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197" name="Google Shape;1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0208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definirea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listelor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neinițializate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constructor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fără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parametri</a:t>
            </a:r>
            <a:endParaRPr dirty="0"/>
          </a:p>
          <a:p>
            <a:pPr marL="377825" lvl="0" indent="-2000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dacă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2800" b="0" i="0" u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vrem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inițializare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neiniţializare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overload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constructor (cu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fără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parametri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377825" lvl="0" indent="-200025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7770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503237" y="4635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 către obiecte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body" idx="1"/>
          </p:nvPr>
        </p:nvSpPr>
        <p:spPr>
          <a:xfrm>
            <a:off x="503237" y="1992312"/>
            <a:ext cx="9074150" cy="33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obiectele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sunt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memorie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putem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avea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către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accesarea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membrilor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unei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clase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dirty="0"/>
          </a:p>
          <a:p>
            <a:pPr marL="817562" lvl="1" indent="-314324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loc de .</a:t>
            </a:r>
            <a:endParaRPr dirty="0"/>
          </a:p>
          <a:p>
            <a:pPr marL="377825" lvl="0" indent="-180975" algn="l" rtl="0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12" name="Google Shape;21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64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C++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tipurile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pointerilor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trebuie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să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 la </a:t>
            </a:r>
            <a:r>
              <a:rPr lang="en-US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27" name="Google Shape;2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32" y="2709310"/>
            <a:ext cx="8211729" cy="326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775841" y="6321063"/>
            <a:ext cx="83425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77825" lvl="0" indent="-377825">
              <a:spcBef>
                <a:spcPts val="620"/>
              </a:spcBef>
              <a:buClr>
                <a:schemeClr val="dk1"/>
              </a:buClr>
              <a:buSzPts val="3100"/>
            </a:pPr>
            <a:r>
              <a:rPr lang="vi-V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poate face cu schimbarea de tip (type casting) dar ieșim din verificările automate făcute de C++</a:t>
            </a:r>
            <a:endParaRPr lang="vi-VN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>
            <a:spLocks noGrp="1"/>
          </p:cNvSpPr>
          <p:nvPr>
            <p:ph type="title"/>
          </p:nvPr>
        </p:nvSpPr>
        <p:spPr>
          <a:xfrm>
            <a:off x="503237" y="4635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pointerul </a:t>
            </a:r>
            <a:r>
              <a:rPr lang="en-US" sz="49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orice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funcție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membru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pointerul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 argument implicit) care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arată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către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obiectul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asociat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funcția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respectivă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(pointer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către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tipul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clasei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funcțiile</a:t>
            </a:r>
            <a:r>
              <a:rPr lang="en-US" sz="28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prieten</a:t>
            </a:r>
            <a:r>
              <a:rPr lang="en-US" sz="28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nu au </a:t>
            </a:r>
            <a:r>
              <a:rPr lang="en-US" sz="2800" b="0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pointerul</a:t>
            </a:r>
            <a:r>
              <a:rPr lang="en-US" sz="28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this</a:t>
            </a:r>
            <a:endParaRPr dirty="0">
              <a:solidFill>
                <a:srgbClr val="FF0000"/>
              </a:solidFill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funcțiile</a:t>
            </a:r>
            <a:r>
              <a:rPr lang="en-US" sz="28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statice</a:t>
            </a:r>
            <a:r>
              <a:rPr lang="en-US" sz="28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nu au </a:t>
            </a:r>
            <a:r>
              <a:rPr lang="en-US" sz="2800" b="0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pointerul</a:t>
            </a:r>
            <a:r>
              <a:rPr lang="en-US" sz="28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this</a:t>
            </a:r>
            <a:endParaRPr dirty="0">
              <a:solidFill>
                <a:srgbClr val="FF0000"/>
              </a:solidFill>
            </a:endParaRPr>
          </a:p>
          <a:p>
            <a:pPr marL="377825" lvl="0" indent="-200025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35" name="Google Shape;23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 către clase derivate</a:t>
            </a:r>
            <a:endParaRPr/>
          </a:p>
        </p:txBody>
      </p:sp>
      <p:sp>
        <p:nvSpPr>
          <p:cNvPr id="250" name="Google Shape;250;p36"/>
          <p:cNvSpPr txBox="1">
            <a:spLocks noGrp="1"/>
          </p:cNvSpPr>
          <p:nvPr>
            <p:ph type="body" idx="1"/>
          </p:nvPr>
        </p:nvSpPr>
        <p:spPr>
          <a:xfrm>
            <a:off x="503237" y="1914525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clasa de bază B şi clasa derivată D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pointer către B poate fi folosit şi cu D;</a:t>
            </a:r>
            <a:endParaRPr/>
          </a:p>
          <a:p>
            <a:pPr marL="377825" lvl="0" indent="-15557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endParaRPr sz="3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3500" b="0" i="0" u="none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500" b="0" i="0" u="none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r>
              <a:rPr lang="en-US" sz="3500" b="0" i="0" u="none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500" b="0" i="0" u="none">
                <a:solidFill>
                  <a:srgbClr val="008C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500" b="0" i="0" u="none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500" b="0" i="0" u="none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oo</a:t>
            </a:r>
            <a:r>
              <a:rPr lang="en-US" sz="3500" b="0" i="0" u="none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500" b="0" i="0" u="none">
                <a:solidFill>
                  <a:srgbClr val="008C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500" b="0" i="0" u="none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500" b="0" i="0" u="none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500" b="0" i="0" u="none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=&amp;</a:t>
            </a: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3500" b="0" i="0" u="none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500" b="0" i="0" u="none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=&amp;</a:t>
            </a: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</a:t>
            </a:r>
            <a:r>
              <a:rPr lang="en-US" sz="3500" b="0" i="0" u="none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51" name="Google Shape;251;p3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52" name="Google Shape;25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/>
        </p:nvSpPr>
        <p:spPr>
          <a:xfrm>
            <a:off x="4049712" y="731837"/>
            <a:ext cx="5791200" cy="594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>
                <a:solidFill>
                  <a:srgbClr val="4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-US" sz="2000" b="1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base 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</a:t>
            </a:r>
            <a:r>
              <a:rPr lang="en-US" sz="2000" b="0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derived d</a:t>
            </a:r>
            <a:r>
              <a:rPr lang="en-US" sz="2000" b="0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 b="0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set_i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0" u="none" dirty="0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b="0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0" i="0" u="none" dirty="0" err="1">
                <a:solidFill>
                  <a:srgbClr val="603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get_i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 b="0" i="0" u="none" dirty="0">
                <a:solidFill>
                  <a:srgbClr val="0000E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 b="0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   </a:t>
            </a:r>
            <a:r>
              <a:rPr lang="en-US" sz="2000" b="0" i="0" u="none" dirty="0" err="1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bp</a:t>
            </a:r>
            <a:r>
              <a:rPr lang="en-US" sz="2000" b="0" i="0" u="none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en-US" sz="2000" b="0" i="0" u="none" dirty="0" err="1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set_j</a:t>
            </a:r>
            <a:r>
              <a:rPr lang="en-US" sz="2000" b="0" i="0" u="none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(88); // error</a:t>
            </a: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   </a:t>
            </a:r>
            <a:r>
              <a:rPr lang="en-US" sz="2000" b="0" i="0" u="none" dirty="0" err="1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000" b="0" i="0" u="none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 &lt;&lt; </a:t>
            </a:r>
            <a:r>
              <a:rPr lang="en-US" sz="2000" b="0" i="0" u="none" dirty="0" err="1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bp</a:t>
            </a:r>
            <a:r>
              <a:rPr lang="en-US" sz="2000" b="0" i="0" u="none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en-US" sz="2000" b="0" i="0" u="none" dirty="0" err="1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get_j</a:t>
            </a:r>
            <a:r>
              <a:rPr lang="en-US" sz="2000" b="0" i="0" u="none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(); // error</a:t>
            </a: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  <a:buFont typeface="Arial"/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3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((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derived 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*)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)-&gt;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set_j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0" u="none" dirty="0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88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b="0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3000"/>
              </a:buClr>
              <a:buSzPts val="2000"/>
              <a:buFont typeface="Arial"/>
              <a:buNone/>
            </a:pPr>
            <a:r>
              <a:rPr lang="en-US" sz="2000" b="0" i="0" u="none" dirty="0" err="1">
                <a:solidFill>
                  <a:srgbClr val="603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((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derived 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*)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)-&gt;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get_j</a:t>
            </a:r>
            <a:r>
              <a:rPr lang="en-US" sz="2000" b="0" i="0" u="none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000" b="0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 b="1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59" name="Google Shape;25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7"/>
          <p:cNvSpPr txBox="1"/>
          <p:nvPr/>
        </p:nvSpPr>
        <p:spPr>
          <a:xfrm>
            <a:off x="457200" y="1500187"/>
            <a:ext cx="3440112" cy="403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004A43"/>
                </a:solidFill>
                <a:latin typeface="Arial"/>
                <a:ea typeface="Arial"/>
                <a:cs typeface="Arial"/>
                <a:sym typeface="Arial"/>
              </a:rPr>
              <a:t>#include </a:t>
            </a:r>
            <a:r>
              <a:rPr lang="en-US" sz="1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600" b="0" i="0" u="none">
                <a:solidFill>
                  <a:srgbClr val="40015A"/>
                </a:solidFill>
                <a:latin typeface="Arial"/>
                <a:ea typeface="Arial"/>
                <a:cs typeface="Arial"/>
                <a:sym typeface="Arial"/>
              </a:rPr>
              <a:t>iostream</a:t>
            </a:r>
            <a:r>
              <a:rPr lang="en-US" sz="1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6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666616"/>
                </a:solidFill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-US" sz="1600" b="1" i="0" u="none">
                <a:solidFill>
                  <a:srgbClr val="E34AD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set_i</a:t>
            </a:r>
            <a:r>
              <a:rPr lang="en-US" sz="16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num</a:t>
            </a:r>
            <a:r>
              <a:rPr lang="en-US" sz="16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16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get_i</a:t>
            </a:r>
            <a:r>
              <a:rPr lang="en-US" sz="16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derived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-US" sz="1600" b="1" i="0" u="none">
                <a:solidFill>
                  <a:srgbClr val="E34AD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set_j</a:t>
            </a:r>
            <a:r>
              <a:rPr lang="en-US" sz="16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num</a:t>
            </a:r>
            <a:r>
              <a:rPr lang="en-US" sz="16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-US" sz="16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get_j</a:t>
            </a:r>
            <a:r>
              <a:rPr lang="en-US" sz="16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 către clase derivate</a:t>
            </a:r>
            <a:endParaRPr/>
          </a:p>
        </p:txBody>
      </p:sp>
      <p:sp>
        <p:nvSpPr>
          <p:cNvPr id="266" name="Google Shape;266;p38"/>
          <p:cNvSpPr txBox="1">
            <a:spLocks noGrp="1"/>
          </p:cNvSpPr>
          <p:nvPr>
            <p:ph type="body" idx="1"/>
          </p:nvPr>
        </p:nvSpPr>
        <p:spPr>
          <a:xfrm>
            <a:off x="503237" y="1838325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ce merge şi pentru clase derivate?</a:t>
            </a:r>
            <a:endParaRPr/>
          </a:p>
          <a:p>
            <a:pPr marL="817562" lvl="1" indent="-314324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</a:pPr>
            <a:r>
              <a:rPr lang="en-US" sz="3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că acea clasă derivată funcționează ca şi clasa de bază plus alte detalii</a:t>
            </a:r>
            <a:endParaRPr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aritmetica pe pointeri: nu funcționează dacă incrementăm un pointer către bază şi suntem în clasa derivată</a:t>
            </a:r>
            <a:endParaRPr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folosesc pentru polimorfism la execuție (funcții virtuale)</a:t>
            </a:r>
            <a:endParaRPr/>
          </a:p>
        </p:txBody>
      </p:sp>
      <p:sp>
        <p:nvSpPr>
          <p:cNvPr id="267" name="Google Shape;267;p38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/>
        </p:nvSpPr>
        <p:spPr>
          <a:xfrm>
            <a:off x="304800" y="1036637"/>
            <a:ext cx="5040312" cy="625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// This program contains an error.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4A43"/>
                </a:solidFill>
                <a:latin typeface="Arial"/>
                <a:ea typeface="Arial"/>
                <a:cs typeface="Arial"/>
                <a:sym typeface="Arial"/>
              </a:rPr>
              <a:t>#include </a:t>
            </a:r>
            <a:r>
              <a:rPr lang="en-US" sz="20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000" b="0" i="0" u="none">
                <a:solidFill>
                  <a:srgbClr val="40015A"/>
                </a:solidFill>
                <a:latin typeface="Arial"/>
                <a:ea typeface="Arial"/>
                <a:cs typeface="Arial"/>
                <a:sym typeface="Arial"/>
              </a:rPr>
              <a:t>iostream</a:t>
            </a:r>
            <a:r>
              <a:rPr lang="en-US" sz="20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666616"/>
                </a:solidFill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 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-US" sz="2000" b="1" i="0" u="none">
                <a:solidFill>
                  <a:srgbClr val="E34AD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set_i</a:t>
            </a:r>
            <a:r>
              <a:rPr lang="en-US" sz="20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num</a:t>
            </a:r>
            <a:r>
              <a:rPr lang="en-US" sz="20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20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get_i</a:t>
            </a:r>
            <a:r>
              <a:rPr lang="en-US" sz="20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derived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 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-US" sz="2000" b="1" i="0" u="none">
                <a:solidFill>
                  <a:srgbClr val="E34AD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set_j</a:t>
            </a:r>
            <a:r>
              <a:rPr lang="en-US" sz="20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num</a:t>
            </a:r>
            <a:r>
              <a:rPr lang="en-US" sz="20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0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;}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get_j</a:t>
            </a:r>
            <a:r>
              <a:rPr lang="en-US" sz="20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;}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9"/>
          <p:cNvSpPr txBox="1"/>
          <p:nvPr/>
        </p:nvSpPr>
        <p:spPr>
          <a:xfrm>
            <a:off x="4964112" y="1503362"/>
            <a:ext cx="4800600" cy="441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4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-US" sz="2000" b="1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base 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derived d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bp 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d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].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set_i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d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].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set_i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0" i="0" u="none">
                <a:solidFill>
                  <a:srgbClr val="603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bp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get_i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 b="0" i="0" u="none">
                <a:solidFill>
                  <a:srgbClr val="0000E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bp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// relative to base, not derived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0" i="0" u="none">
                <a:solidFill>
                  <a:srgbClr val="603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bp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get_i</a:t>
            </a:r>
            <a:r>
              <a:rPr lang="en-US" sz="2000" b="0" i="0" u="none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// garbage value displayed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 b="1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 către membri în clase</a:t>
            </a:r>
            <a:endParaRPr/>
          </a:p>
        </p:txBody>
      </p:sp>
      <p:sp>
        <p:nvSpPr>
          <p:cNvPr id="282" name="Google Shape;282;p40"/>
          <p:cNvSpPr txBox="1">
            <a:spLocks noGrp="1"/>
          </p:cNvSpPr>
          <p:nvPr>
            <p:ph type="body" idx="1"/>
          </p:nvPr>
        </p:nvSpPr>
        <p:spPr>
          <a:xfrm>
            <a:off x="503237" y="1990725"/>
            <a:ext cx="9074150" cy="316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 către membru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sunt pointeri normali (către un membru dintr-un obiect) ci specifică un offset în clasă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putem să aplicăm . şi -&gt;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folosesc .* şi -&gt;*</a:t>
            </a:r>
            <a:endParaRPr/>
          </a:p>
        </p:txBody>
      </p:sp>
      <p:sp>
        <p:nvSpPr>
          <p:cNvPr id="283" name="Google Shape;283;p4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84" name="Google Shape;28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477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 txBox="1"/>
          <p:nvPr/>
        </p:nvSpPr>
        <p:spPr>
          <a:xfrm>
            <a:off x="0" y="827916"/>
            <a:ext cx="5711825" cy="548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US" sz="1400" b="1" i="0" u="none" dirty="0" err="1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 dirty="0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double_val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data member pointer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)()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function member pointer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ob1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ob2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create objects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data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get offset of </a:t>
            </a:r>
            <a:r>
              <a:rPr lang="en-US" sz="1400" b="0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double_val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get offset of </a:t>
            </a:r>
            <a:r>
              <a:rPr lang="en-US" sz="1400" b="0" i="0" u="none" dirty="0" smtClean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				 //</a:t>
            </a:r>
            <a:r>
              <a:rPr lang="en-US" sz="1400" b="0" i="0" u="none" dirty="0" err="1" smtClean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double_val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Here are values: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ob1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.*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ob2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.*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Here they are doubled: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ob1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.*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)()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ob2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.*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)()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0" name="Google Shape;290;p41"/>
          <p:cNvSpPr txBox="1"/>
          <p:nvPr/>
        </p:nvSpPr>
        <p:spPr>
          <a:xfrm>
            <a:off x="4840356" y="741776"/>
            <a:ext cx="5695121" cy="5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US" sz="1400" b="1" i="0" u="none" dirty="0" err="1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 smtClean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 dirty="0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double_val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}};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data member pointer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)()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function member </a:t>
            </a:r>
            <a:r>
              <a:rPr lang="en-US" sz="1400" b="0" i="0" u="none" dirty="0" smtClean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		       //pointer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ob1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ob2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p1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ob1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access objects through a </a:t>
            </a:r>
            <a:r>
              <a:rPr lang="en-US" sz="1400" b="0" i="0" u="none" dirty="0" smtClean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		//pointer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p2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ob2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data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get offset of </a:t>
            </a:r>
            <a:r>
              <a:rPr lang="en-US" sz="1400" b="0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double_val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Here are values: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-&gt;*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-&gt;*</a:t>
            </a:r>
            <a:r>
              <a:rPr lang="en-US" sz="1400" b="0" i="0" u="none" dirty="0" smtClea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data;</a:t>
            </a:r>
          </a:p>
          <a:p>
            <a:pPr lvl="0">
              <a:buSzPts val="1400"/>
            </a:pPr>
            <a:r>
              <a:rPr lang="en-US" dirty="0" smtClean="0"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dirty="0" err="1" smtClean="0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 smtClea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Here they are doubled: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-&gt;*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)()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-&gt;*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)()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Google Shape;291;p4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616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>
            <a:spLocks noGrp="1"/>
          </p:cNvSpPr>
          <p:nvPr>
            <p:ph type="body" idx="1"/>
          </p:nvPr>
        </p:nvSpPr>
        <p:spPr>
          <a:xfrm>
            <a:off x="620712" y="4694237"/>
            <a:ext cx="856773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 la membri nu sunt folosiți decât rar în cazuri speciale</a:t>
            </a:r>
            <a:endParaRPr lang="ro-RO" dirty="0"/>
          </a:p>
        </p:txBody>
      </p:sp>
      <p:sp>
        <p:nvSpPr>
          <p:cNvPr id="298" name="Google Shape;298;p42"/>
          <p:cNvSpPr txBox="1"/>
          <p:nvPr/>
        </p:nvSpPr>
        <p:spPr>
          <a:xfrm>
            <a:off x="392112" y="1036637"/>
            <a:ext cx="6553200" cy="287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cl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 o</a:t>
            </a:r>
            <a:r>
              <a:rPr lang="en-US" sz="20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lang="en-US" sz="20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20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US" sz="20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this is address of a specific val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 </a:t>
            </a:r>
            <a:r>
              <a:rPr lang="en-US" sz="20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20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2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US" sz="20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this is offset of generic val</a:t>
            </a:r>
            <a:endParaRPr sz="20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9" name="Google Shape;299;p4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00" name="Google Shape;30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0890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parametri referință</a:t>
            </a:r>
            <a:endParaRPr/>
          </a:p>
        </p:txBody>
      </p:sp>
      <p:sp>
        <p:nvSpPr>
          <p:cNvPr id="306" name="Google Shape;306;p43"/>
          <p:cNvSpPr txBox="1">
            <a:spLocks noGrp="1"/>
          </p:cNvSpPr>
          <p:nvPr>
            <p:ph type="body" idx="1"/>
          </p:nvPr>
        </p:nvSpPr>
        <p:spPr>
          <a:xfrm>
            <a:off x="503237" y="1914525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 la C++</a:t>
            </a:r>
            <a:endParaRPr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apel prin valoare se adaugă şi apel prin referință la C++</a:t>
            </a:r>
            <a:endParaRPr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mai e nevoie să folosim pointeri pentru a simula apel prin referință, limbajul ne dă acest lucru</a:t>
            </a:r>
            <a:endParaRPr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sintaxa: în funcție &amp; înaintea parametrului formal</a:t>
            </a:r>
            <a:endParaRPr/>
          </a:p>
        </p:txBody>
      </p:sp>
      <p:sp>
        <p:nvSpPr>
          <p:cNvPr id="307" name="Google Shape;307;p4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08" name="Google Shape;30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 txBox="1"/>
          <p:nvPr/>
        </p:nvSpPr>
        <p:spPr>
          <a:xfrm>
            <a:off x="104775" y="1112837"/>
            <a:ext cx="5545137" cy="57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Manually: call-by-reference using a pointer.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6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neg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6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6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x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negated is 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neg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neg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-*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4" name="Google Shape;314;p44"/>
          <p:cNvSpPr txBox="1"/>
          <p:nvPr/>
        </p:nvSpPr>
        <p:spPr>
          <a:xfrm>
            <a:off x="4953000" y="1520825"/>
            <a:ext cx="5040312" cy="57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Use a reference parameter.</a:t>
            </a: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6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neg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6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 now a reference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6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x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negated is 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neg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no longer need the &amp; operator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6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Courier New"/>
              <a:buNone/>
            </a:pP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neg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6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i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 is now a reference, don't need *</a:t>
            </a: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Courier New"/>
              <a:buNone/>
            </a:pPr>
            <a:r>
              <a:rPr lang="en-US" sz="16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5" name="Google Shape;315;p44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16" name="Google Shape;31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915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22" name="Google Shape;322;p45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23" name="Google Shape;32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5"/>
          <p:cNvSpPr txBox="1"/>
          <p:nvPr/>
        </p:nvSpPr>
        <p:spPr>
          <a:xfrm>
            <a:off x="2520950" y="1046162"/>
            <a:ext cx="5719762" cy="532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swap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a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b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c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d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 and b: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swap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no &amp; operator needed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 and b: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c and d: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swap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c and d: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swap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t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no * operator needed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i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j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34425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ro-RO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referințe către obiecte</a:t>
            </a:r>
            <a:endParaRPr lang="ro-RO" dirty="0"/>
          </a:p>
        </p:txBody>
      </p:sp>
      <p:sp>
        <p:nvSpPr>
          <p:cNvPr id="330" name="Google Shape;330;p46"/>
          <p:cNvSpPr txBox="1">
            <a:spLocks noGrp="1"/>
          </p:cNvSpPr>
          <p:nvPr>
            <p:ph type="body" idx="1"/>
          </p:nvPr>
        </p:nvSpPr>
        <p:spPr>
          <a:xfrm>
            <a:off x="503237" y="1914525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lnSpc>
                <a:spcPct val="90000"/>
              </a:lnSpc>
              <a:spcBef>
                <a:spcPts val="0"/>
              </a:spcBef>
              <a:buSzPts val="3500"/>
            </a:pPr>
            <a:r>
              <a:rPr lang="ro-RO" dirty="0"/>
              <a:t>dacă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transmitem obiecte prin apel </a:t>
            </a:r>
            <a:r>
              <a:rPr lang="ro-RO" dirty="0"/>
              <a:t>prin referință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funcții nu se mai creează noi obiecte temporare, se lucrează direct pe obiectul transmis ca parametru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copy-constructorul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şi destructorul nu mai sunt apelate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fel şi la întoarcerea din funcție a unei referințe</a:t>
            </a:r>
            <a:endParaRPr lang="ro-RO" dirty="0"/>
          </a:p>
        </p:txBody>
      </p:sp>
      <p:sp>
        <p:nvSpPr>
          <p:cNvPr id="331" name="Google Shape;331;p4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32" name="Google Shape;33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 txBox="1"/>
          <p:nvPr/>
        </p:nvSpPr>
        <p:spPr>
          <a:xfrm>
            <a:off x="7462837" y="4632325"/>
            <a:ext cx="1997075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Constructing 1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-10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Destructing 1</a:t>
            </a:r>
            <a:endParaRPr/>
          </a:p>
        </p:txBody>
      </p:sp>
      <p:sp>
        <p:nvSpPr>
          <p:cNvPr id="338" name="Google Shape;338;p4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39" name="Google Shape;33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7"/>
          <p:cNvSpPr txBox="1"/>
          <p:nvPr/>
        </p:nvSpPr>
        <p:spPr>
          <a:xfrm>
            <a:off x="1001712" y="1009650"/>
            <a:ext cx="6400800" cy="532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cl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cl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~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Destructing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id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neg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no temporary created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num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Constructing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id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num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cl 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neg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>
            <a:spLocks noGrp="1"/>
          </p:cNvSpPr>
          <p:nvPr>
            <p:ph type="title"/>
          </p:nvPr>
        </p:nvSpPr>
        <p:spPr>
          <a:xfrm>
            <a:off x="1351169" y="337930"/>
            <a:ext cx="8569325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ro-RO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întoarcere de referințe</a:t>
            </a:r>
            <a:endParaRPr lang="ro-RO" dirty="0"/>
          </a:p>
        </p:txBody>
      </p:sp>
      <p:sp>
        <p:nvSpPr>
          <p:cNvPr id="346" name="Google Shape;346;p48"/>
          <p:cNvSpPr txBox="1">
            <a:spLocks noGrp="1"/>
          </p:cNvSpPr>
          <p:nvPr>
            <p:ph type="body" idx="1"/>
          </p:nvPr>
        </p:nvSpPr>
        <p:spPr>
          <a:xfrm>
            <a:off x="4930775" y="1341437"/>
            <a:ext cx="4452937" cy="4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100"/>
            </a:pP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putem face atribuiri c</a:t>
            </a:r>
            <a:r>
              <a:rPr lang="ro-RO" sz="3200" dirty="0"/>
              <a:t>ă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 apel de funcție</a:t>
            </a:r>
            <a:endParaRPr lang="ro-RO" dirty="0"/>
          </a:p>
          <a:p>
            <a:pPr marL="377825" lvl="0" indent="-377825">
              <a:spcBef>
                <a:spcPts val="620"/>
              </a:spcBef>
              <a:buSzPts val="3100"/>
            </a:pP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(5) este un element din s care se schimb</a:t>
            </a:r>
            <a:r>
              <a:rPr lang="ro-RO" sz="3200" dirty="0"/>
              <a:t>ă</a:t>
            </a:r>
            <a:endParaRPr lang="ro-RO" dirty="0"/>
          </a:p>
          <a:p>
            <a:pPr marL="377825" lvl="0" indent="-377825">
              <a:spcBef>
                <a:spcPts val="620"/>
              </a:spcBef>
              <a:buSzPts val="3100"/>
            </a:pP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nevoie de atenție ca obiectul referit s</a:t>
            </a:r>
            <a:r>
              <a:rPr lang="ro-RO" sz="3200" dirty="0"/>
              <a:t>ă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iasă din scopul de vizibilitate</a:t>
            </a:r>
            <a:endParaRPr lang="ro-RO" dirty="0"/>
          </a:p>
        </p:txBody>
      </p:sp>
      <p:sp>
        <p:nvSpPr>
          <p:cNvPr id="347" name="Google Shape;347;p48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48" name="Google Shape;348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48"/>
          <p:cNvGrpSpPr/>
          <p:nvPr/>
        </p:nvGrpSpPr>
        <p:grpSpPr>
          <a:xfrm>
            <a:off x="392112" y="1441450"/>
            <a:ext cx="5038725" cy="4676775"/>
            <a:chOff x="392112" y="1440736"/>
            <a:chExt cx="5038725" cy="4678204"/>
          </a:xfrm>
        </p:grpSpPr>
        <p:sp>
          <p:nvSpPr>
            <p:cNvPr id="350" name="Google Shape;350;p48"/>
            <p:cNvSpPr txBox="1"/>
            <p:nvPr/>
          </p:nvSpPr>
          <p:spPr>
            <a:xfrm>
              <a:off x="392112" y="1440736"/>
              <a:ext cx="5038725" cy="46782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43"/>
                </a:buClr>
                <a:buSzPts val="1400"/>
                <a:buFont typeface="Courier New"/>
                <a:buNone/>
              </a:pPr>
              <a:r>
                <a:rPr lang="en-US" sz="1400" b="0" i="0" u="none">
                  <a:solidFill>
                    <a:srgbClr val="004A4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#include </a:t>
              </a:r>
              <a:r>
                <a:rPr lang="en-US" sz="1400" b="0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en-US" sz="1400" b="0" i="0" u="none">
                  <a:solidFill>
                    <a:srgbClr val="4001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iostream</a:t>
              </a:r>
              <a:r>
                <a:rPr lang="en-US" sz="1400" b="0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  <a:buFont typeface="Courier New"/>
                <a:buNone/>
              </a:pP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using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namespace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 i="0" u="none">
                  <a:solidFill>
                    <a:srgbClr val="66661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</a:t>
              </a:r>
              <a:r>
                <a:rPr lang="en-US" sz="1400" b="1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  <a:buFont typeface="Courier New"/>
                <a:buNone/>
              </a:pP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</a:t>
              </a:r>
              <a:r>
                <a:rPr lang="en-US" sz="1400" b="1" i="0" u="none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lang="en-US" sz="1400" b="1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 i="0" u="none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return a reference</a:t>
              </a:r>
              <a:endParaRPr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  <a:buFont typeface="Courier New"/>
                <a:buNone/>
              </a:pP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400" b="1" i="0" u="none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80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400" b="1" i="0" u="none">
                  <a:solidFill>
                    <a:srgbClr val="0000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There</a:t>
              </a: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400" b="1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  <a:buFont typeface="Courier New"/>
                <a:buNone/>
              </a:pP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 i="0" u="none">
                  <a:solidFill>
                    <a:srgbClr val="4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  <a:buFont typeface="Courier New"/>
                <a:buNone/>
              </a:pPr>
              <a:r>
                <a:rPr lang="en-US" sz="1400" b="0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400" b="0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400" b="0" i="0" u="none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sz="1400" b="0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400" b="0" i="0" u="none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en-US" sz="1400" b="0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lang="en-US" sz="1400" b="0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0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US" sz="1400" b="0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0" i="0" u="none">
                  <a:solidFill>
                    <a:srgbClr val="0000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'X'</a:t>
              </a:r>
              <a:r>
                <a:rPr lang="en-US" sz="1400" b="0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sz="1400" b="0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0" i="0" u="none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assign X to space after Hello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400" b="0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400" b="0" i="0" u="none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cout</a:t>
              </a:r>
              <a:r>
                <a:rPr lang="en-US" sz="1400" b="0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0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&lt;&lt;</a:t>
              </a:r>
              <a:r>
                <a:rPr lang="en-US" sz="1400" b="0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sz="1400" b="0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400" b="0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 i="0" u="none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sz="1400" b="1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  <a:buFont typeface="Courier New"/>
                <a:buNone/>
              </a:pPr>
              <a:r>
                <a:rPr lang="en-US" sz="1400" b="0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  <a:buFont typeface="Courier New"/>
                <a:buNone/>
              </a:pP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</a:t>
              </a:r>
              <a:r>
                <a:rPr lang="en-US" sz="1400" b="1" i="0" u="none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  <a:buFont typeface="Courier New"/>
                <a:buNone/>
              </a:pPr>
              <a:r>
                <a:rPr lang="en-US" sz="1400" b="0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400" b="0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400" b="1" i="0" u="none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400" b="1" i="0" u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sz="1400" b="1" i="0" u="none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r>
                <a:rPr lang="en-US" sz="1400" b="1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  <a:buFont typeface="Courier New"/>
                <a:buNone/>
              </a:pPr>
              <a:r>
                <a:rPr lang="en-US" sz="1400" b="0" i="0" u="none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1" name="Google Shape;351;p48"/>
            <p:cNvSpPr/>
            <p:nvPr/>
          </p:nvSpPr>
          <p:spPr>
            <a:xfrm>
              <a:off x="849312" y="3322499"/>
              <a:ext cx="1905000" cy="304893"/>
            </a:xfrm>
            <a:prstGeom prst="roundRect">
              <a:avLst>
                <a:gd name="adj" fmla="val 16667"/>
              </a:avLst>
            </a:prstGeom>
            <a:solidFill>
              <a:srgbClr val="FFC000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ro-RO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referințe independente</a:t>
            </a:r>
            <a:endParaRPr lang="ro-RO" dirty="0"/>
          </a:p>
        </p:txBody>
      </p:sp>
      <p:sp>
        <p:nvSpPr>
          <p:cNvPr id="357" name="Google Shape;357;p49"/>
          <p:cNvSpPr txBox="1">
            <a:spLocks noGrp="1"/>
          </p:cNvSpPr>
          <p:nvPr>
            <p:ph type="body" idx="1"/>
          </p:nvPr>
        </p:nvSpPr>
        <p:spPr>
          <a:xfrm>
            <a:off x="503237" y="2144712"/>
            <a:ext cx="9074150" cy="308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e asociat cu apelurile de funcții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creează un alt nume pentru un obiect</a:t>
            </a:r>
            <a:endParaRPr lang="ro-RO" dirty="0"/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referințele independente trebuiesc inițializate la definire </a:t>
            </a:r>
            <a:r>
              <a:rPr lang="ro-RO" dirty="0"/>
              <a:t>pentru că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 nu </a:t>
            </a:r>
            <a:r>
              <a:rPr lang="ro-RO" dirty="0"/>
              <a:t>se schimbă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timpul programului</a:t>
            </a:r>
            <a:endParaRPr lang="ro-RO" dirty="0"/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59" name="Google Shape;359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/>
        </p:nvSpPr>
        <p:spPr>
          <a:xfrm>
            <a:off x="7707312" y="3443287"/>
            <a:ext cx="2205037" cy="96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10 10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100 100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19 19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18 18</a:t>
            </a:r>
            <a:endParaRPr/>
          </a:p>
        </p:txBody>
      </p:sp>
      <p:sp>
        <p:nvSpPr>
          <p:cNvPr id="365" name="Google Shape;365;p5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66" name="Google Shape;36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0"/>
          <p:cNvSpPr txBox="1"/>
          <p:nvPr/>
        </p:nvSpPr>
        <p:spPr>
          <a:xfrm>
            <a:off x="992187" y="949462"/>
            <a:ext cx="5038725" cy="62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4A43"/>
                </a:solidFill>
                <a:latin typeface="+mj-lt"/>
                <a:ea typeface="Courier New"/>
                <a:cs typeface="Courier New"/>
                <a:sym typeface="Courier New"/>
              </a:rPr>
              <a:t>#include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&lt;</a:t>
            </a:r>
            <a:r>
              <a:rPr lang="en-US" sz="2000" b="0" i="0" u="none" dirty="0" err="1">
                <a:solidFill>
                  <a:srgbClr val="40015A"/>
                </a:solidFill>
                <a:latin typeface="+mj-lt"/>
                <a:ea typeface="Courier New"/>
                <a:cs typeface="Courier New"/>
                <a:sym typeface="Courier New"/>
              </a:rPr>
              <a:t>iostream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&gt;</a:t>
            </a:r>
            <a:endParaRPr sz="2000" b="0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2000" b="1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using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namespace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 err="1">
                <a:solidFill>
                  <a:srgbClr val="666616"/>
                </a:solidFill>
                <a:latin typeface="+mj-lt"/>
                <a:ea typeface="Courier New"/>
                <a:cs typeface="Courier New"/>
                <a:sym typeface="Courier New"/>
              </a:rPr>
              <a:t>std</a:t>
            </a:r>
            <a:r>
              <a:rPr lang="en-US" sz="2000" b="1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b="1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2000" b="1" i="0" u="none" dirty="0" err="1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400000"/>
                </a:solidFill>
                <a:latin typeface="+mj-lt"/>
                <a:ea typeface="Courier New"/>
                <a:cs typeface="Courier New"/>
                <a:sym typeface="Courier New"/>
              </a:rPr>
              <a:t>main</a:t>
            </a:r>
            <a:r>
              <a:rPr lang="en-US" sz="2000" b="1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()</a:t>
            </a:r>
            <a:endParaRPr sz="2000" b="1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{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1" i="0" u="none" dirty="0" err="1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a</a:t>
            </a:r>
            <a:r>
              <a:rPr lang="en-US" sz="2000" b="1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b="1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1" i="0" u="none" dirty="0" err="1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ref </a:t>
            </a:r>
            <a:r>
              <a:rPr lang="en-US" sz="2000" b="1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a</a:t>
            </a:r>
            <a:r>
              <a:rPr lang="en-US" sz="2000" b="1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696969"/>
                </a:solidFill>
                <a:latin typeface="+mj-lt"/>
                <a:ea typeface="Courier New"/>
                <a:cs typeface="Courier New"/>
                <a:sym typeface="Courier New"/>
              </a:rPr>
              <a:t>// independent reference</a:t>
            </a:r>
            <a:endParaRPr sz="2000" b="1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a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008C00"/>
                </a:solidFill>
                <a:latin typeface="+mj-lt"/>
                <a:ea typeface="Courier New"/>
                <a:cs typeface="Courier New"/>
                <a:sym typeface="Courier New"/>
              </a:rPr>
              <a:t>10</a:t>
            </a: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0" i="0" u="none" dirty="0" err="1">
                <a:solidFill>
                  <a:srgbClr val="603000"/>
                </a:solidFill>
                <a:latin typeface="+mj-lt"/>
                <a:ea typeface="Courier New"/>
                <a:cs typeface="Courier New"/>
                <a:sym typeface="Courier New"/>
              </a:rPr>
              <a:t>cout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a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000E6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ref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F69FF"/>
                </a:solidFill>
                <a:latin typeface="+mj-lt"/>
                <a:ea typeface="Courier New"/>
                <a:cs typeface="Courier New"/>
                <a:sym typeface="Courier New"/>
              </a:rPr>
              <a:t>\n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ref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008C00"/>
                </a:solidFill>
                <a:latin typeface="+mj-lt"/>
                <a:ea typeface="Courier New"/>
                <a:cs typeface="Courier New"/>
                <a:sym typeface="Courier New"/>
              </a:rPr>
              <a:t>100</a:t>
            </a: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0" i="0" u="none" dirty="0" err="1">
                <a:solidFill>
                  <a:srgbClr val="603000"/>
                </a:solidFill>
                <a:latin typeface="+mj-lt"/>
                <a:ea typeface="Courier New"/>
                <a:cs typeface="Courier New"/>
                <a:sym typeface="Courier New"/>
              </a:rPr>
              <a:t>cout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a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000E6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ref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F69FF"/>
                </a:solidFill>
                <a:latin typeface="+mj-lt"/>
                <a:ea typeface="Courier New"/>
                <a:cs typeface="Courier New"/>
                <a:sym typeface="Courier New"/>
              </a:rPr>
              <a:t>\n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1" i="0" u="none" dirty="0" err="1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b </a:t>
            </a:r>
            <a:r>
              <a:rPr lang="en-US" sz="2000" b="1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+mj-lt"/>
                <a:ea typeface="Courier New"/>
                <a:cs typeface="Courier New"/>
                <a:sym typeface="Courier New"/>
              </a:rPr>
              <a:t>19</a:t>
            </a:r>
            <a:r>
              <a:rPr lang="en-US" sz="2000" b="1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b="1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ref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b</a:t>
            </a: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696969"/>
                </a:solidFill>
                <a:latin typeface="+mj-lt"/>
                <a:ea typeface="Courier New"/>
                <a:cs typeface="Courier New"/>
                <a:sym typeface="Courier New"/>
              </a:rPr>
              <a:t>// this puts b's value into a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0" i="0" u="none" dirty="0" err="1">
                <a:solidFill>
                  <a:srgbClr val="603000"/>
                </a:solidFill>
                <a:latin typeface="+mj-lt"/>
                <a:ea typeface="Courier New"/>
                <a:cs typeface="Courier New"/>
                <a:sym typeface="Courier New"/>
              </a:rPr>
              <a:t>cout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a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000E6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ref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F69FF"/>
                </a:solidFill>
                <a:latin typeface="+mj-lt"/>
                <a:ea typeface="Courier New"/>
                <a:cs typeface="Courier New"/>
                <a:sym typeface="Courier New"/>
              </a:rPr>
              <a:t>\n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ref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--</a:t>
            </a: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696969"/>
                </a:solidFill>
                <a:latin typeface="+mj-lt"/>
                <a:ea typeface="Courier New"/>
                <a:cs typeface="Courier New"/>
                <a:sym typeface="Courier New"/>
              </a:rPr>
              <a:t>// this decrements a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0" i="0" u="none" dirty="0">
                <a:solidFill>
                  <a:srgbClr val="696969"/>
                </a:solidFill>
                <a:latin typeface="+mj-lt"/>
                <a:ea typeface="Courier New"/>
                <a:cs typeface="Courier New"/>
                <a:sym typeface="Courier New"/>
              </a:rPr>
              <a:t>// it does not affect what ref refers to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0" i="0" u="none" dirty="0" err="1">
                <a:solidFill>
                  <a:srgbClr val="603000"/>
                </a:solidFill>
                <a:latin typeface="+mj-lt"/>
                <a:ea typeface="Courier New"/>
                <a:cs typeface="Courier New"/>
                <a:sym typeface="Courier New"/>
              </a:rPr>
              <a:t>cout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a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000E6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ref </a:t>
            </a:r>
            <a:r>
              <a:rPr lang="en-US" sz="2000" b="0" i="0" u="none" dirty="0">
                <a:solidFill>
                  <a:srgbClr val="808030"/>
                </a:solidFill>
                <a:latin typeface="+mj-lt"/>
                <a:ea typeface="Courier New"/>
                <a:cs typeface="Courier New"/>
                <a:sym typeface="Courier New"/>
              </a:rPr>
              <a:t>&lt;&lt;</a:t>
            </a: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0F69FF"/>
                </a:solidFill>
                <a:latin typeface="+mj-lt"/>
                <a:ea typeface="Courier New"/>
                <a:cs typeface="Courier New"/>
                <a:sym typeface="Courier New"/>
              </a:rPr>
              <a:t>\n</a:t>
            </a:r>
            <a:r>
              <a:rPr lang="en-US" sz="2000" b="0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"</a:t>
            </a: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1" i="0" u="none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return</a:t>
            </a:r>
            <a:r>
              <a:rPr lang="en-US" sz="2000" b="1" i="0" u="none" dirty="0">
                <a:solidFill>
                  <a:srgbClr val="000000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+mj-lt"/>
                <a:ea typeface="Courier New"/>
                <a:cs typeface="Courier New"/>
                <a:sym typeface="Courier New"/>
              </a:rPr>
              <a:t>0</a:t>
            </a:r>
            <a:r>
              <a:rPr lang="en-US" sz="2000" b="1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;</a:t>
            </a:r>
            <a:endParaRPr sz="2000" b="1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800080"/>
                </a:solidFill>
                <a:latin typeface="+mj-lt"/>
                <a:ea typeface="Courier New"/>
                <a:cs typeface="Courier New"/>
                <a:sym typeface="Courier New"/>
              </a:rPr>
              <a:t>}</a:t>
            </a:r>
            <a:endParaRPr sz="2000" b="0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dirty="0">
              <a:solidFill>
                <a:srgbClr val="000000"/>
              </a:solidFill>
              <a:latin typeface="+mj-lt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>
            <a:spLocks noGrp="1"/>
          </p:cNvSpPr>
          <p:nvPr>
            <p:ph type="title"/>
          </p:nvPr>
        </p:nvSpPr>
        <p:spPr>
          <a:xfrm>
            <a:off x="503237" y="887615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ro-RO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referințe independente</a:t>
            </a: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 </a:t>
            </a:r>
            <a:r>
              <a:rPr lang="en-US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membri</a:t>
            </a: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unei</a:t>
            </a: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clase</a:t>
            </a:r>
            <a:endParaRPr lang="ro-RO" dirty="0"/>
          </a:p>
        </p:txBody>
      </p:sp>
      <p:sp>
        <p:nvSpPr>
          <p:cNvPr id="358" name="Google Shape;358;p4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59" name="Google Shape;359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30" y="2424527"/>
            <a:ext cx="7950200" cy="358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685" y="4566824"/>
            <a:ext cx="2344286" cy="98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8746" y="6458602"/>
            <a:ext cx="9137438" cy="920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700"/>
              </a:spcBef>
              <a:buClr>
                <a:schemeClr val="dk1"/>
              </a:buClr>
              <a:buSzPts val="3500"/>
            </a:pP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Atentie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cod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referinta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orice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 </a:t>
            </a:r>
            <a:r>
              <a:rPr lang="en-US" sz="24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aratat</a:t>
            </a: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catre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spcBef>
                <a:spcPts val="700"/>
              </a:spcBef>
              <a:buClr>
                <a:schemeClr val="dk1"/>
              </a:buClr>
              <a:buSzPts val="3500"/>
            </a:pP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toate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obiectele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504909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>
            <a:spLocks noGrp="1"/>
          </p:cNvSpPr>
          <p:nvPr>
            <p:ph type="title"/>
          </p:nvPr>
        </p:nvSpPr>
        <p:spPr>
          <a:xfrm>
            <a:off x="503237" y="6921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ro-RO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referințe către clase derivate</a:t>
            </a:r>
            <a:endParaRPr lang="ro-RO" dirty="0"/>
          </a:p>
        </p:txBody>
      </p:sp>
      <p:sp>
        <p:nvSpPr>
          <p:cNvPr id="373" name="Google Shape;373;p51"/>
          <p:cNvSpPr txBox="1">
            <a:spLocks noGrp="1"/>
          </p:cNvSpPr>
          <p:nvPr>
            <p:ph type="body" idx="1"/>
          </p:nvPr>
        </p:nvSpPr>
        <p:spPr>
          <a:xfrm>
            <a:off x="503237" y="1916112"/>
            <a:ext cx="9074150" cy="24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putem avea referințe definite către clasa </a:t>
            </a:r>
            <a:r>
              <a:rPr lang="ro-RO" dirty="0"/>
              <a:t>de bază şi apelată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funcția cu un obiect din </a:t>
            </a:r>
            <a:r>
              <a:rPr lang="ro-RO" dirty="0"/>
              <a:t>clasa derivată</a:t>
            </a: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la pointeri</a:t>
            </a:r>
            <a:endParaRPr lang="ro-RO" dirty="0"/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5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375" name="Google Shape;375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6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alocare de obiecte</a:t>
            </a:r>
            <a:endParaRPr/>
          </a:p>
        </p:txBody>
      </p:sp>
      <p:sp>
        <p:nvSpPr>
          <p:cNvPr id="415" name="Google Shape;415;p56"/>
          <p:cNvSpPr txBox="1">
            <a:spLocks noGrp="1"/>
          </p:cNvSpPr>
          <p:nvPr>
            <p:ph type="body" idx="1"/>
          </p:nvPr>
        </p:nvSpPr>
        <p:spPr>
          <a:xfrm>
            <a:off x="671512" y="1798637"/>
            <a:ext cx="8569325" cy="4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lang="ro-RO" dirty="0"/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creare,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întoarce un pointer către obiect</a:t>
            </a:r>
            <a:endParaRPr lang="ro-RO" dirty="0"/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dirty="0"/>
              <a:t>după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creare </a:t>
            </a:r>
            <a:r>
              <a:rPr lang="ro-RO" dirty="0"/>
              <a:t>se execută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constructorul obiectului</a:t>
            </a:r>
            <a:endParaRPr lang="ro-RO" dirty="0"/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când obiectul este șters din memorie (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ro-RO" dirty="0"/>
              <a:t>se execută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destructorul</a:t>
            </a:r>
            <a:endParaRPr lang="ro-RO" dirty="0"/>
          </a:p>
        </p:txBody>
      </p:sp>
      <p:sp>
        <p:nvSpPr>
          <p:cNvPr id="416" name="Google Shape;416;p5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17" name="Google Shape;41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7"/>
          <p:cNvSpPr txBox="1">
            <a:spLocks noGrp="1"/>
          </p:cNvSpPr>
          <p:nvPr>
            <p:ph type="title"/>
          </p:nvPr>
        </p:nvSpPr>
        <p:spPr>
          <a:xfrm>
            <a:off x="468312" y="920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</a:t>
            </a: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 </a:t>
            </a:r>
            <a:r>
              <a:rPr lang="en-US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dinamic</a:t>
            </a: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 </a:t>
            </a:r>
            <a:r>
              <a:rPr lang="en-US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constructori</a:t>
            </a: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parametrizaţi</a:t>
            </a:r>
            <a:endParaRPr dirty="0"/>
          </a:p>
        </p:txBody>
      </p:sp>
      <p:sp>
        <p:nvSpPr>
          <p:cNvPr id="423" name="Google Shape;423;p5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24" name="Google Shape;42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7"/>
          <p:cNvSpPr txBox="1"/>
          <p:nvPr/>
        </p:nvSpPr>
        <p:spPr>
          <a:xfrm>
            <a:off x="1916112" y="2301875"/>
            <a:ext cx="716280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 balance </a:t>
            </a:r>
            <a:r>
              <a:rPr lang="en-US" sz="18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r>
              <a:rPr lang="en-US" sz="18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balance </a:t>
            </a:r>
            <a:r>
              <a:rPr lang="en-US" sz="18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8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this version uses an initializer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lang="en-US" sz="18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p </a:t>
            </a:r>
            <a:r>
              <a:rPr lang="en-US" sz="18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new balance </a:t>
            </a:r>
            <a:r>
              <a:rPr lang="en-US" sz="18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0" i="0" u="non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12387.87</a:t>
            </a:r>
            <a:r>
              <a:rPr lang="en-US" sz="18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8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Ralph Wilson</a:t>
            </a:r>
            <a:r>
              <a:rPr lang="en-US" sz="18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8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8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catch </a:t>
            </a:r>
            <a:r>
              <a:rPr lang="en-US" sz="18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bad_alloc xa</a:t>
            </a:r>
            <a:r>
              <a:rPr lang="en-US" sz="18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cout </a:t>
            </a:r>
            <a:r>
              <a:rPr lang="en-US" sz="18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8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Allocation Failure</a:t>
            </a:r>
            <a:r>
              <a:rPr lang="en-US" sz="18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8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8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8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8"/>
          <p:cNvSpPr txBox="1">
            <a:spLocks noGrp="1"/>
          </p:cNvSpPr>
          <p:nvPr>
            <p:ph type="body" idx="1"/>
          </p:nvPr>
        </p:nvSpPr>
        <p:spPr>
          <a:xfrm>
            <a:off x="315912" y="1265237"/>
            <a:ext cx="952500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array-uri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obiecte alocate dinamic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17562" lvl="1" indent="-314324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</a:pPr>
            <a:r>
              <a:rPr lang="ro-RO" sz="3100" b="0" i="0" u="none" dirty="0">
                <a:solidFill>
                  <a:srgbClr val="FF0000"/>
                </a:solidFill>
                <a:sym typeface="Calibri"/>
              </a:rPr>
              <a:t>nu se pot inițializa</a:t>
            </a:r>
            <a:endParaRPr lang="ro-RO" dirty="0">
              <a:solidFill>
                <a:srgbClr val="FF0000"/>
              </a:solidFill>
            </a:endParaRPr>
          </a:p>
          <a:p>
            <a:pPr marL="817562" lvl="1" indent="-314324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17562" lvl="1" indent="-314324">
              <a:spcBef>
                <a:spcPts val="620"/>
              </a:spcBef>
              <a:buSzPts val="3100"/>
            </a:pPr>
            <a:r>
              <a:rPr lang="ro-RO" sz="3100" b="0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trebuie s</a:t>
            </a:r>
            <a:r>
              <a:rPr lang="vi-VN" dirty="0">
                <a:solidFill>
                  <a:srgbClr val="FF0000"/>
                </a:solidFill>
              </a:rPr>
              <a:t>ă</a:t>
            </a:r>
            <a:r>
              <a:rPr lang="ro-RO" sz="3100" b="0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existe un constructor f</a:t>
            </a:r>
            <a:r>
              <a:rPr lang="vi-VN" dirty="0">
                <a:solidFill>
                  <a:srgbClr val="FF0000"/>
                </a:solidFill>
              </a:rPr>
              <a:t>ă</a:t>
            </a:r>
            <a:r>
              <a:rPr lang="ro-RO" sz="3100" b="0" i="0" u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ro-RO" sz="3200" dirty="0" err="1">
                <a:solidFill>
                  <a:srgbClr val="FF0000"/>
                </a:solidFill>
              </a:rPr>
              <a:t>ă</a:t>
            </a:r>
            <a:r>
              <a:rPr lang="ro-RO" sz="3100" b="0" i="0" u="none" dirty="0">
                <a:solidFill>
                  <a:srgbClr val="FF0000"/>
                </a:solidFill>
                <a:sym typeface="Calibri"/>
              </a:rPr>
              <a:t> parametri</a:t>
            </a:r>
            <a:endParaRPr lang="ro-RO" dirty="0">
              <a:solidFill>
                <a:srgbClr val="FF0000"/>
              </a:solidFill>
            </a:endParaRPr>
          </a:p>
          <a:p>
            <a:pPr marL="817562" lvl="1" indent="-314324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17562" lvl="1" indent="-314324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</a:pP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poate fi apelat pentru fiecare element din </a:t>
            </a: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endParaRPr lang="ro-RO" dirty="0"/>
          </a:p>
        </p:txBody>
      </p:sp>
      <p:sp>
        <p:nvSpPr>
          <p:cNvPr id="431" name="Google Shape;431;p58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32" name="Google Shape;432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9"/>
          <p:cNvSpPr txBox="1">
            <a:spLocks noGrp="1"/>
          </p:cNvSpPr>
          <p:nvPr>
            <p:ph type="body" idx="1"/>
          </p:nvPr>
        </p:nvSpPr>
        <p:spPr>
          <a:xfrm>
            <a:off x="239712" y="1457325"/>
            <a:ext cx="9413875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şi 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sunt operatori</a:t>
            </a:r>
            <a:endParaRPr lang="ro-RO" dirty="0" smtClean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620"/>
              </a:spcBef>
              <a:buSzPts val="3100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 fi suprascriși pentru o anumit</a:t>
            </a:r>
            <a:r>
              <a:rPr lang="ro-RO" sz="3200" dirty="0" smtClean="0"/>
              <a:t>ă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</a:t>
            </a:r>
            <a:r>
              <a:rPr lang="ro-RO" sz="3200" dirty="0" smtClean="0"/>
              <a:t>ă</a:t>
            </a:r>
            <a:endParaRPr lang="ro-RO" dirty="0" smtClean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620"/>
              </a:spcBef>
              <a:buSzPts val="3100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argumente suplimentare exist</a:t>
            </a:r>
            <a:r>
              <a:rPr lang="ro-RO" sz="3200" dirty="0" smtClean="0"/>
              <a:t>ă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form</a:t>
            </a:r>
            <a:r>
              <a:rPr lang="ro-RO" sz="3200" dirty="0" smtClean="0"/>
              <a:t>ă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special</a:t>
            </a:r>
            <a:r>
              <a:rPr lang="ro-RO" sz="3200" dirty="0" smtClean="0"/>
              <a:t>ă</a:t>
            </a:r>
            <a:endParaRPr lang="ro-RO" dirty="0" smtClean="0"/>
          </a:p>
          <a:p>
            <a:pPr marL="817562" lvl="1" indent="-314324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p_var = 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(lista_argumente) tip;</a:t>
            </a:r>
            <a:endParaRPr lang="ro-RO" dirty="0" smtClean="0"/>
          </a:p>
          <a:p>
            <a:pPr marL="817562" lvl="1" indent="-149224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lang="ro-RO" sz="26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620"/>
              </a:spcBef>
              <a:buSzPts val="3100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</a:t>
            </a:r>
            <a:r>
              <a:rPr lang="ro-RO" sz="3200" dirty="0" smtClean="0"/>
              <a:t>ă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 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nothrow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similar cu 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malloc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ro-RO" dirty="0" smtClean="0"/>
          </a:p>
          <a:p>
            <a:pPr marL="817562" lvl="1" indent="-314324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nothrow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[20]; // 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intoarce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eroare</a:t>
            </a:r>
            <a:endParaRPr lang="ro-RO" dirty="0"/>
          </a:p>
        </p:txBody>
      </p:sp>
      <p:sp>
        <p:nvSpPr>
          <p:cNvPr id="438" name="Google Shape;438;p5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39" name="Google Shape;439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0832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0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</a:t>
            </a:r>
            <a:r>
              <a:rPr lang="en-US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şi</a:t>
            </a: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volatile</a:t>
            </a:r>
            <a:endParaRPr dirty="0"/>
          </a:p>
        </p:txBody>
      </p:sp>
      <p:sp>
        <p:nvSpPr>
          <p:cNvPr id="445" name="Google Shape;445;p60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lnSpc>
                <a:spcPct val="90000"/>
              </a:lnSpc>
              <a:spcBef>
                <a:spcPts val="0"/>
              </a:spcBef>
              <a:buSzPts val="3100"/>
            </a:pPr>
            <a:r>
              <a:rPr lang="ro-RO" sz="3100" b="0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idee: s</a:t>
            </a:r>
            <a:r>
              <a:rPr lang="ro-RO" sz="3200" dirty="0">
                <a:solidFill>
                  <a:srgbClr val="FF0000"/>
                </a:solidFill>
              </a:rPr>
              <a:t>ă</a:t>
            </a:r>
            <a:r>
              <a:rPr lang="ro-RO" sz="3100" b="0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se elimine comenzile de preprocesor #</a:t>
            </a:r>
            <a:r>
              <a:rPr lang="ro-RO" sz="3100" b="0" i="0" u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endParaRPr lang="ro-RO" dirty="0">
              <a:solidFill>
                <a:srgbClr val="FF0000"/>
              </a:solidFill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făceau </a:t>
            </a:r>
            <a:r>
              <a:rPr lang="ro-RO" sz="3100" b="0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substituție de valoare</a:t>
            </a:r>
            <a:endParaRPr lang="ro-RO" dirty="0">
              <a:solidFill>
                <a:srgbClr val="FF0000"/>
              </a:solidFill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poate aplica la pointeri, argumente de funcții, param de întoarcere din funcții, obiecte, funcții membru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620"/>
              </a:spcBef>
              <a:buSzPts val="3100"/>
            </a:pP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fiecare dintre aceste elemente are o aplicare diferit</a:t>
            </a:r>
            <a:r>
              <a:rPr lang="ro-RO" sz="3200" dirty="0"/>
              <a:t>ă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</a:t>
            </a: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dar sunt în aceeași idee/filosofie</a:t>
            </a:r>
            <a:endParaRPr lang="ro-RO" dirty="0"/>
          </a:p>
        </p:txBody>
      </p:sp>
      <p:sp>
        <p:nvSpPr>
          <p:cNvPr id="446" name="Google Shape;446;p6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47" name="Google Shape;447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1403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1"/>
          <p:cNvSpPr txBox="1">
            <a:spLocks noGrp="1"/>
          </p:cNvSpPr>
          <p:nvPr>
            <p:ph type="body" idx="1"/>
          </p:nvPr>
        </p:nvSpPr>
        <p:spPr>
          <a:xfrm>
            <a:off x="503237" y="1036637"/>
            <a:ext cx="907415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r>
              <a:rPr lang="ro-RO" sz="3500" b="0" i="0" u="none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r>
              <a:rPr lang="ro-RO" sz="3500" b="0" i="0" u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BUFSIZE 100  (tipic in C)</a:t>
            </a:r>
            <a:endParaRPr lang="ro-RO" dirty="0">
              <a:solidFill>
                <a:srgbClr val="002060"/>
              </a:solidFill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erori </a:t>
            </a:r>
            <a:r>
              <a:rPr lang="ro-RO" dirty="0"/>
              <a:t>subtile datorită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substituirii de text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BUFSIZE e mult mai bun decât “valori magice”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are tip, </a:t>
            </a:r>
            <a:r>
              <a:rPr lang="ro-RO" dirty="0"/>
              <a:t>se comportă 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 </a:t>
            </a:r>
            <a:r>
              <a:rPr lang="ro-RO" dirty="0"/>
              <a:t>o variabilă</a:t>
            </a: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 bine: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bufsize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100; </a:t>
            </a:r>
            <a:endParaRPr lang="ro-RO" dirty="0"/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6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54" name="Google Shape;454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564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body" idx="1"/>
          </p:nvPr>
        </p:nvSpPr>
        <p:spPr>
          <a:xfrm>
            <a:off x="503237" y="1112837"/>
            <a:ext cx="90741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100"/>
            </a:pP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acum compilatorul poate face calculele la început: “constant </a:t>
            </a: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folding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”: important pt. </a:t>
            </a: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expresie complicat</a:t>
            </a:r>
            <a:r>
              <a:rPr lang="ro-RO" sz="3200" dirty="0"/>
              <a:t>ă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calculat</a:t>
            </a:r>
            <a:r>
              <a:rPr lang="ro-RO" sz="3200" dirty="0"/>
              <a:t>ă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compilare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buf[</a:t>
            </a: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bufsize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]; 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poate face </a:t>
            </a: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pe: </a:t>
            </a:r>
            <a:r>
              <a:rPr lang="ro-RO" sz="3100" b="1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lang="ro-RO" sz="3100" b="1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lang="ro-RO" sz="3100" b="1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ro-RO" sz="3100" b="1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şi variantele lor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se poate face </a:t>
            </a:r>
            <a:r>
              <a:rPr lang="ro-RO" sz="3100" b="0" i="0" u="none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100" b="0" i="0" u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şi pe obiecte</a:t>
            </a:r>
            <a:endParaRPr lang="ro-RO" dirty="0">
              <a:solidFill>
                <a:srgbClr val="002060"/>
              </a:solidFill>
            </a:endParaRPr>
          </a:p>
        </p:txBody>
      </p:sp>
      <p:sp>
        <p:nvSpPr>
          <p:cNvPr id="460" name="Google Shape;460;p6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61" name="Google Shape;461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12116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3"/>
          <p:cNvSpPr txBox="1">
            <a:spLocks noGrp="1"/>
          </p:cNvSpPr>
          <p:nvPr>
            <p:ph type="body" idx="1"/>
          </p:nvPr>
        </p:nvSpPr>
        <p:spPr>
          <a:xfrm>
            <a:off x="420687" y="1112837"/>
            <a:ext cx="8904287" cy="4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lnSpc>
                <a:spcPct val="90000"/>
              </a:lnSpc>
              <a:spcBef>
                <a:spcPts val="0"/>
              </a:spcBef>
              <a:buSzPts val="3100"/>
            </a:pP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implic</a:t>
            </a:r>
            <a:r>
              <a:rPr lang="ro-RO" sz="3200" dirty="0"/>
              <a:t>ă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lang="ro-RO" sz="3100" b="1" i="1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ro-RO" sz="3100" b="1" i="1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100" b="1" i="1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linkage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adică </a:t>
            </a:r>
            <a:r>
              <a:rPr lang="ro-RO" sz="3100" dirty="0"/>
              <a:t>e vizibilă 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numai în fișierul respectiv (la </a:t>
            </a:r>
            <a:r>
              <a:rPr lang="ro-RO" sz="31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linkare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620"/>
              </a:spcBef>
              <a:buSzPts val="3100"/>
            </a:pPr>
            <a:r>
              <a:rPr lang="ro-RO" sz="3100" dirty="0"/>
              <a:t>trebuie dată 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valoare pentru elementul constant la declarare, singura excepție: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17562" lvl="1" indent="-314324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ro-RO" sz="26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ro-RO" sz="2600" b="1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extern </a:t>
            </a:r>
            <a:r>
              <a:rPr lang="ro-RO" sz="2600" b="1" i="0" u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600" b="1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600" b="1" i="0" u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2600" b="1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600" b="1" i="0" u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bufsize</a:t>
            </a:r>
            <a:r>
              <a:rPr lang="ro-RO" sz="2600" b="1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ro-RO" sz="26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ro-RO" dirty="0"/>
          </a:p>
          <a:p>
            <a:pPr marL="817562" lvl="1" indent="-314324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lang="ro-RO" sz="26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620"/>
              </a:spcBef>
              <a:buSzPts val="3100"/>
            </a:pP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mod normal compilatorul </a:t>
            </a:r>
            <a:r>
              <a:rPr lang="ro-RO" sz="3100" dirty="0"/>
              <a:t>nu alocă 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spațiu pentru constante</a:t>
            </a:r>
            <a:r>
              <a:rPr lang="ro-RO" sz="3100" dirty="0"/>
              <a:t>, dacă 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declarat ca </a:t>
            </a:r>
            <a:r>
              <a:rPr lang="ro-RO" sz="3100" dirty="0"/>
              <a:t>extern alocă 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spațiu </a:t>
            </a:r>
            <a:r>
              <a:rPr lang="ro-RO" sz="3100" dirty="0"/>
              <a:t>(să 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poată fi accesat şi din </a:t>
            </a:r>
            <a:r>
              <a:rPr lang="ro-RO" sz="3100" dirty="0"/>
              <a:t>alte părți </a:t>
            </a:r>
            <a:r>
              <a:rPr lang="ro-RO" sz="31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 programului)</a:t>
            </a:r>
            <a:endParaRPr lang="ro-RO" dirty="0"/>
          </a:p>
        </p:txBody>
      </p:sp>
      <p:sp>
        <p:nvSpPr>
          <p:cNvPr id="467" name="Google Shape;467;p6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68" name="Google Shape;468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1921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4"/>
          <p:cNvSpPr txBox="1">
            <a:spLocks noGrp="1"/>
          </p:cNvSpPr>
          <p:nvPr>
            <p:ph type="body" idx="1"/>
          </p:nvPr>
        </p:nvSpPr>
        <p:spPr>
          <a:xfrm>
            <a:off x="503237" y="1265237"/>
            <a:ext cx="907415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500"/>
            </a:pP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structuri complicate folosite cu </a:t>
            </a:r>
            <a:r>
              <a:rPr lang="ro-RO" sz="35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aloc</a:t>
            </a:r>
            <a:r>
              <a:rPr lang="ro-RO" sz="3600" dirty="0" smtClean="0"/>
              <a:t>ă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spațiu: nu se știe dac</a:t>
            </a:r>
            <a:r>
              <a:rPr lang="ro-RO" sz="3600" dirty="0" smtClean="0"/>
              <a:t>ă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aloc</a:t>
            </a:r>
            <a:r>
              <a:rPr lang="ro-RO" sz="3600" dirty="0" smtClean="0"/>
              <a:t>ă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sau nu spațiu şi atunci </a:t>
            </a:r>
            <a:r>
              <a:rPr lang="ro-RO" sz="35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impune localizare (s</a:t>
            </a:r>
            <a:r>
              <a:rPr lang="ro-RO" sz="3600" dirty="0" smtClean="0"/>
              <a:t>ă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existe coliziuni de nume)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aceea avem “</a:t>
            </a:r>
            <a:r>
              <a:rPr lang="ro-RO" sz="3500" b="1" i="1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ro-RO" sz="3500" b="1" i="1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500" b="1" i="1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linkage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ro-RO" dirty="0"/>
          </a:p>
        </p:txBody>
      </p:sp>
      <p:sp>
        <p:nvSpPr>
          <p:cNvPr id="474" name="Google Shape;474;p64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75" name="Google Shape;475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9667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5"/>
          <p:cNvSpPr txBox="1">
            <a:spLocks noGrp="1"/>
          </p:cNvSpPr>
          <p:nvPr>
            <p:ph type="body" idx="1"/>
          </p:nvPr>
        </p:nvSpPr>
        <p:spPr>
          <a:xfrm>
            <a:off x="671512" y="4535487"/>
            <a:ext cx="8569325" cy="268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știm c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variabila nu se schimb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declaram cu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încercam s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schimb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primim eroare de compilare</a:t>
            </a:r>
            <a:endParaRPr lang="ro-RO" dirty="0"/>
          </a:p>
        </p:txBody>
      </p:sp>
      <p:sp>
        <p:nvSpPr>
          <p:cNvPr id="481" name="Google Shape;481;p65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82" name="Google Shape;482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5"/>
          <p:cNvSpPr txBox="1"/>
          <p:nvPr/>
        </p:nvSpPr>
        <p:spPr>
          <a:xfrm>
            <a:off x="2373312" y="1036637"/>
            <a:ext cx="61722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Using const for safety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Typical constant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Value from const </a:t>
            </a:r>
            <a:r>
              <a:rPr lang="en-US" sz="1400" b="1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expr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address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)&amp;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Forces storage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Still a const expression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type a character &amp; CR: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sz="1400" b="1" i="0" u="none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Can't change //</a:t>
            </a:r>
            <a:r>
              <a:rPr lang="en-US" sz="1400" b="1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valoarea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nu e </a:t>
            </a:r>
            <a:r>
              <a:rPr lang="en-US" sz="1400" b="1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cunoscuta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la compile time </a:t>
            </a:r>
            <a:r>
              <a:rPr lang="en-US" sz="1400" b="1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si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necesita</a:t>
            </a:r>
            <a:r>
              <a:rPr lang="en-US" sz="1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storage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c2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c2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791646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6"/>
          <p:cNvSpPr txBox="1">
            <a:spLocks noGrp="1"/>
          </p:cNvSpPr>
          <p:nvPr>
            <p:ph type="body" idx="1"/>
          </p:nvPr>
        </p:nvSpPr>
        <p:spPr>
          <a:xfrm>
            <a:off x="503237" y="1189037"/>
            <a:ext cx="9337675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ro-RO" sz="32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2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poate elimina memorie şi acces la memorie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ro-RO" sz="32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640"/>
              </a:spcBef>
              <a:buSzPts val="3200"/>
            </a:pPr>
            <a:r>
              <a:rPr lang="ro-RO" sz="32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2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agregate: aproape sigur </a:t>
            </a:r>
            <a:r>
              <a:rPr lang="ro-RO" sz="3200" dirty="0" smtClean="0"/>
              <a:t>compilatorul alocă </a:t>
            </a:r>
            <a:r>
              <a:rPr lang="ro-RO" sz="32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memorie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ro-RO" sz="32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ro-RO" sz="32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se pot folosi valorile la compilare</a:t>
            </a:r>
            <a:endParaRPr lang="ro-RO" dirty="0"/>
          </a:p>
        </p:txBody>
      </p:sp>
      <p:sp>
        <p:nvSpPr>
          <p:cNvPr id="489" name="Google Shape;489;p6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90" name="Google Shape;490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6252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496" name="Google Shape;496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67"/>
          <p:cNvSpPr txBox="1"/>
          <p:nvPr/>
        </p:nvSpPr>
        <p:spPr>
          <a:xfrm>
            <a:off x="2155190" y="1612265"/>
            <a:ext cx="598297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Constants and aggregates</a:t>
            </a:r>
            <a:endParaRPr sz="20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20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float f[</a:t>
            </a:r>
            <a:r>
              <a:rPr lang="en-US" sz="2000" b="0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[3]]; // Illegal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20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20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 </a:t>
            </a:r>
            <a:r>
              <a:rPr lang="en-US" sz="20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>
              <a:solidFill>
                <a:srgbClr val="6969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20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double d[s[1].j]; // Illegal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20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0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0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770406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8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diferenţe</a:t>
            </a:r>
            <a:r>
              <a:rPr lang="en-US" sz="49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 C</a:t>
            </a:r>
            <a:endParaRPr dirty="0"/>
          </a:p>
        </p:txBody>
      </p:sp>
      <p:sp>
        <p:nvSpPr>
          <p:cNvPr id="503" name="Google Shape;503;p68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lnSpc>
                <a:spcPct val="90000"/>
              </a:lnSpc>
              <a:spcBef>
                <a:spcPts val="0"/>
              </a:spcBef>
              <a:buSzPts val="3200"/>
            </a:pPr>
            <a:r>
              <a:rPr lang="ro-RO" sz="32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2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 C: </a:t>
            </a:r>
            <a:r>
              <a:rPr lang="ro-RO" sz="3200" dirty="0" smtClean="0"/>
              <a:t>o variabilă globală </a:t>
            </a:r>
            <a:r>
              <a:rPr lang="ro-RO" sz="32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care nu </a:t>
            </a:r>
            <a:r>
              <a:rPr lang="ro-RO" sz="3200" dirty="0" smtClean="0"/>
              <a:t>se schimbă</a:t>
            </a:r>
            <a:endParaRPr lang="ro-RO" dirty="0" smtClean="0"/>
          </a:p>
          <a:p>
            <a:pPr marL="377825" lvl="0" indent="-377825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ro-RO" sz="32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ro-RO" sz="32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 nu se poate considera ca valoare la compilare</a:t>
            </a:r>
            <a:endParaRPr lang="ro-RO" dirty="0" smtClean="0"/>
          </a:p>
          <a:p>
            <a:pPr marL="377825" lvl="0" indent="-377825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ro-RO" sz="32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lang="ro-RO" sz="3200" b="0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200" b="0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200" b="0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200" b="0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200" b="0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bufsize</a:t>
            </a:r>
            <a:r>
              <a:rPr lang="ro-RO" sz="3200" b="0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= 100; </a:t>
            </a:r>
            <a:endParaRPr lang="ro-RO" dirty="0" smtClean="0"/>
          </a:p>
          <a:p>
            <a:pPr marL="377825" lvl="0" indent="-377825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lang="ro-RO" sz="3200" b="0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ro-RO" sz="3200" b="0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buf[</a:t>
            </a:r>
            <a:r>
              <a:rPr lang="ro-RO" sz="3200" b="0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bufsize</a:t>
            </a:r>
            <a:r>
              <a:rPr lang="ro-RO" sz="3200" b="0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]; </a:t>
            </a:r>
            <a:endParaRPr lang="ro-RO" dirty="0" smtClean="0"/>
          </a:p>
          <a:p>
            <a:pPr marL="377825" lvl="0" indent="-377825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ro-RO" sz="32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ro-RO" sz="32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eroare în C</a:t>
            </a:r>
            <a:endParaRPr lang="ro-RO" dirty="0"/>
          </a:p>
        </p:txBody>
      </p:sp>
      <p:sp>
        <p:nvSpPr>
          <p:cNvPr id="504" name="Google Shape;504;p68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05" name="Google Shape;505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92129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9"/>
          <p:cNvSpPr txBox="1">
            <a:spLocks noGrp="1"/>
          </p:cNvSpPr>
          <p:nvPr>
            <p:ph type="body" idx="1"/>
          </p:nvPr>
        </p:nvSpPr>
        <p:spPr>
          <a:xfrm>
            <a:off x="503237" y="1189037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 se poate declara cu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0070C0"/>
              </a:buClr>
              <a:buSzPts val="3100"/>
              <a:buNone/>
            </a:pPr>
            <a:r>
              <a:rPr lang="ro-RO" sz="3100" b="1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100" b="1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100" b="1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100" b="1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100" b="1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bufsize</a:t>
            </a:r>
            <a:r>
              <a:rPr lang="ro-RO" sz="3100" b="1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C++ nu se poate așa, trebuie extern: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0070C0"/>
              </a:buClr>
              <a:buSzPts val="3100"/>
              <a:buNone/>
            </a:pPr>
            <a:r>
              <a:rPr lang="ro-RO" sz="3100" b="1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extern </a:t>
            </a:r>
            <a:r>
              <a:rPr lang="ro-RO" sz="3100" b="1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100" b="1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100" b="1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100" b="1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100" b="1" i="0" u="none" dirty="0" err="1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bufsize</a:t>
            </a:r>
            <a:r>
              <a:rPr lang="ro-RO" sz="3100" b="1" i="0" u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ro-RO" dirty="0" smtClean="0"/>
          </a:p>
          <a:p>
            <a:pPr marL="377825" lvl="0" indent="-18097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 lang="ro-RO" sz="31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diferența: </a:t>
            </a:r>
            <a:endParaRPr lang="ro-RO" dirty="0" smtClean="0"/>
          </a:p>
          <a:p>
            <a:pPr marL="817562" lvl="1" indent="-314324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linkage</a:t>
            </a:r>
            <a:endParaRPr lang="ro-RO" dirty="0" smtClean="0"/>
          </a:p>
          <a:p>
            <a:pPr marL="817562" lvl="1" indent="-314324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 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linkage</a:t>
            </a:r>
            <a:endParaRPr lang="ro-RO" dirty="0" smtClean="0"/>
          </a:p>
          <a:p>
            <a:pPr marL="377825" lvl="0" indent="-18097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 lang="ro-RO" sz="31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180975" algn="l" rtl="0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6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12" name="Google Shape;512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9935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0"/>
          <p:cNvSpPr txBox="1">
            <a:spLocks noGrp="1"/>
          </p:cNvSpPr>
          <p:nvPr>
            <p:ph type="body" idx="1"/>
          </p:nvPr>
        </p:nvSpPr>
        <p:spPr>
          <a:xfrm>
            <a:off x="503237" y="1112837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100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C++ compilatorul </a:t>
            </a:r>
            <a:r>
              <a:rPr lang="ro-RO" sz="3100" dirty="0" smtClean="0"/>
              <a:t>încearcă să 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creeze spațiu pentru const-uri</a:t>
            </a:r>
            <a:r>
              <a:rPr lang="ro-RO" sz="3100" dirty="0" smtClean="0"/>
              <a:t>, dacă 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totuși se transmite către o funcție </a:t>
            </a:r>
            <a:r>
              <a:rPr lang="ro-RO" sz="3100" dirty="0" smtClean="0"/>
              <a:t>prin referință, 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 etc. atunci se creează spațiu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C++: 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 afara tuturor funcțiilor: scopul ei este doar în fișierul respectiv: 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linkage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alți identificatori declarați în același loc (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fara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EXTERNAL LINKAGE</a:t>
            </a:r>
            <a:endParaRPr lang="ro-RO" dirty="0" smtClean="0"/>
          </a:p>
          <a:p>
            <a:pPr marL="377825" lvl="0" indent="-180975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 lang="ro-RO" sz="31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180975" algn="l" rtl="0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7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19" name="Google Shape;5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75223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1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 const</a:t>
            </a:r>
            <a:endParaRPr/>
          </a:p>
        </p:txBody>
      </p:sp>
      <p:sp>
        <p:nvSpPr>
          <p:cNvPr id="525" name="Google Shape;525;p71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poate fi aplicat valorii pointerului sau elementului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pointat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alatur</a:t>
            </a:r>
            <a:r>
              <a:rPr lang="ro-RO" sz="3600" dirty="0" err="1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elementului cel mai apropiat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u; 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este pointer către un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care este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v;  la fel ca mai sus</a:t>
            </a:r>
            <a:endParaRPr lang="ro-RO" dirty="0"/>
          </a:p>
        </p:txBody>
      </p:sp>
      <p:sp>
        <p:nvSpPr>
          <p:cNvPr id="526" name="Google Shape;526;p7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27" name="Google Shape;527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2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</a:t>
            </a: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constanţi</a:t>
            </a:r>
            <a:endParaRPr dirty="0"/>
          </a:p>
        </p:txBody>
      </p:sp>
      <p:sp>
        <p:nvSpPr>
          <p:cNvPr id="533" name="Google Shape;533;p72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pointeri care nu își schimb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adresa din memorie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 = 1; 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 =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&amp;d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e un pointer constant care arat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întregi+inițializare</a:t>
            </a:r>
            <a:endParaRPr lang="ro-RO" dirty="0"/>
          </a:p>
          <a:p>
            <a:pPr marL="377825" lvl="0" indent="-15557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7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35" name="Google Shape;53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3"/>
          <p:cNvSpPr txBox="1">
            <a:spLocks noGrp="1"/>
          </p:cNvSpPr>
          <p:nvPr>
            <p:ph type="title"/>
          </p:nvPr>
        </p:nvSpPr>
        <p:spPr>
          <a:xfrm>
            <a:off x="503237" y="7683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pointer catre const element</a:t>
            </a:r>
            <a:endParaRPr/>
          </a:p>
        </p:txBody>
      </p:sp>
      <p:sp>
        <p:nvSpPr>
          <p:cNvPr id="541" name="Google Shape;541;p73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1555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endParaRPr sz="3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d = 1; 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int* const x = &amp;d; // (1) </a:t>
            </a:r>
            <a:endParaRPr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const* const x2 = &amp;d; // (2) </a:t>
            </a:r>
            <a:endParaRPr/>
          </a:p>
          <a:p>
            <a:pPr marL="377825" lvl="0" indent="-15557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endParaRPr sz="3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sz="3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7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43" name="Google Shape;543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4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49" name="Google Shape;549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74"/>
          <p:cNvSpPr txBox="1"/>
          <p:nvPr/>
        </p:nvSpPr>
        <p:spPr>
          <a:xfrm>
            <a:off x="2520950" y="1036637"/>
            <a:ext cx="5567362" cy="409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//: C08:ConstPointers.cpp </a:t>
            </a:r>
            <a:endParaRPr sz="20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u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 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(1) </a:t>
            </a: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x2 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(2)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urier New"/>
              <a:buNone/>
            </a:pPr>
            <a:r>
              <a:rPr lang="en-US" sz="20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0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2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 </a:t>
            </a: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5"/>
          <p:cNvSpPr txBox="1">
            <a:spLocks noGrp="1"/>
          </p:cNvSpPr>
          <p:nvPr>
            <p:ph type="body" idx="1"/>
          </p:nvPr>
        </p:nvSpPr>
        <p:spPr>
          <a:xfrm>
            <a:off x="503237" y="1112837"/>
            <a:ext cx="907415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poate face atribuire de adres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obiect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un pointer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se poate face atribuire pe adres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obiect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pointer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non-const</a:t>
            </a:r>
            <a:endParaRPr lang="ro-RO" dirty="0"/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75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57" name="Google Shape;557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63" name="Google Shape;563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76"/>
          <p:cNvSpPr txBox="1"/>
          <p:nvPr/>
        </p:nvSpPr>
        <p:spPr>
          <a:xfrm>
            <a:off x="1382712" y="1112837"/>
            <a:ext cx="83820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 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u 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 -- d not const </a:t>
            </a: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>
              <a:solidFill>
                <a:srgbClr val="6969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int* v = &amp;e; // Illegal -- e const </a:t>
            </a: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 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*)&amp;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Legal but bad practice </a:t>
            </a: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 </a:t>
            </a: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7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constante caractere</a:t>
            </a:r>
            <a:endParaRPr/>
          </a:p>
        </p:txBody>
      </p:sp>
      <p:sp>
        <p:nvSpPr>
          <p:cNvPr id="570" name="Google Shape;570;p77"/>
          <p:cNvSpPr txBox="1">
            <a:spLocks noGrp="1"/>
          </p:cNvSpPr>
          <p:nvPr>
            <p:ph type="body" idx="1"/>
          </p:nvPr>
        </p:nvSpPr>
        <p:spPr>
          <a:xfrm>
            <a:off x="503237" y="1914525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sz="35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cp = "</a:t>
            </a:r>
            <a:r>
              <a:rPr lang="ro-RO" sz="35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howdy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"; </a:t>
            </a:r>
            <a:endParaRPr lang="ro-RO" dirty="0" smtClean="0"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700"/>
              </a:spcBef>
              <a:buSzPts val="3500"/>
              <a:buNone/>
            </a:pP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3600" dirty="0" smtClean="0"/>
              <a:t>ă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încearcă schimbarea caracterelor din “</a:t>
            </a:r>
            <a:r>
              <a:rPr lang="ro-RO" sz="35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howdy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compilatorul ar trebui s</a:t>
            </a:r>
            <a:r>
              <a:rPr lang="ro-RO" sz="3600" dirty="0" smtClean="0"/>
              <a:t>ă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genereze eroare; nu se întâmpl</a:t>
            </a:r>
            <a:r>
              <a:rPr lang="ro-RO" sz="3600" dirty="0" smtClean="0"/>
              <a:t>ă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 mod uzual (compatibilitate cu C)</a:t>
            </a:r>
            <a:endParaRPr lang="ro-RO" dirty="0" smtClean="0"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 bine: </a:t>
            </a:r>
            <a:r>
              <a:rPr lang="ro-RO" sz="35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cp[] = "</a:t>
            </a:r>
            <a:r>
              <a:rPr lang="ro-RO" sz="35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howdy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"; </a:t>
            </a:r>
            <a:endParaRPr lang="ro-RO" dirty="0" smtClean="0"/>
          </a:p>
          <a:p>
            <a:pPr marL="377825" lvl="0" indent="-377825">
              <a:lnSpc>
                <a:spcPct val="90000"/>
              </a:lnSpc>
              <a:spcBef>
                <a:spcPts val="700"/>
              </a:spcBef>
              <a:buSzPts val="3500"/>
              <a:buNone/>
            </a:pP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şi atunci nu ar mai trebui s</a:t>
            </a:r>
            <a:r>
              <a:rPr lang="ro-RO" sz="3600" dirty="0" smtClean="0"/>
              <a:t>ă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fie probleme</a:t>
            </a:r>
            <a:endParaRPr lang="ro-RO" dirty="0" smtClean="0"/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7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72" name="Google Shape;572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00590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8"/>
          <p:cNvSpPr txBox="1">
            <a:spLocks noGrp="1"/>
          </p:cNvSpPr>
          <p:nvPr>
            <p:ph type="title"/>
          </p:nvPr>
        </p:nvSpPr>
        <p:spPr>
          <a:xfrm>
            <a:off x="468312" y="920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o-RO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argumente de funcții, param de întoarcere</a:t>
            </a:r>
            <a:endParaRPr lang="ro-RO" dirty="0"/>
          </a:p>
        </p:txBody>
      </p:sp>
      <p:sp>
        <p:nvSpPr>
          <p:cNvPr id="578" name="Google Shape;578;p78"/>
          <p:cNvSpPr txBox="1">
            <a:spLocks noGrp="1"/>
          </p:cNvSpPr>
          <p:nvPr>
            <p:ph type="body" idx="1"/>
          </p:nvPr>
        </p:nvSpPr>
        <p:spPr>
          <a:xfrm>
            <a:off x="503237" y="2754312"/>
            <a:ext cx="9074150" cy="369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apel prin valoare cu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o-RO" sz="3500" b="0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param formal nu se schimb</a:t>
            </a:r>
            <a:r>
              <a:rPr lang="ro-RO" sz="3600" dirty="0">
                <a:solidFill>
                  <a:srgbClr val="FF0000"/>
                </a:solidFill>
              </a:rPr>
              <a:t>ă</a:t>
            </a:r>
            <a:r>
              <a:rPr lang="ro-RO" sz="3500" b="0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în </a:t>
            </a:r>
            <a:r>
              <a:rPr lang="ro-RO" sz="3500" b="0" i="0" u="none" dirty="0" err="1">
                <a:solidFill>
                  <a:srgbClr val="FF0000"/>
                </a:solidFill>
                <a:sym typeface="Calibri"/>
              </a:rPr>
              <a:t>functie</a:t>
            </a:r>
            <a:endParaRPr lang="ro-RO" dirty="0">
              <a:solidFill>
                <a:srgbClr val="FF0000"/>
              </a:solidFill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întoarcere: </a:t>
            </a:r>
            <a:r>
              <a:rPr lang="ro-RO" sz="3500" b="0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valoarea returnat</a:t>
            </a:r>
            <a:r>
              <a:rPr lang="ro-RO" sz="3600" dirty="0">
                <a:solidFill>
                  <a:srgbClr val="FF0000"/>
                </a:solidFill>
              </a:rPr>
              <a:t>ă</a:t>
            </a:r>
            <a:r>
              <a:rPr lang="ro-RO" sz="3500" b="0" i="0" u="none" dirty="0">
                <a:solidFill>
                  <a:srgbClr val="FF0000"/>
                </a:solidFill>
                <a:sym typeface="Calibri"/>
              </a:rPr>
              <a:t> nu se poate schimba</a:t>
            </a:r>
            <a:endParaRPr lang="ro-RO" dirty="0">
              <a:solidFill>
                <a:srgbClr val="FF0000"/>
              </a:solidFill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transmite o adres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promisiune c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se schimb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valoarea la adresa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respectiv</a:t>
            </a:r>
            <a:r>
              <a:rPr lang="ro-RO" sz="3600" dirty="0"/>
              <a:t>ă</a:t>
            </a:r>
            <a:endParaRPr lang="ro-RO" dirty="0"/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78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80" name="Google Shape;580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86" name="Google Shape;586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79"/>
          <p:cNvSpPr txBox="1"/>
          <p:nvPr/>
        </p:nvSpPr>
        <p:spPr>
          <a:xfrm>
            <a:off x="1458912" y="1341437"/>
            <a:ext cx="7772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f1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2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Illegal -- compile-time error </a:t>
            </a: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cod mai clar echivalent mai jos</a:t>
            </a:r>
            <a:r>
              <a:rPr lang="en-US" sz="2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f2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ic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ic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2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Illegal -- compile-time error </a:t>
            </a: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593" name="Google Shape;593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80"/>
          <p:cNvSpPr txBox="1"/>
          <p:nvPr/>
        </p:nvSpPr>
        <p:spPr>
          <a:xfrm>
            <a:off x="773112" y="1606550"/>
            <a:ext cx="8382000" cy="41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Returning consts by value</a:t>
            </a: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has no meaning for built-in types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f3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f4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urier New"/>
              <a:buNone/>
            </a:pP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f3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Works fine</a:t>
            </a: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k 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f4</a:t>
            </a:r>
            <a:r>
              <a:rPr lang="en-US" sz="2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But this works fine too!</a:t>
            </a:r>
            <a:endParaRPr sz="2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400"/>
              <a:buFont typeface="Courier New"/>
              <a:buNone/>
            </a:pPr>
            <a:r>
              <a:rPr lang="en-US" sz="2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00" name="Google Shape;600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81"/>
          <p:cNvSpPr txBox="1"/>
          <p:nvPr/>
        </p:nvSpPr>
        <p:spPr>
          <a:xfrm>
            <a:off x="2520950" y="715962"/>
            <a:ext cx="5038725" cy="634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Constant return by value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Result cannot be used as an lvalue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modify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modify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 f5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f6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f7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Pass by non-const reference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x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modify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f5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 -- non-const return value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f5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modify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Causes compile-time errors: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f7(f5());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f6() = X(1);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f6().modify();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f7(f6());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2"/>
          <p:cNvSpPr txBox="1">
            <a:spLocks noGrp="1"/>
          </p:cNvSpPr>
          <p:nvPr>
            <p:ph type="body" idx="1"/>
          </p:nvPr>
        </p:nvSpPr>
        <p:spPr>
          <a:xfrm>
            <a:off x="503237" y="1112837"/>
            <a:ext cx="907415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f7() creează obiecte temporare, de ac</a:t>
            </a: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 nu compilează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aceste obiecte au constructor şi destructor dar </a:t>
            </a:r>
            <a:r>
              <a:rPr lang="ro-RO" sz="2800" dirty="0"/>
              <a:t>pentru că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</a:t>
            </a:r>
            <a:r>
              <a:rPr lang="ro-RO" sz="2800" dirty="0"/>
              <a:t>putem să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“atingem” sunt definite </a:t>
            </a: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 forma de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 constante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f7(f5()); se creează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temporar pentru rezultatul lui f5(); si apoi apel </a:t>
            </a:r>
            <a:r>
              <a:rPr lang="ro-RO" sz="2800" dirty="0"/>
              <a:t>prin referință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f7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560"/>
              </a:spcBef>
              <a:buSzPts val="2800"/>
            </a:pPr>
            <a:r>
              <a:rPr lang="ro-RO" sz="2800" dirty="0"/>
              <a:t>ca să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compileze (dar cu erori mai târziu) trebuie apel </a:t>
            </a:r>
            <a:r>
              <a:rPr lang="ro-RO" sz="2800" dirty="0"/>
              <a:t>prin referință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200025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8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08" name="Google Shape;608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3"/>
          <p:cNvSpPr txBox="1">
            <a:spLocks noGrp="1"/>
          </p:cNvSpPr>
          <p:nvPr>
            <p:ph type="body" idx="1"/>
          </p:nvPr>
        </p:nvSpPr>
        <p:spPr>
          <a:xfrm>
            <a:off x="503237" y="1265237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f5() = X(1); 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f5().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(); 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compilează f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probleme, dar procesarea se face pe obiectul temporar (modificările se pierd imediat, deci aproape sigur este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bug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ro-RO" dirty="0"/>
          </a:p>
        </p:txBody>
      </p:sp>
      <p:sp>
        <p:nvSpPr>
          <p:cNvPr id="614" name="Google Shape;614;p8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15" name="Google Shape;615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4"/>
          <p:cNvSpPr txBox="1">
            <a:spLocks noGrp="1"/>
          </p:cNvSpPr>
          <p:nvPr>
            <p:ph type="title"/>
          </p:nvPr>
        </p:nvSpPr>
        <p:spPr>
          <a:xfrm>
            <a:off x="503237" y="6921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parametrii</a:t>
            </a: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intrare</a:t>
            </a: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şi</a:t>
            </a: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iesire</a:t>
            </a: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adrese</a:t>
            </a:r>
            <a:endParaRPr dirty="0"/>
          </a:p>
        </p:txBody>
      </p:sp>
      <p:sp>
        <p:nvSpPr>
          <p:cNvPr id="621" name="Google Shape;621;p84"/>
          <p:cNvSpPr txBox="1">
            <a:spLocks noGrp="1"/>
          </p:cNvSpPr>
          <p:nvPr>
            <p:ph type="body" idx="1"/>
          </p:nvPr>
        </p:nvSpPr>
        <p:spPr>
          <a:xfrm>
            <a:off x="503237" y="2982912"/>
            <a:ext cx="9074150" cy="270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preferabil s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fie definiți ca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felul acesta pointerii şi referințele nu pot fi modificați/modificate</a:t>
            </a:r>
            <a:endParaRPr lang="ro-RO" dirty="0"/>
          </a:p>
        </p:txBody>
      </p:sp>
      <p:sp>
        <p:nvSpPr>
          <p:cNvPr id="622" name="Google Shape;622;p84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23" name="Google Shape;62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5"/>
          <p:cNvSpPr txBox="1">
            <a:spLocks noGrp="1"/>
          </p:cNvSpPr>
          <p:nvPr>
            <p:ph type="body" idx="1"/>
          </p:nvPr>
        </p:nvSpPr>
        <p:spPr>
          <a:xfrm>
            <a:off x="890587" y="5200650"/>
            <a:ext cx="8569325" cy="1931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2800"/>
            </a:pPr>
            <a:r>
              <a:rPr lang="ro-RO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cip2 nu schimb</a:t>
            </a:r>
            <a:r>
              <a:rPr lang="ro-RO" sz="2800" dirty="0"/>
              <a:t>ă</a:t>
            </a:r>
            <a:r>
              <a:rPr lang="ro-RO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adresa întoars</a:t>
            </a:r>
            <a:r>
              <a:rPr lang="ro-RO" sz="2800" dirty="0"/>
              <a:t>ă</a:t>
            </a:r>
            <a:r>
              <a:rPr lang="ro-RO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din w (pointerul con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ro-RO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 care arat</a:t>
            </a:r>
            <a:r>
              <a:rPr lang="ro-RO" sz="2800" dirty="0"/>
              <a:t>ă</a:t>
            </a:r>
            <a:r>
              <a:rPr lang="ro-RO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spre constant</a:t>
            </a:r>
            <a:r>
              <a:rPr lang="ro-RO" sz="2800" dirty="0"/>
              <a:t>ă</a:t>
            </a:r>
            <a:r>
              <a:rPr lang="ro-RO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deci e ok; următoarea linie schimb</a:t>
            </a:r>
            <a:r>
              <a:rPr lang="ro-RO" sz="2800" dirty="0"/>
              <a:t>ă</a:t>
            </a:r>
            <a:r>
              <a:rPr lang="ro-RO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valoarea deci compilatorul intervine</a:t>
            </a:r>
            <a:endParaRPr lang="ro-RO" dirty="0"/>
          </a:p>
        </p:txBody>
      </p:sp>
      <p:sp>
        <p:nvSpPr>
          <p:cNvPr id="629" name="Google Shape;629;p85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30" name="Google Shape;630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85"/>
          <p:cNvSpPr txBox="1"/>
          <p:nvPr/>
        </p:nvSpPr>
        <p:spPr>
          <a:xfrm>
            <a:off x="315912" y="884237"/>
            <a:ext cx="503872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Constant pointer arg/return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u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cip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*cip = 2; // Illegal -- modifies value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cip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 -- copies value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int* ip2 = cip; // Illegal: non-const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Returns address of static character array: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result of function v()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2" name="Google Shape;632;p85"/>
          <p:cNvSpPr txBox="1"/>
          <p:nvPr/>
        </p:nvSpPr>
        <p:spPr>
          <a:xfrm>
            <a:off x="5640387" y="1169987"/>
            <a:ext cx="4200525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ip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cip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ip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t(cip); // Not OK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u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ip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u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cip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Also OK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char* cp = v(); // Not OK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ccp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int* ip2 = w(); // Not OK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ccip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cip2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*w() = 1; // Not OK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86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ro-RO" sz="49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comparații cu C</a:t>
            </a:r>
            <a:endParaRPr lang="ro-RO" dirty="0"/>
          </a:p>
        </p:txBody>
      </p:sp>
      <p:sp>
        <p:nvSpPr>
          <p:cNvPr id="638" name="Google Shape;638;p86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 daca vrem param. o adresa: se face pointer la pointer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C++ nu se încurajează acest lucru: 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800" dirty="0" smtClean="0"/>
              <a:t> referință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apelant e la fel ca apel prin valoare</a:t>
            </a:r>
            <a:endParaRPr lang="ro-RO" dirty="0" smtClean="0"/>
          </a:p>
          <a:p>
            <a:pPr marL="817562" lvl="1" indent="-314324">
              <a:spcBef>
                <a:spcPts val="520"/>
              </a:spcBef>
              <a:buSzPts val="2600"/>
            </a:pP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nici nu trebuie s</a:t>
            </a:r>
            <a:r>
              <a:rPr lang="ro-RO" sz="2800" dirty="0" smtClean="0"/>
              <a:t>ă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gândească la pointeri</a:t>
            </a:r>
            <a:endParaRPr lang="ro-RO" dirty="0" smtClean="0"/>
          </a:p>
          <a:p>
            <a:pPr marL="817562" lvl="1" indent="-314324">
              <a:spcBef>
                <a:spcPts val="520"/>
              </a:spcBef>
              <a:buSzPts val="2600"/>
            </a:pP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trimiterea unei adrese e mult mai eficient</a:t>
            </a:r>
            <a:r>
              <a:rPr lang="ro-RO" sz="2800" dirty="0" smtClean="0"/>
              <a:t>ă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decât transmiterea obiectului prin stiv</a:t>
            </a:r>
            <a:r>
              <a:rPr lang="ro-RO" sz="2800" dirty="0" smtClean="0"/>
              <a:t>ă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se face </a:t>
            </a:r>
            <a:r>
              <a:rPr lang="ro-RO" sz="26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6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 nici nu se modific</a:t>
            </a:r>
            <a:r>
              <a:rPr lang="ro-RO" sz="2800" dirty="0" smtClean="0"/>
              <a:t>ă</a:t>
            </a:r>
            <a:endParaRPr lang="ro-RO" dirty="0"/>
          </a:p>
        </p:txBody>
      </p:sp>
      <p:sp>
        <p:nvSpPr>
          <p:cNvPr id="639" name="Google Shape;639;p8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40" name="Google Shape;640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5913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7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Ob. temporare sunt const</a:t>
            </a:r>
            <a:endParaRPr/>
          </a:p>
        </p:txBody>
      </p:sp>
      <p:sp>
        <p:nvSpPr>
          <p:cNvPr id="647" name="Google Shape;647;p8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48" name="Google Shape;64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87"/>
          <p:cNvSpPr txBox="1"/>
          <p:nvPr/>
        </p:nvSpPr>
        <p:spPr>
          <a:xfrm>
            <a:off x="392112" y="2918712"/>
            <a:ext cx="5562600" cy="38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//: C08:ConstTemporary.cpp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Temporaries are </a:t>
            </a:r>
            <a:r>
              <a:rPr lang="en-US" sz="1400" b="0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 f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Return by value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g1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Pass by non-</a:t>
            </a:r>
            <a:r>
              <a:rPr lang="en-US" sz="1400" b="1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reference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g2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Pass by </a:t>
            </a:r>
            <a:r>
              <a:rPr lang="en-US" sz="1400" b="1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reference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Error: </a:t>
            </a:r>
            <a:r>
              <a:rPr lang="en-US" sz="1400" b="0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temporary created by f():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g1(f());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OK: g2 takes a </a:t>
            </a:r>
            <a:r>
              <a:rPr lang="en-US" sz="1400" b="0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reference: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g2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654;p88"/>
          <p:cNvSpPr txBox="1">
            <a:spLocks noGrp="1"/>
          </p:cNvSpPr>
          <p:nvPr>
            <p:ph type="body" idx="1"/>
          </p:nvPr>
        </p:nvSpPr>
        <p:spPr>
          <a:xfrm>
            <a:off x="503237" y="1616414"/>
            <a:ext cx="907415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500"/>
            </a:pPr>
            <a:r>
              <a:rPr lang="ro-RO" sz="2800" b="0" i="0" u="none" dirty="0">
                <a:solidFill>
                  <a:schemeClr val="dk1"/>
                </a:solidFill>
                <a:sym typeface="Calibri"/>
              </a:rPr>
              <a:t>e posibil s</a:t>
            </a:r>
            <a:r>
              <a:rPr lang="ro-RO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sym typeface="Calibri"/>
              </a:rPr>
              <a:t> se transmită un obiect temporar către o funcție care primește referinț</a:t>
            </a:r>
            <a:r>
              <a:rPr lang="ro-RO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sym typeface="Calibri"/>
              </a:rPr>
              <a:t> </a:t>
            </a:r>
            <a:r>
              <a:rPr lang="ro-RO" sz="2800" b="0" i="0" u="none" dirty="0" err="1">
                <a:solidFill>
                  <a:schemeClr val="dk1"/>
                </a:solidFill>
                <a:sym typeface="Calibri"/>
              </a:rPr>
              <a:t>const</a:t>
            </a:r>
            <a:endParaRPr lang="ro-RO" sz="2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22"/>
          <p:cNvSpPr txBox="1">
            <a:spLocks noGrp="1"/>
          </p:cNvSpPr>
          <p:nvPr>
            <p:ph type="body" idx="1"/>
          </p:nvPr>
        </p:nvSpPr>
        <p:spPr>
          <a:xfrm>
            <a:off x="325437" y="1207121"/>
            <a:ext cx="907256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2400" b="1" i="0" u="none" dirty="0" err="1">
                <a:solidFill>
                  <a:schemeClr val="dk1"/>
                </a:solidFill>
                <a:sym typeface="Calibri"/>
              </a:rPr>
              <a:t>Obiectele</a:t>
            </a:r>
            <a:r>
              <a:rPr lang="en-US" sz="2400" b="1" i="0" u="none" dirty="0">
                <a:solidFill>
                  <a:schemeClr val="dk1"/>
                </a:solidFill>
                <a:sym typeface="Calibri"/>
              </a:rPr>
              <a:t> temp </a:t>
            </a:r>
            <a:r>
              <a:rPr lang="en-US" sz="2400" b="1" i="0" u="none" dirty="0" err="1">
                <a:solidFill>
                  <a:schemeClr val="dk1"/>
                </a:solidFill>
                <a:sym typeface="Calibri"/>
              </a:rPr>
              <a:t>sunt</a:t>
            </a:r>
            <a:r>
              <a:rPr lang="en-US" sz="2400" b="1" i="0" u="none" dirty="0">
                <a:solidFill>
                  <a:schemeClr val="dk1"/>
                </a:solidFill>
                <a:sym typeface="Calibri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sym typeface="Calibri"/>
              </a:rPr>
              <a:t>const</a:t>
            </a:r>
            <a:r>
              <a:rPr lang="en-US" sz="2400" b="1" i="0" u="none" dirty="0">
                <a:solidFill>
                  <a:schemeClr val="dk1"/>
                </a:solidFill>
                <a:sym typeface="Calibri"/>
              </a:rPr>
              <a:t> (</a:t>
            </a:r>
            <a:r>
              <a:rPr lang="en-US" sz="2400" b="1" i="0" u="none" dirty="0" err="1">
                <a:solidFill>
                  <a:schemeClr val="dk1"/>
                </a:solidFill>
                <a:sym typeface="Calibri"/>
              </a:rPr>
              <a:t>exemplu</a:t>
            </a:r>
            <a:r>
              <a:rPr lang="en-US" sz="2400" b="1" i="0" u="none" dirty="0">
                <a:solidFill>
                  <a:schemeClr val="dk1"/>
                </a:solidFill>
                <a:sym typeface="Calibri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sym typeface="Calibri"/>
              </a:rPr>
              <a:t>problema</a:t>
            </a:r>
            <a:r>
              <a:rPr lang="en-US" sz="2400" b="1" i="0" u="none" dirty="0">
                <a:solidFill>
                  <a:schemeClr val="dk1"/>
                </a:solidFill>
                <a:sym typeface="Calibri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sym typeface="Calibri"/>
              </a:rPr>
              <a:t>examen</a:t>
            </a:r>
            <a:r>
              <a:rPr lang="en-US" sz="2400" b="1" i="0" u="none" dirty="0">
                <a:solidFill>
                  <a:schemeClr val="dk1"/>
                </a:solidFill>
                <a:sym typeface="Calibri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sym typeface="Calibri"/>
              </a:rPr>
              <a:t>scris</a:t>
            </a:r>
            <a:r>
              <a:rPr lang="en-US" sz="2400" b="1" i="0" u="none" dirty="0">
                <a:solidFill>
                  <a:schemeClr val="dk1"/>
                </a:solidFill>
                <a:sym typeface="Calibri"/>
              </a:rPr>
              <a:t>)</a:t>
            </a:r>
            <a:endParaRPr sz="2400" b="1" dirty="0"/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sz="2400" b="1" i="0" u="none" dirty="0">
              <a:solidFill>
                <a:schemeClr val="dk1"/>
              </a:solidFill>
              <a:sym typeface="Calibri"/>
            </a:endParaRPr>
          </a:p>
        </p:txBody>
      </p:sp>
      <p:sp>
        <p:nvSpPr>
          <p:cNvPr id="920" name="Google Shape;920;p12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Matematică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Informatică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Universitatea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Bucureşti</a:t>
            </a:r>
            <a:endParaRPr dirty="0"/>
          </a:p>
        </p:txBody>
      </p:sp>
      <p:pic>
        <p:nvPicPr>
          <p:cNvPr id="921" name="Google Shape;921;p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122"/>
          <p:cNvSpPr txBox="1"/>
          <p:nvPr/>
        </p:nvSpPr>
        <p:spPr>
          <a:xfrm>
            <a:off x="696912" y="2041257"/>
            <a:ext cx="832961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iostream.h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problema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 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 dirty="0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problema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schimba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afiseaza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 dirty="0" err="1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starea</a:t>
            </a:r>
            <a:r>
              <a:rPr lang="en-US" sz="1400" b="1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curenta</a:t>
            </a:r>
            <a:r>
              <a:rPr lang="en-US" sz="1400" b="1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problema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mister1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problema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mister2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problema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0" i="0" u="none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afiseaza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0" i="0" u="none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schimba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0" i="0" u="none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afiseaza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mister2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mister1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57822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9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</a:t>
            </a:r>
            <a:r>
              <a:rPr lang="en-US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clase</a:t>
            </a:r>
            <a:endParaRPr dirty="0"/>
          </a:p>
        </p:txBody>
      </p:sp>
      <p:sp>
        <p:nvSpPr>
          <p:cNvPr id="663" name="Google Shape;663;p89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3500"/>
            </a:pP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variabile de instanț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şi </a:t>
            </a:r>
            <a:endParaRPr lang="ro-RO" dirty="0"/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funcții de instanț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15557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15557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construim un vector pentru clasa respectiv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în C folosim #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ro-RO" dirty="0"/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lang="ro-RO" sz="3600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 C: coliziune pe nume</a:t>
            </a:r>
            <a:endParaRPr lang="ro-RO" dirty="0"/>
          </a:p>
        </p:txBody>
      </p:sp>
      <p:sp>
        <p:nvSpPr>
          <p:cNvPr id="664" name="Google Shape;664;p8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65" name="Google Shape;665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0"/>
          <p:cNvSpPr txBox="1">
            <a:spLocks noGrp="1"/>
          </p:cNvSpPr>
          <p:nvPr>
            <p:ph type="body" idx="1"/>
          </p:nvPr>
        </p:nvSpPr>
        <p:spPr>
          <a:xfrm>
            <a:off x="503237" y="1265237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C++: punem </a:t>
            </a:r>
            <a:r>
              <a:rPr lang="ro-RO" sz="2800" dirty="0"/>
              <a:t>o variabilă de instanță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dirty="0"/>
              <a:t>problemă: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toate obiectele </a:t>
            </a:r>
            <a:r>
              <a:rPr lang="ro-RO" sz="2800" dirty="0"/>
              <a:t>au această variabilă,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şi putem avea chiar valori diferite (depinde de inițializare)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când se creează un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800" dirty="0"/>
              <a:t>într-o clasă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se poate inițializa (constructorul inițializează)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constructor </a:t>
            </a:r>
            <a:r>
              <a:rPr lang="ro-RO" sz="2800" dirty="0"/>
              <a:t>trebuie să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 deja inițializat (altfel am </a:t>
            </a:r>
            <a:r>
              <a:rPr lang="ro-RO" sz="2800" dirty="0"/>
              <a:t>putea să îl schimbăm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constructor)</a:t>
            </a:r>
            <a:endParaRPr lang="ro-RO" dirty="0"/>
          </a:p>
        </p:txBody>
      </p:sp>
      <p:sp>
        <p:nvSpPr>
          <p:cNvPr id="671" name="Google Shape;671;p9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72" name="Google Shape;672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1"/>
          <p:cNvSpPr txBox="1">
            <a:spLocks noGrp="1"/>
          </p:cNvSpPr>
          <p:nvPr>
            <p:ph type="body" idx="1"/>
          </p:nvPr>
        </p:nvSpPr>
        <p:spPr>
          <a:xfrm>
            <a:off x="923925" y="960437"/>
            <a:ext cx="8569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inițializare de variabile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 obiecte: lista de inițializare a constructorilor</a:t>
            </a:r>
            <a:endParaRPr lang="ro-RO" dirty="0"/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9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79" name="Google Shape;679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91"/>
          <p:cNvSpPr txBox="1"/>
          <p:nvPr/>
        </p:nvSpPr>
        <p:spPr>
          <a:xfrm>
            <a:off x="2592387" y="2352675"/>
            <a:ext cx="5038725" cy="424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Initializing const in classes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Fred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size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Fred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sz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print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Fred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Fred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sz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size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sz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Fred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size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Fred a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92"/>
          <p:cNvSpPr txBox="1">
            <a:spLocks noGrp="1"/>
          </p:cNvSpPr>
          <p:nvPr>
            <p:ph type="title"/>
          </p:nvPr>
        </p:nvSpPr>
        <p:spPr>
          <a:xfrm>
            <a:off x="503237" y="6921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ro-RO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rezolvarea problemei inițiale</a:t>
            </a:r>
            <a:endParaRPr lang="ro-RO" dirty="0"/>
          </a:p>
        </p:txBody>
      </p:sp>
      <p:sp>
        <p:nvSpPr>
          <p:cNvPr id="686" name="Google Shape;686;p92"/>
          <p:cNvSpPr txBox="1">
            <a:spLocks noGrp="1"/>
          </p:cNvSpPr>
          <p:nvPr>
            <p:ph type="body" idx="1"/>
          </p:nvPr>
        </p:nvSpPr>
        <p:spPr>
          <a:xfrm>
            <a:off x="503237" y="2297112"/>
            <a:ext cx="9074150" cy="33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 static</a:t>
            </a:r>
            <a:endParaRPr lang="ro-RO" dirty="0"/>
          </a:p>
          <a:p>
            <a:pPr marL="817562" lvl="1" indent="-314324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</a:t>
            </a: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ro-RO" sz="2800" dirty="0" err="1"/>
              <a:t>mnă</a:t>
            </a:r>
            <a:r>
              <a:rPr lang="ro-RO" sz="2800" dirty="0"/>
              <a:t> că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e decât un singur asemenea element </a:t>
            </a:r>
            <a:r>
              <a:rPr lang="ro-RO" sz="2800" dirty="0"/>
              <a:t>în clasă</a:t>
            </a:r>
            <a:endParaRPr lang="ro-RO" dirty="0"/>
          </a:p>
          <a:p>
            <a:pPr marL="817562" lvl="1" indent="-314324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îl facem static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şi devine similar ca un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compilare</a:t>
            </a:r>
            <a:endParaRPr lang="ro-RO" dirty="0"/>
          </a:p>
          <a:p>
            <a:pPr marL="817562" lvl="1" indent="-314324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trebuie inițializat la declarare (nu în constructor)</a:t>
            </a:r>
            <a:endParaRPr lang="ro-RO" dirty="0"/>
          </a:p>
          <a:p>
            <a:pPr marL="377825" lvl="0" indent="-200025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9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88" name="Google Shape;688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9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694" name="Google Shape;694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93"/>
          <p:cNvSpPr txBox="1"/>
          <p:nvPr/>
        </p:nvSpPr>
        <p:spPr>
          <a:xfrm>
            <a:off x="163512" y="995362"/>
            <a:ext cx="5038725" cy="590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StringStack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size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index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StringStack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push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pop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StringStack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StringStack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index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memset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size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*))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StringStack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index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size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++]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StringStack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index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rv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[--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rv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/>
          </a:p>
        </p:txBody>
      </p:sp>
      <p:sp>
        <p:nvSpPr>
          <p:cNvPr id="696" name="Google Shape;696;p93"/>
          <p:cNvSpPr txBox="1"/>
          <p:nvPr/>
        </p:nvSpPr>
        <p:spPr>
          <a:xfrm>
            <a:off x="5564187" y="1225550"/>
            <a:ext cx="4276725" cy="510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 iceCream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pralines &amp; cream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fudge ripple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jamocha almond fudge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wild mountain blackberry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raspberry sorbet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lemon swirl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rocky road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deep chocolate fudge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iCsz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iceCream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iceCream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StringStack ss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iCsz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ss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iceCream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string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cp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cp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ss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cout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cp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endl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159048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4"/>
          <p:cNvSpPr txBox="1">
            <a:spLocks noGrp="1"/>
          </p:cNvSpPr>
          <p:nvPr>
            <p:ph type="title"/>
          </p:nvPr>
        </p:nvSpPr>
        <p:spPr>
          <a:xfrm>
            <a:off x="503237" y="6921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enum hack</a:t>
            </a:r>
            <a:endParaRPr/>
          </a:p>
        </p:txBody>
      </p:sp>
      <p:sp>
        <p:nvSpPr>
          <p:cNvPr id="702" name="Google Shape;702;p94"/>
          <p:cNvSpPr txBox="1">
            <a:spLocks noGrp="1"/>
          </p:cNvSpPr>
          <p:nvPr>
            <p:ph type="body" idx="1"/>
          </p:nvPr>
        </p:nvSpPr>
        <p:spPr>
          <a:xfrm>
            <a:off x="4619625" y="2184400"/>
            <a:ext cx="5461000" cy="159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 </a:t>
            </a:r>
            <a:r>
              <a:rPr lang="en-US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vechi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nu se </a:t>
            </a:r>
            <a:r>
              <a:rPr lang="en-US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folosi</a:t>
            </a: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 C++ modern</a:t>
            </a:r>
            <a:endParaRPr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const </a:t>
            </a:r>
            <a:r>
              <a:rPr lang="en-US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size=1000;</a:t>
            </a:r>
            <a:endParaRPr dirty="0"/>
          </a:p>
        </p:txBody>
      </p:sp>
      <p:sp>
        <p:nvSpPr>
          <p:cNvPr id="703" name="Google Shape;703;p94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04" name="Google Shape;704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94"/>
          <p:cNvSpPr txBox="1"/>
          <p:nvPr/>
        </p:nvSpPr>
        <p:spPr>
          <a:xfrm>
            <a:off x="306387" y="2195512"/>
            <a:ext cx="5038725" cy="316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Bunch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size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 err="1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(Bunch) =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Bunch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00" b="0" i="0" u="none" dirty="0" err="1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 err="1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[1000]) = </a:t>
            </a:r>
            <a:r>
              <a:rPr lang="en-US" sz="14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878022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95"/>
          <p:cNvSpPr txBox="1">
            <a:spLocks noGrp="1"/>
          </p:cNvSpPr>
          <p:nvPr>
            <p:ph type="title"/>
          </p:nvPr>
        </p:nvSpPr>
        <p:spPr>
          <a:xfrm>
            <a:off x="544512" y="579437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o-RO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 </a:t>
            </a:r>
            <a:r>
              <a:rPr lang="ro-RO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şi funcții membru </a:t>
            </a:r>
            <a:r>
              <a:rPr lang="ro-RO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</p:txBody>
      </p:sp>
      <p:sp>
        <p:nvSpPr>
          <p:cNvPr id="711" name="Google Shape;711;p95"/>
          <p:cNvSpPr txBox="1">
            <a:spLocks noGrp="1"/>
          </p:cNvSpPr>
          <p:nvPr>
            <p:ph type="body" idx="1"/>
          </p:nvPr>
        </p:nvSpPr>
        <p:spPr>
          <a:xfrm>
            <a:off x="503237" y="1992312"/>
            <a:ext cx="9074150" cy="361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nu </a:t>
            </a:r>
            <a:r>
              <a:rPr lang="ro-RO" sz="2800" dirty="0"/>
              <a:t>se schimbă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a se </a:t>
            </a:r>
            <a:r>
              <a:rPr lang="ro-RO" sz="2800" dirty="0"/>
              <a:t>asigura că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starea obiectului nu </a:t>
            </a:r>
            <a:r>
              <a:rPr lang="ro-RO" sz="2800" dirty="0"/>
              <a:t>se schimbă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funcțiile </a:t>
            </a:r>
            <a:r>
              <a:rPr lang="ro-RO" sz="2800" dirty="0"/>
              <a:t>de instanță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apelabile trebuie definite cu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declararea unei funcții cu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</a:t>
            </a:r>
            <a:r>
              <a:rPr lang="ro-RO" sz="2800" dirty="0"/>
              <a:t>garantează că nu modifică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starea obiectului!</a:t>
            </a:r>
            <a:endParaRPr lang="ro-RO" dirty="0"/>
          </a:p>
        </p:txBody>
      </p:sp>
      <p:sp>
        <p:nvSpPr>
          <p:cNvPr id="712" name="Google Shape;712;p95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13" name="Google Shape;713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6"/>
          <p:cNvSpPr txBox="1">
            <a:spLocks noGrp="1"/>
          </p:cNvSpPr>
          <p:nvPr>
            <p:ph type="title"/>
          </p:nvPr>
        </p:nvSpPr>
        <p:spPr>
          <a:xfrm>
            <a:off x="503237" y="6921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functii membru const</a:t>
            </a:r>
            <a:endParaRPr/>
          </a:p>
        </p:txBody>
      </p:sp>
      <p:sp>
        <p:nvSpPr>
          <p:cNvPr id="719" name="Google Shape;719;p96"/>
          <p:cNvSpPr txBox="1">
            <a:spLocks noGrp="1"/>
          </p:cNvSpPr>
          <p:nvPr>
            <p:ph type="body" idx="1"/>
          </p:nvPr>
        </p:nvSpPr>
        <p:spPr>
          <a:xfrm>
            <a:off x="503237" y="2144712"/>
            <a:ext cx="9074150" cy="376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compilatorul şi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linkerul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cunosc faptul c</a:t>
            </a:r>
            <a:r>
              <a:rPr lang="vi-VN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funcția este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verific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acest lucru la compilare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se pot modifica parți ale obiectului în aceste funcții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se pot apela funcții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non-const</a:t>
            </a:r>
            <a:endParaRPr lang="ro-RO" dirty="0"/>
          </a:p>
          <a:p>
            <a:pPr marL="377825" lvl="0" indent="-200025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9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21" name="Google Shape;721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27" name="Google Shape;727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97"/>
          <p:cNvSpPr txBox="1"/>
          <p:nvPr/>
        </p:nvSpPr>
        <p:spPr>
          <a:xfrm>
            <a:off x="2520950" y="1763712"/>
            <a:ext cx="5038725" cy="403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//: C08:ConstMember.cpp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 dirty="0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X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ii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X x1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x2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4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x1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x2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4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 dirty="0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8248" y="5795962"/>
            <a:ext cx="9518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Functiile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pot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apela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atat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cat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neconst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ro-RO" sz="2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8"/>
          <p:cNvSpPr txBox="1">
            <a:spLocks noGrp="1"/>
          </p:cNvSpPr>
          <p:nvPr>
            <p:ph type="body" idx="1"/>
          </p:nvPr>
        </p:nvSpPr>
        <p:spPr>
          <a:xfrm>
            <a:off x="503237" y="1570037"/>
            <a:ext cx="907415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indent="-377825">
              <a:spcBef>
                <a:spcPts val="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toate funcțiile care nu modific</a:t>
            </a:r>
            <a:r>
              <a:rPr lang="vi-VN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date s</a:t>
            </a:r>
            <a:r>
              <a:rPr lang="vi-VN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fie declarate cu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700"/>
              </a:spcBef>
              <a:buSzPts val="3500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 trebui ca “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funcțiile membru s</a:t>
            </a:r>
            <a:r>
              <a:rPr lang="vi-VN" dirty="0"/>
              <a:t>ă</a:t>
            </a: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fie de tip </a:t>
            </a:r>
            <a:r>
              <a:rPr lang="ro-RO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98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35" name="Google Shape;735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9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41" name="Google Shape;741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99"/>
          <p:cNvSpPr txBox="1"/>
          <p:nvPr/>
        </p:nvSpPr>
        <p:spPr>
          <a:xfrm>
            <a:off x="87312" y="1225550"/>
            <a:ext cx="5038725" cy="489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cstdlib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Random number generator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ctime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To seed random generator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Quoter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lastquote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Quoter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lastQuote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quote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Quoter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Quoter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lastquote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srand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Seed random number generator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Quoter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lastQuote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lastquote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3" name="Google Shape;743;p99"/>
          <p:cNvSpPr txBox="1"/>
          <p:nvPr/>
        </p:nvSpPr>
        <p:spPr>
          <a:xfrm>
            <a:off x="4806950" y="552450"/>
            <a:ext cx="5186362" cy="597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Quoter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quote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quotes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Are we having fun yet?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Doctors always know best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Is it ... Atomic?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Fear is obscene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There is no scientific evidence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to support the idea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that life is serious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Things that make us happy, make us wise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qsize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quotes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quotes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qnum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rand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qsize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lastquote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qnum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lastquote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qnum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rand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qsize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quotes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lastquote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qnum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Quoter q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Quoter cq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cq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lastQuote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cq.quote(); // Not OK; non const function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cout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quote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endl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809012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00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o-RO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schimbări în obiect din funcții </a:t>
            </a:r>
            <a:r>
              <a:rPr lang="ro-RO" sz="44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</p:txBody>
      </p:sp>
      <p:sp>
        <p:nvSpPr>
          <p:cNvPr id="749" name="Google Shape;749;p100"/>
          <p:cNvSpPr txBox="1">
            <a:spLocks noGrp="1"/>
          </p:cNvSpPr>
          <p:nvPr>
            <p:ph type="body" idx="1"/>
          </p:nvPr>
        </p:nvSpPr>
        <p:spPr>
          <a:xfrm>
            <a:off x="503237" y="1992312"/>
            <a:ext cx="9074150" cy="414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“casting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away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constness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face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castare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pointerului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pointer către tipul de obiect</a:t>
            </a:r>
            <a:endParaRPr lang="ro-RO" dirty="0"/>
          </a:p>
          <a:p>
            <a:pPr marL="377825" lvl="0" indent="-37782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c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 funcții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este de tip clasa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lang="ro-RO" dirty="0"/>
          </a:p>
          <a:p>
            <a:pPr marL="377825" lvl="0" indent="-20002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lnSpc>
                <a:spcPct val="90000"/>
              </a:lnSpc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după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aceast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schimbare de tip se modifica prin pointerul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endParaRPr lang="ro-RO" dirty="0"/>
          </a:p>
        </p:txBody>
      </p:sp>
      <p:sp>
        <p:nvSpPr>
          <p:cNvPr id="750" name="Google Shape;750;p10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51" name="Google Shape;751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57" name="Google Shape;757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01"/>
          <p:cNvSpPr txBox="1"/>
          <p:nvPr/>
        </p:nvSpPr>
        <p:spPr>
          <a:xfrm>
            <a:off x="1795394" y="849243"/>
            <a:ext cx="6947693" cy="618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"Casting away" </a:t>
            </a:r>
            <a:r>
              <a:rPr lang="en-US" sz="1800" b="0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constness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Y 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800" b="1" i="0" u="none" dirty="0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Y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Y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 </a:t>
            </a:r>
            <a:r>
              <a:rPr lang="en-US" sz="1800" b="0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++; // Error -- </a:t>
            </a:r>
            <a:r>
              <a:rPr lang="en-US" sz="1800" b="0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member function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*)</a:t>
            </a: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)-&gt;</a:t>
            </a:r>
            <a:r>
              <a:rPr lang="en-US" sz="18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OK: cast away </a:t>
            </a:r>
            <a:r>
              <a:rPr lang="en-US" sz="1800" b="1" i="0" u="none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-ness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Better: use C++ explicit cast syntax: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const_cast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))-&gt;</a:t>
            </a:r>
            <a:r>
              <a:rPr lang="en-US" sz="18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8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Y </a:t>
            </a:r>
            <a:r>
              <a:rPr lang="en-US" sz="18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yy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yy</a:t>
            </a:r>
            <a:r>
              <a:rPr lang="en-US" sz="1800" b="0" i="0" u="none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800" b="0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Actually changes it!</a:t>
            </a: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02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323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apare în cod vechi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e ok pentru c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funcția modific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şi noi credem c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modific</a:t>
            </a:r>
            <a:r>
              <a:rPr lang="vi-VN" sz="2800" dirty="0"/>
              <a:t>ă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metod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 bun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în continuare</a:t>
            </a:r>
            <a:endParaRPr lang="ro-RO" dirty="0"/>
          </a:p>
        </p:txBody>
      </p:sp>
      <p:sp>
        <p:nvSpPr>
          <p:cNvPr id="764" name="Google Shape;764;p10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65" name="Google Shape;765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0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71" name="Google Shape;771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2" name="Google Shape;772;p103"/>
          <p:cNvGrpSpPr/>
          <p:nvPr/>
        </p:nvGrpSpPr>
        <p:grpSpPr>
          <a:xfrm>
            <a:off x="1735759" y="1045267"/>
            <a:ext cx="6947693" cy="5872370"/>
            <a:chOff x="2520950" y="1333015"/>
            <a:chExt cx="5038725" cy="6187498"/>
          </a:xfrm>
        </p:grpSpPr>
        <p:sp>
          <p:nvSpPr>
            <p:cNvPr id="773" name="Google Shape;773;p103"/>
            <p:cNvSpPr txBox="1"/>
            <p:nvPr/>
          </p:nvSpPr>
          <p:spPr>
            <a:xfrm>
              <a:off x="2520950" y="1333015"/>
              <a:ext cx="5038725" cy="6187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96969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The "mutable" keyword</a:t>
              </a:r>
              <a:endParaRPr sz="1800"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  <a:buFont typeface="Courier New"/>
                <a:buNone/>
              </a:pPr>
              <a:r>
                <a:rPr lang="en-US" sz="1800" b="1" i="0" u="none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Z </a:t>
              </a:r>
              <a:r>
                <a:rPr lang="en-US" sz="1800" b="1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</a:t>
              </a:r>
              <a:r>
                <a:rPr lang="en-US" sz="1800" b="1" i="0" u="none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1" i="0" u="none" dirty="0" err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sz="1800" b="1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</a:t>
              </a:r>
              <a:r>
                <a:rPr lang="en-US" sz="1800" b="1" i="0" u="none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mutable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1" i="0" u="none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j</a:t>
              </a:r>
              <a:r>
                <a:rPr lang="en-US" sz="1800" b="1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  <a:buFont typeface="Courier New"/>
                <a:buNone/>
              </a:pPr>
              <a:r>
                <a:rPr lang="en-US" sz="1800" b="1" i="0" u="none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</a:t>
              </a:r>
              <a:r>
                <a:rPr lang="en-US" sz="1800" b="1" i="0" u="none" dirty="0">
                  <a:solidFill>
                    <a:srgbClr val="E34A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Z</a:t>
              </a:r>
              <a:r>
                <a:rPr lang="en-US" sz="1800" b="0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r>
                <a:rPr lang="en-US" sz="1800" b="0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800"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</a:t>
              </a:r>
              <a:r>
                <a:rPr lang="en-US" sz="1800" b="1" i="0" u="none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</a:t>
              </a:r>
              <a:r>
                <a:rPr lang="en-US" sz="1800" b="1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1" i="0" u="none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</a:t>
              </a:r>
              <a:r>
                <a:rPr lang="en-US" sz="1800" b="1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</a:t>
              </a:r>
              <a:endParaRPr sz="1800"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Z</a:t>
              </a:r>
              <a:r>
                <a:rPr lang="en-US" sz="1800" b="0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</a:t>
              </a: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Z</a:t>
              </a:r>
              <a:r>
                <a:rPr lang="en-US" sz="1800" b="0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0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0" i="0" u="none" dirty="0" err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sz="1800" b="0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800" b="0" i="0" u="none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sz="1800" b="0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),</a:t>
              </a: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j</a:t>
              </a:r>
              <a:r>
                <a:rPr lang="en-US" sz="1800" b="0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800" b="0" i="0" u="none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sz="1800" b="0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0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{}</a:t>
              </a:r>
              <a:endParaRPr sz="1800"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  <a:buFont typeface="Courier New"/>
                <a:buNone/>
              </a:pPr>
              <a:r>
                <a:rPr lang="en-US" sz="1800" b="1" i="0" u="none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Z</a:t>
              </a:r>
              <a:r>
                <a:rPr lang="en-US" sz="1800" b="1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</a:t>
              </a:r>
              <a:r>
                <a:rPr lang="en-US" sz="1800" b="1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1" i="0" u="none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1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96969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//! </a:t>
              </a:r>
              <a:r>
                <a:rPr lang="en-US" sz="1800" b="0" i="0" u="none" dirty="0" err="1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sz="1800" b="0" i="0" u="none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++; // Error -- </a:t>
              </a:r>
              <a:r>
                <a:rPr lang="en-US" sz="1800" b="0" i="0" u="none" dirty="0" err="1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</a:t>
              </a:r>
              <a:r>
                <a:rPr lang="en-US" sz="1800" b="0" i="0" u="none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member function</a:t>
              </a:r>
              <a:endParaRPr sz="1800"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0" i="0" u="none" dirty="0" err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</a:t>
              </a:r>
              <a:r>
                <a:rPr lang="en-US" sz="1800" b="0" i="0" u="none" dirty="0" err="1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++</a:t>
              </a:r>
              <a:r>
                <a:rPr lang="en-US" sz="1800" b="0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0" i="0" u="none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OK: mutable</a:t>
              </a:r>
              <a:endParaRPr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800"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  <a:buFont typeface="Courier New"/>
                <a:buNone/>
              </a:pPr>
              <a:r>
                <a:rPr lang="en-US" sz="1800" b="1" i="0" u="none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1" i="0" u="none" dirty="0">
                  <a:solidFill>
                    <a:srgbClr val="4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lang="en-US" sz="1800" b="1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1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</a:t>
              </a:r>
              <a:r>
                <a:rPr lang="en-US" sz="1800" b="1" i="0" u="none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</a:t>
              </a:r>
              <a:r>
                <a:rPr lang="en-US" sz="1800" b="1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Z </a:t>
              </a:r>
              <a:r>
                <a:rPr lang="en-US" sz="1800" b="1" i="0" u="none" dirty="0" err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zz</a:t>
              </a:r>
              <a:r>
                <a:rPr lang="en-US" sz="1800" b="1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</a:t>
              </a:r>
              <a:r>
                <a:rPr lang="en-US" sz="1800" b="0" i="0" u="none" dirty="0" err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zz</a:t>
              </a:r>
              <a:r>
                <a:rPr lang="en-US" sz="1800" b="0" i="0" u="none" dirty="0" err="1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lang="en-US" sz="1800" b="0" i="0" u="none" dirty="0" err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</a:t>
              </a:r>
              <a:r>
                <a:rPr lang="en-US" sz="1800" b="0" i="0" u="none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r>
                <a:rPr lang="en-US" sz="1800" b="0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b="0" i="0" u="none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Actually changes it!</a:t>
              </a:r>
              <a:endParaRPr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  <a:buFont typeface="Courier New"/>
                <a:buNone/>
              </a:pPr>
              <a:r>
                <a:rPr lang="en-US" sz="1800" b="0" i="0" u="none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r>
                <a:rPr lang="en-US" sz="1800" b="0" i="0" u="none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endParaRPr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74" name="Google Shape;774;p103"/>
            <p:cNvSpPr/>
            <p:nvPr/>
          </p:nvSpPr>
          <p:spPr>
            <a:xfrm>
              <a:off x="2693067" y="2569711"/>
              <a:ext cx="1596502" cy="228645"/>
            </a:xfrm>
            <a:prstGeom prst="roundRect">
              <a:avLst>
                <a:gd name="adj" fmla="val 16667"/>
              </a:avLst>
            </a:prstGeom>
            <a:solidFill>
              <a:srgbClr val="FFC000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0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Matematică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Informatică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Universitatea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Bucureşti</a:t>
            </a:r>
            <a:endParaRPr dirty="0"/>
          </a:p>
        </p:txBody>
      </p:sp>
      <p:pic>
        <p:nvPicPr>
          <p:cNvPr id="771" name="Google Shape;771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84137" y="778388"/>
            <a:ext cx="89867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Tot </a:t>
            </a:r>
            <a:r>
              <a:rPr lang="en-US" sz="2400" b="1" dirty="0" err="1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despre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“mutable”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 (rest de </a:t>
            </a:r>
            <a:r>
              <a:rPr lang="en-US" sz="2400" b="1" dirty="0" err="1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discutii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 de la lambda </a:t>
            </a:r>
            <a:r>
              <a:rPr lang="en-US" sz="2400" b="1" dirty="0" err="1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expresii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)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0193" y="1217293"/>
            <a:ext cx="5038725" cy="39081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04000"/>
              </a:lnSpc>
              <a:buSzPts val="1800"/>
            </a:pPr>
            <a:r>
              <a:rPr lang="en-US" sz="2000" b="1" dirty="0"/>
              <a:t>“Mutable” vs </a:t>
            </a:r>
            <a:r>
              <a:rPr lang="en-US" sz="2000" b="1" dirty="0" err="1"/>
              <a:t>transmiterea</a:t>
            </a:r>
            <a:r>
              <a:rPr lang="en-US" sz="2000" b="1" dirty="0"/>
              <a:t> </a:t>
            </a:r>
            <a:r>
              <a:rPr lang="en-US" sz="2000" b="1" dirty="0" err="1"/>
              <a:t>prin</a:t>
            </a:r>
            <a:r>
              <a:rPr lang="en-US" sz="2000" b="1" dirty="0"/>
              <a:t> </a:t>
            </a:r>
            <a:r>
              <a:rPr lang="en-US" sz="2000" b="1" dirty="0" err="1"/>
              <a:t>referinta</a:t>
            </a:r>
            <a:endParaRPr lang="vi-VN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280193" y="1647862"/>
            <a:ext cx="9285356" cy="5118193"/>
            <a:chOff x="280193" y="1608106"/>
            <a:chExt cx="9285356" cy="511819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193" y="1608106"/>
              <a:ext cx="9188450" cy="2635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8918" y="3120888"/>
              <a:ext cx="913430" cy="11926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949" y="4554599"/>
              <a:ext cx="9245600" cy="2171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2638" y="5519799"/>
              <a:ext cx="882650" cy="1206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0905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0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71" name="Google Shape;771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78981" y="900457"/>
            <a:ext cx="89867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Tot </a:t>
            </a:r>
            <a:r>
              <a:rPr lang="en-US" sz="2400" b="1" dirty="0" err="1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despre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“mutable”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 (rest de </a:t>
            </a:r>
            <a:r>
              <a:rPr lang="en-US" sz="2400" b="1" dirty="0" err="1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discutii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 de la lambda </a:t>
            </a:r>
            <a:r>
              <a:rPr lang="en-US" sz="2400" b="1" dirty="0" err="1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expresii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)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844" y="1519167"/>
            <a:ext cx="7295322" cy="4047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51701" y="5803760"/>
            <a:ext cx="769954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“</a:t>
            </a:r>
            <a:r>
              <a:rPr lang="en-US" sz="2400" i="1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copia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” e mutable, </a:t>
            </a:r>
            <a:r>
              <a:rPr lang="en-US" sz="24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deci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modificabila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dar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totusi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, o </a:t>
            </a:r>
            <a:r>
              <a:rPr lang="en-US" sz="24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copie</a:t>
            </a:r>
            <a:endParaRPr lang="en-US" sz="2400" dirty="0">
              <a:solidFill>
                <a:schemeClr val="tx1"/>
              </a:solidFill>
              <a:latin typeface="+mj-lt"/>
              <a:cs typeface="Courier New"/>
              <a:sym typeface="Courier New"/>
            </a:endParaRPr>
          </a:p>
          <a:p>
            <a:r>
              <a:rPr lang="en-US" sz="2400" b="1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i</a:t>
            </a:r>
            <a:r>
              <a:rPr lang="en-US" sz="2400" b="1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= 4 – interior</a:t>
            </a:r>
          </a:p>
          <a:p>
            <a:r>
              <a:rPr lang="en-US" sz="2400" b="1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i</a:t>
            </a:r>
            <a:r>
              <a:rPr lang="en-US" sz="2400" b="1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= 8 – exterior</a:t>
            </a:r>
          </a:p>
        </p:txBody>
      </p:sp>
    </p:spTree>
    <p:extLst>
      <p:ext uri="{BB962C8B-B14F-4D97-AF65-F5344CB8AC3E}">
        <p14:creationId xmlns:p14="http://schemas.microsoft.com/office/powerpoint/2010/main" val="333728863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0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71" name="Google Shape;771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59102" y="885715"/>
            <a:ext cx="89867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Tot </a:t>
            </a:r>
            <a:r>
              <a:rPr lang="en-US" sz="2400" b="1" dirty="0" err="1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despre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+mj-lt"/>
                <a:ea typeface="Courier New"/>
                <a:cs typeface="Courier New"/>
                <a:sym typeface="Courier New"/>
              </a:rPr>
              <a:t>“mutable”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 (rest de </a:t>
            </a:r>
            <a:r>
              <a:rPr lang="en-US" sz="2400" b="1" dirty="0" err="1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discutii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 de la lambda </a:t>
            </a:r>
            <a:r>
              <a:rPr lang="en-US" sz="2400" b="1" dirty="0" err="1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expresii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ourier New"/>
                <a:cs typeface="Courier New"/>
                <a:sym typeface="Courier New"/>
              </a:rPr>
              <a:t>)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108" y="1407014"/>
            <a:ext cx="5833717" cy="3588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700824" y="5306803"/>
            <a:ext cx="904286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4 2 6 : 1 2 6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In f,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este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transmis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prin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valoare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dar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, mutable,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deci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doar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copia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se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modifica</a:t>
            </a:r>
            <a:endParaRPr lang="en-US" sz="2000" dirty="0">
              <a:solidFill>
                <a:schemeClr val="tx1"/>
              </a:solidFill>
              <a:latin typeface="+mj-lt"/>
              <a:cs typeface="Courier New"/>
              <a:sym typeface="Courier New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In m, j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este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transmis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prin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valoare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dar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, mutable,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deci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doar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copia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se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modifica</a:t>
            </a:r>
            <a:endParaRPr lang="en-US" sz="2000" dirty="0">
              <a:solidFill>
                <a:schemeClr val="tx1"/>
              </a:solidFill>
              <a:latin typeface="+mj-lt"/>
              <a:cs typeface="Courier New"/>
              <a:sym typeface="Courier New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In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ambele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, k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este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transmis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prin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referinta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deci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 se </a:t>
            </a:r>
            <a:r>
              <a:rPr lang="en-US" sz="2000" dirty="0" err="1">
                <a:solidFill>
                  <a:schemeClr val="tx1"/>
                </a:solidFill>
                <a:latin typeface="+mj-lt"/>
                <a:cs typeface="Courier New"/>
                <a:sym typeface="Courier New"/>
              </a:rPr>
              <a:t>modifica</a:t>
            </a:r>
            <a:endParaRPr lang="en-US" sz="2000" dirty="0">
              <a:solidFill>
                <a:schemeClr val="tx1"/>
              </a:solidFill>
              <a:latin typeface="+mj-lt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467830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04"/>
          <p:cNvSpPr txBox="1">
            <a:spLocks noGrp="1"/>
          </p:cNvSpPr>
          <p:nvPr>
            <p:ph type="title"/>
          </p:nvPr>
        </p:nvSpPr>
        <p:spPr>
          <a:xfrm>
            <a:off x="503237" y="4635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volatile</a:t>
            </a:r>
            <a:endParaRPr/>
          </a:p>
        </p:txBody>
      </p:sp>
      <p:sp>
        <p:nvSpPr>
          <p:cNvPr id="780" name="Google Shape;780;p104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similar cu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obiectul se poate schimba din afara programului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Expl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: volatile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int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x = 10;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int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a = x;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int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b = x; (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daca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x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este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schimbat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din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afara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programului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, de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exemplu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de SO,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atunci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nu e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garantat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ca a == b </a:t>
            </a:r>
            <a:r>
              <a:rPr lang="en-US" sz="1800" b="0" i="0" u="none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intotdeauna</a:t>
            </a:r>
            <a:r>
              <a:rPr lang="en-US" sz="1800" b="0" i="0" u="none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)</a:t>
            </a:r>
            <a:endParaRPr lang="ro-RO" sz="1800" b="0" i="0" u="none" dirty="0">
              <a:solidFill>
                <a:schemeClr val="dk1"/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multitasking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multithreading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întreruperi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se fac optimizări de cod</a:t>
            </a:r>
            <a:endParaRPr lang="ro-RO" dirty="0"/>
          </a:p>
          <a:p>
            <a:pPr marL="377825" indent="-377825">
              <a:spcBef>
                <a:spcPts val="560"/>
              </a:spcBef>
              <a:buSzPts val="2800"/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 = 10; while (x == 10) {};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deoarece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 nu se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schimba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in while,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compilatorul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putea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optimiza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la while(true){};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daca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volatile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 = 10;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atunci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nu face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optimizare</a:t>
            </a: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avem obiecte volatile, funcții volatile, etc.</a:t>
            </a:r>
            <a:endParaRPr lang="ro-RO" dirty="0"/>
          </a:p>
        </p:txBody>
      </p:sp>
      <p:sp>
        <p:nvSpPr>
          <p:cNvPr id="781" name="Google Shape;781;p104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82" name="Google Shape;782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31247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05"/>
          <p:cNvSpPr txBox="1">
            <a:spLocks noGrp="1"/>
          </p:cNvSpPr>
          <p:nvPr>
            <p:ph type="title"/>
          </p:nvPr>
        </p:nvSpPr>
        <p:spPr>
          <a:xfrm>
            <a:off x="503237" y="303212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endParaRPr/>
          </a:p>
        </p:txBody>
      </p:sp>
      <p:sp>
        <p:nvSpPr>
          <p:cNvPr id="788" name="Google Shape;788;p105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29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ceva care își tine poziția neschimbat</a:t>
            </a:r>
            <a:r>
              <a:rPr lang="vi-VN" sz="2800" dirty="0"/>
              <a:t>ă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alocare static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variabile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vizibilitate local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unui nume </a:t>
            </a:r>
            <a:endParaRPr lang="ro-RO" dirty="0"/>
          </a:p>
        </p:txBody>
      </p:sp>
      <p:sp>
        <p:nvSpPr>
          <p:cNvPr id="789" name="Google Shape;789;p105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90" name="Google Shape;790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64581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06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277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variabile locale statice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își mențin valorile intre apelări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inițializare la primul apel</a:t>
            </a:r>
            <a:endParaRPr lang="ro-RO" dirty="0"/>
          </a:p>
        </p:txBody>
      </p:sp>
      <p:sp>
        <p:nvSpPr>
          <p:cNvPr id="796" name="Google Shape;796;p10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797" name="Google Shape;797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69273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03" name="Google Shape;803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107"/>
          <p:cNvSpPr txBox="1"/>
          <p:nvPr/>
        </p:nvSpPr>
        <p:spPr>
          <a:xfrm>
            <a:off x="2520950" y="793750"/>
            <a:ext cx="5038725" cy="597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../require.h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oneChar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charArray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charArray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charArray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require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un-initialized s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'\0'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abcdefghijklmnopqrstuvwxyz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oneChar(); // require() fails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oneChar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Initializes s to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oneChar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00739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08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obiecte statice</a:t>
            </a:r>
            <a:endParaRPr/>
          </a:p>
        </p:txBody>
      </p:sp>
      <p:sp>
        <p:nvSpPr>
          <p:cNvPr id="810" name="Google Shape;810;p108"/>
          <p:cNvSpPr txBox="1">
            <a:spLocks noGrp="1"/>
          </p:cNvSpPr>
          <p:nvPr>
            <p:ph type="body" idx="1"/>
          </p:nvPr>
        </p:nvSpPr>
        <p:spPr>
          <a:xfrm>
            <a:off x="503237" y="2144712"/>
            <a:ext cx="9074150" cy="171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Sunt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initializate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singura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data,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distrug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de-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abia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finalizarea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programului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indiferent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(de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exemplu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functii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endParaRPr lang="en-US" dirty="0"/>
          </a:p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fel ca la tipurile predefinite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>
                <a:solidFill>
                  <a:srgbClr val="FF0000"/>
                </a:solidFill>
                <a:sym typeface="Calibri"/>
              </a:rPr>
              <a:t>avem nevoie de constructorul predefinit</a:t>
            </a:r>
            <a:endParaRPr lang="ro-RO" dirty="0">
              <a:solidFill>
                <a:srgbClr val="FF0000"/>
              </a:solidFill>
            </a:endParaRPr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08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12" name="Google Shape;812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19777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0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18" name="Google Shape;818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109"/>
          <p:cNvSpPr txBox="1"/>
          <p:nvPr/>
        </p:nvSpPr>
        <p:spPr>
          <a:xfrm>
            <a:off x="1546915" y="1040917"/>
            <a:ext cx="6947693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8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800" b="0" i="0" u="none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8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 err="1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800" b="1" i="0" u="none" dirty="0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X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ii 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ii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Default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~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800" b="0" i="0" u="none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X::~X()</a:t>
            </a:r>
            <a:r>
              <a:rPr lang="en-US" sz="1800" b="0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x1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1" i="0" u="none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47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 b="1" i="0" u="non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x2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Default constructor required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800" b="1" i="0" u="non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800" b="1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1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 b="1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</a:t>
            </a:r>
            <a:r>
              <a:rPr lang="en-US" sz="1800" b="0" i="0" u="none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800" b="0" i="0" u="none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800" b="0" i="0" u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8103769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10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destructori statici</a:t>
            </a:r>
            <a:endParaRPr/>
          </a:p>
        </p:txBody>
      </p:sp>
      <p:sp>
        <p:nvSpPr>
          <p:cNvPr id="825" name="Google Shape;825;p110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când se termin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distrug obiectele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obicei se cheamă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la ieșirea din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daca se cheamă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din destructor e posibil s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avem ciclu infinit de apeluri la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destructorii statici nu sunt executați dac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iese prin </a:t>
            </a: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lang="ro-RO" dirty="0"/>
          </a:p>
        </p:txBody>
      </p:sp>
      <p:sp>
        <p:nvSpPr>
          <p:cNvPr id="826" name="Google Shape;826;p11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27" name="Google Shape;827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35113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11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avem o funcție cu obiect local static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şi funcția nu a fost apelat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nu vrem s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apelam destructorul pentru obiect neconstruit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 ţine minte c</a:t>
            </a:r>
            <a:r>
              <a:rPr lang="en-US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obiecte au fost construite şi care nu</a:t>
            </a:r>
            <a:endParaRPr lang="ro-RO" dirty="0"/>
          </a:p>
          <a:p>
            <a:pPr marL="377825" lvl="0" indent="-200025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1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34" name="Google Shape;834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365647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12"/>
          <p:cNvSpPr txBox="1"/>
          <p:nvPr/>
        </p:nvSpPr>
        <p:spPr>
          <a:xfrm>
            <a:off x="7631112" y="4956175"/>
            <a:ext cx="2449512" cy="1931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Obj::Obj() for a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inside main()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Obj::Obj() for b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leaving main()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Obj::~Obj() for b</a:t>
            </a:r>
            <a:endParaRPr/>
          </a:p>
          <a:p>
            <a:pPr marL="377825" marR="0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Obj::~Obj() for a</a:t>
            </a:r>
            <a:endParaRPr/>
          </a:p>
        </p:txBody>
      </p:sp>
      <p:sp>
        <p:nvSpPr>
          <p:cNvPr id="840" name="Google Shape;840;p11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41" name="Google Shape;841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112"/>
          <p:cNvSpPr txBox="1"/>
          <p:nvPr/>
        </p:nvSpPr>
        <p:spPr>
          <a:xfrm>
            <a:off x="315912" y="793750"/>
            <a:ext cx="5038725" cy="597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fstream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3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ofstream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out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statdest.out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Trace file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Obj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Identifier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Obj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cc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cc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out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Obj::Obj() for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~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out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Obj::~Obj() for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Obj a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Global (static storage)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Constructor &amp; destructor always called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Obj b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'b'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Obj c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'c'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3" name="Google Shape;843;p112"/>
          <p:cNvSpPr txBox="1"/>
          <p:nvPr/>
        </p:nvSpPr>
        <p:spPr>
          <a:xfrm>
            <a:off x="5335587" y="1722437"/>
            <a:ext cx="4581525" cy="166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out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inside main()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endl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Calls static constructor for b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g() not called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out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leaving main()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endl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972529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13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pentru nume (la linkare)</a:t>
            </a:r>
            <a:endParaRPr/>
          </a:p>
        </p:txBody>
      </p:sp>
      <p:sp>
        <p:nvSpPr>
          <p:cNvPr id="849" name="Google Shape;849;p113"/>
          <p:cNvSpPr txBox="1">
            <a:spLocks noGrp="1"/>
          </p:cNvSpPr>
          <p:nvPr>
            <p:ph type="body" idx="1"/>
          </p:nvPr>
        </p:nvSpPr>
        <p:spPr>
          <a:xfrm>
            <a:off x="503237" y="1914525"/>
            <a:ext cx="9074150" cy="399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2800"/>
            </a:pP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orice nume care nu este într-o clas</a:t>
            </a:r>
            <a:r>
              <a:rPr lang="vi-VN" sz="2800" dirty="0" smtClean="0"/>
              <a:t>ă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sau funcție este vizibil in celelalte parți ale programului (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linkage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daca e definit ca static are 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linkage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vizibil doar în fișierul respectiv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linkarea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valabil</a:t>
            </a:r>
            <a:r>
              <a:rPr lang="vi-VN" sz="2800" dirty="0" smtClean="0"/>
              <a:t>ă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elemente care au 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</a:t>
            </a:r>
            <a:r>
              <a:rPr lang="vi-VN" sz="2800" dirty="0" smtClean="0"/>
              <a:t>ă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(clase, var. locale nu au)</a:t>
            </a:r>
            <a:endParaRPr lang="ro-RO" dirty="0"/>
          </a:p>
        </p:txBody>
      </p:sp>
      <p:sp>
        <p:nvSpPr>
          <p:cNvPr id="850" name="Google Shape;850;p11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51" name="Google Shape;851;p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28833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14"/>
          <p:cNvSpPr txBox="1">
            <a:spLocks noGrp="1"/>
          </p:cNvSpPr>
          <p:nvPr>
            <p:ph type="body" idx="1"/>
          </p:nvPr>
        </p:nvSpPr>
        <p:spPr>
          <a:xfrm>
            <a:off x="503237" y="960437"/>
            <a:ext cx="9413875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a=0; 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afara claselor, funcțiilor: este var global</a:t>
            </a:r>
            <a:r>
              <a:rPr lang="vi-VN" sz="2800" dirty="0" smtClean="0"/>
              <a:t>ă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vizibil</a:t>
            </a:r>
            <a:r>
              <a:rPr lang="vi-VN" sz="2800" dirty="0" smtClean="0"/>
              <a:t>ă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pretutindeni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cu: extern 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a=0;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a=0; // 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sz="28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linkage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>
              <a:spcBef>
                <a:spcPts val="560"/>
              </a:spcBef>
              <a:buSzPts val="2800"/>
            </a:pP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mai e vizibil</a:t>
            </a:r>
            <a:r>
              <a:rPr lang="vi-VN" sz="2800" dirty="0" smtClean="0"/>
              <a:t>ă</a:t>
            </a:r>
            <a:r>
              <a:rPr lang="ro-RO" sz="28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pretutindeni, doar local în fișierul respectiv</a:t>
            </a:r>
            <a:endParaRPr lang="ro-RO" dirty="0"/>
          </a:p>
        </p:txBody>
      </p:sp>
      <p:sp>
        <p:nvSpPr>
          <p:cNvPr id="857" name="Google Shape;857;p114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58" name="Google Shape;858;p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513459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15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64" name="Google Shape;864;p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115"/>
          <p:cNvSpPr txBox="1"/>
          <p:nvPr/>
        </p:nvSpPr>
        <p:spPr>
          <a:xfrm>
            <a:off x="2520950" y="1646237"/>
            <a:ext cx="5038725" cy="273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//{L} LocalExtern2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extern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//: C10:LocalExtern2.cpp {O}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5FBF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 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479188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16"/>
          <p:cNvSpPr txBox="1">
            <a:spLocks noGrp="1"/>
          </p:cNvSpPr>
          <p:nvPr>
            <p:ph type="title"/>
          </p:nvPr>
        </p:nvSpPr>
        <p:spPr>
          <a:xfrm>
            <a:off x="503237" y="6159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ro-RO" sz="49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funcții extern şi static</a:t>
            </a:r>
            <a:endParaRPr lang="ro-RO" dirty="0"/>
          </a:p>
        </p:txBody>
      </p:sp>
      <p:sp>
        <p:nvSpPr>
          <p:cNvPr id="871" name="Google Shape;871;p116"/>
          <p:cNvSpPr txBox="1">
            <a:spLocks noGrp="1"/>
          </p:cNvSpPr>
          <p:nvPr>
            <p:ph type="body" idx="1"/>
          </p:nvPr>
        </p:nvSpPr>
        <p:spPr>
          <a:xfrm>
            <a:off x="503237" y="1992312"/>
            <a:ext cx="9074150" cy="33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</a:t>
            </a:r>
            <a:r>
              <a:rPr lang="vi-VN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ă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doar vizibilitatea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f(); similar cu extern </a:t>
            </a:r>
            <a:r>
              <a:rPr lang="ro-RO" sz="35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</a:t>
            </a: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f();</a:t>
            </a:r>
            <a:endParaRPr lang="ro-RO" dirty="0" smtClean="0"/>
          </a:p>
          <a:p>
            <a:pPr marL="377825" lvl="0" indent="-15557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endParaRPr lang="ro-RO" sz="35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restrictiv:</a:t>
            </a:r>
            <a:endParaRPr lang="ro-RO" dirty="0" smtClean="0"/>
          </a:p>
          <a:p>
            <a:pPr marL="817562" lvl="1" indent="-314324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</a:t>
            </a: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f();</a:t>
            </a:r>
            <a:endParaRPr lang="ro-RO" dirty="0"/>
          </a:p>
        </p:txBody>
      </p:sp>
      <p:sp>
        <p:nvSpPr>
          <p:cNvPr id="872" name="Google Shape;872;p11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73" name="Google Shape;873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48776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17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323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sz="35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alți specificatori:</a:t>
            </a:r>
            <a:endParaRPr lang="ro-RO" dirty="0" smtClean="0"/>
          </a:p>
          <a:p>
            <a:pPr marL="377825" lvl="0" indent="-37782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sz="35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17562" lvl="1" indent="-314324">
              <a:spcBef>
                <a:spcPts val="620"/>
              </a:spcBef>
              <a:buSzPts val="3100"/>
            </a:pP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auto: aproape nefolosit; spune ca e var. local</a:t>
            </a:r>
            <a:r>
              <a:rPr lang="vi-VN" sz="3200" dirty="0" smtClean="0"/>
              <a:t>ă</a:t>
            </a:r>
            <a:endParaRPr lang="ro-RO" dirty="0" smtClean="0"/>
          </a:p>
          <a:p>
            <a:pPr marL="817562" lvl="1" indent="-314324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17562" lvl="1" indent="-314324">
              <a:spcBef>
                <a:spcPts val="620"/>
              </a:spcBef>
              <a:buSzPts val="3100"/>
            </a:pPr>
            <a:r>
              <a:rPr lang="ro-RO" sz="3100" b="0" i="0" u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</a:t>
            </a:r>
            <a:r>
              <a:rPr lang="vi-VN" sz="3200" dirty="0" smtClean="0"/>
              <a:t>ă</a:t>
            </a:r>
            <a:r>
              <a:rPr lang="ro-RO" sz="3100" b="0" i="0" u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pună într-un registru</a:t>
            </a:r>
            <a:endParaRPr lang="ro-RO" dirty="0" smtClean="0"/>
          </a:p>
          <a:p>
            <a:pPr marL="377825" lvl="0" indent="-180975" algn="l" rtl="0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endParaRPr lang="ro-RO" sz="31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1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80" name="Google Shape;880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041204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18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lvl="0">
              <a:buClr>
                <a:schemeClr val="dk1"/>
              </a:buClr>
              <a:buSzPts val="4900"/>
            </a:pPr>
            <a:r>
              <a:rPr lang="ro-RO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variabile de </a:t>
            </a:r>
            <a:r>
              <a:rPr lang="ro-RO" sz="49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instanț</a:t>
            </a:r>
            <a:r>
              <a:rPr lang="vi-VN" sz="5400" dirty="0"/>
              <a:t>ă</a:t>
            </a:r>
            <a:r>
              <a:rPr lang="ro-RO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statice</a:t>
            </a:r>
            <a:endParaRPr lang="ro-RO" dirty="0"/>
          </a:p>
        </p:txBody>
      </p:sp>
      <p:sp>
        <p:nvSpPr>
          <p:cNvPr id="886" name="Google Shape;886;p118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>
              <a:spcBef>
                <a:spcPts val="0"/>
              </a:spcBef>
              <a:buSzPts val="2800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când vrem s</a:t>
            </a:r>
            <a:r>
              <a:rPr lang="vi-VN" sz="2800" dirty="0"/>
              <a:t>ă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avem valori comune pentru toate obiectele</a:t>
            </a:r>
            <a:endParaRPr lang="ro-RO" dirty="0"/>
          </a:p>
          <a:p>
            <a:pPr marL="377825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endParaRPr lang="ro-RO" dirty="0"/>
          </a:p>
          <a:p>
            <a:pPr marL="377825" lvl="0" indent="-200025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ro-RO"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18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88" name="Google Shape;888;p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118"/>
          <p:cNvSpPr txBox="1"/>
          <p:nvPr/>
        </p:nvSpPr>
        <p:spPr>
          <a:xfrm>
            <a:off x="4197350" y="2560637"/>
            <a:ext cx="2138362" cy="187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 A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//...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0" name="Google Shape;890;p118"/>
          <p:cNvSpPr txBox="1"/>
          <p:nvPr/>
        </p:nvSpPr>
        <p:spPr>
          <a:xfrm>
            <a:off x="503237" y="4694237"/>
            <a:ext cx="9074150" cy="171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marR="0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A::i = 1; </a:t>
            </a:r>
            <a:endParaRPr lang="ro-RO" dirty="0"/>
          </a:p>
          <a:p>
            <a:pPr marL="377825" lvl="0" indent="-377825"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face o </a:t>
            </a: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singura dată</a:t>
            </a:r>
            <a:endParaRPr lang="ro-RO" dirty="0"/>
          </a:p>
          <a:p>
            <a:pPr marL="377825" lvl="0" indent="-377825"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•"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obligatoriu să </a:t>
            </a: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 făcut de creatorul clasei, deci e ok</a:t>
            </a:r>
            <a:endParaRPr lang="ro-RO" dirty="0"/>
          </a:p>
          <a:p>
            <a:pPr marL="377825" marR="0" lvl="0" indent="-3778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ro-RO" sz="2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803617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19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896" name="Google Shape;896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19"/>
          <p:cNvSpPr txBox="1"/>
          <p:nvPr/>
        </p:nvSpPr>
        <p:spPr>
          <a:xfrm>
            <a:off x="2520950" y="1117600"/>
            <a:ext cx="5038725" cy="532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WithStatic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y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print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WithStatic::x =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WithStatic::y =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y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WithStatic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WithStatic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WithStatic::x NOT ::x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WithStatic ws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ws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38048980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20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903" name="Google Shape;903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120"/>
          <p:cNvSpPr txBox="1"/>
          <p:nvPr/>
        </p:nvSpPr>
        <p:spPr>
          <a:xfrm>
            <a:off x="2520950" y="1009650"/>
            <a:ext cx="5491162" cy="532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Static members &amp; local classes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Nested class CAN have static data members: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Outer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Inner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Outer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Inner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47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Local class cannot have static data members: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Local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static int i;  // Error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0" i="0" u="none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(How would you define i?)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Outer 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4051959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21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ro-RO" sz="49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funcții membru statice</a:t>
            </a:r>
            <a:endParaRPr lang="ro-RO" dirty="0"/>
          </a:p>
        </p:txBody>
      </p:sp>
      <p:sp>
        <p:nvSpPr>
          <p:cNvPr id="910" name="Google Shape;910;p121"/>
          <p:cNvSpPr txBox="1">
            <a:spLocks noGrp="1"/>
          </p:cNvSpPr>
          <p:nvPr>
            <p:ph type="body" idx="1"/>
          </p:nvPr>
        </p:nvSpPr>
        <p:spPr>
          <a:xfrm>
            <a:off x="503237" y="1763712"/>
            <a:ext cx="9074150" cy="56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sunt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asociate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 un </a:t>
            </a:r>
            <a:r>
              <a:rPr lang="en-US" sz="35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</a:t>
            </a:r>
            <a:r>
              <a:rPr lang="en-US" sz="35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nu au this</a:t>
            </a:r>
            <a:endParaRPr dirty="0"/>
          </a:p>
        </p:txBody>
      </p:sp>
      <p:sp>
        <p:nvSpPr>
          <p:cNvPr id="911" name="Google Shape;911;p121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912" name="Google Shape;912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121"/>
          <p:cNvSpPr txBox="1"/>
          <p:nvPr/>
        </p:nvSpPr>
        <p:spPr>
          <a:xfrm>
            <a:off x="2520950" y="2733675"/>
            <a:ext cx="5038725" cy="209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 X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X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6038581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22"/>
          <p:cNvSpPr txBox="1">
            <a:spLocks noGrp="1"/>
          </p:cNvSpPr>
          <p:nvPr>
            <p:ph type="title"/>
          </p:nvPr>
        </p:nvSpPr>
        <p:spPr>
          <a:xfrm>
            <a:off x="503237" y="539750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lang="en-US" sz="4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Despre examen</a:t>
            </a:r>
            <a:endParaRPr/>
          </a:p>
        </p:txBody>
      </p:sp>
      <p:sp>
        <p:nvSpPr>
          <p:cNvPr id="919" name="Google Shape;919;p122"/>
          <p:cNvSpPr txBox="1">
            <a:spLocks noGrp="1"/>
          </p:cNvSpPr>
          <p:nvPr>
            <p:ph type="body" idx="1"/>
          </p:nvPr>
        </p:nvSpPr>
        <p:spPr>
          <a:xfrm>
            <a:off x="252412" y="1763712"/>
            <a:ext cx="907256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377825" lvl="0" indent="-377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Descrieţi pe scurt funcţiile şablon (template).</a:t>
            </a:r>
            <a:endParaRPr/>
          </a:p>
          <a:p>
            <a:pPr marL="377825" lvl="0" indent="-155575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sz="3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22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921" name="Google Shape;921;p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122"/>
          <p:cNvSpPr txBox="1"/>
          <p:nvPr/>
        </p:nvSpPr>
        <p:spPr>
          <a:xfrm>
            <a:off x="696912" y="2657475"/>
            <a:ext cx="5038725" cy="424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iostream.h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problema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 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problema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schimba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afiseaza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starea curenta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problema mister1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problema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mister2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problema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afiseaza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schimba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afiseaza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mister2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mister1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8080122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23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928" name="Google Shape;928;p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123"/>
          <p:cNvSpPr txBox="1"/>
          <p:nvPr/>
        </p:nvSpPr>
        <p:spPr>
          <a:xfrm>
            <a:off x="2520950" y="579437"/>
            <a:ext cx="5038725" cy="655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iostream.h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virtual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virtual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()+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D2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virtual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j2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D2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j2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()+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j2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MM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MM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()+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D2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MM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get_i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()&lt;&lt;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MM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dynamic_cast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MM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()&lt;&lt;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D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dynamic_cast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()&lt;&lt;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27799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24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935" name="Google Shape;935;p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124"/>
          <p:cNvSpPr txBox="1"/>
          <p:nvPr/>
        </p:nvSpPr>
        <p:spPr>
          <a:xfrm>
            <a:off x="2520950" y="1189037"/>
            <a:ext cx="503872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iostream.h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typeinfo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get_i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get_j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get_i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typeid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()==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D*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&lt;&lt;((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)-&gt;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get_j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574005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25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942" name="Google Shape;942;p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125"/>
          <p:cNvSpPr txBox="1"/>
          <p:nvPr/>
        </p:nvSpPr>
        <p:spPr>
          <a:xfrm>
            <a:off x="1906587" y="1798637"/>
            <a:ext cx="5038725" cy="317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iostream.h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template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U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 f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 x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U y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y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&lt;&lt;*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4416020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26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949" name="Google Shape;949;p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126"/>
          <p:cNvSpPr txBox="1"/>
          <p:nvPr/>
        </p:nvSpPr>
        <p:spPr>
          <a:xfrm>
            <a:off x="2520950" y="1871662"/>
            <a:ext cx="6862762" cy="317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0" i="0" u="none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iostream.h</a:t>
            </a:r>
            <a:r>
              <a:rPr lang="en-US" sz="1400" b="0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4ADC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400" b="1" i="0" u="none">
                <a:solidFill>
                  <a:srgbClr val="E34A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A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operator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+(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template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ostream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operator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&lt;&lt;(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ostream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&amp;)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template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3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ostream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operator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&lt;&lt;(</a:t>
            </a:r>
            <a:r>
              <a:rPr lang="en-US" sz="1400" b="1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ostream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o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Courier New"/>
              <a:buNone/>
            </a:pP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400" b="1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 a1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a2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(-</a:t>
            </a:r>
            <a:r>
              <a:rPr lang="en-US" sz="1400" b="0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0" i="0" u="none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a1</a:t>
            </a:r>
            <a:r>
              <a:rPr lang="en-US" sz="1400" b="0" i="0" u="none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a2</a:t>
            </a: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 b="1" i="0" u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00" b="1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b="1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  <a:buFont typeface="Courier New"/>
              <a:buNone/>
            </a:pPr>
            <a:r>
              <a:rPr lang="en-US" sz="1400" b="0" i="0" u="none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9330373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27"/>
          <p:cNvSpPr txBox="1"/>
          <p:nvPr/>
        </p:nvSpPr>
        <p:spPr>
          <a:xfrm>
            <a:off x="9236075" y="7062787"/>
            <a:ext cx="69850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b" anchorCtr="0">
            <a:noAutofit/>
          </a:bodyPr>
          <a:lstStyle/>
          <a:p>
            <a:pPr marL="0" marR="0" lvl="0" indent="0" algn="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t>106</a:t>
            </a:fld>
            <a:endParaRPr/>
          </a:p>
        </p:txBody>
      </p:sp>
      <p:sp>
        <p:nvSpPr>
          <p:cNvPr id="959" name="Google Shape;959;p127"/>
          <p:cNvSpPr txBox="1"/>
          <p:nvPr/>
        </p:nvSpPr>
        <p:spPr>
          <a:xfrm>
            <a:off x="84137" y="84137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 de Matematică şi Informatică Universitatea din Bucureşti</a:t>
            </a:r>
            <a:endParaRPr/>
          </a:p>
        </p:txBody>
      </p:sp>
      <p:pic>
        <p:nvPicPr>
          <p:cNvPr id="960" name="Google Shape;960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42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127"/>
          <p:cNvSpPr txBox="1"/>
          <p:nvPr/>
        </p:nvSpPr>
        <p:spPr>
          <a:xfrm>
            <a:off x="2322512" y="836612"/>
            <a:ext cx="55403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Perspective</a:t>
            </a:r>
            <a:endParaRPr/>
          </a:p>
        </p:txBody>
      </p:sp>
      <p:sp>
        <p:nvSpPr>
          <p:cNvPr id="962" name="Google Shape;962;p127"/>
          <p:cNvSpPr txBox="1"/>
          <p:nvPr/>
        </p:nvSpPr>
        <p:spPr>
          <a:xfrm>
            <a:off x="1136650" y="1879600"/>
            <a:ext cx="8232775" cy="460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Curs 12 – Design Patterns</a:t>
            </a:r>
            <a:endParaRPr lang="ro-RO" sz="2800" dirty="0">
              <a:solidFill>
                <a:schemeClr val="dk1"/>
              </a:solidFill>
              <a:latin typeface="+mj-l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lang="ro-RO" sz="28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02F608F3513458693E499A1B4021C" ma:contentTypeVersion="3" ma:contentTypeDescription="Creați un document nou." ma:contentTypeScope="" ma:versionID="399cf48525c93e7bd603b375853bb402">
  <xsd:schema xmlns:xsd="http://www.w3.org/2001/XMLSchema" xmlns:xs="http://www.w3.org/2001/XMLSchema" xmlns:p="http://schemas.microsoft.com/office/2006/metadata/properties" xmlns:ns2="e011d0cb-f29a-4db3-9b8c-3b4d1a8211af" targetNamespace="http://schemas.microsoft.com/office/2006/metadata/properties" ma:root="true" ma:fieldsID="c6228155182473796e27d3838206c164" ns2:_="">
    <xsd:import namespace="e011d0cb-f29a-4db3-9b8c-3b4d1a821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1d0cb-f29a-4db3-9b8c-3b4d1a821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346519-8543-4F6E-A82B-7F070A424D73}"/>
</file>

<file path=customXml/itemProps2.xml><?xml version="1.0" encoding="utf-8"?>
<ds:datastoreItem xmlns:ds="http://schemas.openxmlformats.org/officeDocument/2006/customXml" ds:itemID="{F210E17F-AEE7-4DC2-AC64-3249289F51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DEE29-B8BA-4E89-A251-CFCD0A26713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7102</Words>
  <Application>Microsoft Office PowerPoint</Application>
  <PresentationFormat>Custom</PresentationFormat>
  <Paragraphs>1406</Paragraphs>
  <Slides>106</Slides>
  <Notes>106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07" baseType="lpstr">
      <vt:lpstr>Office Theme</vt:lpstr>
      <vt:lpstr>PowerPoint Presentation</vt:lpstr>
      <vt:lpstr>PowerPoint Presentation</vt:lpstr>
      <vt:lpstr>Pointerii în C/C++</vt:lpstr>
      <vt:lpstr>Operatori pe pointeri</vt:lpstr>
      <vt:lpstr>PowerPoint Presentation</vt:lpstr>
      <vt:lpstr>Aritmetica pe pointeri</vt:lpstr>
      <vt:lpstr>pointeri şi array-uri</vt:lpstr>
      <vt:lpstr>C++: Array-uri de obiecte</vt:lpstr>
      <vt:lpstr>PowerPoint Presentation</vt:lpstr>
      <vt:lpstr>PowerPoint Presentation</vt:lpstr>
      <vt:lpstr>PowerPoint Presentation</vt:lpstr>
      <vt:lpstr>pointeri către obiecte</vt:lpstr>
      <vt:lpstr>PowerPoint Presentation</vt:lpstr>
      <vt:lpstr>pointerul this</vt:lpstr>
      <vt:lpstr>pointeri către clase derivate</vt:lpstr>
      <vt:lpstr>PowerPoint Presentation</vt:lpstr>
      <vt:lpstr>pointeri către clase derivate</vt:lpstr>
      <vt:lpstr>PowerPoint Presentation</vt:lpstr>
      <vt:lpstr>pointeri către membri în clase</vt:lpstr>
      <vt:lpstr>PowerPoint Presentation</vt:lpstr>
      <vt:lpstr>PowerPoint Presentation</vt:lpstr>
      <vt:lpstr>parametri referință</vt:lpstr>
      <vt:lpstr>PowerPoint Presentation</vt:lpstr>
      <vt:lpstr> </vt:lpstr>
      <vt:lpstr>referințe către obiecte</vt:lpstr>
      <vt:lpstr>PowerPoint Presentation</vt:lpstr>
      <vt:lpstr>întoarcere de referințe</vt:lpstr>
      <vt:lpstr>referințe independente</vt:lpstr>
      <vt:lpstr>PowerPoint Presentation</vt:lpstr>
      <vt:lpstr>referințe independente ca membri ai unei clase</vt:lpstr>
      <vt:lpstr>referințe către clase derivate</vt:lpstr>
      <vt:lpstr>alocare de obiecte</vt:lpstr>
      <vt:lpstr>obiecte create dinamic cu constructori parametrizaţi</vt:lpstr>
      <vt:lpstr>PowerPoint Presentation</vt:lpstr>
      <vt:lpstr>PowerPoint Presentation</vt:lpstr>
      <vt:lpstr>const şi volatile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diferenţe cu C</vt:lpstr>
      <vt:lpstr>PowerPoint Presentation</vt:lpstr>
      <vt:lpstr>PowerPoint Presentation</vt:lpstr>
      <vt:lpstr>pointeri const</vt:lpstr>
      <vt:lpstr>pointeri constanţi</vt:lpstr>
      <vt:lpstr>const pointer catre const element</vt:lpstr>
      <vt:lpstr>PowerPoint Presentation</vt:lpstr>
      <vt:lpstr>PowerPoint Presentation</vt:lpstr>
      <vt:lpstr>PowerPoint Presentation</vt:lpstr>
      <vt:lpstr>constante caractere</vt:lpstr>
      <vt:lpstr>argumente de funcții, param de întoarcere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parametrii de intrare şi iesire: adrese</vt:lpstr>
      <vt:lpstr>PowerPoint Presentation</vt:lpstr>
      <vt:lpstr>comparații cu C</vt:lpstr>
      <vt:lpstr>Ob. temporare sunt const</vt:lpstr>
      <vt:lpstr>PowerPoint Presentation</vt:lpstr>
      <vt:lpstr>Const în clase</vt:lpstr>
      <vt:lpstr>PowerPoint Presentation</vt:lpstr>
      <vt:lpstr>PowerPoint Presentation</vt:lpstr>
      <vt:lpstr>rezolvarea problemei inițiale</vt:lpstr>
      <vt:lpstr>PowerPoint Presentation</vt:lpstr>
      <vt:lpstr>enum hack</vt:lpstr>
      <vt:lpstr>obiecte const şi funcții membru const</vt:lpstr>
      <vt:lpstr>functii membru const</vt:lpstr>
      <vt:lpstr>PowerPoint Presentation</vt:lpstr>
      <vt:lpstr>PowerPoint Presentation</vt:lpstr>
      <vt:lpstr>PowerPoint Presentation</vt:lpstr>
      <vt:lpstr>schimbări în obiect din funcții const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volatile</vt:lpstr>
      <vt:lpstr>static</vt:lpstr>
      <vt:lpstr>PowerPoint Presentation</vt:lpstr>
      <vt:lpstr>PowerPoint Presentation</vt:lpstr>
      <vt:lpstr>obiecte statice</vt:lpstr>
      <vt:lpstr>PowerPoint Presentation</vt:lpstr>
      <vt:lpstr>destructori statici</vt:lpstr>
      <vt:lpstr>PowerPoint Presentation</vt:lpstr>
      <vt:lpstr>PowerPoint Presentation</vt:lpstr>
      <vt:lpstr>static pentru nume (la linkare)</vt:lpstr>
      <vt:lpstr>PowerPoint Presentation</vt:lpstr>
      <vt:lpstr>PowerPoint Presentation</vt:lpstr>
      <vt:lpstr>funcții extern şi static</vt:lpstr>
      <vt:lpstr>PowerPoint Presentation</vt:lpstr>
      <vt:lpstr>variabile de instanță statice</vt:lpstr>
      <vt:lpstr>PowerPoint Presentation</vt:lpstr>
      <vt:lpstr>PowerPoint Presentation</vt:lpstr>
      <vt:lpstr>funcții membru statice</vt:lpstr>
      <vt:lpstr>Despre examen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</dc:creator>
  <cp:lastModifiedBy>Admin</cp:lastModifiedBy>
  <cp:revision>68</cp:revision>
  <dcterms:modified xsi:type="dcterms:W3CDTF">2026-05-03T14:44:49Z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0x010100C6E02F608F3513458693E499A1B4021C</vt:lpwstr>
  </property>
</Properties>
</file>