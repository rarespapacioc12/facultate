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61" r:id="rId4"/>
  </p:sldMasterIdLst>
  <p:notesMasterIdLst>
    <p:notesMasterId r:id="rId52"/>
  </p:notesMasterIdLst>
  <p:sldIdLst>
    <p:sldId id="256" r:id="rId5"/>
    <p:sldId id="478" r:id="rId6"/>
    <p:sldId id="479" r:id="rId7"/>
    <p:sldId id="480" r:id="rId8"/>
    <p:sldId id="481" r:id="rId9"/>
    <p:sldId id="483" r:id="rId10"/>
    <p:sldId id="484" r:id="rId11"/>
    <p:sldId id="485" r:id="rId12"/>
    <p:sldId id="486" r:id="rId13"/>
    <p:sldId id="488" r:id="rId14"/>
    <p:sldId id="489" r:id="rId15"/>
    <p:sldId id="490" r:id="rId16"/>
    <p:sldId id="491" r:id="rId17"/>
    <p:sldId id="492" r:id="rId18"/>
    <p:sldId id="493" r:id="rId19"/>
    <p:sldId id="521" r:id="rId20"/>
    <p:sldId id="520" r:id="rId21"/>
    <p:sldId id="495" r:id="rId22"/>
    <p:sldId id="496" r:id="rId23"/>
    <p:sldId id="497" r:id="rId24"/>
    <p:sldId id="498" r:id="rId25"/>
    <p:sldId id="499" r:id="rId26"/>
    <p:sldId id="500" r:id="rId27"/>
    <p:sldId id="501" r:id="rId28"/>
    <p:sldId id="502" r:id="rId29"/>
    <p:sldId id="503" r:id="rId30"/>
    <p:sldId id="505" r:id="rId31"/>
    <p:sldId id="506" r:id="rId32"/>
    <p:sldId id="507" r:id="rId33"/>
    <p:sldId id="508" r:id="rId34"/>
    <p:sldId id="509" r:id="rId35"/>
    <p:sldId id="512" r:id="rId36"/>
    <p:sldId id="511" r:id="rId37"/>
    <p:sldId id="513" r:id="rId38"/>
    <p:sldId id="514" r:id="rId39"/>
    <p:sldId id="523" r:id="rId40"/>
    <p:sldId id="515" r:id="rId41"/>
    <p:sldId id="524" r:id="rId42"/>
    <p:sldId id="517" r:id="rId43"/>
    <p:sldId id="522" r:id="rId44"/>
    <p:sldId id="525" r:id="rId45"/>
    <p:sldId id="526" r:id="rId46"/>
    <p:sldId id="527" r:id="rId47"/>
    <p:sldId id="528" r:id="rId48"/>
    <p:sldId id="529" r:id="rId49"/>
    <p:sldId id="530" r:id="rId50"/>
    <p:sldId id="519" r:id="rId51"/>
  </p:sldIdLst>
  <p:sldSz cx="10080625" cy="7559675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1pPr>
    <a:lvl2pPr marL="4572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2pPr>
    <a:lvl3pPr marL="9144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3pPr>
    <a:lvl4pPr marL="13716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4pPr>
    <a:lvl5pPr marL="1828800" algn="l" rtl="0" fontAlgn="base">
      <a:spcBef>
        <a:spcPct val="0"/>
      </a:spcBef>
      <a:spcAft>
        <a:spcPct val="0"/>
      </a:spcAft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5pPr>
    <a:lvl6pPr marL="22860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6pPr>
    <a:lvl7pPr marL="27432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7pPr>
    <a:lvl8pPr marL="32004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8pPr>
    <a:lvl9pPr marL="3657600" algn="l" defTabSz="914400" rtl="0" eaLnBrk="1" latinLnBrk="0" hangingPunct="1">
      <a:defRPr sz="1400" kern="1200">
        <a:solidFill>
          <a:srgbClr val="000000"/>
        </a:solidFill>
        <a:latin typeface="Arial" charset="0"/>
        <a:ea typeface="+mn-ea"/>
        <a:cs typeface="Arial" charset="0"/>
        <a:sym typeface="Arial" charset="0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381">
          <p15:clr>
            <a:srgbClr val="A4A3A4"/>
          </p15:clr>
        </p15:guide>
        <p15:guide id="2" pos="3175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EAF9961-DF7B-2BD3-42D9-C92C075C713B}" v="4" dt="2024-01-12T09:45:32.635"/>
    <p1510:client id="{527D3D3E-8350-42C0-8668-1AA5167CBB2F}" v="2" dt="2022-05-27T05:02:15.8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64" d="100"/>
          <a:sy n="64" d="100"/>
        </p:scale>
        <p:origin x="-1148" y="16"/>
      </p:cViewPr>
      <p:guideLst>
        <p:guide orient="horz" pos="2381"/>
        <p:guide pos="31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slide" Target="slides/slide43.xml"/><Relationship Id="rId50" Type="http://schemas.openxmlformats.org/officeDocument/2006/relationships/slide" Target="slides/slide46.xml"/><Relationship Id="rId55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slide" Target="slides/slide42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41" Type="http://schemas.openxmlformats.org/officeDocument/2006/relationships/slide" Target="slides/slide37.xml"/><Relationship Id="rId54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slide" Target="slides/slide41.xml"/><Relationship Id="rId53" Type="http://schemas.openxmlformats.org/officeDocument/2006/relationships/presProps" Target="presProps.xml"/><Relationship Id="rId58" Type="http://schemas.microsoft.com/office/2015/10/relationships/revisionInfo" Target="revisionInfo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slide" Target="slides/slide45.xml"/><Relationship Id="rId57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52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slide" Target="slides/slide44.xml"/><Relationship Id="rId56" Type="http://schemas.openxmlformats.org/officeDocument/2006/relationships/tableStyles" Target="tableStyles.xml"/><Relationship Id="rId8" Type="http://schemas.openxmlformats.org/officeDocument/2006/relationships/slide" Target="slides/slide4.xml"/><Relationship Id="rId51" Type="http://schemas.openxmlformats.org/officeDocument/2006/relationships/slide" Target="slides/slide47.xml"/><Relationship Id="rId3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CA MADALINA DOBROVAT" userId="S::anca.dobrovat@unibuc.ro::418a3c67-18b7-4c53-a114-ddac729b7caa" providerId="AD" clId="Web-{2EAF9961-DF7B-2BD3-42D9-C92C075C713B}"/>
    <pc:docChg chg="modSld">
      <pc:chgData name="ANCA MADALINA DOBROVAT" userId="S::anca.dobrovat@unibuc.ro::418a3c67-18b7-4c53-a114-ddac729b7caa" providerId="AD" clId="Web-{2EAF9961-DF7B-2BD3-42D9-C92C075C713B}" dt="2024-01-12T09:45:32.619" v="2" actId="20577"/>
      <pc:docMkLst>
        <pc:docMk/>
      </pc:docMkLst>
      <pc:sldChg chg="modSp">
        <pc:chgData name="ANCA MADALINA DOBROVAT" userId="S::anca.dobrovat@unibuc.ro::418a3c67-18b7-4c53-a114-ddac729b7caa" providerId="AD" clId="Web-{2EAF9961-DF7B-2BD3-42D9-C92C075C713B}" dt="2024-01-12T09:45:32.619" v="2" actId="20577"/>
        <pc:sldMkLst>
          <pc:docMk/>
          <pc:sldMk cId="0" sldId="503"/>
        </pc:sldMkLst>
        <pc:spChg chg="mod">
          <ac:chgData name="ANCA MADALINA DOBROVAT" userId="S::anca.dobrovat@unibuc.ro::418a3c67-18b7-4c53-a114-ddac729b7caa" providerId="AD" clId="Web-{2EAF9961-DF7B-2BD3-42D9-C92C075C713B}" dt="2024-01-12T09:45:32.619" v="2" actId="20577"/>
          <ac:spMkLst>
            <pc:docMk/>
            <pc:sldMk cId="0" sldId="503"/>
            <ac:spMk id="28679" creationId="{00000000-0000-0000-0000-000000000000}"/>
          </ac:spMkLst>
        </pc:spChg>
      </pc:sldChg>
    </pc:docChg>
  </pc:docChgLst>
  <pc:docChgLst>
    <pc:chgData name="ANCA MADALINA DOBROVAT" userId="S::anca.dobrovat@unibuc.ro::418a3c67-18b7-4c53-a114-ddac729b7caa" providerId="AD" clId="Web-{527D3D3E-8350-42C0-8668-1AA5167CBB2F}"/>
    <pc:docChg chg="modSld">
      <pc:chgData name="ANCA MADALINA DOBROVAT" userId="S::anca.dobrovat@unibuc.ro::418a3c67-18b7-4c53-a114-ddac729b7caa" providerId="AD" clId="Web-{527D3D3E-8350-42C0-8668-1AA5167CBB2F}" dt="2022-05-27T05:02:15.888" v="1" actId="20577"/>
      <pc:docMkLst>
        <pc:docMk/>
      </pc:docMkLst>
      <pc:sldChg chg="modSp">
        <pc:chgData name="ANCA MADALINA DOBROVAT" userId="S::anca.dobrovat@unibuc.ro::418a3c67-18b7-4c53-a114-ddac729b7caa" providerId="AD" clId="Web-{527D3D3E-8350-42C0-8668-1AA5167CBB2F}" dt="2022-05-27T05:02:15.888" v="1" actId="20577"/>
        <pc:sldMkLst>
          <pc:docMk/>
          <pc:sldMk cId="0" sldId="484"/>
        </pc:sldMkLst>
        <pc:spChg chg="mod">
          <ac:chgData name="ANCA MADALINA DOBROVAT" userId="S::anca.dobrovat@unibuc.ro::418a3c67-18b7-4c53-a114-ddac729b7caa" providerId="AD" clId="Web-{527D3D3E-8350-42C0-8668-1AA5167CBB2F}" dt="2022-05-27T05:02:15.888" v="1" actId="20577"/>
          <ac:spMkLst>
            <pc:docMk/>
            <pc:sldMk cId="0" sldId="484"/>
            <ac:spMk id="9222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Google Shape;3;n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1182688" y="768350"/>
            <a:ext cx="4733925" cy="3836988"/>
          </a:xfrm>
          <a:custGeom>
            <a:avLst/>
            <a:gdLst>
              <a:gd name="T0" fmla="*/ 0 w 120000"/>
              <a:gd name="T1" fmla="*/ 0 h 120000"/>
              <a:gd name="T2" fmla="*/ 2147483647 w 120000"/>
              <a:gd name="T3" fmla="*/ 0 h 120000"/>
              <a:gd name="T4" fmla="*/ 2147483647 w 120000"/>
              <a:gd name="T5" fmla="*/ 2147483647 h 120000"/>
              <a:gd name="T6" fmla="*/ 0 w 120000"/>
              <a:gd name="T7" fmla="*/ 2147483647 h 120000"/>
              <a:gd name="T8" fmla="*/ 0 60000 65536"/>
              <a:gd name="T9" fmla="*/ 0 60000 65536"/>
              <a:gd name="T10" fmla="*/ 0 60000 65536"/>
              <a:gd name="T11" fmla="*/ 0 60000 65536"/>
              <a:gd name="T12" fmla="*/ 0 w 120000"/>
              <a:gd name="T13" fmla="*/ 0 h 120000"/>
              <a:gd name="T14" fmla="*/ 120000 w 120000"/>
              <a:gd name="T15" fmla="*/ 120000 h 1200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>
            <a:solidFill>
              <a:srgbClr val="00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5" name="Google Shape;4;n"/>
          <p:cNvSpPr txBox="1">
            <a:spLocks noGrp="1"/>
          </p:cNvSpPr>
          <p:nvPr>
            <p:ph type="body" idx="1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25" tIns="91425" rIns="91425" bIns="91425" numCol="1" anchor="t" anchorCtr="0" compatLnSpc="1">
            <a:prstTxWarp prst="textNoShape">
              <a:avLst/>
            </a:prstTxWarp>
          </a:bodyPr>
          <a:lstStyle/>
          <a:p>
            <a:pPr lvl="0"/>
            <a:endParaRPr lang="ro-RO" altLang="en-US">
              <a:sym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9174640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457200" indent="-2984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1pPr>
    <a:lvl2pPr marL="742950" lvl="1" indent="-28575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2pPr>
    <a:lvl3pPr marL="1143000" lvl="2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3pPr>
    <a:lvl4pPr marL="1600200" lvl="3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4pPr>
    <a:lvl5pPr marL="2057400" lvl="4" indent="-228600" algn="l" rtl="0" eaLnBrk="0" fontAlgn="base" hangingPunct="0">
      <a:spcBef>
        <a:spcPct val="0"/>
      </a:spcBef>
      <a:spcAft>
        <a:spcPct val="0"/>
      </a:spcAft>
      <a:buClr>
        <a:srgbClr val="000000"/>
      </a:buClr>
      <a:buFont typeface="Arial" charset="0"/>
      <a:defRPr sz="1400">
        <a:solidFill>
          <a:srgbClr val="000000"/>
        </a:solidFill>
        <a:latin typeface="Arial"/>
        <a:ea typeface="Arial"/>
        <a:cs typeface="Arial"/>
        <a:sym typeface="Arial" charset="0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Google Shape;60;p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845B964-93B5-42DB-AD20-E3125826EE4F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</a:t>
            </a:fld>
            <a:endParaRPr lang="en-US" altLang="en-US" sz="1800"/>
          </a:p>
        </p:txBody>
      </p:sp>
      <p:sp>
        <p:nvSpPr>
          <p:cNvPr id="45059" name="Google Shape;61;p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91350EB-F99F-40CC-AAE9-0327A02D58D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</a:t>
            </a:fld>
            <a:endParaRPr lang="en-US" altLang="en-US" sz="1800"/>
          </a:p>
        </p:txBody>
      </p:sp>
      <p:sp>
        <p:nvSpPr>
          <p:cNvPr id="45060" name="Google Shape;62;p1:notes"/>
          <p:cNvSpPr>
            <a:spLocks noChangeArrowheads="1"/>
          </p:cNvSpPr>
          <p:nvPr/>
        </p:nvSpPr>
        <p:spPr bwMode="auto">
          <a:xfrm>
            <a:off x="711200" y="4860925"/>
            <a:ext cx="5665788" cy="458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ro-RO" altLang="en-US"/>
          </a:p>
        </p:txBody>
      </p:sp>
      <p:sp>
        <p:nvSpPr>
          <p:cNvPr id="45061" name="Google Shape;63;p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  <a:ln/>
        </p:spPr>
        <p:txBody>
          <a:bodyPr lIns="0" tIns="0" rIns="0" bIns="0"/>
          <a:lstStyle/>
          <a:p>
            <a:pPr marL="0" indent="0" eaLnBrk="1" hangingPunct="1">
              <a:buSzPts val="1100"/>
            </a:pPr>
            <a:r>
              <a:rPr lang="en-US" altLang="en-US" sz="1100">
                <a:latin typeface="Arial" charset="0"/>
                <a:cs typeface="Arial" charset="0"/>
              </a:rPr>
              <a:t>V2 </a:t>
            </a:r>
          </a:p>
          <a:p>
            <a:pPr marL="0" indent="0" eaLnBrk="1" hangingPunct="1">
              <a:buSzPts val="1100"/>
            </a:pPr>
            <a:r>
              <a:rPr lang="en-US" altLang="en-US" sz="1100">
                <a:latin typeface="Arial" charset="0"/>
                <a:cs typeface="Arial" charset="0"/>
              </a:rPr>
              <a:t>22.4.2020</a:t>
            </a:r>
            <a:endParaRPr lang="ro-RO" altLang="en-US" sz="1100">
              <a:latin typeface="Arial" charset="0"/>
              <a:cs typeface="Arial" charset="0"/>
            </a:endParaRPr>
          </a:p>
        </p:txBody>
      </p:sp>
      <p:sp>
        <p:nvSpPr>
          <p:cNvPr id="45062" name="Google Shape;64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Google Shape;74;p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CF294C1-F0E2-42B5-9AEF-F73970305C64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</a:t>
            </a:fld>
            <a:endParaRPr lang="en-US" altLang="en-US" sz="1800"/>
          </a:p>
        </p:txBody>
      </p:sp>
      <p:sp>
        <p:nvSpPr>
          <p:cNvPr id="46083" name="Google Shape;75;p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50806F8-0683-4D57-9C3C-A4F7D88CF9F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</a:t>
            </a:fld>
            <a:endParaRPr lang="en-US" altLang="en-US" sz="1800"/>
          </a:p>
        </p:txBody>
      </p:sp>
      <p:sp>
        <p:nvSpPr>
          <p:cNvPr id="46084" name="Google Shape;76;p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46085" name="Google Shape;77;p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51500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46086" name="Google Shape;78;p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6" name="Google Shape;86;p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AE27A40-56BF-42F1-AC17-212A3CE3675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</a:t>
            </a:fld>
            <a:endParaRPr lang="en-US" altLang="en-US" sz="1800"/>
          </a:p>
        </p:txBody>
      </p:sp>
      <p:sp>
        <p:nvSpPr>
          <p:cNvPr id="47107" name="Google Shape;87;p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A6CD16A-E860-48CC-B2AA-AE959AD0A1D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</a:t>
            </a:fld>
            <a:endParaRPr lang="en-US" altLang="en-US" sz="1800"/>
          </a:p>
        </p:txBody>
      </p:sp>
      <p:sp>
        <p:nvSpPr>
          <p:cNvPr id="47108" name="Google Shape;88;p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47109" name="Google Shape;89;p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47110" name="Google Shape;90;p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Google Shape;98;p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1FB8267-89E9-4091-AE06-04E56A16305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</a:t>
            </a:fld>
            <a:endParaRPr lang="en-US" altLang="en-US" sz="1800"/>
          </a:p>
        </p:txBody>
      </p:sp>
      <p:sp>
        <p:nvSpPr>
          <p:cNvPr id="49155" name="Google Shape;99;p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392585C-CE34-44EC-80C4-811ED75B211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</a:t>
            </a:fld>
            <a:endParaRPr lang="en-US" altLang="en-US" sz="1800"/>
          </a:p>
        </p:txBody>
      </p:sp>
      <p:sp>
        <p:nvSpPr>
          <p:cNvPr id="49156" name="Google Shape;100;p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49157" name="Google Shape;101;p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49158" name="Google Shape;102;p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Google Shape;110;p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036C481-E201-43F3-BB79-E6A65B0F4AC4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</a:t>
            </a:fld>
            <a:endParaRPr lang="en-US" altLang="en-US" sz="1800"/>
          </a:p>
        </p:txBody>
      </p:sp>
      <p:sp>
        <p:nvSpPr>
          <p:cNvPr id="50179" name="Google Shape;111;p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16DDEE3-614C-49D4-BBFA-ED3B6907F762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5</a:t>
            </a:fld>
            <a:endParaRPr lang="en-US" altLang="en-US" sz="1800"/>
          </a:p>
        </p:txBody>
      </p:sp>
      <p:sp>
        <p:nvSpPr>
          <p:cNvPr id="50180" name="Google Shape;112;p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0181" name="Google Shape;113;p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0182" name="Google Shape;114;p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2" name="Google Shape;134;p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3ECF4AA-A414-44DE-8379-A72F8DBE4BDA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</a:t>
            </a:fld>
            <a:endParaRPr lang="en-US" altLang="en-US" sz="1800"/>
          </a:p>
        </p:txBody>
      </p:sp>
      <p:sp>
        <p:nvSpPr>
          <p:cNvPr id="51203" name="Google Shape;135;p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F5C4564-9286-453D-BB8A-A1715DC1D42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6</a:t>
            </a:fld>
            <a:endParaRPr lang="en-US" altLang="en-US" sz="1800"/>
          </a:p>
        </p:txBody>
      </p:sp>
      <p:sp>
        <p:nvSpPr>
          <p:cNvPr id="51204" name="Google Shape;136;p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1205" name="Google Shape;137;p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1206" name="Google Shape;138;p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Google Shape;146;p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E455FE1-958D-44E3-9049-659BC3E024B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</a:t>
            </a:fld>
            <a:endParaRPr lang="en-US" altLang="en-US" sz="1800"/>
          </a:p>
        </p:txBody>
      </p:sp>
      <p:sp>
        <p:nvSpPr>
          <p:cNvPr id="52227" name="Google Shape;147;p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A3A815A-31D7-4770-85A1-D586568FE7B3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7</a:t>
            </a:fld>
            <a:endParaRPr lang="en-US" altLang="en-US" sz="1800"/>
          </a:p>
        </p:txBody>
      </p:sp>
      <p:sp>
        <p:nvSpPr>
          <p:cNvPr id="52228" name="Google Shape;148;p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2229" name="Google Shape;149;p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2230" name="Google Shape;150;p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Google Shape;158;p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C611B51-07BC-4FF7-8F69-B208A9EE0FED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</a:t>
            </a:fld>
            <a:endParaRPr lang="en-US" altLang="en-US" sz="1800"/>
          </a:p>
        </p:txBody>
      </p:sp>
      <p:sp>
        <p:nvSpPr>
          <p:cNvPr id="53251" name="Google Shape;159;p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F369475-B55B-4C73-8A45-71454F79E70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8</a:t>
            </a:fld>
            <a:endParaRPr lang="en-US" altLang="en-US" sz="1800"/>
          </a:p>
        </p:txBody>
      </p:sp>
      <p:sp>
        <p:nvSpPr>
          <p:cNvPr id="53252" name="Google Shape;160;p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3253" name="Google Shape;161;p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3254" name="Google Shape;162;p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Google Shape;170;p1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04D3BD9-ED9A-4575-A1D8-22F7AF382A24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9</a:t>
            </a:fld>
            <a:endParaRPr lang="en-US" altLang="en-US" sz="1800"/>
          </a:p>
        </p:txBody>
      </p:sp>
      <p:sp>
        <p:nvSpPr>
          <p:cNvPr id="54275" name="Google Shape;171;p1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A96439D-689E-4465-82F5-3AED8148F9FD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9</a:t>
            </a:fld>
            <a:endParaRPr lang="en-US" altLang="en-US" sz="1800"/>
          </a:p>
        </p:txBody>
      </p:sp>
      <p:sp>
        <p:nvSpPr>
          <p:cNvPr id="54276" name="Google Shape;172;p1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4277" name="Google Shape;173;p1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4278" name="Google Shape;174;p1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Google Shape;194;p1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B50E39D-1652-454D-BC09-55310322D674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10</a:t>
            </a:fld>
            <a:endParaRPr lang="en-US" altLang="en-US" sz="1800"/>
          </a:p>
        </p:txBody>
      </p:sp>
      <p:sp>
        <p:nvSpPr>
          <p:cNvPr id="55299" name="Google Shape;195;p1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049E8E0-A748-466A-9F7C-75DABC656A1E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10</a:t>
            </a:fld>
            <a:endParaRPr lang="en-US" altLang="en-US" sz="1800"/>
          </a:p>
        </p:txBody>
      </p:sp>
      <p:sp>
        <p:nvSpPr>
          <p:cNvPr id="55300" name="Google Shape;196;p1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5301" name="Google Shape;197;p1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5302" name="Google Shape;198;p1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Google Shape;206;p1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B71395C-00E8-4B55-A2B0-B29981C4362E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11</a:t>
            </a:fld>
            <a:endParaRPr lang="en-US" altLang="en-US" sz="1800"/>
          </a:p>
        </p:txBody>
      </p:sp>
      <p:sp>
        <p:nvSpPr>
          <p:cNvPr id="56323" name="Google Shape;207;p1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1675D3B-3C72-42F7-8D80-EBC88A5BA2F1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11</a:t>
            </a:fld>
            <a:endParaRPr lang="en-US" altLang="en-US" sz="1800"/>
          </a:p>
        </p:txBody>
      </p:sp>
      <p:sp>
        <p:nvSpPr>
          <p:cNvPr id="56324" name="Google Shape;208;p1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6325" name="Google Shape;209;p1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6326" name="Google Shape;210;p1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Google Shape;218;g7baa87592e_0_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A81156-931A-4DC2-9A5F-7A1AC1CBDA83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12</a:t>
            </a:fld>
            <a:endParaRPr lang="en-US" altLang="en-US" sz="1800"/>
          </a:p>
        </p:txBody>
      </p:sp>
      <p:sp>
        <p:nvSpPr>
          <p:cNvPr id="57347" name="Google Shape;219;g7baa87592e_0_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2F54DF2-F4DB-4749-A55E-13BB643F043A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12</a:t>
            </a:fld>
            <a:endParaRPr lang="en-US" altLang="en-US" sz="1800"/>
          </a:p>
        </p:txBody>
      </p:sp>
      <p:sp>
        <p:nvSpPr>
          <p:cNvPr id="57348" name="Google Shape;220;g7baa87592e_0_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7349" name="Google Shape;221;g7baa87592e_0_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7350" name="Google Shape;222;g7baa87592e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Google Shape;230;p1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24B06FB-E1DC-446E-8A9E-ABB164DDB9CD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13</a:t>
            </a:fld>
            <a:endParaRPr lang="en-US" altLang="en-US" sz="1800"/>
          </a:p>
        </p:txBody>
      </p:sp>
      <p:sp>
        <p:nvSpPr>
          <p:cNvPr id="58371" name="Google Shape;231;p1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73FD546-24E3-4AF0-BDDE-71AA4A28ADDF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13</a:t>
            </a:fld>
            <a:endParaRPr lang="en-US" altLang="en-US" sz="1800"/>
          </a:p>
        </p:txBody>
      </p:sp>
      <p:sp>
        <p:nvSpPr>
          <p:cNvPr id="58372" name="Google Shape;232;p1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8373" name="Google Shape;233;p1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8374" name="Google Shape;234;p1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Google Shape;242;g6ca74e178e_0_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949CD48A-1AD9-4975-8278-8F2A6DCBF33A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14</a:t>
            </a:fld>
            <a:endParaRPr lang="en-US" altLang="en-US" sz="1800"/>
          </a:p>
        </p:txBody>
      </p:sp>
      <p:sp>
        <p:nvSpPr>
          <p:cNvPr id="59395" name="Google Shape;243;g6ca74e178e_0_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CBB5852-446F-4008-9B8E-FB775F247D5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14</a:t>
            </a:fld>
            <a:endParaRPr lang="en-US" altLang="en-US" sz="1800"/>
          </a:p>
        </p:txBody>
      </p:sp>
      <p:sp>
        <p:nvSpPr>
          <p:cNvPr id="59396" name="Google Shape;244;g6ca74e178e_0_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59397" name="Google Shape;245;g6ca74e178e_0_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59398" name="Google Shape;246;g6ca74e178e_0_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Google Shape;254;p1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DAD0976-0521-4795-B11C-C3A978E0F6C2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15</a:t>
            </a:fld>
            <a:endParaRPr lang="en-US" altLang="en-US" sz="1800"/>
          </a:p>
        </p:txBody>
      </p:sp>
      <p:sp>
        <p:nvSpPr>
          <p:cNvPr id="60419" name="Google Shape;255;p1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B1B38C0-0C81-4B03-8735-CDA85DAD1F64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15</a:t>
            </a:fld>
            <a:endParaRPr lang="en-US" altLang="en-US" sz="1800"/>
          </a:p>
        </p:txBody>
      </p:sp>
      <p:sp>
        <p:nvSpPr>
          <p:cNvPr id="60420" name="Google Shape;256;p1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0421" name="Google Shape;257;p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0422" name="Google Shape;258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Google Shape;254;p1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3CEF441-E882-4606-8CEA-29E156E41D63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16</a:t>
            </a:fld>
            <a:endParaRPr lang="en-US" altLang="en-US" sz="1800"/>
          </a:p>
        </p:txBody>
      </p:sp>
      <p:sp>
        <p:nvSpPr>
          <p:cNvPr id="61443" name="Google Shape;255;p1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9F2767F-D6CD-4D72-A2B1-5817291449BE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16</a:t>
            </a:fld>
            <a:endParaRPr lang="en-US" altLang="en-US" sz="1800"/>
          </a:p>
        </p:txBody>
      </p:sp>
      <p:sp>
        <p:nvSpPr>
          <p:cNvPr id="61444" name="Google Shape;256;p1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1445" name="Google Shape;257;p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1446" name="Google Shape;258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Google Shape;254;p1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D452961-C6AE-4735-9FE4-45D49B842341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17</a:t>
            </a:fld>
            <a:endParaRPr lang="en-US" altLang="en-US" sz="1800"/>
          </a:p>
        </p:txBody>
      </p:sp>
      <p:sp>
        <p:nvSpPr>
          <p:cNvPr id="62467" name="Google Shape;255;p1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604575B-763C-4493-98DC-75B23E0AF85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17</a:t>
            </a:fld>
            <a:endParaRPr lang="en-US" altLang="en-US" sz="1800"/>
          </a:p>
        </p:txBody>
      </p:sp>
      <p:sp>
        <p:nvSpPr>
          <p:cNvPr id="62468" name="Google Shape;256;p1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2469" name="Google Shape;257;p1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2470" name="Google Shape;258;p1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Google Shape;278;p1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EB7C203-6BD9-44D9-9734-D3D2A2BA059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18</a:t>
            </a:fld>
            <a:endParaRPr lang="en-US" altLang="en-US" sz="1800"/>
          </a:p>
        </p:txBody>
      </p:sp>
      <p:sp>
        <p:nvSpPr>
          <p:cNvPr id="63491" name="Google Shape;279;p1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14A56F99-9B3D-4B1F-9E3A-F22530584C62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18</a:t>
            </a:fld>
            <a:endParaRPr lang="en-US" altLang="en-US" sz="1800"/>
          </a:p>
        </p:txBody>
      </p:sp>
      <p:sp>
        <p:nvSpPr>
          <p:cNvPr id="63492" name="Google Shape;280;p1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3493" name="Google Shape;281;p1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3494" name="Google Shape;282;p1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Google Shape;290;p1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8342BAB-A61D-43AE-8E25-E5B43B57CB6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19</a:t>
            </a:fld>
            <a:endParaRPr lang="en-US" altLang="en-US" sz="1800"/>
          </a:p>
        </p:txBody>
      </p:sp>
      <p:sp>
        <p:nvSpPr>
          <p:cNvPr id="64515" name="Google Shape;291;p1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E2E5D581-67C5-4A49-A579-9FA82FBBC5A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19</a:t>
            </a:fld>
            <a:endParaRPr lang="en-US" altLang="en-US" sz="1800"/>
          </a:p>
        </p:txBody>
      </p:sp>
      <p:sp>
        <p:nvSpPr>
          <p:cNvPr id="64516" name="Google Shape;292;p1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4517" name="Google Shape;293;p1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4518" name="Google Shape;294;p1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Google Shape;303;p1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E7C27FF-F4BC-40CD-BC6B-FB5A7BA9DA9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20</a:t>
            </a:fld>
            <a:endParaRPr lang="en-US" altLang="en-US" sz="1800"/>
          </a:p>
        </p:txBody>
      </p:sp>
      <p:sp>
        <p:nvSpPr>
          <p:cNvPr id="65539" name="Google Shape;304;p1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38C6D53-E451-40D5-83E4-31C96FDF6A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20</a:t>
            </a:fld>
            <a:endParaRPr lang="en-US" altLang="en-US" sz="1800"/>
          </a:p>
        </p:txBody>
      </p:sp>
      <p:sp>
        <p:nvSpPr>
          <p:cNvPr id="65540" name="Google Shape;305;p1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5541" name="Google Shape;306;p1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5542" name="Google Shape;307;p1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Google Shape;316;p2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0CBA276-E745-47DD-9E61-460AE194FD1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21</a:t>
            </a:fld>
            <a:endParaRPr lang="en-US" altLang="en-US" sz="1800"/>
          </a:p>
        </p:txBody>
      </p:sp>
      <p:sp>
        <p:nvSpPr>
          <p:cNvPr id="66563" name="Google Shape;317;p2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6009EF7-CD9E-469B-9300-CDF863A6379F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21</a:t>
            </a:fld>
            <a:endParaRPr lang="en-US" altLang="en-US" sz="1800"/>
          </a:p>
        </p:txBody>
      </p:sp>
      <p:sp>
        <p:nvSpPr>
          <p:cNvPr id="66564" name="Google Shape;318;p2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6565" name="Google Shape;319;p2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6566" name="Google Shape;320;p2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Google Shape;328;p2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1B92999-99E9-4B86-B892-4B99C189C34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22</a:t>
            </a:fld>
            <a:endParaRPr lang="en-US" altLang="en-US" sz="1800"/>
          </a:p>
        </p:txBody>
      </p:sp>
      <p:sp>
        <p:nvSpPr>
          <p:cNvPr id="67587" name="Google Shape;329;p2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839D5CC-455D-4961-816A-0F23FFAF4AB8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22</a:t>
            </a:fld>
            <a:endParaRPr lang="en-US" altLang="en-US" sz="1800"/>
          </a:p>
        </p:txBody>
      </p:sp>
      <p:sp>
        <p:nvSpPr>
          <p:cNvPr id="67588" name="Google Shape;330;p2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7589" name="Google Shape;331;p2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7590" name="Google Shape;332;p2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Google Shape;340;p22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7B14863-EE7A-452A-B927-65B893B1EAF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23</a:t>
            </a:fld>
            <a:endParaRPr lang="en-US" altLang="en-US" sz="1800"/>
          </a:p>
        </p:txBody>
      </p:sp>
      <p:sp>
        <p:nvSpPr>
          <p:cNvPr id="68611" name="Google Shape;341;p22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7DF2C21-6433-4052-88B4-35E4D7109B1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23</a:t>
            </a:fld>
            <a:endParaRPr lang="en-US" altLang="en-US" sz="1800"/>
          </a:p>
        </p:txBody>
      </p:sp>
      <p:sp>
        <p:nvSpPr>
          <p:cNvPr id="68612" name="Google Shape;342;p22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8613" name="Google Shape;343;p22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8614" name="Google Shape;344;p22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Google Shape;352;p2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7BFBBDB-1C27-4D64-BA2E-FDCE89F54D3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24</a:t>
            </a:fld>
            <a:endParaRPr lang="en-US" altLang="en-US" sz="1800"/>
          </a:p>
        </p:txBody>
      </p:sp>
      <p:sp>
        <p:nvSpPr>
          <p:cNvPr id="69635" name="Google Shape;353;p2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7A319D07-D6D2-4D3D-8553-BB156EFF1F3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24</a:t>
            </a:fld>
            <a:endParaRPr lang="en-US" altLang="en-US" sz="1800"/>
          </a:p>
        </p:txBody>
      </p:sp>
      <p:sp>
        <p:nvSpPr>
          <p:cNvPr id="69636" name="Google Shape;354;p2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69637" name="Google Shape;355;p2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69638" name="Google Shape;356;p2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Google Shape;365;p2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B60CD15E-AA82-41D0-A1BC-70DB03428D3F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25</a:t>
            </a:fld>
            <a:endParaRPr lang="en-US" altLang="en-US" sz="1800"/>
          </a:p>
        </p:txBody>
      </p:sp>
      <p:sp>
        <p:nvSpPr>
          <p:cNvPr id="70659" name="Google Shape;366;p2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85EED4F-C211-4BC2-9B91-38D08E36684A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25</a:t>
            </a:fld>
            <a:endParaRPr lang="en-US" altLang="en-US" sz="1800"/>
          </a:p>
        </p:txBody>
      </p:sp>
      <p:sp>
        <p:nvSpPr>
          <p:cNvPr id="70660" name="Google Shape;367;p2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0661" name="Google Shape;368;p2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0662" name="Google Shape;369;p2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Google Shape;377;p2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F0EFFCF-7DAD-4F1C-A357-2016B88F8BA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26</a:t>
            </a:fld>
            <a:endParaRPr lang="en-US" altLang="en-US" sz="1800"/>
          </a:p>
        </p:txBody>
      </p:sp>
      <p:sp>
        <p:nvSpPr>
          <p:cNvPr id="71683" name="Google Shape;378;p2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8E6A8FD-D3C0-4810-91BB-7DF84C3B2DB9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26</a:t>
            </a:fld>
            <a:endParaRPr lang="en-US" altLang="en-US" sz="1800"/>
          </a:p>
        </p:txBody>
      </p:sp>
      <p:sp>
        <p:nvSpPr>
          <p:cNvPr id="71684" name="Google Shape;379;p2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1685" name="Google Shape;380;p2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1686" name="Google Shape;381;p2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Google Shape;401;p2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C415ABB-3312-44C7-BBD3-663F3D5BA139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27</a:t>
            </a:fld>
            <a:endParaRPr lang="en-US" altLang="en-US" sz="1800"/>
          </a:p>
        </p:txBody>
      </p:sp>
      <p:sp>
        <p:nvSpPr>
          <p:cNvPr id="72707" name="Google Shape;402;p2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B689FBD-2155-44BC-A95B-14F4EC5C77E9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27</a:t>
            </a:fld>
            <a:endParaRPr lang="en-US" altLang="en-US" sz="1800"/>
          </a:p>
        </p:txBody>
      </p:sp>
      <p:sp>
        <p:nvSpPr>
          <p:cNvPr id="72708" name="Google Shape;403;p2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2709" name="Google Shape;404;p2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2710" name="Google Shape;405;p2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Google Shape;413;p28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1FE0D76-D228-486C-B42E-BC2A124D4B4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28</a:t>
            </a:fld>
            <a:endParaRPr lang="en-US" altLang="en-US" sz="1800"/>
          </a:p>
        </p:txBody>
      </p:sp>
      <p:sp>
        <p:nvSpPr>
          <p:cNvPr id="73731" name="Google Shape;414;p28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8533EBD-1D23-4E3B-99C1-315A9393A5F2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28</a:t>
            </a:fld>
            <a:endParaRPr lang="en-US" altLang="en-US" sz="1800"/>
          </a:p>
        </p:txBody>
      </p:sp>
      <p:sp>
        <p:nvSpPr>
          <p:cNvPr id="73732" name="Google Shape;415;p28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3733" name="Google Shape;416;p28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3734" name="Google Shape;417;p28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Google Shape;425;p2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3321CE1-828A-4FD8-B344-4BF03924618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29</a:t>
            </a:fld>
            <a:endParaRPr lang="en-US" altLang="en-US" sz="1800"/>
          </a:p>
        </p:txBody>
      </p:sp>
      <p:sp>
        <p:nvSpPr>
          <p:cNvPr id="74755" name="Google Shape;426;p2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691E59D-F3D3-45A1-85FA-A36757F3972D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29</a:t>
            </a:fld>
            <a:endParaRPr lang="en-US" altLang="en-US" sz="1800"/>
          </a:p>
        </p:txBody>
      </p:sp>
      <p:sp>
        <p:nvSpPr>
          <p:cNvPr id="74756" name="Google Shape;427;p2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4757" name="Google Shape;428;p2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4758" name="Google Shape;429;p2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Google Shape;437;p30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0B655936-27B8-46BC-B73D-2A6C35660C5B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30</a:t>
            </a:fld>
            <a:endParaRPr lang="en-US" altLang="en-US" sz="1800"/>
          </a:p>
        </p:txBody>
      </p:sp>
      <p:sp>
        <p:nvSpPr>
          <p:cNvPr id="75779" name="Google Shape;438;p30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F699688B-43F3-486F-AA19-1994B19BF93A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30</a:t>
            </a:fld>
            <a:endParaRPr lang="en-US" altLang="en-US" sz="1800"/>
          </a:p>
        </p:txBody>
      </p:sp>
      <p:sp>
        <p:nvSpPr>
          <p:cNvPr id="75780" name="Google Shape;439;p30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5781" name="Google Shape;440;p30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5782" name="Google Shape;441;p30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Google Shape;449;p3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13E256B-CC5C-48C3-9107-D4ECBC49F11B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31</a:t>
            </a:fld>
            <a:endParaRPr lang="en-US" altLang="en-US" sz="1800"/>
          </a:p>
        </p:txBody>
      </p:sp>
      <p:sp>
        <p:nvSpPr>
          <p:cNvPr id="76803" name="Google Shape;450;p3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9FF8900-66F8-4EDE-8A85-572ADB0C931C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31</a:t>
            </a:fld>
            <a:endParaRPr lang="en-US" altLang="en-US" sz="1800"/>
          </a:p>
        </p:txBody>
      </p:sp>
      <p:sp>
        <p:nvSpPr>
          <p:cNvPr id="76804" name="Google Shape;451;p3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6805" name="Google Shape;452;p3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6806" name="Google Shape;453;p3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Google Shape;486;p34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57CC75B6-1C21-46C4-95DA-29C222E908DC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32</a:t>
            </a:fld>
            <a:endParaRPr lang="en-US" altLang="en-US" sz="1800"/>
          </a:p>
        </p:txBody>
      </p:sp>
      <p:sp>
        <p:nvSpPr>
          <p:cNvPr id="79875" name="Google Shape;487;p34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AE0E0F2-36C4-4D8E-A2CE-C8A71DF1B0B1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32</a:t>
            </a:fld>
            <a:endParaRPr lang="en-US" altLang="en-US" sz="1800"/>
          </a:p>
        </p:txBody>
      </p:sp>
      <p:sp>
        <p:nvSpPr>
          <p:cNvPr id="79876" name="Google Shape;488;p34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9877" name="Google Shape;489;p34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9878" name="Google Shape;490;p34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33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33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Google Shape;498;p35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2A18E56-233D-45FA-AE93-E9FF243021DE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34</a:t>
            </a:fld>
            <a:endParaRPr lang="en-US" altLang="en-US" sz="1800"/>
          </a:p>
        </p:txBody>
      </p:sp>
      <p:sp>
        <p:nvSpPr>
          <p:cNvPr id="80899" name="Google Shape;499;p35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957EA08-438E-42F3-8991-BC2EF7AA4529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34</a:t>
            </a:fld>
            <a:endParaRPr lang="en-US" altLang="en-US" sz="1800"/>
          </a:p>
        </p:txBody>
      </p:sp>
      <p:sp>
        <p:nvSpPr>
          <p:cNvPr id="80900" name="Google Shape;500;p35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0901" name="Google Shape;501;p35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0902" name="Google Shape;502;p35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Google Shape;510;p3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32EEFC2-1F6D-402E-B852-325249F1F5F3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35</a:t>
            </a:fld>
            <a:endParaRPr lang="en-US" altLang="en-US" sz="1800"/>
          </a:p>
        </p:txBody>
      </p:sp>
      <p:sp>
        <p:nvSpPr>
          <p:cNvPr id="81923" name="Google Shape;511;p3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9FB3A7B-6E24-4B50-A8C3-A3620B0D1FBC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35</a:t>
            </a:fld>
            <a:endParaRPr lang="en-US" altLang="en-US" sz="1800"/>
          </a:p>
        </p:txBody>
      </p:sp>
      <p:sp>
        <p:nvSpPr>
          <p:cNvPr id="81924" name="Google Shape;512;p3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1925" name="Google Shape;513;p3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1926" name="Google Shape;514;p3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Google Shape;510;p36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332EEFC2-1F6D-402E-B852-325249F1F5F3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36</a:t>
            </a:fld>
            <a:endParaRPr lang="en-US" altLang="en-US" sz="1800"/>
          </a:p>
        </p:txBody>
      </p:sp>
      <p:sp>
        <p:nvSpPr>
          <p:cNvPr id="81923" name="Google Shape;511;p36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9FB3A7B-6E24-4B50-A8C3-A3620B0D1FBC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36</a:t>
            </a:fld>
            <a:endParaRPr lang="en-US" altLang="en-US" sz="1800"/>
          </a:p>
        </p:txBody>
      </p:sp>
      <p:sp>
        <p:nvSpPr>
          <p:cNvPr id="81924" name="Google Shape;512;p36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1925" name="Google Shape;513;p36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1926" name="Google Shape;514;p36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Google Shape;522;p3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BAF5AE5-6A62-4A9A-94E5-0975DBB1B72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37</a:t>
            </a:fld>
            <a:endParaRPr lang="en-US" altLang="en-US" sz="1800"/>
          </a:p>
        </p:txBody>
      </p:sp>
      <p:sp>
        <p:nvSpPr>
          <p:cNvPr id="82947" name="Google Shape;523;p3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8EB4EA3-78F1-476D-B2F5-193C54FB59D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37</a:t>
            </a:fld>
            <a:endParaRPr lang="en-US" altLang="en-US" sz="1800"/>
          </a:p>
        </p:txBody>
      </p:sp>
      <p:sp>
        <p:nvSpPr>
          <p:cNvPr id="82948" name="Google Shape;524;p3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2949" name="Google Shape;525;p3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2950" name="Google Shape;526;p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Google Shape;522;p37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BAF5AE5-6A62-4A9A-94E5-0975DBB1B727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38</a:t>
            </a:fld>
            <a:endParaRPr lang="en-US" altLang="en-US" sz="1800"/>
          </a:p>
        </p:txBody>
      </p:sp>
      <p:sp>
        <p:nvSpPr>
          <p:cNvPr id="82947" name="Google Shape;523;p37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68EB4EA3-78F1-476D-B2F5-193C54FB59D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38</a:t>
            </a:fld>
            <a:endParaRPr lang="en-US" altLang="en-US" sz="1800"/>
          </a:p>
        </p:txBody>
      </p:sp>
      <p:sp>
        <p:nvSpPr>
          <p:cNvPr id="82948" name="Google Shape;524;p37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2949" name="Google Shape;525;p37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2950" name="Google Shape;526;p37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Google Shape;546;p39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4B2F813F-2590-4168-89A9-BD3754F191A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39</a:t>
            </a:fld>
            <a:endParaRPr lang="en-US" altLang="en-US" sz="1800"/>
          </a:p>
        </p:txBody>
      </p:sp>
      <p:sp>
        <p:nvSpPr>
          <p:cNvPr id="84995" name="Google Shape;547;p39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C11658CD-8773-4F1B-AD60-A8BC9D6F22AA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39</a:t>
            </a:fld>
            <a:endParaRPr lang="en-US" altLang="en-US" sz="1800"/>
          </a:p>
        </p:txBody>
      </p:sp>
      <p:sp>
        <p:nvSpPr>
          <p:cNvPr id="84996" name="Google Shape;548;p39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4997" name="Google Shape;549;p39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4998" name="Google Shape;550;p39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Google Shape;449;p3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13E256B-CC5C-48C3-9107-D4ECBC49F11B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40</a:t>
            </a:fld>
            <a:endParaRPr lang="en-US" altLang="en-US" sz="1800"/>
          </a:p>
        </p:txBody>
      </p:sp>
      <p:sp>
        <p:nvSpPr>
          <p:cNvPr id="76803" name="Google Shape;450;p3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89FF8900-66F8-4EDE-8A85-572ADB0C931C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40</a:t>
            </a:fld>
            <a:endParaRPr lang="en-US" altLang="en-US" sz="1800"/>
          </a:p>
        </p:txBody>
      </p:sp>
      <p:sp>
        <p:nvSpPr>
          <p:cNvPr id="76804" name="Google Shape;451;p3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6805" name="Google Shape;452;p3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6806" name="Google Shape;453;p3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41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41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42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42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43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43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44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44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45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45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Google Shape;473;p33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377FF2-440C-4788-B666-CB307976B8A5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46</a:t>
            </a:fld>
            <a:endParaRPr lang="en-US" altLang="en-US" sz="1800"/>
          </a:p>
        </p:txBody>
      </p:sp>
      <p:sp>
        <p:nvSpPr>
          <p:cNvPr id="78851" name="Google Shape;474;p33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22076DF7-0EDC-447A-95C2-3EFE8BF015F6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46</a:t>
            </a:fld>
            <a:endParaRPr lang="en-US" altLang="en-US" sz="1800"/>
          </a:p>
        </p:txBody>
      </p:sp>
      <p:sp>
        <p:nvSpPr>
          <p:cNvPr id="78852" name="Google Shape;475;p33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78853" name="Google Shape;476;p33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78854" name="Google Shape;477;p33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Google Shape;570;p41:notes"/>
          <p:cNvSpPr>
            <a:spLocks noChangeArrowheads="1"/>
          </p:cNvSpPr>
          <p:nvPr/>
        </p:nvSpPr>
        <p:spPr bwMode="auto">
          <a:xfrm>
            <a:off x="4017963" y="9721850"/>
            <a:ext cx="3054350" cy="484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A6E8674D-37F6-4A4A-A26C-034D9FD2AAE0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47</a:t>
            </a:fld>
            <a:endParaRPr lang="en-US" altLang="en-US" sz="1800"/>
          </a:p>
        </p:txBody>
      </p:sp>
      <p:sp>
        <p:nvSpPr>
          <p:cNvPr id="86019" name="Google Shape;571;p41:notes"/>
          <p:cNvSpPr>
            <a:spLocks noChangeArrowheads="1"/>
          </p:cNvSpPr>
          <p:nvPr/>
        </p:nvSpPr>
        <p:spPr bwMode="auto">
          <a:xfrm>
            <a:off x="4017963" y="9721850"/>
            <a:ext cx="3057525" cy="487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93000"/>
              </a:lnSpc>
              <a:buClr>
                <a:srgbClr val="000000"/>
              </a:buClr>
              <a:buSzPts val="1400"/>
              <a:buFont typeface="Arial" charset="0"/>
              <a:buNone/>
            </a:pPr>
            <a:fld id="{D3F9CE52-6C00-4748-BE0A-B6FB41FF3714}" type="slidenum">
              <a:rPr lang="en-US" altLang="en-US">
                <a:latin typeface="Times New Roman" pitchFamily="18" charset="0"/>
                <a:cs typeface="Times New Roman" pitchFamily="18" charset="0"/>
                <a:sym typeface="Times New Roman" pitchFamily="18" charset="0"/>
              </a:rPr>
              <a:pPr algn="r" eaLnBrk="1" hangingPunct="1">
                <a:lnSpc>
                  <a:spcPct val="93000"/>
                </a:lnSpc>
                <a:buClr>
                  <a:srgbClr val="000000"/>
                </a:buClr>
                <a:buSzPts val="1400"/>
                <a:buFont typeface="Arial" charset="0"/>
                <a:buNone/>
              </a:pPr>
              <a:t>47</a:t>
            </a:fld>
            <a:endParaRPr lang="en-US" altLang="en-US" sz="1800"/>
          </a:p>
        </p:txBody>
      </p:sp>
      <p:sp>
        <p:nvSpPr>
          <p:cNvPr id="86020" name="Google Shape;572;p41:notes"/>
          <p:cNvSpPr>
            <a:spLocks noChangeArrowheads="1"/>
          </p:cNvSpPr>
          <p:nvPr/>
        </p:nvSpPr>
        <p:spPr bwMode="auto">
          <a:xfrm>
            <a:off x="711200" y="4860925"/>
            <a:ext cx="5665788" cy="4591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400"/>
              <a:buFont typeface="Arial" charset="0"/>
              <a:buNone/>
            </a:pPr>
            <a:endParaRPr lang="en-US" altLang="en-US"/>
          </a:p>
        </p:txBody>
      </p:sp>
      <p:sp>
        <p:nvSpPr>
          <p:cNvPr id="86021" name="Google Shape;573;p41:notes"/>
          <p:cNvSpPr txBox="1">
            <a:spLocks noGrp="1"/>
          </p:cNvSpPr>
          <p:nvPr>
            <p:ph type="body" idx="1"/>
          </p:nvPr>
        </p:nvSpPr>
        <p:spPr>
          <a:xfrm>
            <a:off x="711200" y="4860925"/>
            <a:ext cx="5649913" cy="4576763"/>
          </a:xfrm>
          <a:noFill/>
        </p:spPr>
        <p:txBody>
          <a:bodyPr lIns="0" tIns="0" rIns="0" bIns="0"/>
          <a:lstStyle/>
          <a:p>
            <a:pPr marL="0" indent="0">
              <a:buSzPts val="1100"/>
            </a:pPr>
            <a:endParaRPr lang="en-US" altLang="en-US">
              <a:latin typeface="Arial" charset="0"/>
              <a:cs typeface="Arial" charset="0"/>
            </a:endParaRPr>
          </a:p>
        </p:txBody>
      </p:sp>
      <p:sp>
        <p:nvSpPr>
          <p:cNvPr id="86022" name="Google Shape;574;p4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992188" y="768350"/>
            <a:ext cx="5114925" cy="3836988"/>
          </a:xfrm>
          <a:custGeom>
            <a:avLst/>
            <a:gdLst>
              <a:gd name="T0" fmla="*/ 0 w 120000"/>
              <a:gd name="T1" fmla="*/ 0 h 120000"/>
              <a:gd name="T2" fmla="*/ 120000 w 120000"/>
              <a:gd name="T3" fmla="*/ 120000 h 120000"/>
            </a:gdLst>
            <a:ahLst/>
            <a:cxnLst/>
            <a:rect l="T0" t="T1" r="T2" b="T3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>
            <a:miter lim="800000"/>
            <a:headEnd/>
            <a:tailEnd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56047" y="2348401"/>
            <a:ext cx="8568531" cy="162043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12094" y="4283817"/>
            <a:ext cx="7056438" cy="1931917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03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0783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1175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01567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51959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02351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52743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0313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67ED3CB-9A96-4C97-A5AE-3EC58E893E8E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B2599F-0C87-436E-A513-9D313ED452F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8405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BDDDEA-FBF0-4622-8B06-1D78BA6F6D0E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3FE59FC-9D31-4EDB-B851-6F6DBFE08A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0968057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300" y="4857793"/>
            <a:ext cx="8568531" cy="1501435"/>
          </a:xfrm>
        </p:spPr>
        <p:txBody>
          <a:bodyPr anchor="t"/>
          <a:lstStyle>
            <a:lvl1pPr algn="l">
              <a:defRPr sz="44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96300" y="3204115"/>
            <a:ext cx="8568531" cy="1653678"/>
          </a:xfrm>
        </p:spPr>
        <p:txBody>
          <a:bodyPr anchor="b"/>
          <a:lstStyle>
            <a:lvl1pPr marL="0" indent="0">
              <a:buNone/>
              <a:defRPr sz="2200">
                <a:solidFill>
                  <a:schemeClr val="tx1">
                    <a:tint val="75000"/>
                  </a:schemeClr>
                </a:solidFill>
              </a:defRPr>
            </a:lvl1pPr>
            <a:lvl2pPr marL="50392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100783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11758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4pPr>
            <a:lvl5pPr marL="201567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5pPr>
            <a:lvl6pPr marL="2519597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6pPr>
            <a:lvl7pPr marL="302351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7pPr>
            <a:lvl8pPr marL="3527435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8pPr>
            <a:lvl9pPr marL="4031354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8C2E64-DC39-42B6-A567-3BEDFE563F53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F4C114-F3DB-4BCB-B982-B6FF9B6CE54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694007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54787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40602" y="1944167"/>
            <a:ext cx="4917805" cy="5500013"/>
          </a:xfrm>
        </p:spPr>
        <p:txBody>
          <a:bodyPr/>
          <a:lstStyle>
            <a:lvl1pPr>
              <a:defRPr sz="3100"/>
            </a:lvl1pPr>
            <a:lvl2pPr>
              <a:defRPr sz="2600"/>
            </a:lvl2pPr>
            <a:lvl3pPr>
              <a:defRPr sz="22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0FEF0AF-6B42-4F78-9687-1284050572E9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6026165-EC56-4C79-9EAD-34A69AB9984C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658310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1" y="302737"/>
            <a:ext cx="9072563" cy="1259946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04031" y="1692179"/>
            <a:ext cx="4454027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4031" y="2397397"/>
            <a:ext cx="4454027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120818" y="1692179"/>
            <a:ext cx="4455776" cy="705219"/>
          </a:xfrm>
        </p:spPr>
        <p:txBody>
          <a:bodyPr anchor="b"/>
          <a:lstStyle>
            <a:lvl1pPr marL="0" indent="0">
              <a:buNone/>
              <a:defRPr sz="2600" b="1"/>
            </a:lvl1pPr>
            <a:lvl2pPr marL="503920" indent="0">
              <a:buNone/>
              <a:defRPr sz="2200" b="1"/>
            </a:lvl2pPr>
            <a:lvl3pPr marL="1007838" indent="0">
              <a:buNone/>
              <a:defRPr sz="2000" b="1"/>
            </a:lvl3pPr>
            <a:lvl4pPr marL="1511758" indent="0">
              <a:buNone/>
              <a:defRPr sz="1800" b="1"/>
            </a:lvl4pPr>
            <a:lvl5pPr marL="2015677" indent="0">
              <a:buNone/>
              <a:defRPr sz="1800" b="1"/>
            </a:lvl5pPr>
            <a:lvl6pPr marL="2519597" indent="0">
              <a:buNone/>
              <a:defRPr sz="1800" b="1"/>
            </a:lvl6pPr>
            <a:lvl7pPr marL="3023515" indent="0">
              <a:buNone/>
              <a:defRPr sz="1800" b="1"/>
            </a:lvl7pPr>
            <a:lvl8pPr marL="3527435" indent="0">
              <a:buNone/>
              <a:defRPr sz="1800" b="1"/>
            </a:lvl8pPr>
            <a:lvl9pPr marL="4031354" indent="0">
              <a:buNone/>
              <a:defRPr sz="18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120818" y="2397397"/>
            <a:ext cx="4455776" cy="4355563"/>
          </a:xfrm>
        </p:spPr>
        <p:txBody>
          <a:bodyPr/>
          <a:lstStyle>
            <a:lvl1pPr>
              <a:defRPr sz="26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FDDC29-DF63-4305-A245-8F1F23F23862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B005349-85F5-47FC-A755-54D4ECEDB21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7785867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737A6AC-9276-425D-B94F-58EC46723956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0A978-9660-4523-A933-F33753B68F7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2343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EFD6101-E5BE-446F-8DBE-81C15259F094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00F184-706B-4E82-B201-7EE7C8E084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7094061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4033" y="300987"/>
            <a:ext cx="3316456" cy="1280945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246" y="300989"/>
            <a:ext cx="5635349" cy="6451973"/>
          </a:xfrm>
        </p:spPr>
        <p:txBody>
          <a:bodyPr/>
          <a:lstStyle>
            <a:lvl1pPr>
              <a:defRPr sz="3500"/>
            </a:lvl1pPr>
            <a:lvl2pPr>
              <a:defRPr sz="3100"/>
            </a:lvl2pPr>
            <a:lvl3pPr>
              <a:defRPr sz="2600"/>
            </a:lvl3pPr>
            <a:lvl4pPr>
              <a:defRPr sz="2200"/>
            </a:lvl4pPr>
            <a:lvl5pPr>
              <a:defRPr sz="2200"/>
            </a:lvl5pPr>
            <a:lvl6pPr>
              <a:defRPr sz="2200"/>
            </a:lvl6pPr>
            <a:lvl7pPr>
              <a:defRPr sz="2200"/>
            </a:lvl7pPr>
            <a:lvl8pPr>
              <a:defRPr sz="2200"/>
            </a:lvl8pPr>
            <a:lvl9pPr>
              <a:defRPr sz="2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04033" y="1581934"/>
            <a:ext cx="3316456" cy="5171028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8E92B6E-294D-42A8-A633-20199D3ABF7B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49E065-85FE-4BBF-B7DE-79F59671CA1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758687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5873" y="5291772"/>
            <a:ext cx="6048375" cy="624724"/>
          </a:xfrm>
        </p:spPr>
        <p:txBody>
          <a:bodyPr anchor="b"/>
          <a:lstStyle>
            <a:lvl1pPr algn="l">
              <a:defRPr sz="22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975873" y="675471"/>
            <a:ext cx="6048375" cy="4535805"/>
          </a:xfrm>
        </p:spPr>
        <p:txBody>
          <a:bodyPr rtlCol="0">
            <a:normAutofit/>
          </a:bodyPr>
          <a:lstStyle>
            <a:lvl1pPr marL="0" indent="0">
              <a:buNone/>
              <a:defRPr sz="3500"/>
            </a:lvl1pPr>
            <a:lvl2pPr marL="503920" indent="0">
              <a:buNone/>
              <a:defRPr sz="3100"/>
            </a:lvl2pPr>
            <a:lvl3pPr marL="1007838" indent="0">
              <a:buNone/>
              <a:defRPr sz="2600"/>
            </a:lvl3pPr>
            <a:lvl4pPr marL="1511758" indent="0">
              <a:buNone/>
              <a:defRPr sz="2200"/>
            </a:lvl4pPr>
            <a:lvl5pPr marL="2015677" indent="0">
              <a:buNone/>
              <a:defRPr sz="2200"/>
            </a:lvl5pPr>
            <a:lvl6pPr marL="2519597" indent="0">
              <a:buNone/>
              <a:defRPr sz="2200"/>
            </a:lvl6pPr>
            <a:lvl7pPr marL="3023515" indent="0">
              <a:buNone/>
              <a:defRPr sz="2200"/>
            </a:lvl7pPr>
            <a:lvl8pPr marL="3527435" indent="0">
              <a:buNone/>
              <a:defRPr sz="2200"/>
            </a:lvl8pPr>
            <a:lvl9pPr marL="4031354" indent="0">
              <a:buNone/>
              <a:defRPr sz="22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75873" y="5916496"/>
            <a:ext cx="6048375" cy="887211"/>
          </a:xfrm>
        </p:spPr>
        <p:txBody>
          <a:bodyPr/>
          <a:lstStyle>
            <a:lvl1pPr marL="0" indent="0">
              <a:buNone/>
              <a:defRPr sz="1500"/>
            </a:lvl1pPr>
            <a:lvl2pPr marL="503920" indent="0">
              <a:buNone/>
              <a:defRPr sz="1300"/>
            </a:lvl2pPr>
            <a:lvl3pPr marL="1007838" indent="0">
              <a:buNone/>
              <a:defRPr sz="1100"/>
            </a:lvl3pPr>
            <a:lvl4pPr marL="1511758" indent="0">
              <a:buNone/>
              <a:defRPr sz="1000"/>
            </a:lvl4pPr>
            <a:lvl5pPr marL="2015677" indent="0">
              <a:buNone/>
              <a:defRPr sz="1000"/>
            </a:lvl5pPr>
            <a:lvl6pPr marL="2519597" indent="0">
              <a:buNone/>
              <a:defRPr sz="1000"/>
            </a:lvl6pPr>
            <a:lvl7pPr marL="3023515" indent="0">
              <a:buNone/>
              <a:defRPr sz="1000"/>
            </a:lvl7pPr>
            <a:lvl8pPr marL="3527435" indent="0">
              <a:buNone/>
              <a:defRPr sz="1000"/>
            </a:lvl8pPr>
            <a:lvl9pPr marL="4031354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0ADF1B0-AB13-4673-87A4-37E129254156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0B4816-4435-4D0D-9383-1B104B73373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50148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84E5A0-74EF-454D-9270-292CD7EB9DF4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CF32F80-0356-439F-B35C-8EC8C1D797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142953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057499" y="334236"/>
            <a:ext cx="2500906" cy="71099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54785" y="334236"/>
            <a:ext cx="7334704" cy="71099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542B25C-CD1D-4D8C-BF74-B5305CD3D459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1E4856-1CFB-40CD-BCCA-DA9ADD32590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7251399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503238" y="303213"/>
            <a:ext cx="9074150" cy="1258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83" tIns="50392" rIns="100783" bIns="50392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503238" y="1763713"/>
            <a:ext cx="9074150" cy="49895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00783" tIns="50392" rIns="100783" bIns="5039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03238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fld id="{21CEDA62-917C-44D1-993A-15D8AE0A6DC4}" type="datetimeFigureOut">
              <a:rPr lang="en-US"/>
              <a:pPr>
                <a:defRPr/>
              </a:pPr>
              <a:t>5/18/2026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44875" y="7007225"/>
            <a:ext cx="31908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224713" y="7007225"/>
            <a:ext cx="2352675" cy="401638"/>
          </a:xfrm>
          <a:prstGeom prst="rect">
            <a:avLst/>
          </a:prstGeom>
        </p:spPr>
        <p:txBody>
          <a:bodyPr vert="horz" lIns="100783" tIns="50392" rIns="100783" bIns="50392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  <a:defRPr sz="1300" kern="0">
                <a:solidFill>
                  <a:schemeClr val="tx1">
                    <a:tint val="75000"/>
                  </a:schemeClr>
                </a:solidFill>
                <a:latin typeface="Arial"/>
                <a:ea typeface="Arial"/>
                <a:cs typeface="Arial"/>
                <a:sym typeface="Arial"/>
              </a:defRPr>
            </a:lvl1pPr>
          </a:lstStyle>
          <a:p>
            <a:pPr>
              <a:defRPr/>
            </a:pPr>
            <a:fld id="{3C8CB0E5-B145-4D6B-849E-386D3226D0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hf sldNum="0" hdr="0" ftr="0" dt="0"/>
  <p:txStyles>
    <p:titleStyle>
      <a:lvl1pPr algn="ctr" defTabSz="1006475" rtl="0" eaLnBrk="0" fontAlgn="base" hangingPunct="0">
        <a:spcBef>
          <a:spcPct val="0"/>
        </a:spcBef>
        <a:spcAft>
          <a:spcPct val="0"/>
        </a:spcAft>
        <a:defRPr sz="49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2pPr>
      <a:lvl3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3pPr>
      <a:lvl4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4pPr>
      <a:lvl5pPr algn="ctr" defTabSz="1006475" rtl="0" eaLnBrk="0" fontAlgn="base" hangingPunct="0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5pPr>
      <a:lvl6pPr marL="4572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6pPr>
      <a:lvl7pPr marL="9144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7pPr>
      <a:lvl8pPr marL="13716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8pPr>
      <a:lvl9pPr marL="1828800" algn="ctr" defTabSz="1006475" rtl="0" fontAlgn="base">
        <a:spcBef>
          <a:spcPct val="0"/>
        </a:spcBef>
        <a:spcAft>
          <a:spcPct val="0"/>
        </a:spcAft>
        <a:defRPr sz="4900">
          <a:solidFill>
            <a:schemeClr val="tx1"/>
          </a:solidFill>
          <a:latin typeface="Calibri" pitchFamily="34" charset="0"/>
        </a:defRPr>
      </a:lvl9pPr>
    </p:titleStyle>
    <p:bodyStyle>
      <a:lvl1pPr marL="377825" indent="-377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500" kern="1200">
          <a:solidFill>
            <a:schemeClr val="tx1"/>
          </a:solidFill>
          <a:latin typeface="+mn-lt"/>
          <a:ea typeface="+mn-ea"/>
          <a:cs typeface="+mn-cs"/>
        </a:defRPr>
      </a:lvl1pPr>
      <a:lvl2pPr marL="817563" indent="-3143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100" kern="1200">
          <a:solidFill>
            <a:schemeClr val="tx1"/>
          </a:solidFill>
          <a:latin typeface="+mn-lt"/>
          <a:ea typeface="+mn-ea"/>
          <a:cs typeface="+mn-cs"/>
        </a:defRPr>
      </a:lvl2pPr>
      <a:lvl3pPr marL="1258888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63713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2266950" indent="-250825" algn="l" defTabSz="1006475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200" kern="1200">
          <a:solidFill>
            <a:schemeClr val="tx1"/>
          </a:solidFill>
          <a:latin typeface="+mn-lt"/>
          <a:ea typeface="+mn-ea"/>
          <a:cs typeface="+mn-cs"/>
        </a:defRPr>
      </a:lvl5pPr>
      <a:lvl6pPr marL="2771557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6pPr>
      <a:lvl7pPr marL="3275476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7pPr>
      <a:lvl8pPr marL="3779395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8pPr>
      <a:lvl9pPr marL="4283314" indent="-251960" algn="l" defTabSz="1007838" rtl="0" eaLnBrk="1" latinLnBrk="0" hangingPunct="1">
        <a:spcBef>
          <a:spcPct val="20000"/>
        </a:spcBef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503920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783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511758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1567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9597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2351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527435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031354" algn="l" defTabSz="1007838" rtl="0" eaLnBrk="1" latinLnBrk="0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en.wikipedia.org/wiki/Interface_segregation_principle" TargetMode="External"/><Relationship Id="rId3" Type="http://schemas.openxmlformats.org/officeDocument/2006/relationships/image" Target="../media/image1.jpeg"/><Relationship Id="rId7" Type="http://schemas.openxmlformats.org/officeDocument/2006/relationships/hyperlink" Target="https://en.wikipedia.org/wiki/Liskov_substitution_principle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en.wikipedia.org/wiki/Open%E2%80%93closed_principle" TargetMode="External"/><Relationship Id="rId5" Type="http://schemas.openxmlformats.org/officeDocument/2006/relationships/hyperlink" Target="https://en.wikipedia.org/wiki/Class_(computer_programming)" TargetMode="External"/><Relationship Id="rId4" Type="http://schemas.openxmlformats.org/officeDocument/2006/relationships/hyperlink" Target="https://en.wikipedia.org/wiki/Single-responsibility_principle" TargetMode="External"/><Relationship Id="rId9" Type="http://schemas.openxmlformats.org/officeDocument/2006/relationships/hyperlink" Target="https://en.wikipedia.org/wiki/Dependency_inversion_principle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Google Shape;67;p1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en-US" altLang="en-US" sz="1800" b="1"/>
              <a:t>Facultatea de Matematic</a:t>
            </a:r>
            <a:r>
              <a:rPr lang="vi-VN" altLang="en-US" sz="1800" b="1"/>
              <a:t>ă</a:t>
            </a:r>
            <a:r>
              <a:rPr lang="en-US" altLang="en-US" sz="1800" b="1"/>
              <a:t> şi Informatic</a:t>
            </a:r>
            <a:r>
              <a:rPr lang="vi-VN" altLang="en-US" sz="1800" b="1"/>
              <a:t>ă</a:t>
            </a:r>
            <a:r>
              <a:rPr lang="en-US" altLang="en-US" sz="1800" b="1"/>
              <a:t> Universitatea din Bucureşti</a:t>
            </a:r>
            <a:endParaRPr lang="en-US" altLang="en-US" sz="1800"/>
          </a:p>
        </p:txBody>
      </p:sp>
      <p:pic>
        <p:nvPicPr>
          <p:cNvPr id="2051" name="Google Shape;68;p1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3" name="Google Shape;71;p14"/>
          <p:cNvSpPr>
            <a:spLocks noChangeArrowheads="1"/>
          </p:cNvSpPr>
          <p:nvPr/>
        </p:nvSpPr>
        <p:spPr bwMode="auto">
          <a:xfrm>
            <a:off x="968375" y="1847850"/>
            <a:ext cx="8393113" cy="1481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239025" rIns="0" bIns="0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lnSpc>
                <a:spcPct val="72000"/>
              </a:lnSpc>
              <a:buClr>
                <a:srgbClr val="000000"/>
              </a:buClr>
              <a:buSzPts val="4000"/>
              <a:buFont typeface="Arial" charset="0"/>
              <a:buNone/>
            </a:pPr>
            <a:r>
              <a:rPr lang="en-US" altLang="en-US" sz="4000" b="1"/>
              <a:t>Programare orientat</a:t>
            </a:r>
            <a:r>
              <a:rPr lang="vi-VN" altLang="en-US" sz="4000" b="1"/>
              <a:t>ă</a:t>
            </a:r>
            <a:r>
              <a:rPr lang="en-US" altLang="en-US" sz="4000" b="1"/>
              <a:t> pe obiecte</a:t>
            </a:r>
            <a:endParaRPr lang="en-US" altLang="en-US" sz="1800"/>
          </a:p>
          <a:p>
            <a:pPr algn="ctr" eaLnBrk="1" hangingPunct="1">
              <a:lnSpc>
                <a:spcPct val="72000"/>
              </a:lnSpc>
              <a:buClr>
                <a:srgbClr val="000000"/>
              </a:buClr>
              <a:buSzPts val="1800"/>
              <a:buFont typeface="Arial" charset="0"/>
              <a:buNone/>
            </a:pPr>
            <a:endParaRPr lang="en-US" altLang="en-US" sz="1800"/>
          </a:p>
          <a:p>
            <a:pPr algn="ctr" eaLnBrk="1" hangingPunct="1">
              <a:lnSpc>
                <a:spcPct val="72000"/>
              </a:lnSpc>
              <a:buClr>
                <a:srgbClr val="000000"/>
              </a:buClr>
              <a:buSzPts val="2600"/>
              <a:buFont typeface="Arial" charset="0"/>
              <a:buNone/>
            </a:pPr>
            <a:r>
              <a:rPr lang="en-US" altLang="en-US" sz="2600" b="1"/>
              <a:t>- suport de curs -</a:t>
            </a:r>
            <a:endParaRPr lang="en-US" altLang="en-US" sz="1800"/>
          </a:p>
        </p:txBody>
      </p:sp>
      <p:sp>
        <p:nvSpPr>
          <p:cNvPr id="2054" name="Google Shape;126;p27"/>
          <p:cNvSpPr>
            <a:spLocks noChangeArrowheads="1"/>
          </p:cNvSpPr>
          <p:nvPr/>
        </p:nvSpPr>
        <p:spPr bwMode="auto">
          <a:xfrm>
            <a:off x="228600" y="3733800"/>
            <a:ext cx="3449638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lnSpc>
                <a:spcPct val="104000"/>
              </a:lnSpc>
              <a:buClr>
                <a:srgbClr val="000000"/>
              </a:buClr>
            </a:pPr>
            <a:r>
              <a:rPr lang="ro-RO" altLang="ro-RO" sz="2600" b="1"/>
              <a:t>Andrei Păun</a:t>
            </a:r>
          </a:p>
          <a:p>
            <a:pPr algn="ctr" eaLnBrk="1" hangingPunct="1">
              <a:lnSpc>
                <a:spcPct val="104000"/>
              </a:lnSpc>
              <a:buClr>
                <a:srgbClr val="000000"/>
              </a:buClr>
            </a:pPr>
            <a:r>
              <a:rPr lang="en-US" altLang="en-US" sz="2600" b="1"/>
              <a:t>Anca Dobrov</a:t>
            </a:r>
            <a:r>
              <a:rPr lang="ro-RO" altLang="ro-RO" sz="2600" b="1"/>
              <a:t>ăț</a:t>
            </a:r>
            <a:endParaRPr lang="ro-RO" altLang="en-US" sz="1800"/>
          </a:p>
        </p:txBody>
      </p:sp>
      <p:sp>
        <p:nvSpPr>
          <p:cNvPr id="2055" name="Google Shape;129;p27"/>
          <p:cNvSpPr txBox="1">
            <a:spLocks noChangeArrowheads="1"/>
          </p:cNvSpPr>
          <p:nvPr/>
        </p:nvSpPr>
        <p:spPr bwMode="auto">
          <a:xfrm>
            <a:off x="3052763" y="4999038"/>
            <a:ext cx="4044950" cy="1633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lnSpc>
                <a:spcPct val="104000"/>
              </a:lnSpc>
              <a:buClr>
                <a:srgbClr val="000000"/>
              </a:buClr>
              <a:buSzPts val="2400"/>
              <a:buFont typeface="Arial" charset="0"/>
              <a:buNone/>
            </a:pPr>
            <a:r>
              <a:rPr lang="en-US" altLang="en-US" sz="2000" b="1" dirty="0">
                <a:latin typeface="Calibri" pitchFamily="34" charset="0"/>
              </a:rPr>
              <a:t>An </a:t>
            </a:r>
            <a:r>
              <a:rPr lang="en-US" altLang="en-US" sz="2000" b="1" dirty="0" err="1">
                <a:latin typeface="Calibri" pitchFamily="34" charset="0"/>
              </a:rPr>
              <a:t>universitar</a:t>
            </a:r>
            <a:r>
              <a:rPr lang="en-US" altLang="en-US" sz="2000" b="1" dirty="0">
                <a:latin typeface="Calibri" pitchFamily="34" charset="0"/>
              </a:rPr>
              <a:t> </a:t>
            </a:r>
            <a:r>
              <a:rPr lang="en-US" altLang="en-US" sz="2000" b="1" dirty="0" smtClean="0">
                <a:latin typeface="Calibri" pitchFamily="34" charset="0"/>
              </a:rPr>
              <a:t>2025 </a:t>
            </a:r>
            <a:r>
              <a:rPr lang="en-US" altLang="en-US" sz="2000" b="1" dirty="0">
                <a:latin typeface="Calibri" pitchFamily="34" charset="0"/>
              </a:rPr>
              <a:t>– </a:t>
            </a:r>
            <a:r>
              <a:rPr lang="en-US" altLang="en-US" sz="2000" b="1" dirty="0" smtClean="0">
                <a:latin typeface="Calibri" pitchFamily="34" charset="0"/>
              </a:rPr>
              <a:t>2026</a:t>
            </a:r>
            <a:endParaRPr lang="en-US" altLang="en-US" sz="2000" dirty="0">
              <a:latin typeface="Calibri" pitchFamily="34" charset="0"/>
            </a:endParaRPr>
          </a:p>
          <a:p>
            <a:pPr algn="ctr" eaLnBrk="1" hangingPunct="1">
              <a:lnSpc>
                <a:spcPct val="104000"/>
              </a:lnSpc>
              <a:buClr>
                <a:srgbClr val="000000"/>
              </a:buClr>
              <a:buSzPts val="2400"/>
              <a:buFont typeface="Arial" charset="0"/>
              <a:buNone/>
            </a:pPr>
            <a:r>
              <a:rPr lang="en-US" altLang="en-US" sz="2000" b="1" dirty="0" err="1">
                <a:latin typeface="Calibri" pitchFamily="34" charset="0"/>
              </a:rPr>
              <a:t>Semestrul</a:t>
            </a:r>
            <a:r>
              <a:rPr lang="en-US" altLang="en-US" sz="2000" b="1" dirty="0">
                <a:latin typeface="Calibri" pitchFamily="34" charset="0"/>
              </a:rPr>
              <a:t> </a:t>
            </a:r>
            <a:r>
              <a:rPr lang="en-US" altLang="en-US" sz="2000" b="1" dirty="0" smtClean="0">
                <a:latin typeface="Calibri" pitchFamily="34" charset="0"/>
              </a:rPr>
              <a:t>II</a:t>
            </a:r>
            <a:endParaRPr lang="en-US" altLang="en-US" sz="2000" dirty="0">
              <a:latin typeface="Calibri" pitchFamily="34" charset="0"/>
            </a:endParaRPr>
          </a:p>
          <a:p>
            <a:pPr algn="ctr" eaLnBrk="1" hangingPunct="1">
              <a:lnSpc>
                <a:spcPct val="104000"/>
              </a:lnSpc>
              <a:buClr>
                <a:srgbClr val="000000"/>
              </a:buClr>
              <a:buSzPts val="2400"/>
            </a:pPr>
            <a:r>
              <a:rPr lang="en-US" altLang="en-US" sz="2000" b="1" dirty="0" err="1" smtClean="0">
                <a:latin typeface="Calibri" pitchFamily="34" charset="0"/>
              </a:rPr>
              <a:t>Seriile</a:t>
            </a:r>
            <a:r>
              <a:rPr lang="en-US" altLang="en-US" sz="2000" b="1" dirty="0" smtClean="0">
                <a:latin typeface="Calibri" pitchFamily="34" charset="0"/>
              </a:rPr>
              <a:t> 13, 14, 15</a:t>
            </a:r>
            <a:endParaRPr lang="en-US" altLang="en-US" sz="2000" b="1" dirty="0">
              <a:latin typeface="Calibri" pitchFamily="34" charset="0"/>
            </a:endParaRPr>
          </a:p>
          <a:p>
            <a:pPr algn="ctr" eaLnBrk="1" hangingPunct="1">
              <a:lnSpc>
                <a:spcPct val="104000"/>
              </a:lnSpc>
              <a:buClr>
                <a:srgbClr val="FFFFFF"/>
              </a:buClr>
              <a:buSzPts val="2400"/>
              <a:buFont typeface="Arial" charset="0"/>
              <a:buNone/>
            </a:pPr>
            <a:endParaRPr lang="en-US" altLang="en-US" sz="2000" b="1" dirty="0">
              <a:latin typeface="Calibri" pitchFamily="34" charset="0"/>
            </a:endParaRPr>
          </a:p>
          <a:p>
            <a:pPr algn="ctr" eaLnBrk="1" hangingPunct="1">
              <a:lnSpc>
                <a:spcPct val="104000"/>
              </a:lnSpc>
              <a:buClr>
                <a:srgbClr val="000000"/>
              </a:buClr>
              <a:buSzPts val="2400"/>
              <a:buFont typeface="Arial" charset="0"/>
              <a:buNone/>
            </a:pPr>
            <a:r>
              <a:rPr lang="en-US" altLang="en-US" sz="2000" b="1" dirty="0">
                <a:latin typeface="Calibri" pitchFamily="34" charset="0"/>
              </a:rPr>
              <a:t>Curs 12</a:t>
            </a:r>
            <a:endParaRPr lang="en-US" altLang="en-US" sz="2000" dirty="0">
              <a:latin typeface="Calibri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Google Shape;80;p15"/>
          <p:cNvSpPr>
            <a:spLocks noChangeArrowheads="1"/>
          </p:cNvSpPr>
          <p:nvPr/>
        </p:nvSpPr>
        <p:spPr bwMode="auto">
          <a:xfrm>
            <a:off x="9532938" y="7062788"/>
            <a:ext cx="40005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CA3DFDD-15FD-4B2B-811B-9526DE67D825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</a:t>
            </a:fld>
            <a:endParaRPr lang="en-US" altLang="en-US" sz="1800"/>
          </a:p>
        </p:txBody>
      </p:sp>
      <p:sp>
        <p:nvSpPr>
          <p:cNvPr id="3075" name="Google Shape;81;p15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076" name="Google Shape;82;p1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7" name="Google Shape;83;p15"/>
          <p:cNvSpPr>
            <a:spLocks noChangeArrowheads="1"/>
          </p:cNvSpPr>
          <p:nvPr/>
        </p:nvSpPr>
        <p:spPr bwMode="auto">
          <a:xfrm>
            <a:off x="2322513" y="979488"/>
            <a:ext cx="5540375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800"/>
              <a:buFont typeface="Arial" charset="0"/>
              <a:buNone/>
            </a:pPr>
            <a:r>
              <a:rPr lang="en-US" altLang="en-US" sz="2800" b="1">
                <a:solidFill>
                  <a:srgbClr val="0C1C1D"/>
                </a:solidFill>
              </a:rPr>
              <a:t>Agenda cursului</a:t>
            </a:r>
            <a:endParaRPr lang="en-US" altLang="en-US" sz="1800"/>
          </a:p>
        </p:txBody>
      </p:sp>
      <p:sp>
        <p:nvSpPr>
          <p:cNvPr id="3078" name="Google Shape;84;p15"/>
          <p:cNvSpPr>
            <a:spLocks noChangeArrowheads="1"/>
          </p:cNvSpPr>
          <p:nvPr/>
        </p:nvSpPr>
        <p:spPr bwMode="auto">
          <a:xfrm>
            <a:off x="457200" y="1933575"/>
            <a:ext cx="9234488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000" tIns="45000" rIns="90000" bIns="450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400" dirty="0" err="1"/>
              <a:t>Şabloane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proiectare</a:t>
            </a:r>
            <a:r>
              <a:rPr lang="en-US" altLang="en-US" sz="2400" dirty="0"/>
              <a:t> (Design Patterns)</a:t>
            </a: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endParaRPr lang="en-US" altLang="en-US" sz="2400" dirty="0"/>
          </a:p>
          <a:p>
            <a:pPr eaLnBrk="1" hangingPunct="1">
              <a:buClr>
                <a:srgbClr val="000000"/>
              </a:buClr>
              <a:buSzPts val="1100"/>
            </a:pPr>
            <a:r>
              <a:rPr lang="en-US" altLang="en-US" sz="2400" dirty="0"/>
              <a:t>- </a:t>
            </a:r>
            <a:r>
              <a:rPr lang="en-US" altLang="en-US" sz="2400" dirty="0" err="1"/>
              <a:t>Definiţie</a:t>
            </a:r>
            <a:r>
              <a:rPr lang="en-US" altLang="en-US" sz="2400" dirty="0"/>
              <a:t> </a:t>
            </a:r>
            <a:r>
              <a:rPr lang="en-US" altLang="en-US" sz="2400" dirty="0" err="1"/>
              <a:t>şi</a:t>
            </a:r>
            <a:r>
              <a:rPr lang="en-US" altLang="en-US" sz="2400" dirty="0"/>
              <a:t> </a:t>
            </a:r>
            <a:r>
              <a:rPr lang="en-US" altLang="en-US" sz="2400" dirty="0" err="1"/>
              <a:t>clasificare</a:t>
            </a:r>
            <a:r>
              <a:rPr lang="en-US" altLang="en-US" sz="2400" dirty="0"/>
              <a:t>.</a:t>
            </a:r>
          </a:p>
          <a:p>
            <a:pPr marL="342900" indent="-342900" eaLnBrk="1" hangingPunct="1">
              <a:buClr>
                <a:srgbClr val="000000"/>
              </a:buClr>
              <a:buSzPts val="1100"/>
              <a:buFontTx/>
              <a:buChar char="-"/>
            </a:pPr>
            <a:endParaRPr lang="en-US" altLang="en-US" sz="2400" dirty="0"/>
          </a:p>
          <a:p>
            <a:pPr eaLnBrk="1" hangingPunct="1">
              <a:buClr>
                <a:srgbClr val="000000"/>
              </a:buClr>
              <a:buSzPts val="1100"/>
            </a:pPr>
            <a:r>
              <a:rPr lang="en-US" altLang="en-US" sz="2400" dirty="0"/>
              <a:t>- </a:t>
            </a:r>
            <a:r>
              <a:rPr lang="en-US" altLang="en-US" sz="2400" dirty="0" err="1"/>
              <a:t>Exemple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şabloane</a:t>
            </a:r>
            <a:r>
              <a:rPr lang="en-US" altLang="en-US" sz="2400" dirty="0"/>
              <a:t> de </a:t>
            </a:r>
            <a:r>
              <a:rPr lang="en-US" altLang="en-US" sz="2400" dirty="0" err="1"/>
              <a:t>proiectare</a:t>
            </a:r>
            <a:r>
              <a:rPr lang="en-US" altLang="en-US" sz="2400" dirty="0"/>
              <a:t> (Singleton, Abstract Object Factory, Observer, Strategy Pattern).</a:t>
            </a:r>
          </a:p>
          <a:p>
            <a:pPr eaLnBrk="1" hangingPunct="1">
              <a:buClr>
                <a:srgbClr val="000000"/>
              </a:buClr>
              <a:buSzPts val="1100"/>
            </a:pPr>
            <a:endParaRPr lang="en-US" altLang="en-US" sz="2400" dirty="0"/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400" b="1" dirty="0" err="1">
                <a:solidFill>
                  <a:schemeClr val="accent1"/>
                </a:solidFill>
              </a:rPr>
              <a:t>Obs</a:t>
            </a:r>
            <a:r>
              <a:rPr lang="en-US" altLang="en-US" sz="2400" b="1" dirty="0">
                <a:solidFill>
                  <a:schemeClr val="accent1"/>
                </a:solidFill>
              </a:rPr>
              <a:t>: </a:t>
            </a:r>
            <a:r>
              <a:rPr lang="en-US" altLang="en-US" sz="2400" b="1" dirty="0" err="1">
                <a:solidFill>
                  <a:schemeClr val="accent1"/>
                </a:solidFill>
              </a:rPr>
              <a:t>Prezentare</a:t>
            </a:r>
            <a:r>
              <a:rPr lang="en-US" altLang="en-US" sz="2400" b="1" dirty="0">
                <a:solidFill>
                  <a:schemeClr val="accent1"/>
                </a:solidFill>
              </a:rPr>
              <a:t> </a:t>
            </a:r>
            <a:r>
              <a:rPr lang="en-US" altLang="en-US" sz="2400" b="1" dirty="0" err="1">
                <a:solidFill>
                  <a:schemeClr val="accent1"/>
                </a:solidFill>
              </a:rPr>
              <a:t>bazata</a:t>
            </a:r>
            <a:r>
              <a:rPr lang="en-US" altLang="en-US" sz="2400" b="1" dirty="0">
                <a:solidFill>
                  <a:schemeClr val="accent1"/>
                </a:solidFill>
              </a:rPr>
              <a:t> </a:t>
            </a:r>
            <a:r>
              <a:rPr lang="en-US" altLang="en-US" sz="2400" b="1" dirty="0" err="1">
                <a:solidFill>
                  <a:schemeClr val="accent1"/>
                </a:solidFill>
              </a:rPr>
              <a:t>pe</a:t>
            </a:r>
            <a:r>
              <a:rPr lang="en-US" altLang="en-US" sz="2400" b="1" dirty="0">
                <a:solidFill>
                  <a:schemeClr val="accent1"/>
                </a:solidFill>
              </a:rPr>
              <a:t> </a:t>
            </a:r>
            <a:r>
              <a:rPr lang="en-US" altLang="en-US" sz="2400" b="1" dirty="0" err="1">
                <a:solidFill>
                  <a:schemeClr val="accent1"/>
                </a:solidFill>
              </a:rPr>
              <a:t>GoF</a:t>
            </a:r>
            <a:endParaRPr lang="en-US" altLang="en-US" sz="2400" b="1" dirty="0">
              <a:solidFill>
                <a:schemeClr val="accent1"/>
              </a:solidFill>
            </a:endParaRP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dirty="0"/>
              <a:t>(</a:t>
            </a:r>
            <a:r>
              <a:rPr lang="en-US" altLang="en-US" sz="2000" b="1" i="1" dirty="0"/>
              <a:t>Erich Gamma, Richard Helm, Ralph Johnson </a:t>
            </a:r>
            <a:r>
              <a:rPr lang="en-US" altLang="en-US" sz="2000" b="1" i="1" dirty="0" err="1"/>
              <a:t>si</a:t>
            </a:r>
            <a:r>
              <a:rPr lang="en-US" altLang="en-US" sz="2000" b="1" i="1" dirty="0"/>
              <a:t> John </a:t>
            </a:r>
            <a:r>
              <a:rPr lang="en-US" altLang="en-US" sz="2000" b="1" i="1" dirty="0" err="1"/>
              <a:t>Vlissides</a:t>
            </a:r>
            <a:r>
              <a:rPr lang="en-US" altLang="en-US" sz="2000" b="1" i="1" dirty="0"/>
              <a:t> – Design Patterns, Elements of Reusable Object-Oriented Software (</a:t>
            </a:r>
            <a:r>
              <a:rPr lang="en-US" altLang="en-US" sz="2000" b="1" i="1" dirty="0" err="1"/>
              <a:t>cunoscuta</a:t>
            </a:r>
            <a:r>
              <a:rPr lang="en-US" altLang="en-US" sz="2000" b="1" i="1" dirty="0"/>
              <a:t> </a:t>
            </a:r>
            <a:r>
              <a:rPr lang="en-US" altLang="en-US" sz="2000" b="1" i="1" dirty="0" err="1"/>
              <a:t>si</a:t>
            </a:r>
            <a:r>
              <a:rPr lang="en-US" altLang="en-US" sz="2000" b="1" i="1" dirty="0"/>
              <a:t> sub </a:t>
            </a:r>
            <a:r>
              <a:rPr lang="en-US" altLang="en-US" sz="2000" b="1" i="1" dirty="0" err="1"/>
              <a:t>numele</a:t>
            </a:r>
            <a:r>
              <a:rPr lang="en-US" altLang="en-US" sz="2000" b="1" i="1" dirty="0"/>
              <a:t> “Gang of Four”), 1994</a:t>
            </a:r>
            <a:r>
              <a:rPr lang="en-US" altLang="en-US" sz="2000" dirty="0"/>
              <a:t>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Google Shape;92;p1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9E621A2-BCEF-4A6B-A357-17339973BA9F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</a:t>
            </a:fld>
            <a:endParaRPr lang="en-US" altLang="en-US" sz="1800"/>
          </a:p>
        </p:txBody>
      </p:sp>
      <p:sp>
        <p:nvSpPr>
          <p:cNvPr id="4099" name="Google Shape;93;p16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4100" name="Google Shape;94;p1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01" name="Google Shape;95;p1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 dirty="0" err="1"/>
              <a:t>Sabloane</a:t>
            </a:r>
            <a:r>
              <a:rPr lang="en-US" altLang="en-US" sz="2000" b="1" dirty="0"/>
              <a:t> de </a:t>
            </a:r>
            <a:r>
              <a:rPr lang="en-US" altLang="en-US" sz="2000" b="1" dirty="0" err="1"/>
              <a:t>proiectare</a:t>
            </a:r>
            <a:r>
              <a:rPr lang="en-US" altLang="en-US" sz="2000" b="1" dirty="0"/>
              <a:t> (Design patterns)</a:t>
            </a:r>
          </a:p>
        </p:txBody>
      </p:sp>
      <p:sp>
        <p:nvSpPr>
          <p:cNvPr id="96" name="Google Shape;96;p16"/>
          <p:cNvSpPr txBox="1"/>
          <p:nvPr/>
        </p:nvSpPr>
        <p:spPr>
          <a:xfrm>
            <a:off x="274638" y="1587500"/>
            <a:ext cx="9531350" cy="53165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proiectarii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(S.O.L.I.D) – Robert C. Martin</a:t>
            </a:r>
            <a:endParaRPr sz="2000" b="1" dirty="0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800" dirty="0">
                <a:solidFill>
                  <a:schemeClr val="dk1"/>
                </a:solidFill>
                <a:latin typeface="Arial" pitchFamily="34" charset="0"/>
                <a:ea typeface="Arial"/>
                <a:cs typeface="Arial" pitchFamily="34" charset="0"/>
                <a:sym typeface="Arial"/>
              </a:rPr>
              <a:t> 	 	</a:t>
            </a:r>
            <a:endParaRPr sz="1800" dirty="0">
              <a:solidFill>
                <a:schemeClr val="dk1"/>
              </a:solidFill>
              <a:latin typeface="Arial" pitchFamily="34" charset="0"/>
              <a:ea typeface="Arial"/>
              <a:cs typeface="Arial" pitchFamily="34" charset="0"/>
              <a:sym typeface="Arial"/>
            </a:endParaRP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  <a:hlinkClick r:id="rId4" tooltip="Single-responsibility principle"/>
              </a:rPr>
              <a:t>Single-responsibility principle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A </a:t>
            </a:r>
            <a:r>
              <a:rPr lang="en-US" sz="1800" dirty="0">
                <a:latin typeface="Arial" pitchFamily="34" charset="0"/>
                <a:cs typeface="Arial" pitchFamily="34" charset="0"/>
                <a:hlinkClick r:id="rId5" tooltip="Class (computer programming)"/>
              </a:rPr>
              <a:t>class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 should only have a single responsibility, that is, only changes to one part of the software's specification should be able to affect the specification of the class.</a:t>
            </a: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 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  <a:hlinkClick r:id="rId6" tooltip="Open–closed principle"/>
              </a:rPr>
              <a:t>Open–closed principle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"Software entities ... should be open for extension, but closed for modification."</a:t>
            </a: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 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b="1" dirty="0" err="1">
                <a:latin typeface="Arial" pitchFamily="34" charset="0"/>
                <a:cs typeface="Arial" pitchFamily="34" charset="0"/>
                <a:hlinkClick r:id="rId7" tooltip="Liskov substitution principle"/>
              </a:rPr>
              <a:t>Liskov</a:t>
            </a:r>
            <a:r>
              <a:rPr lang="en-US" sz="1800" b="1" dirty="0">
                <a:latin typeface="Arial" pitchFamily="34" charset="0"/>
                <a:cs typeface="Arial" pitchFamily="34" charset="0"/>
                <a:hlinkClick r:id="rId7" tooltip="Liskov substitution principle"/>
              </a:rPr>
              <a:t> substitution principle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"Objects in a program should be replaceable with instances of their subtypes without altering the correctness of that program."</a:t>
            </a: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 </a:t>
            </a: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  <a:hlinkClick r:id="rId8" tooltip="Interface segregation principle"/>
              </a:rPr>
              <a:t>Interface segregation principle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"Many client-specific interfaces are better than one general-purpose interface.” </a:t>
            </a: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</a:rPr>
              <a:t> 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b="1" dirty="0">
                <a:latin typeface="Arial" pitchFamily="34" charset="0"/>
                <a:cs typeface="Arial" pitchFamily="34" charset="0"/>
                <a:hlinkClick r:id="rId9" tooltip="Dependency inversion principle"/>
              </a:rPr>
              <a:t>Dependency inversion principle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One should "depend upon abstractions, [not] concretions.” </a:t>
            </a:r>
          </a:p>
          <a:p>
            <a:pPr>
              <a:defRPr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 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Google Shape;104;p1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D721D0B-FD29-4594-B69D-F212B69F1232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</a:t>
            </a:fld>
            <a:endParaRPr lang="en-US" altLang="en-US" sz="1800"/>
          </a:p>
        </p:txBody>
      </p:sp>
      <p:sp>
        <p:nvSpPr>
          <p:cNvPr id="6147" name="Google Shape;105;p17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6148" name="Google Shape;106;p1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9" name="Google Shape;107;p1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08" name="Google Shape;108;p17"/>
          <p:cNvSpPr txBox="1"/>
          <p:nvPr/>
        </p:nvSpPr>
        <p:spPr>
          <a:xfrm>
            <a:off x="274638" y="1587500"/>
            <a:ext cx="9531350" cy="4402138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proiectarii</a:t>
            </a:r>
            <a:r>
              <a:rPr lang="en-US" sz="2000" b="1" dirty="0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dirty="0" err="1">
                <a:solidFill>
                  <a:schemeClr val="tx2">
                    <a:lumMod val="75000"/>
                  </a:schemeClr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 sz="2000" b="1">
              <a:solidFill>
                <a:schemeClr val="tx2">
                  <a:lumMod val="75000"/>
                </a:schemeClr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 	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Principiul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inchis-deschis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2000" b="1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Entitatile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software (module,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etc.)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deschise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inchise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(Bertrand Meyer, 1988).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deschis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extensii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=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comportarea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modulului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extinsa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satisface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cerinte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inchis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” = nu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permisa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codului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sursa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Google Shape;116;p1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B7B0B70-2258-4EC9-90A2-6C82A6146B90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5</a:t>
            </a:fld>
            <a:endParaRPr lang="en-US" altLang="en-US" sz="1800"/>
          </a:p>
        </p:txBody>
      </p:sp>
      <p:sp>
        <p:nvSpPr>
          <p:cNvPr id="7171" name="Google Shape;117;p1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7172" name="Google Shape;118;p1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173" name="Google Shape;119;p1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20" name="Google Shape;120;p18"/>
          <p:cNvSpPr txBox="1"/>
          <p:nvPr/>
        </p:nvSpPr>
        <p:spPr>
          <a:xfrm>
            <a:off x="274638" y="1271588"/>
            <a:ext cx="9531350" cy="484822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Principiile</a:t>
            </a:r>
            <a:r>
              <a:rPr lang="en-US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proiectarii</a:t>
            </a:r>
            <a:r>
              <a:rPr lang="en-US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endParaRPr sz="2000" b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Principiul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substituirii</a:t>
            </a:r>
            <a:endParaRPr sz="2000" b="1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Functiile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utilizeaza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pointeri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referinte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utilizeze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claselor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derivate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cunoasca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Principiul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inversare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dependentelor</a:t>
            </a:r>
            <a:endParaRPr sz="2000" b="1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lphaUcPeriod"/>
              <a:defRPr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“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Modulele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nivel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inalt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depinda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modulele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nivel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jos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Amandoua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depinda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abstractii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.”</a:t>
            </a:r>
          </a:p>
          <a:p>
            <a:pPr indent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AutoNum type="alphaUcPeriod"/>
              <a:defRPr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Abstractiile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depinda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detalii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Detaliile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depinda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abstractii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.”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defRPr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programele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OO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bine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proiectate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inverseaza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dependenta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structurala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la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metoda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procedurala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traditionala</a:t>
            </a: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defRPr/>
            </a:pPr>
            <a:endParaRPr sz="200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metoda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procedurala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: o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procedura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nivel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inalt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apeleaza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procedura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nivel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jos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deci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depinde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de ea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Google Shape;140;p2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60E5126-F2DE-4D1B-B651-2D466C655A4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6</a:t>
            </a:fld>
            <a:endParaRPr lang="en-US" altLang="en-US" sz="1800"/>
          </a:p>
        </p:txBody>
      </p:sp>
      <p:sp>
        <p:nvSpPr>
          <p:cNvPr id="8195" name="Google Shape;141;p20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8196" name="Google Shape;142;p2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7" name="Google Shape;143;p2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44" name="Google Shape;144;p20"/>
          <p:cNvSpPr txBox="1"/>
          <p:nvPr/>
        </p:nvSpPr>
        <p:spPr>
          <a:xfrm>
            <a:off x="273925" y="1272050"/>
            <a:ext cx="9532800" cy="59915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Definitie</a:t>
            </a:r>
            <a:r>
              <a:rPr lang="en-US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clasificare</a:t>
            </a:r>
            <a:endParaRPr sz="2000" b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 	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Aplicarea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principiilor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Wingdings" pitchFamily="2" charset="2"/>
              </a:rPr>
              <a:t>pentr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arhitecturi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OO 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Wingdings" pitchFamily="2" charset="2"/>
              </a:rPr>
              <a:t> 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ajunge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repetat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aceleasi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structuri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cunoscute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sub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i="1" dirty="0" err="1">
                <a:solidFill>
                  <a:srgbClr val="FF0000"/>
                </a:solidFill>
                <a:highlight>
                  <a:srgbClr val="FFFFFF"/>
                </a:highlight>
              </a:rPr>
              <a:t>sabloane</a:t>
            </a:r>
            <a:r>
              <a:rPr lang="en-US" sz="2000" b="1" i="1" dirty="0">
                <a:solidFill>
                  <a:srgbClr val="FF0000"/>
                </a:solidFill>
                <a:highlight>
                  <a:srgbClr val="FFFFFF"/>
                </a:highlight>
              </a:rPr>
              <a:t> de </a:t>
            </a:r>
            <a:r>
              <a:rPr lang="en-US" sz="2000" b="1" i="1" dirty="0" err="1">
                <a:solidFill>
                  <a:srgbClr val="FF0000"/>
                </a:solidFill>
                <a:highlight>
                  <a:srgbClr val="FFFFFF"/>
                </a:highlight>
              </a:rPr>
              <a:t>proiectare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</a:rPr>
              <a:t> (</a:t>
            </a:r>
            <a:r>
              <a:rPr lang="en-US" sz="2000" b="1" i="1" dirty="0">
                <a:solidFill>
                  <a:srgbClr val="FF0000"/>
                </a:solidFill>
                <a:highlight>
                  <a:srgbClr val="FFFFFF"/>
                </a:highlight>
              </a:rPr>
              <a:t>design patterns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</a:rPr>
              <a:t>)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 	</a:t>
            </a:r>
            <a:endParaRPr sz="11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b="1" dirty="0" err="1">
                <a:solidFill>
                  <a:schemeClr val="tx2"/>
                </a:solidFill>
              </a:rPr>
              <a:t>sablon</a:t>
            </a:r>
            <a:r>
              <a:rPr lang="en-US" sz="2000" b="1" dirty="0">
                <a:solidFill>
                  <a:schemeClr val="tx2"/>
                </a:solidFill>
              </a:rPr>
              <a:t> de </a:t>
            </a:r>
            <a:r>
              <a:rPr lang="en-US" sz="2000" b="1" dirty="0" err="1">
                <a:solidFill>
                  <a:schemeClr val="tx2"/>
                </a:solidFill>
              </a:rPr>
              <a:t>proiectare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descrie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indent="-3556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defRPr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care se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intalneste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in mod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repetat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proiectarea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programelor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marL="457200" indent="-355600"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Char char="-"/>
              <a:defRPr/>
            </a:pP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solutia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generala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respectiva</a:t>
            </a: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Solutia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exprimata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folosind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/>
              <a:t>clase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/>
              <a:t>obiecte</a:t>
            </a:r>
            <a:r>
              <a:rPr lang="en-US" sz="2000" dirty="0"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lang="en-US" sz="2000" dirty="0">
              <a:latin typeface="Arial"/>
              <a:ea typeface="Arial"/>
              <a:cs typeface="Arial"/>
              <a:sym typeface="Arial"/>
            </a:endParaRP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dirty="0" err="1">
                <a:solidFill>
                  <a:schemeClr val="tx1"/>
                </a:solidFill>
              </a:rPr>
              <a:t>Cand</a:t>
            </a:r>
            <a:r>
              <a:rPr lang="en-US" altLang="en-US" sz="2000" b="1" dirty="0">
                <a:solidFill>
                  <a:schemeClr val="tx1"/>
                </a:solidFill>
              </a:rPr>
              <a:t> </a:t>
            </a:r>
            <a:r>
              <a:rPr lang="en-US" altLang="en-US" sz="2000" b="1" dirty="0" err="1">
                <a:solidFill>
                  <a:schemeClr val="tx1"/>
                </a:solidFill>
              </a:rPr>
              <a:t>si</a:t>
            </a:r>
            <a:r>
              <a:rPr lang="en-US" altLang="en-US" sz="2000" b="1" dirty="0">
                <a:solidFill>
                  <a:schemeClr val="tx1"/>
                </a:solidFill>
              </a:rPr>
              <a:t> </a:t>
            </a:r>
            <a:r>
              <a:rPr lang="en-US" altLang="en-US" sz="2000" b="1" dirty="0" err="1">
                <a:solidFill>
                  <a:schemeClr val="tx1"/>
                </a:solidFill>
              </a:rPr>
              <a:t>unde</a:t>
            </a:r>
            <a:r>
              <a:rPr lang="en-US" altLang="en-US" sz="2000" b="1" dirty="0">
                <a:solidFill>
                  <a:schemeClr val="tx1"/>
                </a:solidFill>
              </a:rPr>
              <a:t> a </a:t>
            </a:r>
            <a:r>
              <a:rPr lang="en-US" altLang="en-US" sz="2000" b="1" dirty="0" err="1">
                <a:solidFill>
                  <a:schemeClr val="tx1"/>
                </a:solidFill>
              </a:rPr>
              <a:t>aparut</a:t>
            </a:r>
            <a:r>
              <a:rPr lang="en-US" altLang="en-US" sz="2000" b="1" dirty="0">
                <a:solidFill>
                  <a:schemeClr val="tx1"/>
                </a:solidFill>
              </a:rPr>
              <a:t> </a:t>
            </a:r>
            <a:r>
              <a:rPr lang="en-US" altLang="en-US" sz="2000" b="1" dirty="0" err="1">
                <a:solidFill>
                  <a:schemeClr val="tx1"/>
                </a:solidFill>
              </a:rPr>
              <a:t>ideea</a:t>
            </a:r>
            <a:r>
              <a:rPr lang="en-US" altLang="en-US" sz="2000" b="1" dirty="0">
                <a:solidFill>
                  <a:schemeClr val="tx1"/>
                </a:solidFill>
              </a:rPr>
              <a:t>?</a:t>
            </a:r>
          </a:p>
          <a:p>
            <a:pPr marL="457200" indent="-457200" eaLnBrk="1" hangingPunct="1">
              <a:buClr>
                <a:srgbClr val="000000"/>
              </a:buClr>
              <a:buSzPts val="1100"/>
              <a:buFontTx/>
              <a:buChar char="-"/>
            </a:pPr>
            <a:r>
              <a:rPr lang="en-US" altLang="en-US" sz="2000" dirty="0" err="1">
                <a:solidFill>
                  <a:schemeClr val="tx1"/>
                </a:solidFill>
              </a:rPr>
              <a:t>Arhitectura</a:t>
            </a:r>
            <a:endParaRPr lang="en-US" altLang="en-US" sz="2000" dirty="0">
              <a:solidFill>
                <a:schemeClr val="tx1"/>
              </a:solidFill>
            </a:endParaRPr>
          </a:p>
          <a:p>
            <a:pPr marL="457200" indent="-457200" eaLnBrk="1" hangingPunct="1">
              <a:buClr>
                <a:srgbClr val="000000"/>
              </a:buClr>
              <a:buSzPts val="1100"/>
              <a:buFontTx/>
              <a:buChar char="-"/>
            </a:pPr>
            <a:r>
              <a:rPr lang="en-US" altLang="en-US" sz="2000" dirty="0">
                <a:solidFill>
                  <a:schemeClr val="tx1"/>
                </a:solidFill>
              </a:rPr>
              <a:t>1977: “A pattern language: Towns, Buildings, </a:t>
            </a:r>
            <a:r>
              <a:rPr lang="en-US" altLang="en-US" sz="2000" dirty="0" err="1">
                <a:solidFill>
                  <a:schemeClr val="tx1"/>
                </a:solidFill>
              </a:rPr>
              <a:t>Constructiron</a:t>
            </a:r>
            <a:r>
              <a:rPr lang="en-US" altLang="en-US" sz="2000" dirty="0">
                <a:solidFill>
                  <a:schemeClr val="tx1"/>
                </a:solidFill>
              </a:rPr>
              <a:t>”</a:t>
            </a:r>
          </a:p>
          <a:p>
            <a:pPr marL="457200" indent="-457200" eaLnBrk="1" hangingPunct="1">
              <a:buClr>
                <a:srgbClr val="000000"/>
              </a:buClr>
              <a:buSzPts val="1100"/>
              <a:buFontTx/>
              <a:buChar char="-"/>
            </a:pPr>
            <a:r>
              <a:rPr lang="en-US" altLang="en-US" sz="2000" dirty="0">
                <a:solidFill>
                  <a:schemeClr val="tx1"/>
                </a:solidFill>
              </a:rPr>
              <a:t>Christopher Alexander</a:t>
            </a: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endParaRPr lang="en-US" altLang="en-US" sz="2000" dirty="0">
              <a:solidFill>
                <a:schemeClr val="tx1"/>
              </a:solidFill>
            </a:endParaRP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dirty="0">
                <a:solidFill>
                  <a:schemeClr val="tx1"/>
                </a:solidFill>
              </a:rPr>
              <a:t>https://en.wikipedia.org/wiki/Pattern_language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 dirty="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Google Shape;152;p2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291EB35-284D-4384-964E-E79476CE6852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7</a:t>
            </a:fld>
            <a:endParaRPr lang="en-US" altLang="en-US" sz="1800"/>
          </a:p>
        </p:txBody>
      </p:sp>
      <p:sp>
        <p:nvSpPr>
          <p:cNvPr id="9219" name="Google Shape;153;p21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9220" name="Google Shape;154;p2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1" name="Google Shape;155;p2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9222" name="Google Shape;156;p21"/>
          <p:cNvSpPr txBox="1">
            <a:spLocks noChangeArrowheads="1"/>
          </p:cNvSpPr>
          <p:nvPr/>
        </p:nvSpPr>
        <p:spPr bwMode="auto">
          <a:xfrm>
            <a:off x="274638" y="1271588"/>
            <a:ext cx="9658350" cy="50863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 anchor="t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 dirty="0" err="1">
                <a:solidFill>
                  <a:schemeClr val="tx2"/>
                </a:solidFill>
              </a:rPr>
              <a:t>Definitie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b="1" dirty="0" err="1">
                <a:solidFill>
                  <a:schemeClr val="tx2"/>
                </a:solidFill>
              </a:rPr>
              <a:t>si</a:t>
            </a:r>
            <a:r>
              <a:rPr lang="en-US" altLang="en-US" sz="2000" b="1" dirty="0">
                <a:solidFill>
                  <a:schemeClr val="tx2"/>
                </a:solidFill>
              </a:rPr>
              <a:t> </a:t>
            </a:r>
            <a:r>
              <a:rPr lang="en-US" altLang="en-US" sz="2000" b="1" dirty="0" err="1">
                <a:solidFill>
                  <a:schemeClr val="tx2"/>
                </a:solidFill>
              </a:rPr>
              <a:t>clasificare</a:t>
            </a:r>
            <a:endParaRPr lang="en-US" altLang="en-US" sz="2000" b="1" dirty="0">
              <a:solidFill>
                <a:schemeClr val="tx2"/>
              </a:solidFill>
            </a:endParaRP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1100" dirty="0"/>
              <a:t>	 	 	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1100" dirty="0"/>
              <a:t>	 	 	</a:t>
            </a:r>
          </a:p>
          <a:p>
            <a:pPr algn="just" eaLnBrk="1" hangingPunct="1">
              <a:buClr>
                <a:srgbClr val="000000"/>
              </a:buClr>
              <a:buSzPts val="2000"/>
            </a:pPr>
            <a:r>
              <a:rPr lang="en-US" altLang="en-US" sz="2000" b="1" i="1" dirty="0" err="1">
                <a:solidFill>
                  <a:schemeClr val="accent1"/>
                </a:solidFill>
                <a:latin typeface="Arial"/>
                <a:cs typeface="Arial"/>
              </a:rPr>
              <a:t>Clasificarea</a:t>
            </a:r>
            <a:r>
              <a:rPr lang="en-US" altLang="en-US" sz="2000" b="1" i="1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altLang="en-US" sz="2000" b="1" i="1" dirty="0" err="1">
                <a:solidFill>
                  <a:schemeClr val="accent1"/>
                </a:solidFill>
                <a:latin typeface="Arial"/>
                <a:cs typeface="Arial"/>
              </a:rPr>
              <a:t>şabloanelor</a:t>
            </a:r>
            <a:r>
              <a:rPr lang="en-US" altLang="en-US" sz="2000" b="1" i="1" dirty="0">
                <a:solidFill>
                  <a:schemeClr val="accent1"/>
                </a:solidFill>
                <a:latin typeface="Arial"/>
                <a:cs typeface="Arial"/>
              </a:rPr>
              <a:t> </a:t>
            </a:r>
            <a:r>
              <a:rPr lang="en-US" altLang="en-US" sz="2000" b="1" i="1" dirty="0" err="1">
                <a:solidFill>
                  <a:schemeClr val="accent1"/>
                </a:solidFill>
                <a:latin typeface="Arial"/>
                <a:cs typeface="Arial"/>
              </a:rPr>
              <a:t>după</a:t>
            </a:r>
            <a:r>
              <a:rPr lang="en-US" altLang="en-US" sz="2000" b="1" i="1" dirty="0">
                <a:solidFill>
                  <a:schemeClr val="accent1"/>
                </a:solidFill>
                <a:latin typeface="Arial"/>
                <a:cs typeface="Arial"/>
              </a:rPr>
              <a:t> scop: </a:t>
            </a:r>
          </a:p>
          <a:p>
            <a:pPr algn="just" eaLnBrk="1" hangingPunct="1">
              <a:buClr>
                <a:srgbClr val="000000"/>
              </a:buClr>
              <a:buSzPts val="2000"/>
            </a:pPr>
            <a:endParaRPr lang="en-US" altLang="en-US" sz="2000" dirty="0"/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dirty="0"/>
              <a:t>- </a:t>
            </a:r>
            <a:r>
              <a:rPr lang="en-US" altLang="en-US" sz="2000" b="1" dirty="0" err="1"/>
              <a:t>creaţionale</a:t>
            </a:r>
            <a:r>
              <a:rPr lang="en-US" altLang="en-US" sz="2000" dirty="0"/>
              <a:t> (creational patterns) </a:t>
            </a:r>
            <a:r>
              <a:rPr lang="en-US" altLang="en-US" sz="2000" dirty="0" err="1"/>
              <a:t>privesc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modul</a:t>
            </a:r>
            <a:r>
              <a:rPr lang="en-US" altLang="en-US" sz="2000" dirty="0"/>
              <a:t> de </a:t>
            </a:r>
            <a:r>
              <a:rPr lang="en-US" altLang="en-US" sz="2000" dirty="0" err="1"/>
              <a:t>creare</a:t>
            </a:r>
            <a:r>
              <a:rPr lang="en-US" altLang="en-US" sz="2000" dirty="0"/>
              <a:t> al </a:t>
            </a:r>
            <a:r>
              <a:rPr lang="en-US" altLang="en-US" sz="2000" dirty="0" err="1"/>
              <a:t>obiectelor</a:t>
            </a:r>
            <a:r>
              <a:rPr lang="en-US" altLang="en-US" sz="2000" dirty="0"/>
              <a:t>. </a:t>
            </a:r>
          </a:p>
          <a:p>
            <a:pPr algn="just" eaLnBrk="1" hangingPunct="1">
              <a:buClr>
                <a:srgbClr val="000000"/>
              </a:buClr>
              <a:buSzPts val="2000"/>
            </a:pPr>
            <a:r>
              <a:rPr lang="en-US" altLang="en-US" sz="2000" dirty="0">
                <a:latin typeface="Arial"/>
                <a:cs typeface="Arial"/>
              </a:rPr>
              <a:t>- </a:t>
            </a:r>
            <a:r>
              <a:rPr lang="en-US" altLang="en-US" sz="2000" b="1" dirty="0" err="1">
                <a:latin typeface="Arial"/>
                <a:cs typeface="Arial"/>
              </a:rPr>
              <a:t>structurale</a:t>
            </a:r>
            <a:r>
              <a:rPr lang="en-US" altLang="en-US" sz="2000" dirty="0">
                <a:latin typeface="Arial"/>
                <a:cs typeface="Arial"/>
              </a:rPr>
              <a:t> (structural patterns) se </a:t>
            </a:r>
            <a:r>
              <a:rPr lang="en-US" altLang="en-US" sz="2000" dirty="0" err="1">
                <a:latin typeface="Arial"/>
                <a:cs typeface="Arial"/>
              </a:rPr>
              <a:t>referă</a:t>
            </a:r>
            <a:r>
              <a:rPr lang="en-US" altLang="en-US" sz="2000" dirty="0">
                <a:latin typeface="Arial"/>
                <a:cs typeface="Arial"/>
              </a:rPr>
              <a:t> la </a:t>
            </a:r>
            <a:r>
              <a:rPr lang="en-US" altLang="en-US" sz="2000" dirty="0" err="1">
                <a:latin typeface="Arial"/>
                <a:cs typeface="Arial"/>
              </a:rPr>
              <a:t>compoziţia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claselor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sau</a:t>
            </a:r>
            <a:r>
              <a:rPr lang="en-US" altLang="en-US" sz="2000" dirty="0">
                <a:latin typeface="Arial"/>
                <a:cs typeface="Arial"/>
              </a:rPr>
              <a:t> a </a:t>
            </a:r>
            <a:r>
              <a:rPr lang="en-US" altLang="en-US" sz="2000" dirty="0" err="1">
                <a:latin typeface="Arial"/>
                <a:cs typeface="Arial"/>
              </a:rPr>
              <a:t>obiectelor</a:t>
            </a:r>
            <a:r>
              <a:rPr lang="en-US" altLang="en-US" sz="2000" dirty="0">
                <a:latin typeface="Arial"/>
                <a:cs typeface="Arial"/>
              </a:rPr>
              <a:t>. </a:t>
            </a:r>
            <a:endParaRPr lang="en-US" altLang="en-US" sz="2000" dirty="0"/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dirty="0"/>
              <a:t>- </a:t>
            </a:r>
            <a:r>
              <a:rPr lang="en-US" altLang="en-US" sz="2000" b="1" dirty="0" err="1"/>
              <a:t>comportamentale</a:t>
            </a:r>
            <a:r>
              <a:rPr lang="en-US" altLang="en-US" sz="2000" dirty="0"/>
              <a:t> (behavioral patterns) </a:t>
            </a:r>
            <a:r>
              <a:rPr lang="en-US" altLang="en-US" sz="2000" dirty="0" err="1"/>
              <a:t>caracterizează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modul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în</a:t>
            </a:r>
            <a:r>
              <a:rPr lang="en-US" altLang="en-US" sz="2000" dirty="0"/>
              <a:t> care </a:t>
            </a:r>
            <a:r>
              <a:rPr lang="en-US" altLang="en-US" sz="2000" dirty="0" err="1"/>
              <a:t>obiectele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şi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clasele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interacţionează</a:t>
            </a:r>
            <a:r>
              <a:rPr lang="en-US" altLang="en-US" sz="2000" dirty="0"/>
              <a:t> </a:t>
            </a:r>
            <a:r>
              <a:rPr lang="en-US" altLang="en-US" sz="2000" dirty="0" err="1"/>
              <a:t>şi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îşi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distribuie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responsabilităţile</a:t>
            </a:r>
            <a:r>
              <a:rPr lang="en-US" altLang="en-US" sz="2000" dirty="0"/>
              <a:t>.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 dirty="0"/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 dirty="0"/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 i="1" dirty="0" err="1">
                <a:solidFill>
                  <a:schemeClr val="accent1"/>
                </a:solidFill>
              </a:rPr>
              <a:t>Clasificarea</a:t>
            </a:r>
            <a:r>
              <a:rPr lang="en-US" altLang="en-US" sz="2000" b="1" i="1" dirty="0">
                <a:solidFill>
                  <a:schemeClr val="accent1"/>
                </a:solidFill>
              </a:rPr>
              <a:t> </a:t>
            </a:r>
            <a:r>
              <a:rPr lang="en-US" altLang="en-US" sz="2000" b="1" i="1" dirty="0" err="1">
                <a:solidFill>
                  <a:schemeClr val="accent1"/>
                </a:solidFill>
              </a:rPr>
              <a:t>şabloanelor</a:t>
            </a:r>
            <a:r>
              <a:rPr lang="en-US" altLang="en-US" sz="2000" b="1" i="1" dirty="0">
                <a:solidFill>
                  <a:schemeClr val="accent1"/>
                </a:solidFill>
              </a:rPr>
              <a:t> </a:t>
            </a:r>
            <a:r>
              <a:rPr lang="en-US" altLang="en-US" sz="2000" b="1" i="1" dirty="0" err="1">
                <a:solidFill>
                  <a:schemeClr val="accent1"/>
                </a:solidFill>
              </a:rPr>
              <a:t>dupa</a:t>
            </a:r>
            <a:r>
              <a:rPr lang="en-US" altLang="en-US" sz="2000" b="1" i="1" dirty="0">
                <a:solidFill>
                  <a:schemeClr val="accent1"/>
                </a:solidFill>
              </a:rPr>
              <a:t> </a:t>
            </a:r>
            <a:r>
              <a:rPr lang="en-US" altLang="en-US" sz="2000" b="1" i="1" dirty="0" err="1">
                <a:solidFill>
                  <a:schemeClr val="accent1"/>
                </a:solidFill>
              </a:rPr>
              <a:t>domeniu</a:t>
            </a:r>
            <a:r>
              <a:rPr lang="en-US" altLang="en-US" sz="2000" b="1" i="1" dirty="0">
                <a:solidFill>
                  <a:schemeClr val="accent1"/>
                </a:solidFill>
              </a:rPr>
              <a:t> de </a:t>
            </a:r>
            <a:r>
              <a:rPr lang="en-US" altLang="en-US" sz="2000" b="1" i="1" dirty="0" err="1">
                <a:solidFill>
                  <a:schemeClr val="accent1"/>
                </a:solidFill>
              </a:rPr>
              <a:t>aplicare</a:t>
            </a:r>
            <a:r>
              <a:rPr lang="en-US" altLang="en-US" sz="2000" b="1" i="1" dirty="0">
                <a:solidFill>
                  <a:schemeClr val="accent1"/>
                </a:solidFill>
              </a:rPr>
              <a:t>: 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 b="1" i="1" dirty="0"/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Char char="-"/>
            </a:pPr>
            <a:r>
              <a:rPr lang="en-US" altLang="en-US" sz="2000" b="1" dirty="0" err="1">
                <a:latin typeface="Arial"/>
                <a:cs typeface="Arial"/>
              </a:rPr>
              <a:t>sabloanele</a:t>
            </a:r>
            <a:r>
              <a:rPr lang="en-US" altLang="en-US" sz="2000" b="1" dirty="0">
                <a:latin typeface="Arial"/>
                <a:cs typeface="Arial"/>
              </a:rPr>
              <a:t> </a:t>
            </a:r>
            <a:r>
              <a:rPr lang="en-US" altLang="en-US" sz="2000" b="1" dirty="0" err="1">
                <a:latin typeface="Arial"/>
                <a:cs typeface="Arial"/>
              </a:rPr>
              <a:t>claselor</a:t>
            </a:r>
            <a:r>
              <a:rPr lang="en-US" altLang="en-US" sz="2000" dirty="0">
                <a:latin typeface="Arial"/>
                <a:cs typeface="Arial"/>
              </a:rPr>
              <a:t> se </a:t>
            </a:r>
            <a:r>
              <a:rPr lang="en-US" altLang="en-US" sz="2000" dirty="0" err="1">
                <a:latin typeface="Arial"/>
                <a:cs typeface="Arial"/>
              </a:rPr>
              <a:t>referă</a:t>
            </a:r>
            <a:r>
              <a:rPr lang="en-US" altLang="en-US" sz="2000" dirty="0">
                <a:latin typeface="Arial"/>
                <a:cs typeface="Arial"/>
              </a:rPr>
              <a:t> la </a:t>
            </a:r>
            <a:r>
              <a:rPr lang="en-US" altLang="en-US" sz="2000" dirty="0" err="1">
                <a:latin typeface="Arial"/>
                <a:cs typeface="Arial"/>
              </a:rPr>
              <a:t>relaţii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dintre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clase</a:t>
            </a:r>
            <a:r>
              <a:rPr lang="en-US" altLang="en-US" sz="2000" dirty="0">
                <a:latin typeface="Arial"/>
                <a:cs typeface="Arial"/>
              </a:rPr>
              <a:t>, </a:t>
            </a:r>
            <a:r>
              <a:rPr lang="en-US" altLang="en-US" sz="2000" dirty="0" err="1">
                <a:latin typeface="Arial"/>
                <a:cs typeface="Arial"/>
              </a:rPr>
              <a:t>relaţii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stabilite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prin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moştenire</a:t>
            </a:r>
            <a:r>
              <a:rPr lang="en-US" altLang="en-US" sz="2000" dirty="0">
                <a:latin typeface="Arial"/>
                <a:cs typeface="Arial"/>
              </a:rPr>
              <a:t> </a:t>
            </a:r>
            <a:r>
              <a:rPr lang="en-US" altLang="en-US" sz="2000" dirty="0" err="1">
                <a:latin typeface="Arial"/>
                <a:cs typeface="Arial"/>
              </a:rPr>
              <a:t>şi</a:t>
            </a:r>
            <a:r>
              <a:rPr lang="en-US" altLang="en-US" sz="2000" dirty="0">
                <a:latin typeface="Arial"/>
                <a:cs typeface="Arial"/>
              </a:rPr>
              <a:t> care sunt statice (fixate la </a:t>
            </a:r>
            <a:r>
              <a:rPr lang="en-US" altLang="en-US" sz="2000" dirty="0" err="1">
                <a:latin typeface="Arial"/>
                <a:cs typeface="Arial"/>
              </a:rPr>
              <a:t>compilare</a:t>
            </a:r>
            <a:r>
              <a:rPr lang="en-US" altLang="en-US" sz="2000" dirty="0">
                <a:latin typeface="Arial"/>
                <a:cs typeface="Arial"/>
              </a:rPr>
              <a:t>). </a:t>
            </a:r>
            <a:endParaRPr lang="en-US" altLang="en-US" sz="2000" dirty="0"/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Char char="-"/>
            </a:pPr>
            <a:r>
              <a:rPr lang="en-US" altLang="en-US" sz="2000" b="1" dirty="0" err="1"/>
              <a:t>sabloanele</a:t>
            </a:r>
            <a:r>
              <a:rPr lang="en-US" altLang="en-US" sz="2000" b="1" dirty="0"/>
              <a:t> </a:t>
            </a:r>
            <a:r>
              <a:rPr lang="en-US" altLang="en-US" sz="2000" b="1" dirty="0" err="1"/>
              <a:t>obiectelor</a:t>
            </a:r>
            <a:r>
              <a:rPr lang="en-US" altLang="en-US" sz="2000" dirty="0"/>
              <a:t> se </a:t>
            </a:r>
            <a:r>
              <a:rPr lang="en-US" altLang="en-US" sz="2000" dirty="0" err="1"/>
              <a:t>referă</a:t>
            </a:r>
            <a:r>
              <a:rPr lang="en-US" altLang="en-US" sz="2000" dirty="0"/>
              <a:t> la </a:t>
            </a:r>
            <a:r>
              <a:rPr lang="en-US" altLang="en-US" sz="2000" dirty="0" err="1"/>
              <a:t>relaţiile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dintre</a:t>
            </a:r>
            <a:r>
              <a:rPr lang="en-US" altLang="en-US" sz="2000" dirty="0"/>
              <a:t> </a:t>
            </a:r>
            <a:r>
              <a:rPr lang="en-US" altLang="en-US" sz="2000" dirty="0" err="1"/>
              <a:t>obiecte</a:t>
            </a:r>
            <a:r>
              <a:rPr lang="en-US" altLang="en-US" sz="2000" dirty="0"/>
              <a:t>, </a:t>
            </a:r>
            <a:r>
              <a:rPr lang="en-US" altLang="en-US" sz="2000" dirty="0" err="1"/>
              <a:t>relaţii</a:t>
            </a:r>
            <a:r>
              <a:rPr lang="en-US" altLang="en-US" sz="2000" dirty="0"/>
              <a:t> care au un </a:t>
            </a:r>
            <a:r>
              <a:rPr lang="en-US" altLang="en-US" sz="2000" dirty="0" err="1"/>
              <a:t>caracter</a:t>
            </a:r>
            <a:r>
              <a:rPr lang="en-US" altLang="en-US" sz="2000" dirty="0"/>
              <a:t> </a:t>
            </a:r>
            <a:r>
              <a:rPr lang="en-US" altLang="en-US" sz="2000" dirty="0" err="1"/>
              <a:t>dinamic</a:t>
            </a:r>
            <a:r>
              <a:rPr lang="en-US" altLang="en-US" sz="2000" dirty="0"/>
              <a:t> . 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 dirty="0"/>
          </a:p>
          <a:p>
            <a:pPr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 b="1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Google Shape;164;p2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BA1BCE3-B561-4877-8964-30874875765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8</a:t>
            </a:fld>
            <a:endParaRPr lang="en-US" altLang="en-US" sz="1800"/>
          </a:p>
        </p:txBody>
      </p:sp>
      <p:sp>
        <p:nvSpPr>
          <p:cNvPr id="10243" name="Google Shape;165;p22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0244" name="Google Shape;166;p2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45" name="Google Shape;167;p2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68" name="Google Shape;168;p22"/>
          <p:cNvSpPr txBox="1"/>
          <p:nvPr/>
        </p:nvSpPr>
        <p:spPr>
          <a:xfrm>
            <a:off x="274638" y="1271588"/>
            <a:ext cx="9658350" cy="48133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Definitie</a:t>
            </a: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clasificare</a:t>
            </a:r>
            <a:endParaRPr sz="2000"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 	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11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 	</a:t>
            </a:r>
            <a:endParaRPr sz="11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 general, </a:t>
            </a:r>
            <a:r>
              <a:rPr lang="en-US" sz="20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u="sng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</a:t>
            </a:r>
            <a:r>
              <a:rPr lang="en-US" sz="20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4 </a:t>
            </a:r>
            <a:r>
              <a:rPr lang="en-US" sz="2000" u="sng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elemente</a:t>
            </a:r>
            <a:r>
              <a:rPr lang="en-US" sz="2000" u="sng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u="sng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esentiale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5560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	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descrierea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problemei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	(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contextul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care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descrierea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solutiei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(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elementele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compun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responsabilitatile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colaborarile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457200" indent="-355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AutoNum type="arabicPeriod"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consecintele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compromisuri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aplicarii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proiectare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asemenea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ale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limbaje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programare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Google Shape;176;p2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FAE22E54-0DAF-478A-85A1-D61E055AE73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9</a:t>
            </a:fld>
            <a:endParaRPr lang="en-US" altLang="en-US" sz="1800"/>
          </a:p>
        </p:txBody>
      </p:sp>
      <p:sp>
        <p:nvSpPr>
          <p:cNvPr id="11267" name="Google Shape;177;p23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1268" name="Google Shape;178;p2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269" name="Google Shape;179;p2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1270" name="Google Shape;180;p23"/>
          <p:cNvSpPr txBox="1">
            <a:spLocks noChangeArrowheads="1"/>
          </p:cNvSpPr>
          <p:nvPr/>
        </p:nvSpPr>
        <p:spPr bwMode="auto">
          <a:xfrm>
            <a:off x="274638" y="1271588"/>
            <a:ext cx="9658350" cy="59372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1800" b="1">
                <a:solidFill>
                  <a:schemeClr val="accent1"/>
                </a:solidFill>
              </a:rPr>
              <a:t>Structura unui sablon</a:t>
            </a:r>
          </a:p>
          <a:p>
            <a:pPr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1800"/>
              <a:t>	 	 		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1800"/>
              <a:t> In cartea de referinta (GoF), descrierea unui sablon este alcatuita din urmatoarele sectiuni:</a:t>
            </a:r>
          </a:p>
          <a:p>
            <a:pPr lvl="1" eaLnBrk="1" hangingPunct="1">
              <a:lnSpc>
                <a:spcPts val="3000"/>
              </a:lnSpc>
              <a:buClr>
                <a:srgbClr val="000000"/>
              </a:buClr>
              <a:buSzPts val="2000"/>
            </a:pPr>
            <a:r>
              <a:rPr lang="en-US" altLang="en-US" sz="1800" b="1"/>
              <a:t>Numele sablonului si clasificarea</a:t>
            </a:r>
            <a:r>
              <a:rPr lang="en-US" altLang="en-US" sz="1800"/>
              <a:t>	</a:t>
            </a:r>
            <a:br>
              <a:rPr lang="en-US" altLang="en-US" sz="1800"/>
            </a:br>
            <a:r>
              <a:rPr lang="en-US" altLang="en-US" sz="1800" b="1"/>
              <a:t>Intentia</a:t>
            </a:r>
            <a:r>
              <a:rPr lang="en-US" altLang="en-US" sz="1800"/>
              <a:t/>
            </a:r>
            <a:br>
              <a:rPr lang="en-US" altLang="en-US" sz="1800"/>
            </a:br>
            <a:r>
              <a:rPr lang="en-US" altLang="en-US" sz="1800" b="1"/>
              <a:t>Alte nume prin care este cunoscut</a:t>
            </a:r>
            <a:r>
              <a:rPr lang="en-US" altLang="en-US" sz="1800"/>
              <a:t>, daca exista. 	</a:t>
            </a:r>
            <a:br>
              <a:rPr lang="en-US" altLang="en-US" sz="1800"/>
            </a:br>
            <a:r>
              <a:rPr lang="en-US" altLang="en-US" sz="1800" b="1"/>
              <a:t>Motivatia - </a:t>
            </a:r>
            <a:r>
              <a:rPr lang="en-US" altLang="en-US" sz="1800"/>
              <a:t>scenariu care ilustreaza o problema de proiectare si rezolvarea ;	</a:t>
            </a:r>
            <a:br>
              <a:rPr lang="en-US" altLang="en-US" sz="1800"/>
            </a:br>
            <a:r>
              <a:rPr lang="en-US" altLang="en-US" sz="1800" b="1"/>
              <a:t>Aplicabilitatea</a:t>
            </a:r>
            <a:r>
              <a:rPr lang="en-US" altLang="en-US" sz="1800"/>
              <a:t>	</a:t>
            </a:r>
            <a:br>
              <a:rPr lang="en-US" altLang="en-US" sz="1800"/>
            </a:br>
            <a:r>
              <a:rPr lang="en-US" altLang="en-US" sz="1800" b="1"/>
              <a:t>Structura</a:t>
            </a:r>
            <a:r>
              <a:rPr lang="en-US" altLang="en-US" sz="1800"/>
              <a:t> - reprezentata grafic prin diagrame de clase si de interactiune (UML) ;</a:t>
            </a:r>
          </a:p>
          <a:p>
            <a:pPr lvl="1" eaLnBrk="1" hangingPunct="1">
              <a:lnSpc>
                <a:spcPts val="3000"/>
              </a:lnSpc>
              <a:buClr>
                <a:srgbClr val="000000"/>
              </a:buClr>
              <a:buSzPts val="2000"/>
            </a:pPr>
            <a:r>
              <a:rPr lang="en-US" altLang="en-US" sz="1800" b="1"/>
              <a:t>Participanti - </a:t>
            </a:r>
            <a:r>
              <a:rPr lang="en-US" altLang="en-US" sz="1800"/>
              <a:t>clasele si obiectele si responsabilitatile lor;</a:t>
            </a:r>
            <a:br>
              <a:rPr lang="en-US" altLang="en-US" sz="1800"/>
            </a:br>
            <a:r>
              <a:rPr lang="en-US" altLang="en-US" sz="1800" b="1"/>
              <a:t>Colaborari</a:t>
            </a:r>
            <a:r>
              <a:rPr lang="en-US" altLang="en-US" sz="1800"/>
              <a:t> 	</a:t>
            </a:r>
            <a:br>
              <a:rPr lang="en-US" altLang="en-US" sz="1800"/>
            </a:br>
            <a:r>
              <a:rPr lang="en-US" altLang="en-US" sz="1800" b="1"/>
              <a:t>Consecinte </a:t>
            </a:r>
            <a:r>
              <a:rPr lang="en-US" altLang="en-US" sz="1800"/>
              <a:t>- compromisurile si rezultatele utilizarii sablonului.</a:t>
            </a:r>
            <a:br>
              <a:rPr lang="en-US" altLang="en-US" sz="1800"/>
            </a:br>
            <a:r>
              <a:rPr lang="en-US" altLang="en-US" sz="1800" b="1"/>
              <a:t>Implement are - </a:t>
            </a:r>
            <a:r>
              <a:rPr lang="en-US" altLang="en-US" sz="1800"/>
              <a:t>tehnici de implementare, aspectele dependente de limbaj</a:t>
            </a:r>
            <a:br>
              <a:rPr lang="en-US" altLang="en-US" sz="1800"/>
            </a:br>
            <a:r>
              <a:rPr lang="en-US" altLang="en-US" sz="1800" b="1"/>
              <a:t>Exemplu de cod </a:t>
            </a:r>
            <a:r>
              <a:rPr lang="en-US" altLang="en-US" sz="1800"/>
              <a:t/>
            </a:r>
            <a:br>
              <a:rPr lang="en-US" altLang="en-US" sz="1800"/>
            </a:br>
            <a:r>
              <a:rPr lang="en-US" altLang="en-US" sz="1800" b="1"/>
              <a:t>Utilizari cunoscute</a:t>
            </a:r>
            <a:r>
              <a:rPr lang="en-US" altLang="en-US" sz="1800"/>
              <a:t/>
            </a:r>
            <a:br>
              <a:rPr lang="en-US" altLang="en-US" sz="1800"/>
            </a:br>
            <a:r>
              <a:rPr lang="en-US" altLang="en-US" sz="1800" b="1"/>
              <a:t>Sabloane corelate</a:t>
            </a:r>
          </a:p>
          <a:p>
            <a:pPr eaLnBrk="1" hangingPunct="1"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ts val="2000"/>
            </a:pPr>
            <a:endParaRPr lang="en-US" altLang="en-US" sz="1800" b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Google Shape;200;p2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D7438AA-3C21-4C97-A88D-4DEC452F879F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10</a:t>
            </a:fld>
            <a:endParaRPr lang="en-US" altLang="en-US" sz="1800"/>
          </a:p>
        </p:txBody>
      </p:sp>
      <p:sp>
        <p:nvSpPr>
          <p:cNvPr id="12291" name="Google Shape;201;p25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2292" name="Google Shape;202;p2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293" name="Google Shape;203;p2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04" name="Google Shape;204;p25"/>
          <p:cNvSpPr txBox="1"/>
          <p:nvPr/>
        </p:nvSpPr>
        <p:spPr>
          <a:xfrm>
            <a:off x="273925" y="1564937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sabloanele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proiectare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folosite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descrise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urmeaza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1. Abstract Server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un client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depinde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direct de server,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incalcat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principiul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inversare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dependentelor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Modificarile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facute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in server se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vor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propaga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in client,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iar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clientul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fi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capabil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foloseasca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alte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servere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similare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acela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care a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fost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construit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         </a:t>
            </a:r>
            <a:endParaRPr sz="2000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Situatia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sus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imbunatati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inserarea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interfete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abstracte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intre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client </a:t>
            </a:r>
            <a:r>
              <a:rPr lang="en-US" sz="2000" dirty="0" err="1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rgbClr val="171717"/>
                </a:solidFill>
                <a:latin typeface="Arial"/>
                <a:ea typeface="Arial"/>
                <a:cs typeface="Arial"/>
                <a:sym typeface="Arial"/>
              </a:rPr>
              <a:t> server,</a:t>
            </a:r>
            <a:endParaRPr sz="2000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Client -&gt;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&lt;- Manager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Google Shape;212;p2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2E82548-F49B-44EE-9634-99B6745CFB32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11</a:t>
            </a:fld>
            <a:endParaRPr lang="en-US" altLang="en-US" sz="1800"/>
          </a:p>
        </p:txBody>
      </p:sp>
      <p:sp>
        <p:nvSpPr>
          <p:cNvPr id="13315" name="Google Shape;213;p26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3316" name="Google Shape;214;p2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7" name="Google Shape;215;p2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16" name="Google Shape;216;p26"/>
          <p:cNvSpPr txBox="1"/>
          <p:nvPr/>
        </p:nvSpPr>
        <p:spPr>
          <a:xfrm>
            <a:off x="273925" y="1272050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2. Adapter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inserarea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interfete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abstracte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nu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posibila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deoarece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serverul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companie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(third party ISV)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foarte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multe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dependente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intrare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care-l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fac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greu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modificat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se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folosi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un ADAPTER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lega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abstracta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server.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Client -&gt;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&lt;- Adapter -&gt;Manager.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Google Shape;224;p2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41E2A83-2908-43DD-B31E-4ED9BAEFD90E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12</a:t>
            </a:fld>
            <a:endParaRPr lang="en-US" altLang="en-US" sz="1800"/>
          </a:p>
        </p:txBody>
      </p:sp>
      <p:sp>
        <p:nvSpPr>
          <p:cNvPr id="14339" name="Google Shape;225;p27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4340" name="Google Shape;226;p2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1" name="Google Shape;227;p2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28" name="Google Shape;228;p27"/>
          <p:cNvSpPr txBox="1"/>
          <p:nvPr/>
        </p:nvSpPr>
        <p:spPr>
          <a:xfrm>
            <a:off x="273925" y="1272050"/>
            <a:ext cx="9659700" cy="5234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3. Singleton (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cu o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singura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en-US" sz="2000" b="1" i="1" dirty="0">
              <a:solidFill>
                <a:srgbClr val="171717"/>
              </a:solidFill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</a:rPr>
              <a:t>Intentia</a:t>
            </a:r>
            <a:endParaRPr lang="en-US" sz="2000" b="1" dirty="0">
              <a:solidFill>
                <a:schemeClr val="accent1"/>
              </a:solidFill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dirty="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proiectarea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cu 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singur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singura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instanţă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 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</a:rPr>
              <a:t>Motivatia</a:t>
            </a:r>
            <a:endParaRPr lang="en-US" sz="2000" b="1" dirty="0">
              <a:solidFill>
                <a:schemeClr val="accent1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într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operare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fişiere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singur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manager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ferestre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Aplicabilitate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când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să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exact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</a:rPr>
              <a:t>: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clientii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aiba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acces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punct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bine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definit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Google Shape;236;p2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9F369A3-33F6-4DE1-B400-38BB4275DA5E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13</a:t>
            </a:fld>
            <a:endParaRPr lang="en-US" altLang="en-US" sz="1800"/>
          </a:p>
        </p:txBody>
      </p:sp>
      <p:sp>
        <p:nvSpPr>
          <p:cNvPr id="15363" name="Google Shape;237;p2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5364" name="Google Shape;238;p2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Google Shape;239;p2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40" name="Google Shape;240;p28"/>
          <p:cNvSpPr txBox="1"/>
          <p:nvPr/>
        </p:nvSpPr>
        <p:spPr>
          <a:xfrm>
            <a:off x="273925" y="1272050"/>
            <a:ext cx="9659700" cy="4557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Singleton (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cu o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singura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b="1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Consecinţe</a:t>
            </a:r>
            <a:endParaRPr sz="2000" b="1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acces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controlat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unica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</a:rPr>
              <a:t>;</a:t>
            </a: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Arial"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reducerea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spaţiului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eliminarea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variab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globale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</a:rPr>
              <a:t>;</a:t>
            </a: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Arial"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permite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rafinarea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operaţiilor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reprezentării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</a:t>
            </a: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Arial"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permite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numar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variabil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insţante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</a:rPr>
              <a:t>;</a:t>
            </a: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>
              <a:spcBef>
                <a:spcPts val="0"/>
              </a:spcBef>
              <a:spcAft>
                <a:spcPts val="0"/>
              </a:spcAft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</a:endParaRPr>
          </a:p>
          <a:p>
            <a:pPr marL="457200" indent="-355600">
              <a:spcBef>
                <a:spcPts val="0"/>
              </a:spcBef>
              <a:spcAft>
                <a:spcPts val="0"/>
              </a:spcAft>
              <a:buClr>
                <a:srgbClr val="171717"/>
              </a:buClr>
              <a:buSzPts val="2000"/>
              <a:buFont typeface="Arial"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flexibila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decât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operaţiile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nivel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clasă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statice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).</a:t>
            </a: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Google Shape;248;p2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E3BEE03-7A7A-436F-8B01-7F4EBA2938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14</a:t>
            </a:fld>
            <a:endParaRPr lang="en-US" altLang="en-US" sz="1800"/>
          </a:p>
        </p:txBody>
      </p:sp>
      <p:sp>
        <p:nvSpPr>
          <p:cNvPr id="16387" name="Google Shape;249;p29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6388" name="Google Shape;250;p2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Google Shape;251;p2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6390" name="Google Shape;252;p29"/>
          <p:cNvSpPr txBox="1">
            <a:spLocks noChangeArrowheads="1"/>
          </p:cNvSpPr>
          <p:nvPr/>
        </p:nvSpPr>
        <p:spPr bwMode="auto">
          <a:xfrm>
            <a:off x="274638" y="1271588"/>
            <a:ext cx="9658350" cy="527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Singleton (clase cu o singura instanta)</a:t>
            </a:r>
            <a:r>
              <a:rPr lang="en-US" altLang="en-US" sz="2000" b="1">
                <a:solidFill>
                  <a:schemeClr val="tx2"/>
                </a:solidFill>
              </a:rPr>
              <a:t> - exemplu cu referinte</a:t>
            </a:r>
          </a:p>
        </p:txBody>
      </p:sp>
      <p:sp>
        <p:nvSpPr>
          <p:cNvPr id="16391" name="Rectangle 8"/>
          <p:cNvSpPr>
            <a:spLocks noChangeArrowheads="1"/>
          </p:cNvSpPr>
          <p:nvPr/>
        </p:nvSpPr>
        <p:spPr bwMode="auto">
          <a:xfrm>
            <a:off x="239713" y="2413000"/>
            <a:ext cx="6324600" cy="4186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altLang="en-US" b="1">
                <a:latin typeface="Courier New" pitchFamily="49" charset="0"/>
              </a:rPr>
              <a:t> Singleton</a:t>
            </a: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altLang="en-US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static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instance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uniqueInstance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getValue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b="1">
                <a:latin typeface="Courier New" pitchFamily="49" charset="0"/>
              </a:rPr>
              <a:t> setValue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 data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value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private</a:t>
            </a:r>
            <a:r>
              <a:rPr lang="en-US" altLang="en-US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static</a:t>
            </a:r>
            <a:r>
              <a:rPr lang="en-US" altLang="en-US" b="1">
                <a:latin typeface="Courier New" pitchFamily="49" charset="0"/>
              </a:rPr>
              <a:t> Singleton uniqueInstance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d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</a:t>
            </a:r>
            <a:r>
              <a:rPr lang="en-US" altLang="en-US" b="1">
                <a:latin typeface="Courier New" pitchFamily="49" charset="0"/>
              </a:rPr>
              <a:t>data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latin typeface="Courier New" pitchFamily="49" charset="0"/>
              </a:rPr>
              <a:t>d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=(</a:t>
            </a:r>
            <a:r>
              <a:rPr lang="en-US" altLang="en-US" b="1">
                <a:latin typeface="Courier New" pitchFamily="49" charset="0"/>
              </a:rPr>
              <a:t>Singleton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   </a:t>
            </a: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if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data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const</a:t>
            </a:r>
            <a:r>
              <a:rPr lang="en-US" altLang="en-US" b="1">
                <a:latin typeface="Courier New" pitchFamily="49" charset="0"/>
              </a:rPr>
              <a:t> Singleton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data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Singleton Singleton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uniqueInstance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</p:txBody>
      </p:sp>
      <p:sp>
        <p:nvSpPr>
          <p:cNvPr id="16392" name="Rectangle 9"/>
          <p:cNvSpPr>
            <a:spLocks noChangeArrowheads="1"/>
          </p:cNvSpPr>
          <p:nvPr/>
        </p:nvSpPr>
        <p:spPr bwMode="auto">
          <a:xfrm>
            <a:off x="4649788" y="1839913"/>
            <a:ext cx="5038725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s1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instance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 s1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getValue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s2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instance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s2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setValue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9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 s1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getValue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sz="1800" b="1">
                <a:solidFill>
                  <a:srgbClr val="800080"/>
                </a:solidFill>
                <a:latin typeface="Times New Roman" pitchFamily="18" charset="0"/>
              </a:rPr>
              <a:t>}</a:t>
            </a:r>
            <a:endParaRPr lang="en-US" altLang="en-US" b="1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Google Shape;260;p3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2E9B0CC-712F-4543-994B-048CFD699931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15</a:t>
            </a:fld>
            <a:endParaRPr lang="en-US" altLang="en-US" sz="1800"/>
          </a:p>
        </p:txBody>
      </p:sp>
      <p:sp>
        <p:nvSpPr>
          <p:cNvPr id="17411" name="Google Shape;261;p30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7412" name="Google Shape;262;p3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3" name="Google Shape;263;p3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17414" name="Google Shape;264;p30"/>
          <p:cNvSpPr txBox="1">
            <a:spLocks noChangeArrowheads="1"/>
          </p:cNvSpPr>
          <p:nvPr/>
        </p:nvSpPr>
        <p:spPr bwMode="auto">
          <a:xfrm>
            <a:off x="274638" y="1271588"/>
            <a:ext cx="9658350" cy="6794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Singleton (clase cu o singura instanta)</a:t>
            </a:r>
            <a:r>
              <a:rPr lang="en-US" altLang="en-US" sz="2000" b="1">
                <a:solidFill>
                  <a:schemeClr val="tx2"/>
                </a:solidFill>
              </a:rPr>
              <a:t> - exemplu cu pointeri</a:t>
            </a:r>
          </a:p>
        </p:txBody>
      </p:sp>
      <p:sp>
        <p:nvSpPr>
          <p:cNvPr id="17415" name="Rectangle 6"/>
          <p:cNvSpPr>
            <a:spLocks noChangeArrowheads="1"/>
          </p:cNvSpPr>
          <p:nvPr/>
        </p:nvSpPr>
        <p:spPr bwMode="auto">
          <a:xfrm>
            <a:off x="87313" y="1874838"/>
            <a:ext cx="6477000" cy="4616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altLang="en-US" b="1">
                <a:latin typeface="Courier New" pitchFamily="49" charset="0"/>
              </a:rPr>
              <a:t> Singleton</a:t>
            </a: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altLang="en-US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static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instance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if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latin typeface="Courier New" pitchFamily="49" charset="0"/>
              </a:rPr>
              <a:t>uniqueInstance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7D0045"/>
                </a:solidFill>
                <a:latin typeface="Courier New" pitchFamily="49" charset="0"/>
              </a:rPr>
              <a:t>NULL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</a:t>
            </a: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   uniqueInstance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new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uniqueInstance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getValue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b="1">
                <a:latin typeface="Courier New" pitchFamily="49" charset="0"/>
              </a:rPr>
              <a:t> setValue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 data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value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private</a:t>
            </a:r>
            <a:r>
              <a:rPr lang="en-US" altLang="en-US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static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uniqueInstance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d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</a:t>
            </a:r>
            <a:r>
              <a:rPr lang="en-US" altLang="en-US" b="1">
                <a:latin typeface="Courier New" pitchFamily="49" charset="0"/>
              </a:rPr>
              <a:t>data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latin typeface="Courier New" pitchFamily="49" charset="0"/>
              </a:rPr>
              <a:t>d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=(</a:t>
            </a:r>
            <a:r>
              <a:rPr lang="en-US" altLang="en-US" b="1">
                <a:latin typeface="Courier New" pitchFamily="49" charset="0"/>
              </a:rPr>
              <a:t>Singleton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   </a:t>
            </a: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         if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data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const</a:t>
            </a:r>
            <a:r>
              <a:rPr lang="en-US" altLang="en-US" b="1">
                <a:latin typeface="Courier New" pitchFamily="49" charset="0"/>
              </a:rPr>
              <a:t> Singleton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data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data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uniqueInstance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7D0045"/>
                </a:solidFill>
                <a:latin typeface="Courier New" pitchFamily="49" charset="0"/>
              </a:rPr>
              <a:t>NULL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</p:txBody>
      </p:sp>
      <p:sp>
        <p:nvSpPr>
          <p:cNvPr id="17416" name="Rectangle 7"/>
          <p:cNvSpPr>
            <a:spLocks noChangeArrowheads="1"/>
          </p:cNvSpPr>
          <p:nvPr/>
        </p:nvSpPr>
        <p:spPr bwMode="auto">
          <a:xfrm>
            <a:off x="5335588" y="3043238"/>
            <a:ext cx="4657725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s1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instance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 s1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Singleton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s2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Singleton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instance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s2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setValue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9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 s1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getValue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Google Shape;260;p3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59E93DE-8257-407B-8B75-969811B6A73C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16</a:t>
            </a:fld>
            <a:endParaRPr lang="en-US" altLang="en-US" sz="1800"/>
          </a:p>
        </p:txBody>
      </p:sp>
      <p:sp>
        <p:nvSpPr>
          <p:cNvPr id="18435" name="Google Shape;261;p30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8436" name="Google Shape;262;p3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Google Shape;263;p3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64" name="Google Shape;264;p30"/>
          <p:cNvSpPr txBox="1"/>
          <p:nvPr/>
        </p:nvSpPr>
        <p:spPr>
          <a:xfrm>
            <a:off x="273925" y="1272050"/>
            <a:ext cx="9659700" cy="755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Singleton (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cu o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singura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exemplu</a:t>
            </a:r>
            <a:endParaRPr sz="2000" b="1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39" name="Rectangle 6"/>
          <p:cNvSpPr>
            <a:spLocks noChangeArrowheads="1"/>
          </p:cNvSpPr>
          <p:nvPr/>
        </p:nvSpPr>
        <p:spPr bwMode="auto">
          <a:xfrm>
            <a:off x="392113" y="1798638"/>
            <a:ext cx="8229600" cy="5262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004A43"/>
                </a:solidFill>
                <a:latin typeface="Courier New" pitchFamily="49" charset="0"/>
              </a:rPr>
              <a:t>#include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&lt;</a:t>
            </a:r>
            <a:r>
              <a:rPr lang="en-US" altLang="en-US" b="1">
                <a:solidFill>
                  <a:srgbClr val="40015A"/>
                </a:solidFill>
                <a:latin typeface="Courier New" pitchFamily="49" charset="0"/>
              </a:rPr>
              <a:t>iostream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&gt;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using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namespace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666616"/>
                </a:solidFill>
                <a:latin typeface="Courier New" pitchFamily="49" charset="0"/>
              </a:rPr>
              <a:t>std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altLang="en-US" b="1">
                <a:latin typeface="Courier New" pitchFamily="49" charset="0"/>
              </a:rPr>
              <a:t> Ceas_intern</a:t>
            </a: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static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instanta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timestamp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d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</a:t>
            </a:r>
            <a:r>
              <a:rPr lang="en-US" altLang="en-US" b="1">
                <a:latin typeface="Courier New" pitchFamily="49" charset="0"/>
              </a:rPr>
              <a:t>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latin typeface="Courier New" pitchFamily="49" charset="0"/>
              </a:rPr>
              <a:t>d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Ceas_intern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=(</a:t>
            </a:r>
            <a:r>
              <a:rPr lang="en-US" altLang="en-US" b="1">
                <a:latin typeface="Courier New" pitchFamily="49" charset="0"/>
              </a:rPr>
              <a:t>Ceas_intern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const</a:t>
            </a:r>
            <a:r>
              <a:rPr lang="en-US" altLang="en-US" b="1">
                <a:latin typeface="Courier New" pitchFamily="49" charset="0"/>
              </a:rPr>
              <a:t> Ceas_intern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altLang="en-US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static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get_instanta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if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latin typeface="Courier New" pitchFamily="49" charset="0"/>
              </a:rPr>
              <a:t>instanta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7D0045"/>
                </a:solidFill>
                <a:latin typeface="Courier New" pitchFamily="49" charset="0"/>
              </a:rPr>
              <a:t>NULL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latin typeface="Courier New" pitchFamily="49" charset="0"/>
              </a:rPr>
              <a:t> instanta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new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instanta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b="1">
                <a:latin typeface="Courier New" pitchFamily="49" charset="0"/>
              </a:rPr>
              <a:t> adauga_zile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b="1">
                <a:latin typeface="Courier New" pitchFamily="49" charset="0"/>
              </a:rPr>
              <a:t> adauga_luni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instanta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7D0045"/>
                </a:solidFill>
                <a:latin typeface="Courier New" pitchFamily="49" charset="0"/>
              </a:rPr>
              <a:t>NULL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Google Shape;260;p3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E1BF9742-B489-494C-A719-1A1E76AE609A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17</a:t>
            </a:fld>
            <a:endParaRPr lang="en-US" altLang="en-US" sz="1800"/>
          </a:p>
        </p:txBody>
      </p:sp>
      <p:sp>
        <p:nvSpPr>
          <p:cNvPr id="19459" name="Google Shape;261;p30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19460" name="Google Shape;262;p3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Google Shape;263;p3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64" name="Google Shape;264;p30"/>
          <p:cNvSpPr txBox="1"/>
          <p:nvPr/>
        </p:nvSpPr>
        <p:spPr>
          <a:xfrm>
            <a:off x="273925" y="1272050"/>
            <a:ext cx="9659700" cy="755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Singleton (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cu o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singura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instanta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r>
              <a:rPr lang="en-US" sz="2000" b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- </a:t>
            </a:r>
            <a:r>
              <a:rPr lang="en-US" sz="2000" b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exemplu</a:t>
            </a:r>
            <a:endParaRPr sz="2000" b="1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63" name="Rectangle 7"/>
          <p:cNvSpPr>
            <a:spLocks noChangeArrowheads="1"/>
          </p:cNvSpPr>
          <p:nvPr/>
        </p:nvSpPr>
        <p:spPr bwMode="auto">
          <a:xfrm>
            <a:off x="392113" y="1730375"/>
            <a:ext cx="6405562" cy="5478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latin typeface="Courier New" pitchFamily="49" charset="0"/>
              </a:rPr>
              <a:t>Ceas_intern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operator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=(</a:t>
            </a:r>
            <a:r>
              <a:rPr lang="en-US" altLang="en-US" b="1">
                <a:latin typeface="Courier New" pitchFamily="49" charset="0"/>
              </a:rPr>
              <a:t>Ceas_intern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if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!=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    timestamp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timestamp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const</a:t>
            </a:r>
            <a:r>
              <a:rPr lang="en-US" altLang="en-US" b="1">
                <a:latin typeface="Courier New" pitchFamily="49" charset="0"/>
              </a:rPr>
              <a:t> Ceas_intern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&amp;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timestamp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ob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.</a:t>
            </a:r>
            <a:r>
              <a:rPr lang="en-US" altLang="en-US" b="1">
                <a:latin typeface="Courier New" pitchFamily="49" charset="0"/>
              </a:rPr>
              <a:t>timestamp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adauga_zile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d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+=</a:t>
            </a:r>
            <a:r>
              <a:rPr lang="en-US" altLang="en-US" b="1">
                <a:latin typeface="Courier New" pitchFamily="49" charset="0"/>
              </a:rPr>
              <a:t>d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adauga_luni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m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+=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22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m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return</a:t>
            </a:r>
            <a:r>
              <a:rPr lang="en-US" altLang="en-US" b="1">
                <a:latin typeface="Courier New" pitchFamily="49" charset="0"/>
              </a:rPr>
              <a:t> timestamp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>
              <a:latin typeface="Courier New" pitchFamily="49" charset="0"/>
            </a:endParaRPr>
          </a:p>
        </p:txBody>
      </p:sp>
      <p:sp>
        <p:nvSpPr>
          <p:cNvPr id="19464" name="Rectangle 8"/>
          <p:cNvSpPr>
            <a:spLocks noChangeArrowheads="1"/>
          </p:cNvSpPr>
          <p:nvPr/>
        </p:nvSpPr>
        <p:spPr bwMode="auto">
          <a:xfrm>
            <a:off x="4354513" y="4454525"/>
            <a:ext cx="5649912" cy="2678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b="1">
                <a:latin typeface="Courier New" pitchFamily="49" charset="0"/>
              </a:rPr>
              <a:t> </a:t>
            </a:r>
            <a:r>
              <a:rPr lang="en-US" altLang="en-US" b="1">
                <a:solidFill>
                  <a:srgbClr val="400000"/>
                </a:solidFill>
                <a:latin typeface="Courier New" pitchFamily="49" charset="0"/>
              </a:rPr>
              <a:t>main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ob1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 </a:t>
            </a:r>
            <a:r>
              <a:rPr lang="en-US" altLang="en-US" b="1">
                <a:latin typeface="Courier New" pitchFamily="49" charset="0"/>
              </a:rPr>
              <a:t>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get_instanta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ob1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ob1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adauga_zile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ob1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Ceas_intern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b="1">
                <a:latin typeface="Courier New" pitchFamily="49" charset="0"/>
              </a:rPr>
              <a:t> ob2 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b="1">
                <a:latin typeface="Courier New" pitchFamily="49" charset="0"/>
              </a:rPr>
              <a:t> Ceas_intern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b="1">
                <a:latin typeface="Courier New" pitchFamily="49" charset="0"/>
              </a:rPr>
              <a:t>get_instanta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ob2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ob2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adauga_zile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b="1">
                <a:solidFill>
                  <a:srgbClr val="008C00"/>
                </a:solidFill>
                <a:latin typeface="Courier New" pitchFamily="49" charset="0"/>
              </a:rPr>
              <a:t>10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ob2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>
                <a:latin typeface="Courier New" pitchFamily="49" charset="0"/>
              </a:rPr>
              <a:t>    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cout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&lt;&lt;</a:t>
            </a:r>
            <a:r>
              <a:rPr lang="en-US" altLang="en-US" b="1">
                <a:latin typeface="Courier New" pitchFamily="49" charset="0"/>
              </a:rPr>
              <a:t>ob1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b="1">
                <a:latin typeface="Courier New" pitchFamily="49" charset="0"/>
              </a:rPr>
              <a:t>get_timestamp</a:t>
            </a:r>
            <a:r>
              <a:rPr lang="en-US" altLang="en-US" b="1">
                <a:solidFill>
                  <a:srgbClr val="808030"/>
                </a:solidFill>
                <a:latin typeface="Courier New" pitchFamily="49" charset="0"/>
              </a:rPr>
              <a:t>()&lt;&lt;</a:t>
            </a:r>
            <a:r>
              <a:rPr lang="en-US" altLang="en-US" b="1">
                <a:solidFill>
                  <a:srgbClr val="603000"/>
                </a:solidFill>
                <a:latin typeface="Courier New" pitchFamily="49" charset="0"/>
              </a:rPr>
              <a:t>endl</a:t>
            </a:r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;</a:t>
            </a:r>
          </a:p>
          <a:p>
            <a:pPr eaLnBrk="1" hangingPunct="1"/>
            <a:r>
              <a:rPr lang="en-US" altLang="en-US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b="1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8159750" y="2609850"/>
            <a:ext cx="614363" cy="1169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/>
              <a:t>0</a:t>
            </a:r>
          </a:p>
          <a:p>
            <a:pPr eaLnBrk="1" hangingPunct="1"/>
            <a:r>
              <a:rPr lang="en-US" altLang="en-US"/>
              <a:t>10</a:t>
            </a:r>
          </a:p>
          <a:p>
            <a:pPr eaLnBrk="1" hangingPunct="1"/>
            <a:r>
              <a:rPr lang="en-US" altLang="en-US"/>
              <a:t>10</a:t>
            </a:r>
          </a:p>
          <a:p>
            <a:pPr eaLnBrk="1" hangingPunct="1"/>
            <a:r>
              <a:rPr lang="en-US" altLang="en-US"/>
              <a:t>20</a:t>
            </a:r>
          </a:p>
          <a:p>
            <a:pPr eaLnBrk="1" hangingPunct="1"/>
            <a:r>
              <a:rPr lang="en-US" altLang="en-US"/>
              <a:t>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Google Shape;284;p3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D7353C0-6A62-4D40-BE03-71FD31D6010F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18</a:t>
            </a:fld>
            <a:endParaRPr lang="en-US" altLang="en-US" sz="1800"/>
          </a:p>
        </p:txBody>
      </p:sp>
      <p:sp>
        <p:nvSpPr>
          <p:cNvPr id="20483" name="Google Shape;285;p32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0484" name="Google Shape;286;p3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Google Shape;287;p3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88" name="Google Shape;288;p32"/>
          <p:cNvSpPr txBox="1"/>
          <p:nvPr/>
        </p:nvSpPr>
        <p:spPr>
          <a:xfrm>
            <a:off x="273925" y="1272050"/>
            <a:ext cx="9659700" cy="563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4. Observer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Intentia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	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“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multi”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incat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atunci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schimba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automat.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nume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prin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cunoscut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Dependents, 	Publish-Subscribe.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Motivatia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descrie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cum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stabileasca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relatiile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cheie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observator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en-US" sz="2000" b="1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avea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numar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observatori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dependenti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en-US"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Toti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observatorii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notificati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schimba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lang="en-US"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raspuns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fiecare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observator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va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interoga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a-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sincroniza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Google Shape;296;p3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D618C34-4F0F-486D-B641-87298BA44C49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19</a:t>
            </a:fld>
            <a:endParaRPr lang="en-US" altLang="en-US" sz="1800"/>
          </a:p>
        </p:txBody>
      </p:sp>
      <p:sp>
        <p:nvSpPr>
          <p:cNvPr id="21507" name="Google Shape;297;p33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1508" name="Google Shape;298;p3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Google Shape;299;p3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00" name="Google Shape;300;p33"/>
          <p:cNvSpPr txBox="1"/>
          <p:nvPr/>
        </p:nvSpPr>
        <p:spPr>
          <a:xfrm>
            <a:off x="273925" y="1272050"/>
            <a:ext cx="9659700" cy="563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511" name="Google Shape;301;p33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63" y="2032000"/>
            <a:ext cx="8361362" cy="431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Google Shape;309;p3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EE0ED2F-34E4-42F3-9B70-41DB6AA569C5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20</a:t>
            </a:fld>
            <a:endParaRPr lang="en-US" altLang="en-US" sz="1800"/>
          </a:p>
        </p:txBody>
      </p:sp>
      <p:sp>
        <p:nvSpPr>
          <p:cNvPr id="22531" name="Google Shape;310;p3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2532" name="Google Shape;311;p3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Google Shape;312;p3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13" name="Google Shape;313;p34"/>
          <p:cNvSpPr txBox="1"/>
          <p:nvPr/>
        </p:nvSpPr>
        <p:spPr>
          <a:xfrm>
            <a:off x="273925" y="1272050"/>
            <a:ext cx="9659700" cy="5636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Structura</a:t>
            </a:r>
            <a:endParaRPr sz="2000" b="1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535" name="Google Shape;314;p34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38" y="2593975"/>
            <a:ext cx="8791575" cy="46339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Google Shape;322;p3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B4389F6-20D3-41F7-B2F3-1A646B732A80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21</a:t>
            </a:fld>
            <a:endParaRPr lang="en-US" altLang="en-US" sz="1800"/>
          </a:p>
        </p:txBody>
      </p:sp>
      <p:sp>
        <p:nvSpPr>
          <p:cNvPr id="23555" name="Google Shape;323;p35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3556" name="Google Shape;324;p3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Google Shape;325;p3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26" name="Google Shape;326;p35"/>
          <p:cNvSpPr txBox="1"/>
          <p:nvPr/>
        </p:nvSpPr>
        <p:spPr>
          <a:xfrm>
            <a:off x="273925" y="1272050"/>
            <a:ext cx="9659700" cy="486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Aplicabilitatea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b="1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Sablonul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utilizat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oricare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dintre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urmatoarele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situatii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-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abstractie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are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doua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aspecte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unul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dependent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celalalt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daca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incapsulate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separate,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pot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reutilizate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independent).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-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unui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necesita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altor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nu se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-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un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alte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face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presupuneri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cine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aceste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Google Shape;334;p3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728CEDF-4A75-4C0B-BD33-952B4649D11E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22</a:t>
            </a:fld>
            <a:endParaRPr lang="en-US" altLang="en-US" sz="1800"/>
          </a:p>
        </p:txBody>
      </p:sp>
      <p:sp>
        <p:nvSpPr>
          <p:cNvPr id="24579" name="Google Shape;335;p36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4580" name="Google Shape;336;p3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Google Shape;337;p3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38" name="Google Shape;338;p36"/>
          <p:cNvSpPr txBox="1"/>
          <p:nvPr/>
        </p:nvSpPr>
        <p:spPr>
          <a:xfrm>
            <a:off x="273925" y="1272050"/>
            <a:ext cx="9659700" cy="486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Participantii</a:t>
            </a:r>
            <a:endParaRPr sz="2000" b="1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Subject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Cunoaste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observatorii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Un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Subject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poate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orice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numar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Furnizeaza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atasarea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detasarea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obiectelor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Observer.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	 	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Defineste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obiectelor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anuntate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despre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modificarile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din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	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Google Shape;346;p37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F8F3634-CC13-4D5D-A10B-363D739AFD13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23</a:t>
            </a:fld>
            <a:endParaRPr lang="en-US" altLang="en-US" sz="1800"/>
          </a:p>
        </p:txBody>
      </p:sp>
      <p:sp>
        <p:nvSpPr>
          <p:cNvPr id="25603" name="Google Shape;347;p37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5604" name="Google Shape;348;p37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Google Shape;349;p37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50" name="Google Shape;350;p37"/>
          <p:cNvSpPr txBox="1"/>
          <p:nvPr/>
        </p:nvSpPr>
        <p:spPr>
          <a:xfrm>
            <a:off x="273925" y="1272050"/>
            <a:ext cx="9659700" cy="486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Participantii</a:t>
            </a:r>
            <a: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i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 i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ConcreteSubject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Memoreaza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interes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obiectele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ConcreteObserver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     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Trimite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notificare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observatorilor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atunci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cand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schimba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	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ConcreteObserver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 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	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Mentine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referinta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la un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obiect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ConcreteSubject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		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Memoreaza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starea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trebuie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ramana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consistenta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cu 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subiectului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.       	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Implementeaza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actualizare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clasei</a:t>
            </a: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Observer</a:t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	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Google Shape;358;p3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B7C034D-01E5-432F-90F3-B51D497ED52C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24</a:t>
            </a:fld>
            <a:endParaRPr lang="en-US" altLang="en-US" sz="1800"/>
          </a:p>
        </p:txBody>
      </p:sp>
      <p:sp>
        <p:nvSpPr>
          <p:cNvPr id="26627" name="Google Shape;359;p3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6628" name="Google Shape;360;p3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Google Shape;361;p3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62" name="Google Shape;362;p38"/>
          <p:cNvSpPr txBox="1"/>
          <p:nvPr/>
        </p:nvSpPr>
        <p:spPr>
          <a:xfrm>
            <a:off x="273925" y="1272050"/>
            <a:ext cx="9659700" cy="4864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Colaborari</a:t>
            </a:r>
            <a: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/>
            </a:r>
            <a:br>
              <a:rPr lang="en-US" sz="2000" b="1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631" name="Google Shape;363;p38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4638" y="2360613"/>
            <a:ext cx="9658350" cy="430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Google Shape;371;p3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8383596A-7B69-480B-81E9-CAAEE63B8B4E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25</a:t>
            </a:fld>
            <a:endParaRPr lang="en-US" altLang="en-US" sz="1800"/>
          </a:p>
        </p:txBody>
      </p:sp>
      <p:sp>
        <p:nvSpPr>
          <p:cNvPr id="27651" name="Google Shape;372;p39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7652" name="Google Shape;373;p3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3" name="Google Shape;374;p3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7654" name="Google Shape;375;p39"/>
          <p:cNvSpPr txBox="1">
            <a:spLocks noChangeArrowheads="1"/>
          </p:cNvSpPr>
          <p:nvPr/>
        </p:nvSpPr>
        <p:spPr bwMode="auto">
          <a:xfrm>
            <a:off x="274638" y="1271588"/>
            <a:ext cx="9658350" cy="1670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Observer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/>
              <a:t>	 	 	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accent1"/>
                </a:solidFill>
              </a:rPr>
              <a:t>Exemplu de cod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/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/>
              <a:t>Interfata </a:t>
            </a:r>
            <a:r>
              <a:rPr lang="en-US" altLang="en-US" sz="2000" b="1"/>
              <a:t>Observer</a:t>
            </a:r>
            <a:r>
              <a:rPr lang="en-US" altLang="en-US" sz="2000"/>
              <a:t> este definita printr-o clasa abstracta: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endParaRPr lang="en-US" altLang="en-US" sz="2000"/>
          </a:p>
        </p:txBody>
      </p:sp>
      <p:sp>
        <p:nvSpPr>
          <p:cNvPr id="27655" name="Rectangle 6"/>
          <p:cNvSpPr>
            <a:spLocks noChangeArrowheads="1"/>
          </p:cNvSpPr>
          <p:nvPr/>
        </p:nvSpPr>
        <p:spPr bwMode="auto">
          <a:xfrm>
            <a:off x="1382713" y="3411538"/>
            <a:ext cx="8153400" cy="203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sz="1800" b="1" dirty="0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altLang="en-US" sz="1800" b="1" dirty="0">
                <a:latin typeface="Courier New" pitchFamily="49" charset="0"/>
              </a:rPr>
              <a:t> Observer </a:t>
            </a:r>
            <a:r>
              <a:rPr lang="en-US" altLang="en-US" sz="1800" b="1" dirty="0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sz="1800" b="1" dirty="0">
              <a:latin typeface="Courier New" pitchFamily="49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altLang="en-US" sz="1800" b="1" dirty="0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sz="1800" b="1" dirty="0">
              <a:latin typeface="Courier New" pitchFamily="49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800000"/>
                </a:solidFill>
                <a:latin typeface="Courier New" pitchFamily="49" charset="0"/>
              </a:rPr>
              <a:t>    virtual</a:t>
            </a:r>
            <a:r>
              <a:rPr lang="en-US" altLang="en-US" sz="1800" b="1" dirty="0">
                <a:latin typeface="Courier New" pitchFamily="49" charset="0"/>
              </a:rPr>
              <a:t> 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~</a:t>
            </a:r>
            <a:r>
              <a:rPr lang="en-US" altLang="en-US" sz="1800" b="1" dirty="0">
                <a:latin typeface="Courier New" pitchFamily="49" charset="0"/>
              </a:rPr>
              <a:t> Observer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800" b="1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800" b="1" dirty="0">
              <a:latin typeface="Courier New" pitchFamily="49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800000"/>
                </a:solidFill>
                <a:latin typeface="Courier New" pitchFamily="49" charset="0"/>
              </a:rPr>
              <a:t>    virtual</a:t>
            </a:r>
            <a:r>
              <a:rPr lang="en-US" altLang="en-US" sz="1800" b="1" dirty="0">
                <a:latin typeface="Courier New" pitchFamily="49" charset="0"/>
              </a:rPr>
              <a:t> </a:t>
            </a:r>
            <a:r>
              <a:rPr lang="en-US" altLang="en-US" sz="1800" b="1" dirty="0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sz="1800" b="1" dirty="0">
                <a:latin typeface="Courier New" pitchFamily="49" charset="0"/>
              </a:rPr>
              <a:t> Update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sz="1800" b="1" dirty="0">
                <a:latin typeface="Courier New" pitchFamily="49" charset="0"/>
              </a:rPr>
              <a:t>Subject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sz="1800" b="1" dirty="0">
                <a:latin typeface="Courier New" pitchFamily="49" charset="0"/>
              </a:rPr>
              <a:t> </a:t>
            </a:r>
            <a:r>
              <a:rPr lang="en-US" altLang="en-US" sz="1800" b="1" dirty="0" err="1">
                <a:latin typeface="Courier New" pitchFamily="49" charset="0"/>
              </a:rPr>
              <a:t>theChangedSubject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sz="1800" b="1" dirty="0">
                <a:latin typeface="Courier New" pitchFamily="49" charset="0"/>
              </a:rPr>
              <a:t> 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sz="1800" b="1" dirty="0">
                <a:latin typeface="Courier New" pitchFamily="49" charset="0"/>
              </a:rPr>
              <a:t> </a:t>
            </a:r>
            <a:r>
              <a:rPr lang="en-US" altLang="en-US" sz="1800" b="1" dirty="0">
                <a:solidFill>
                  <a:srgbClr val="008C00"/>
                </a:solidFill>
                <a:latin typeface="Courier New" pitchFamily="49" charset="0"/>
              </a:rPr>
              <a:t>0</a:t>
            </a:r>
            <a:r>
              <a:rPr lang="en-US" altLang="en-US" sz="1800" b="1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800" b="1" dirty="0">
              <a:latin typeface="Courier New" pitchFamily="49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800000"/>
                </a:solidFill>
                <a:latin typeface="Courier New" pitchFamily="49" charset="0"/>
              </a:rPr>
              <a:t>protected</a:t>
            </a:r>
            <a:r>
              <a:rPr lang="en-US" altLang="en-US" sz="1800" b="1" dirty="0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sz="1800" b="1" dirty="0">
              <a:latin typeface="Courier New" pitchFamily="49" charset="0"/>
            </a:endParaRPr>
          </a:p>
          <a:p>
            <a:pPr eaLnBrk="1" hangingPunct="1"/>
            <a:r>
              <a:rPr lang="en-US" altLang="en-US" sz="1800" b="1" dirty="0">
                <a:latin typeface="Courier New" pitchFamily="49" charset="0"/>
              </a:rPr>
              <a:t>    Observer</a:t>
            </a:r>
            <a:r>
              <a:rPr lang="en-US" altLang="en-US" sz="1800" b="1" dirty="0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800" b="1" dirty="0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800" b="1" dirty="0">
              <a:latin typeface="Courier New" pitchFamily="49" charset="0"/>
            </a:endParaRPr>
          </a:p>
          <a:p>
            <a:pPr eaLnBrk="1" hangingPunct="1"/>
            <a:r>
              <a:rPr lang="en-US" altLang="en-US" sz="1800" b="1" dirty="0">
                <a:solidFill>
                  <a:srgbClr val="800080"/>
                </a:solidFill>
                <a:latin typeface="Courier New" pitchFamily="49" charset="0"/>
              </a:rPr>
              <a:t>};</a:t>
            </a:r>
            <a:endParaRPr lang="en-US" altLang="en-US" sz="1800" b="1" dirty="0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Google Shape;383;p4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232064B3-CD39-4B82-83BC-F3F599A7AED4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26</a:t>
            </a:fld>
            <a:endParaRPr lang="en-US" altLang="en-US" sz="1800"/>
          </a:p>
        </p:txBody>
      </p:sp>
      <p:sp>
        <p:nvSpPr>
          <p:cNvPr id="28675" name="Google Shape;384;p40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8676" name="Google Shape;385;p4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Google Shape;386;p4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8678" name="Google Shape;387;p40"/>
          <p:cNvSpPr txBox="1">
            <a:spLocks noChangeArrowheads="1"/>
          </p:cNvSpPr>
          <p:nvPr/>
        </p:nvSpPr>
        <p:spPr bwMode="auto">
          <a:xfrm>
            <a:off x="274638" y="1271588"/>
            <a:ext cx="9658350" cy="1670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Observer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/>
              <a:t>	 	 	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 i="1">
                <a:solidFill>
                  <a:schemeClr val="accent1"/>
                </a:solidFill>
              </a:rPr>
              <a:t>Exemplu de cod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1100"/>
              <a:t>	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/>
              <a:t>Interfata </a:t>
            </a:r>
            <a:r>
              <a:rPr lang="en-US" altLang="en-US" sz="2000" b="1"/>
              <a:t>Subject</a:t>
            </a:r>
            <a:r>
              <a:rPr lang="en-US" altLang="en-US" sz="2000"/>
              <a:t> este definita prin urmatoarea clasa:</a:t>
            </a:r>
          </a:p>
        </p:txBody>
      </p:sp>
      <p:sp>
        <p:nvSpPr>
          <p:cNvPr id="28679" name="Rectangle 6"/>
          <p:cNvSpPr>
            <a:spLocks noChangeArrowheads="1"/>
          </p:cNvSpPr>
          <p:nvPr/>
        </p:nvSpPr>
        <p:spPr bwMode="auto">
          <a:xfrm>
            <a:off x="925513" y="3022600"/>
            <a:ext cx="8382000" cy="44319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40" tIns="45720" rIns="91440" bIns="45720" anchor="t"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class</a:t>
            </a:r>
            <a:r>
              <a:rPr lang="en-US" altLang="en-US" b="1" dirty="0">
                <a:latin typeface="Courier New"/>
                <a:cs typeface="Arial"/>
              </a:rPr>
              <a:t> Subject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{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public</a:t>
            </a:r>
            <a:r>
              <a:rPr lang="en-US" altLang="en-US" b="1" dirty="0">
                <a:solidFill>
                  <a:srgbClr val="E34ADC"/>
                </a:solidFill>
                <a:latin typeface="Courier New"/>
                <a:cs typeface="Arial"/>
              </a:rPr>
              <a:t>: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   virtual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~</a:t>
            </a:r>
            <a:r>
              <a:rPr lang="en-US" altLang="en-US" b="1" dirty="0">
                <a:latin typeface="Courier New"/>
                <a:cs typeface="Arial"/>
              </a:rPr>
              <a:t>Subject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   virtual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void</a:t>
            </a:r>
            <a:r>
              <a:rPr lang="en-US" altLang="en-US" sz="1600" b="1" dirty="0">
                <a:latin typeface="Courier New"/>
                <a:cs typeface="Arial"/>
              </a:rPr>
              <a:t> Attach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sz="1600" b="1" dirty="0">
                <a:latin typeface="Courier New"/>
                <a:cs typeface="Arial"/>
              </a:rPr>
              <a:t>Observer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*)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solidFill>
                  <a:srgbClr val="800000"/>
                </a:solidFill>
                <a:latin typeface="Courier New"/>
                <a:cs typeface="Arial"/>
              </a:rPr>
              <a:t>   virtual</a:t>
            </a:r>
            <a:r>
              <a:rPr lang="en-US" altLang="en-US" sz="1600" b="1" dirty="0">
                <a:latin typeface="Courier New"/>
                <a:cs typeface="Arial"/>
              </a:rPr>
              <a:t> </a:t>
            </a:r>
            <a:r>
              <a:rPr lang="en-US" altLang="en-US" sz="1600" b="1" dirty="0">
                <a:solidFill>
                  <a:srgbClr val="800000"/>
                </a:solidFill>
                <a:latin typeface="Courier New"/>
                <a:cs typeface="Arial"/>
              </a:rPr>
              <a:t>void</a:t>
            </a:r>
            <a:r>
              <a:rPr lang="en-US" altLang="en-US" sz="1600" b="1" dirty="0">
                <a:latin typeface="Courier New"/>
                <a:cs typeface="Arial"/>
              </a:rPr>
              <a:t> Detach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sz="1600" b="1" dirty="0">
                <a:latin typeface="Courier New"/>
                <a:cs typeface="Arial"/>
              </a:rPr>
              <a:t>Observer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*)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solidFill>
                  <a:srgbClr val="800000"/>
                </a:solidFill>
                <a:latin typeface="Courier New"/>
                <a:cs typeface="Arial"/>
              </a:rPr>
              <a:t>   virtual</a:t>
            </a:r>
            <a:r>
              <a:rPr lang="en-US" altLang="en-US" sz="1600" b="1" dirty="0">
                <a:latin typeface="Courier New"/>
                <a:cs typeface="Arial"/>
              </a:rPr>
              <a:t> </a:t>
            </a:r>
            <a:r>
              <a:rPr lang="en-US" altLang="en-US" sz="1600" b="1" dirty="0">
                <a:solidFill>
                  <a:srgbClr val="800000"/>
                </a:solidFill>
                <a:latin typeface="Courier New"/>
                <a:cs typeface="Arial"/>
              </a:rPr>
              <a:t>void</a:t>
            </a:r>
            <a:r>
              <a:rPr lang="en-US" altLang="en-US" sz="1600" b="1" dirty="0">
                <a:latin typeface="Courier New"/>
                <a:cs typeface="Arial"/>
              </a:rPr>
              <a:t> Notify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solidFill>
                  <a:srgbClr val="800000"/>
                </a:solidFill>
                <a:latin typeface="Courier New"/>
                <a:cs typeface="Arial"/>
              </a:rPr>
              <a:t>protected</a:t>
            </a:r>
            <a:r>
              <a:rPr lang="en-US" altLang="en-US" sz="1600" b="1" dirty="0">
                <a:solidFill>
                  <a:srgbClr val="E34ADC"/>
                </a:solidFill>
                <a:latin typeface="Courier New"/>
                <a:cs typeface="Arial"/>
              </a:rPr>
              <a:t>: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latin typeface="Courier New"/>
                <a:cs typeface="Arial"/>
              </a:rPr>
              <a:t>   Subject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solidFill>
                  <a:srgbClr val="800000"/>
                </a:solidFill>
                <a:latin typeface="Courier New"/>
                <a:cs typeface="Arial"/>
              </a:rPr>
              <a:t>private</a:t>
            </a:r>
            <a:r>
              <a:rPr lang="en-US" altLang="en-US" sz="1600" b="1" dirty="0">
                <a:solidFill>
                  <a:srgbClr val="E34ADC"/>
                </a:solidFill>
                <a:latin typeface="Courier New"/>
                <a:cs typeface="Arial"/>
              </a:rPr>
              <a:t>: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latin typeface="Courier New"/>
                <a:cs typeface="Arial"/>
              </a:rPr>
              <a:t>   List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&lt;</a:t>
            </a:r>
            <a:r>
              <a:rPr lang="en-US" altLang="en-US" sz="1600" b="1" dirty="0">
                <a:latin typeface="Courier New"/>
                <a:cs typeface="Arial"/>
              </a:rPr>
              <a:t>Observer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*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&gt;</a:t>
            </a:r>
            <a:r>
              <a:rPr lang="en-US" altLang="en-US" sz="1600" b="1" dirty="0">
                <a:latin typeface="Courier New"/>
                <a:cs typeface="Arial"/>
              </a:rPr>
              <a:t> </a:t>
            </a:r>
            <a:r>
              <a:rPr lang="en-US" altLang="en-US" sz="1600" b="1" dirty="0">
                <a:solidFill>
                  <a:srgbClr val="808030"/>
                </a:solidFill>
                <a:latin typeface="Courier New"/>
                <a:cs typeface="Arial"/>
              </a:rPr>
              <a:t>*</a:t>
            </a:r>
            <a:r>
              <a:rPr lang="en-US" altLang="en-US" sz="1600" b="1" dirty="0">
                <a:latin typeface="Courier New"/>
                <a:cs typeface="Arial"/>
              </a:rPr>
              <a:t>_observers</a:t>
            </a:r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sz="1600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sz="1600" b="1" dirty="0">
                <a:solidFill>
                  <a:srgbClr val="800080"/>
                </a:solidFill>
                <a:latin typeface="Courier New"/>
                <a:cs typeface="Arial"/>
              </a:rPr>
              <a:t>};</a:t>
            </a:r>
          </a:p>
          <a:p>
            <a:pPr eaLnBrk="1" hangingPunct="1"/>
            <a:endParaRPr lang="en-US" altLang="en-US" b="1">
              <a:latin typeface="Courier New" pitchFamily="49" charset="0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void</a:t>
            </a:r>
            <a:r>
              <a:rPr lang="en-US" altLang="en-US" b="1" dirty="0">
                <a:latin typeface="Courier New"/>
                <a:cs typeface="Arial"/>
              </a:rPr>
              <a:t> Subject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::</a:t>
            </a:r>
            <a:r>
              <a:rPr lang="en-US" altLang="en-US" b="1" dirty="0">
                <a:latin typeface="Courier New"/>
                <a:cs typeface="Arial"/>
              </a:rPr>
              <a:t>Attach 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>
                <a:latin typeface="Courier New"/>
                <a:cs typeface="Arial"/>
              </a:rPr>
              <a:t>Observer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*</a:t>
            </a:r>
            <a:r>
              <a:rPr lang="en-US" altLang="en-US" b="1" dirty="0">
                <a:latin typeface="Courier New"/>
                <a:cs typeface="Arial"/>
              </a:rPr>
              <a:t> o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)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{</a:t>
            </a:r>
            <a:r>
              <a:rPr lang="en-US" altLang="en-US" b="1" dirty="0">
                <a:latin typeface="Courier New"/>
                <a:cs typeface="Arial"/>
              </a:rPr>
              <a:t>_observers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-&gt;</a:t>
            </a:r>
            <a:r>
              <a:rPr lang="en-US" altLang="en-US" b="1" dirty="0">
                <a:latin typeface="Courier New"/>
                <a:cs typeface="Arial"/>
              </a:rPr>
              <a:t>Append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>
                <a:latin typeface="Courier New"/>
                <a:cs typeface="Arial"/>
              </a:rPr>
              <a:t>o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}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void</a:t>
            </a:r>
            <a:r>
              <a:rPr lang="en-US" altLang="en-US" b="1" dirty="0">
                <a:latin typeface="Courier New"/>
                <a:cs typeface="Arial"/>
              </a:rPr>
              <a:t> Subject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::</a:t>
            </a:r>
            <a:r>
              <a:rPr lang="en-US" altLang="en-US" b="1" dirty="0">
                <a:latin typeface="Courier New"/>
                <a:cs typeface="Arial"/>
              </a:rPr>
              <a:t>Detach 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>
                <a:latin typeface="Courier New"/>
                <a:cs typeface="Arial"/>
              </a:rPr>
              <a:t>Observer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*</a:t>
            </a:r>
            <a:r>
              <a:rPr lang="en-US" altLang="en-US" b="1" dirty="0">
                <a:latin typeface="Courier New"/>
                <a:cs typeface="Arial"/>
              </a:rPr>
              <a:t> o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)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{</a:t>
            </a:r>
            <a:r>
              <a:rPr lang="en-US" altLang="en-US" b="1" dirty="0">
                <a:latin typeface="Courier New"/>
                <a:cs typeface="Arial"/>
              </a:rPr>
              <a:t>_observers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-&gt;</a:t>
            </a:r>
            <a:r>
              <a:rPr lang="en-US" altLang="en-US" b="1" dirty="0">
                <a:latin typeface="Courier New"/>
                <a:cs typeface="Arial"/>
              </a:rPr>
              <a:t>Remove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>
                <a:latin typeface="Courier New"/>
                <a:cs typeface="Arial"/>
              </a:rPr>
              <a:t>o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}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void</a:t>
            </a:r>
            <a:r>
              <a:rPr lang="en-US" altLang="en-US" b="1" dirty="0">
                <a:latin typeface="Courier New"/>
                <a:cs typeface="Arial"/>
              </a:rPr>
              <a:t> Subject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::</a:t>
            </a:r>
            <a:r>
              <a:rPr lang="en-US" altLang="en-US" b="1" dirty="0">
                <a:latin typeface="Courier New"/>
                <a:cs typeface="Arial"/>
              </a:rPr>
              <a:t>Notify 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{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latin typeface="Courier New"/>
                <a:cs typeface="Arial"/>
              </a:rPr>
              <a:t>    </a:t>
            </a:r>
            <a:r>
              <a:rPr lang="en-US" altLang="en-US" b="1" dirty="0" err="1">
                <a:latin typeface="Courier New"/>
                <a:cs typeface="Arial"/>
              </a:rPr>
              <a:t>ListIterator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&lt;</a:t>
            </a:r>
            <a:r>
              <a:rPr lang="en-US" altLang="en-US" b="1" dirty="0">
                <a:latin typeface="Courier New"/>
                <a:cs typeface="Arial"/>
              </a:rPr>
              <a:t>Observer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*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&gt;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 err="1">
                <a:latin typeface="Courier New"/>
                <a:cs typeface="Arial"/>
              </a:rPr>
              <a:t>i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>
                <a:latin typeface="Courier New"/>
                <a:cs typeface="Arial"/>
              </a:rPr>
              <a:t>_observers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696969"/>
                </a:solidFill>
                <a:latin typeface="Courier New"/>
                <a:cs typeface="Arial"/>
              </a:rPr>
              <a:t>    //</a:t>
            </a:r>
            <a:r>
              <a:rPr lang="en-US" altLang="en-US" b="1" dirty="0" err="1">
                <a:solidFill>
                  <a:srgbClr val="696969"/>
                </a:solidFill>
                <a:latin typeface="Courier New"/>
                <a:cs typeface="Arial"/>
              </a:rPr>
              <a:t>construieste</a:t>
            </a:r>
            <a:r>
              <a:rPr lang="en-US" altLang="en-US" b="1" dirty="0">
                <a:solidFill>
                  <a:srgbClr val="696969"/>
                </a:solidFill>
                <a:latin typeface="Courier New"/>
                <a:cs typeface="Arial"/>
              </a:rPr>
              <a:t> un iterator, </a:t>
            </a:r>
            <a:r>
              <a:rPr lang="en-US" altLang="en-US" b="1" dirty="0" err="1">
                <a:solidFill>
                  <a:srgbClr val="696969"/>
                </a:solidFill>
                <a:latin typeface="Courier New"/>
                <a:cs typeface="Arial"/>
              </a:rPr>
              <a:t>i</a:t>
            </a:r>
            <a:r>
              <a:rPr lang="en-US" altLang="en-US" b="1" dirty="0">
                <a:solidFill>
                  <a:srgbClr val="696969"/>
                </a:solidFill>
                <a:latin typeface="Courier New"/>
                <a:cs typeface="Arial"/>
              </a:rPr>
              <a:t>, </a:t>
            </a:r>
            <a:r>
              <a:rPr lang="en-US" altLang="en-US" b="1" dirty="0" err="1">
                <a:solidFill>
                  <a:srgbClr val="696969"/>
                </a:solidFill>
                <a:latin typeface="Courier New"/>
                <a:cs typeface="Arial"/>
              </a:rPr>
              <a:t>pentru</a:t>
            </a:r>
            <a:r>
              <a:rPr lang="en-US" altLang="en-US" b="1" dirty="0">
                <a:solidFill>
                  <a:srgbClr val="696969"/>
                </a:solidFill>
                <a:latin typeface="Courier New"/>
                <a:cs typeface="Arial"/>
              </a:rPr>
              <a:t> </a:t>
            </a:r>
            <a:r>
              <a:rPr lang="en-US" altLang="en-US" b="1" dirty="0" err="1">
                <a:solidFill>
                  <a:srgbClr val="696969"/>
                </a:solidFill>
                <a:latin typeface="Courier New"/>
                <a:cs typeface="Arial"/>
              </a:rPr>
              <a:t>containerul_observers</a:t>
            </a:r>
            <a:endParaRPr lang="en-US" altLang="en-US" b="1" dirty="0" err="1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    for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 err="1">
                <a:latin typeface="Courier New"/>
                <a:cs typeface="Arial"/>
              </a:rPr>
              <a:t>i</a:t>
            </a:r>
            <a:r>
              <a:rPr lang="en-US" altLang="en-US" b="1" dirty="0" err="1">
                <a:solidFill>
                  <a:srgbClr val="808030"/>
                </a:solidFill>
                <a:latin typeface="Courier New"/>
                <a:cs typeface="Arial"/>
              </a:rPr>
              <a:t>.</a:t>
            </a:r>
            <a:r>
              <a:rPr lang="en-US" altLang="en-US" b="1" dirty="0" err="1">
                <a:latin typeface="Courier New"/>
                <a:cs typeface="Arial"/>
              </a:rPr>
              <a:t>First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!</a:t>
            </a:r>
            <a:r>
              <a:rPr lang="en-US" altLang="en-US" b="1" dirty="0" err="1">
                <a:latin typeface="Courier New"/>
                <a:cs typeface="Arial"/>
              </a:rPr>
              <a:t>i</a:t>
            </a:r>
            <a:r>
              <a:rPr lang="en-US" altLang="en-US" b="1" dirty="0" err="1">
                <a:solidFill>
                  <a:srgbClr val="808030"/>
                </a:solidFill>
                <a:latin typeface="Courier New"/>
                <a:cs typeface="Arial"/>
              </a:rPr>
              <a:t>.</a:t>
            </a:r>
            <a:r>
              <a:rPr lang="en-US" altLang="en-US" b="1" dirty="0" err="1">
                <a:latin typeface="Courier New"/>
                <a:cs typeface="Arial"/>
              </a:rPr>
              <a:t>IsDone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 err="1">
                <a:latin typeface="Courier New"/>
                <a:cs typeface="Arial"/>
              </a:rPr>
              <a:t>i</a:t>
            </a:r>
            <a:r>
              <a:rPr lang="en-US" altLang="en-US" b="1" dirty="0" err="1">
                <a:solidFill>
                  <a:srgbClr val="808030"/>
                </a:solidFill>
                <a:latin typeface="Courier New"/>
                <a:cs typeface="Arial"/>
              </a:rPr>
              <a:t>.</a:t>
            </a:r>
            <a:r>
              <a:rPr lang="en-US" altLang="en-US" b="1" dirty="0" err="1">
                <a:latin typeface="Courier New"/>
                <a:cs typeface="Arial"/>
              </a:rPr>
              <a:t>Next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())</a:t>
            </a:r>
            <a:r>
              <a:rPr lang="en-US" altLang="en-US" b="1" dirty="0">
                <a:latin typeface="Courier New"/>
                <a:cs typeface="Arial"/>
              </a:rPr>
              <a:t> 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{ </a:t>
            </a:r>
            <a:r>
              <a:rPr lang="en-US" altLang="en-US" b="1" dirty="0" err="1">
                <a:latin typeface="Courier New"/>
                <a:cs typeface="Arial"/>
              </a:rPr>
              <a:t>i</a:t>
            </a:r>
            <a:r>
              <a:rPr lang="en-US" altLang="en-US" b="1" dirty="0" err="1">
                <a:solidFill>
                  <a:srgbClr val="808030"/>
                </a:solidFill>
                <a:latin typeface="Courier New"/>
                <a:cs typeface="Arial"/>
              </a:rPr>
              <a:t>.</a:t>
            </a:r>
            <a:r>
              <a:rPr lang="en-US" altLang="en-US" b="1" dirty="0" err="1">
                <a:latin typeface="Courier New"/>
                <a:cs typeface="Arial"/>
              </a:rPr>
              <a:t>CurrentItem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()-&gt;</a:t>
            </a:r>
            <a:r>
              <a:rPr lang="en-US" altLang="en-US" b="1" dirty="0">
                <a:latin typeface="Courier New"/>
                <a:cs typeface="Arial"/>
              </a:rPr>
              <a:t>Update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(</a:t>
            </a:r>
            <a:r>
              <a:rPr lang="en-US" altLang="en-US" b="1" dirty="0">
                <a:solidFill>
                  <a:srgbClr val="800000"/>
                </a:solidFill>
                <a:latin typeface="Courier New"/>
                <a:cs typeface="Arial"/>
              </a:rPr>
              <a:t>this</a:t>
            </a:r>
            <a:r>
              <a:rPr lang="en-US" altLang="en-US" b="1" dirty="0">
                <a:solidFill>
                  <a:srgbClr val="808030"/>
                </a:solidFill>
                <a:latin typeface="Courier New"/>
                <a:cs typeface="Arial"/>
              </a:rPr>
              <a:t>)</a:t>
            </a:r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;}</a:t>
            </a:r>
            <a:endParaRPr lang="en-US" altLang="en-US" b="1" dirty="0">
              <a:latin typeface="Courier New"/>
              <a:cs typeface="Arial"/>
            </a:endParaRPr>
          </a:p>
          <a:p>
            <a:pPr eaLnBrk="1" hangingPunct="1"/>
            <a:r>
              <a:rPr lang="en-US" altLang="en-US" b="1" dirty="0">
                <a:solidFill>
                  <a:srgbClr val="800080"/>
                </a:solidFill>
                <a:latin typeface="Courier New"/>
                <a:cs typeface="Arial"/>
              </a:rPr>
              <a:t>}</a:t>
            </a:r>
            <a:endParaRPr lang="en-US" altLang="en-US" b="1" dirty="0">
              <a:latin typeface="Courier New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Google Shape;407;p4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17E2173-7C8C-4AC7-A5D7-283EC473B3E2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27</a:t>
            </a:fld>
            <a:endParaRPr lang="en-US" altLang="en-US" sz="1800"/>
          </a:p>
        </p:txBody>
      </p:sp>
      <p:sp>
        <p:nvSpPr>
          <p:cNvPr id="29699" name="Google Shape;408;p42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29700" name="Google Shape;409;p4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Google Shape;410;p4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29702" name="Google Shape;411;p42"/>
          <p:cNvSpPr txBox="1">
            <a:spLocks noChangeArrowheads="1"/>
          </p:cNvSpPr>
          <p:nvPr/>
        </p:nvSpPr>
        <p:spPr bwMode="auto">
          <a:xfrm>
            <a:off x="274638" y="1271588"/>
            <a:ext cx="9658350" cy="1136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Observer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/>
              <a:t>	 	 	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un subiect concret</a:t>
            </a:r>
          </a:p>
        </p:txBody>
      </p:sp>
      <p:sp>
        <p:nvSpPr>
          <p:cNvPr id="29703" name="Rectangle 6"/>
          <p:cNvSpPr>
            <a:spLocks noChangeArrowheads="1"/>
          </p:cNvSpPr>
          <p:nvPr/>
        </p:nvSpPr>
        <p:spPr bwMode="auto">
          <a:xfrm>
            <a:off x="2520950" y="2792413"/>
            <a:ext cx="5567363" cy="3538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class</a:t>
            </a:r>
            <a:r>
              <a:rPr lang="en-US" altLang="en-US" sz="1600" b="1">
                <a:latin typeface="Courier New" pitchFamily="49" charset="0"/>
              </a:rPr>
              <a:t> ClockTimer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: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altLang="en-US" sz="1600" b="1">
                <a:latin typeface="Courier New" pitchFamily="49" charset="0"/>
              </a:rPr>
              <a:t> Subject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public</a:t>
            </a:r>
            <a:r>
              <a:rPr lang="en-US" altLang="en-US" sz="1600" b="1">
                <a:solidFill>
                  <a:srgbClr val="E34ADC"/>
                </a:solidFill>
                <a:latin typeface="Courier New" pitchFamily="49" charset="0"/>
              </a:rPr>
              <a:t>: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</a:rPr>
              <a:t>    ClockTimer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virtual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sz="1600" b="1">
                <a:latin typeface="Courier New" pitchFamily="49" charset="0"/>
              </a:rPr>
              <a:t> GetHour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virtual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sz="1600" b="1">
                <a:latin typeface="Courier New" pitchFamily="49" charset="0"/>
              </a:rPr>
              <a:t> GetMinute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virtual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int</a:t>
            </a:r>
            <a:r>
              <a:rPr lang="en-US" altLang="en-US" sz="1600" b="1">
                <a:latin typeface="Courier New" pitchFamily="49" charset="0"/>
              </a:rPr>
              <a:t> GetSecond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void</a:t>
            </a:r>
            <a:r>
              <a:rPr lang="en-US" altLang="en-US" sz="1600" b="1">
                <a:latin typeface="Courier New" pitchFamily="49" charset="0"/>
              </a:rPr>
              <a:t> Tick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};</a:t>
            </a:r>
          </a:p>
          <a:p>
            <a:pPr eaLnBrk="1" hangingPunct="1"/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sz="1600" b="1">
                <a:latin typeface="Courier New" pitchFamily="49" charset="0"/>
              </a:rPr>
              <a:t> ClockTimer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sz="1600" b="1">
                <a:latin typeface="Courier New" pitchFamily="49" charset="0"/>
              </a:rPr>
              <a:t>Tick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</a:rPr>
              <a:t>   // update internal time-keeping state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</a:rPr>
              <a:t>   // ...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</a:rPr>
              <a:t>   Notify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sz="1600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Google Shape;419;p43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5D9E6345-3E32-413F-9EA6-790ACF4DD116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28</a:t>
            </a:fld>
            <a:endParaRPr lang="en-US" altLang="en-US" sz="1800"/>
          </a:p>
        </p:txBody>
      </p:sp>
      <p:sp>
        <p:nvSpPr>
          <p:cNvPr id="30723" name="Google Shape;420;p43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0724" name="Google Shape;421;p43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0725" name="Google Shape;422;p43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0726" name="Google Shape;423;p43"/>
          <p:cNvSpPr txBox="1">
            <a:spLocks noChangeArrowheads="1"/>
          </p:cNvSpPr>
          <p:nvPr/>
        </p:nvSpPr>
        <p:spPr bwMode="auto">
          <a:xfrm>
            <a:off x="274638" y="1271588"/>
            <a:ext cx="9658350" cy="11366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Observer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/>
              <a:t>	 	 	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un observator concret care mosteneste in plus o interfata grafica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endParaRPr lang="en-US" altLang="en-US" sz="2000"/>
          </a:p>
        </p:txBody>
      </p:sp>
      <p:sp>
        <p:nvSpPr>
          <p:cNvPr id="30727" name="Rectangle 7"/>
          <p:cNvSpPr>
            <a:spLocks noChangeArrowheads="1"/>
          </p:cNvSpPr>
          <p:nvPr/>
        </p:nvSpPr>
        <p:spPr bwMode="auto">
          <a:xfrm>
            <a:off x="2520950" y="2865438"/>
            <a:ext cx="7167563" cy="329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class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DigitalClock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: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Widget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,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Observer</a:t>
            </a:r>
          </a:p>
          <a:p>
            <a:pPr eaLnBrk="1" hangingPunct="1"/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{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public</a:t>
            </a:r>
            <a:r>
              <a:rPr lang="en-US" altLang="en-US" sz="1600" b="1">
                <a:solidFill>
                  <a:srgbClr val="E34ADC"/>
                </a:solidFill>
                <a:latin typeface="Courier New" pitchFamily="49" charset="0"/>
                <a:cs typeface="Courier New" pitchFamily="49" charset="0"/>
              </a:rPr>
              <a:t>: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   DigitalClock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ClockTimer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*)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   virtual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~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DigitalClock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   virtual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Update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*)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  <a:cs typeface="Courier New" pitchFamily="49" charset="0"/>
              </a:rPr>
              <a:t>             // overrides Observer operation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    virtual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void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Draw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  <a:cs typeface="Courier New" pitchFamily="49" charset="0"/>
              </a:rPr>
              <a:t>            // overrides Widget operation;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  <a:cs typeface="Courier New" pitchFamily="49" charset="0"/>
              </a:rPr>
              <a:t>            // defines how to draw the digital clock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  <a:cs typeface="Courier New" pitchFamily="49" charset="0"/>
              </a:rPr>
              <a:t>private</a:t>
            </a:r>
            <a:r>
              <a:rPr lang="en-US" altLang="en-US" sz="1600" b="1">
                <a:solidFill>
                  <a:srgbClr val="E34ADC"/>
                </a:solidFill>
                <a:latin typeface="Courier New" pitchFamily="49" charset="0"/>
                <a:cs typeface="Courier New" pitchFamily="49" charset="0"/>
              </a:rPr>
              <a:t>: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   ClockTimer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  <a:cs typeface="Courier New" pitchFamily="49" charset="0"/>
              </a:rPr>
              <a:t>*</a:t>
            </a:r>
            <a:r>
              <a:rPr lang="en-US" altLang="en-US" sz="1600" b="1">
                <a:latin typeface="Courier New" pitchFamily="49" charset="0"/>
                <a:cs typeface="Courier New" pitchFamily="49" charset="0"/>
              </a:rPr>
              <a:t> _subject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  <a:cs typeface="Courier New" pitchFamily="49" charset="0"/>
              </a:rPr>
              <a:t>};</a:t>
            </a:r>
            <a:endParaRPr lang="en-US" altLang="en-US" sz="1600" b="1">
              <a:latin typeface="Courier New" pitchFamily="49" charset="0"/>
              <a:cs typeface="Courier New" pitchFamily="49" charset="0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Google Shape;431;p4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C999D78D-79F6-44A3-BE9E-1EA05AF0B9D9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29</a:t>
            </a:fld>
            <a:endParaRPr lang="en-US" altLang="en-US" sz="1800"/>
          </a:p>
        </p:txBody>
      </p:sp>
      <p:sp>
        <p:nvSpPr>
          <p:cNvPr id="31747" name="Google Shape;432;p4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1748" name="Google Shape;433;p4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1749" name="Google Shape;434;p4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35" name="Google Shape;435;p44"/>
          <p:cNvSpPr txBox="1"/>
          <p:nvPr/>
        </p:nvSpPr>
        <p:spPr>
          <a:xfrm>
            <a:off x="273925" y="1272050"/>
            <a:ext cx="9659700" cy="12123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Observer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  <a:defRPr/>
            </a:pPr>
            <a:r>
              <a:rPr lang="en-US" sz="20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	 	 	</a:t>
            </a: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un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observator</a:t>
            </a: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concret</a:t>
            </a: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mosteneste</a:t>
            </a: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in plus o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b="1" dirty="0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latin typeface="Arial"/>
                <a:ea typeface="Arial"/>
                <a:cs typeface="Arial"/>
                <a:sym typeface="Arial"/>
              </a:rPr>
              <a:t>grafica</a:t>
            </a:r>
            <a:endParaRPr sz="2000" b="1">
              <a:solidFill>
                <a:schemeClr val="accent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751" name="Rectangle 6"/>
          <p:cNvSpPr>
            <a:spLocks noChangeArrowheads="1"/>
          </p:cNvSpPr>
          <p:nvPr/>
        </p:nvSpPr>
        <p:spPr bwMode="auto">
          <a:xfrm>
            <a:off x="1001713" y="2484438"/>
            <a:ext cx="8534400" cy="3540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/>
            <a:r>
              <a:rPr lang="en-US" altLang="en-US" sz="1600" b="1">
                <a:latin typeface="Courier New" pitchFamily="49" charset="0"/>
              </a:rPr>
              <a:t>DigitalClock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sz="1600" b="1">
                <a:latin typeface="Courier New" pitchFamily="49" charset="0"/>
              </a:rPr>
              <a:t>DigitalClock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sz="1600" b="1">
                <a:latin typeface="Courier New" pitchFamily="49" charset="0"/>
              </a:rPr>
              <a:t>ClockTimer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sz="1600" b="1">
                <a:latin typeface="Courier New" pitchFamily="49" charset="0"/>
              </a:rPr>
              <a:t> s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</a:rPr>
              <a:t>    _subject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sz="1600" b="1">
                <a:latin typeface="Courier New" pitchFamily="49" charset="0"/>
              </a:rPr>
              <a:t> s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</a:rPr>
              <a:t>    _subject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sz="1600" b="1">
                <a:latin typeface="Courier New" pitchFamily="49" charset="0"/>
              </a:rPr>
              <a:t>Attach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latin typeface="Courier New" pitchFamily="49" charset="0"/>
              </a:rPr>
              <a:t>DigitalClock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~</a:t>
            </a:r>
            <a:r>
              <a:rPr lang="en-US" altLang="en-US" sz="1600" b="1">
                <a:latin typeface="Courier New" pitchFamily="49" charset="0"/>
              </a:rPr>
              <a:t>DigitalClock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sz="1600" b="1">
                <a:latin typeface="Courier New" pitchFamily="49" charset="0"/>
              </a:rPr>
              <a:t>_subject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sz="1600" b="1">
                <a:latin typeface="Courier New" pitchFamily="49" charset="0"/>
              </a:rPr>
              <a:t>Detach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this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;}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sz="1600" b="1">
                <a:latin typeface="Courier New" pitchFamily="49" charset="0"/>
              </a:rPr>
              <a:t> DigitalClock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sz="1600" b="1">
                <a:latin typeface="Courier New" pitchFamily="49" charset="0"/>
              </a:rPr>
              <a:t>Update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sz="1600" b="1">
                <a:latin typeface="Courier New" pitchFamily="49" charset="0"/>
              </a:rPr>
              <a:t>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*</a:t>
            </a:r>
            <a:r>
              <a:rPr lang="en-US" altLang="en-US" sz="1600" b="1">
                <a:latin typeface="Courier New" pitchFamily="49" charset="0"/>
              </a:rPr>
              <a:t> theChangedSubject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if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</a:t>
            </a:r>
            <a:r>
              <a:rPr lang="en-US" altLang="en-US" sz="1600" b="1">
                <a:latin typeface="Courier New" pitchFamily="49" charset="0"/>
              </a:rPr>
              <a:t>theChangedSubject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==</a:t>
            </a:r>
            <a:r>
              <a:rPr lang="en-US" altLang="en-US" sz="1600" b="1">
                <a:latin typeface="Courier New" pitchFamily="49" charset="0"/>
              </a:rPr>
              <a:t> _subject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)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sz="1600" b="1">
                <a:latin typeface="Courier New" pitchFamily="49" charset="0"/>
              </a:rPr>
              <a:t> Draw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}</a:t>
            </a:r>
            <a:r>
              <a:rPr lang="en-US" altLang="en-US" sz="1600" b="1">
                <a:latin typeface="Courier New" pitchFamily="49" charset="0"/>
              </a:rPr>
              <a:t> 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void</a:t>
            </a:r>
            <a:r>
              <a:rPr lang="en-US" altLang="en-US" sz="1600" b="1">
                <a:latin typeface="Courier New" pitchFamily="49" charset="0"/>
              </a:rPr>
              <a:t> DigitalClock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::</a:t>
            </a:r>
            <a:r>
              <a:rPr lang="en-US" altLang="en-US" sz="1600" b="1">
                <a:latin typeface="Courier New" pitchFamily="49" charset="0"/>
              </a:rPr>
              <a:t>Draw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{</a:t>
            </a:r>
            <a:r>
              <a:rPr lang="en-US" altLang="en-US" sz="1600" b="1">
                <a:latin typeface="Courier New" pitchFamily="49" charset="0"/>
              </a:rPr>
              <a:t> </a:t>
            </a:r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</a:rPr>
              <a:t>// get the new values from the subject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int</a:t>
            </a:r>
            <a:r>
              <a:rPr lang="en-US" altLang="en-US" sz="1600" b="1">
                <a:latin typeface="Courier New" pitchFamily="49" charset="0"/>
              </a:rPr>
              <a:t> hour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sz="1600" b="1">
                <a:latin typeface="Courier New" pitchFamily="49" charset="0"/>
              </a:rPr>
              <a:t> _subject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sz="1600" b="1">
                <a:latin typeface="Courier New" pitchFamily="49" charset="0"/>
              </a:rPr>
              <a:t>GetHour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00"/>
                </a:solidFill>
                <a:latin typeface="Courier New" pitchFamily="49" charset="0"/>
              </a:rPr>
              <a:t>    int</a:t>
            </a:r>
            <a:r>
              <a:rPr lang="en-US" altLang="en-US" sz="1600" b="1">
                <a:latin typeface="Courier New" pitchFamily="49" charset="0"/>
              </a:rPr>
              <a:t> minute 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=</a:t>
            </a:r>
            <a:r>
              <a:rPr lang="en-US" altLang="en-US" sz="1600" b="1">
                <a:latin typeface="Courier New" pitchFamily="49" charset="0"/>
              </a:rPr>
              <a:t> _subject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-&gt;</a:t>
            </a:r>
            <a:r>
              <a:rPr lang="en-US" altLang="en-US" sz="1600" b="1">
                <a:latin typeface="Courier New" pitchFamily="49" charset="0"/>
              </a:rPr>
              <a:t>GetMinute</a:t>
            </a:r>
            <a:r>
              <a:rPr lang="en-US" altLang="en-US" sz="1600" b="1">
                <a:solidFill>
                  <a:srgbClr val="808030"/>
                </a:solidFill>
                <a:latin typeface="Courier New" pitchFamily="49" charset="0"/>
              </a:rPr>
              <a:t>()</a:t>
            </a:r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;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696969"/>
                </a:solidFill>
                <a:latin typeface="Courier New" pitchFamily="49" charset="0"/>
              </a:rPr>
              <a:t>    // draw the digital clock</a:t>
            </a:r>
            <a:endParaRPr lang="en-US" altLang="en-US" sz="1600" b="1">
              <a:latin typeface="Courier New" pitchFamily="49" charset="0"/>
            </a:endParaRPr>
          </a:p>
          <a:p>
            <a:pPr eaLnBrk="1" hangingPunct="1"/>
            <a:r>
              <a:rPr lang="en-US" altLang="en-US" sz="1600" b="1">
                <a:solidFill>
                  <a:srgbClr val="800080"/>
                </a:solidFill>
                <a:latin typeface="Courier New" pitchFamily="49" charset="0"/>
              </a:rPr>
              <a:t>}</a:t>
            </a:r>
            <a:endParaRPr lang="en-US" altLang="en-US" sz="1600" b="1">
              <a:latin typeface="Courier New" pitchFamily="49" charset="0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Google Shape;443;p45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68CF0308-16DA-428B-94FF-57C4EFECD530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30</a:t>
            </a:fld>
            <a:endParaRPr lang="en-US" altLang="en-US" sz="1800"/>
          </a:p>
        </p:txBody>
      </p:sp>
      <p:sp>
        <p:nvSpPr>
          <p:cNvPr id="32771" name="Google Shape;444;p45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2772" name="Google Shape;445;p45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773" name="Google Shape;446;p45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32774" name="Google Shape;447;p45"/>
          <p:cNvSpPr txBox="1">
            <a:spLocks noChangeArrowheads="1"/>
          </p:cNvSpPr>
          <p:nvPr/>
        </p:nvSpPr>
        <p:spPr bwMode="auto">
          <a:xfrm>
            <a:off x="274638" y="1271588"/>
            <a:ext cx="9658350" cy="1289050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1425" tIns="91425" rIns="91425" bIns="9142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just" eaLnBrk="1" hangingPunct="1">
              <a:lnSpc>
                <a:spcPct val="115000"/>
              </a:lnSpc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 i="1">
                <a:solidFill>
                  <a:schemeClr val="tx2"/>
                </a:solidFill>
              </a:rPr>
              <a:t>Observer</a:t>
            </a:r>
          </a:p>
          <a:p>
            <a:pPr algn="just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/>
              <a:t>	 	 	</a:t>
            </a:r>
          </a:p>
          <a:p>
            <a:pPr algn="just" eaLnBrk="1" hangingPunct="1">
              <a:buClr>
                <a:srgbClr val="000000"/>
              </a:buClr>
              <a:buSzPts val="1100"/>
              <a:buFont typeface="Arial" charset="0"/>
              <a:buNone/>
            </a:pPr>
            <a:r>
              <a:rPr lang="en-US" altLang="en-US" sz="2000" b="1">
                <a:solidFill>
                  <a:schemeClr val="accent1"/>
                </a:solidFill>
              </a:rPr>
              <a:t>un alt observator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5113" y="2754313"/>
            <a:ext cx="7924800" cy="3540125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/>
              </a:rPr>
              <a:t>class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 err="1">
                <a:latin typeface="Courier New"/>
              </a:rPr>
              <a:t>AnalogClock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: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public</a:t>
            </a:r>
            <a:r>
              <a:rPr lang="en-US" sz="1600" b="1" dirty="0">
                <a:latin typeface="Courier New"/>
              </a:rPr>
              <a:t> Widget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,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public</a:t>
            </a:r>
            <a:r>
              <a:rPr lang="en-US" sz="1600" b="1" dirty="0">
                <a:latin typeface="Courier New"/>
              </a:rPr>
              <a:t> Observer 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{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/>
              </a:rPr>
              <a:t>public</a:t>
            </a:r>
            <a:r>
              <a:rPr lang="en-US" sz="1600" b="1" dirty="0">
                <a:solidFill>
                  <a:srgbClr val="E34ADC"/>
                </a:solidFill>
                <a:latin typeface="Courier New"/>
              </a:rPr>
              <a:t>: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latin typeface="Courier New"/>
              </a:rPr>
              <a:t>    </a:t>
            </a:r>
            <a:r>
              <a:rPr lang="en-US" sz="1600" b="1" dirty="0" err="1">
                <a:latin typeface="Courier New"/>
              </a:rPr>
              <a:t>AnalogClock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(</a:t>
            </a:r>
            <a:r>
              <a:rPr lang="en-US" sz="1600" b="1" dirty="0" err="1">
                <a:latin typeface="Courier New"/>
              </a:rPr>
              <a:t>ClockTimer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*)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;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/>
              </a:rPr>
              <a:t>    virtual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void</a:t>
            </a:r>
            <a:r>
              <a:rPr lang="en-US" sz="1600" b="1" dirty="0">
                <a:latin typeface="Courier New"/>
              </a:rPr>
              <a:t> Update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(</a:t>
            </a:r>
            <a:r>
              <a:rPr lang="en-US" sz="1600" b="1" dirty="0">
                <a:latin typeface="Courier New"/>
              </a:rPr>
              <a:t>Subject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*)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;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solidFill>
                  <a:srgbClr val="800000"/>
                </a:solidFill>
                <a:latin typeface="Courier New"/>
              </a:rPr>
              <a:t>    virtual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void</a:t>
            </a:r>
            <a:r>
              <a:rPr lang="en-US" sz="1600" b="1" dirty="0">
                <a:latin typeface="Courier New"/>
              </a:rPr>
              <a:t> Draw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()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;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solidFill>
                  <a:srgbClr val="696969"/>
                </a:solidFill>
                <a:latin typeface="Courier New"/>
              </a:rPr>
              <a:t>    // ...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solidFill>
                  <a:srgbClr val="800080"/>
                </a:solidFill>
                <a:latin typeface="Courier New"/>
              </a:rPr>
              <a:t>};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endParaRPr lang="en-US" sz="1600" b="1" dirty="0">
              <a:solidFill>
                <a:schemeClr val="tx1">
                  <a:lumMod val="65000"/>
                  <a:lumOff val="35000"/>
                </a:schemeClr>
              </a:solidFill>
              <a:latin typeface="Courier New"/>
            </a:endParaRPr>
          </a:p>
          <a:p>
            <a:pPr>
              <a:defRPr/>
            </a:pP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/*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crearea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unui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AnalogClock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si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unui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DigitalClock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care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arata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acelasi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 </a:t>
            </a:r>
            <a:r>
              <a:rPr lang="en-US" sz="1600" b="1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timp</a:t>
            </a:r>
            <a:r>
              <a:rPr lang="en-US" sz="1600" b="1" dirty="0">
                <a:solidFill>
                  <a:schemeClr val="tx1">
                    <a:lumMod val="65000"/>
                    <a:lumOff val="35000"/>
                  </a:schemeClr>
                </a:solidFill>
                <a:latin typeface="Courier New"/>
              </a:rPr>
              <a:t>: */</a:t>
            </a:r>
          </a:p>
          <a:p>
            <a:pPr>
              <a:defRPr/>
            </a:pP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latin typeface="Courier New"/>
              </a:rPr>
              <a:t>   </a:t>
            </a:r>
            <a:r>
              <a:rPr lang="en-US" sz="1600" b="1" dirty="0" err="1">
                <a:latin typeface="Courier New"/>
              </a:rPr>
              <a:t>ClockTimer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*</a:t>
            </a:r>
            <a:r>
              <a:rPr lang="en-US" sz="1600" b="1" dirty="0">
                <a:latin typeface="Courier New"/>
              </a:rPr>
              <a:t> timer 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=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new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 err="1">
                <a:latin typeface="Courier New"/>
              </a:rPr>
              <a:t>ClockTimer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;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latin typeface="Courier New"/>
              </a:rPr>
              <a:t>   </a:t>
            </a:r>
            <a:r>
              <a:rPr lang="en-US" sz="1600" b="1" dirty="0" err="1">
                <a:latin typeface="Courier New"/>
              </a:rPr>
              <a:t>AnalogClock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*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 err="1">
                <a:latin typeface="Courier New"/>
              </a:rPr>
              <a:t>analogClock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=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new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 err="1">
                <a:latin typeface="Courier New"/>
              </a:rPr>
              <a:t>AnalogClock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(</a:t>
            </a:r>
            <a:r>
              <a:rPr lang="en-US" sz="1600" b="1" dirty="0">
                <a:latin typeface="Courier New"/>
              </a:rPr>
              <a:t>timer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)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;</a:t>
            </a:r>
            <a:endParaRPr lang="en-US" sz="1600" b="1" dirty="0">
              <a:latin typeface="Courier New"/>
            </a:endParaRPr>
          </a:p>
          <a:p>
            <a:pPr>
              <a:defRPr/>
            </a:pPr>
            <a:r>
              <a:rPr lang="en-US" sz="1600" b="1" dirty="0">
                <a:latin typeface="Courier New"/>
              </a:rPr>
              <a:t>   </a:t>
            </a:r>
            <a:r>
              <a:rPr lang="en-US" sz="1600" b="1" dirty="0" err="1">
                <a:latin typeface="Courier New"/>
              </a:rPr>
              <a:t>DigitalClock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*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 err="1">
                <a:latin typeface="Courier New"/>
              </a:rPr>
              <a:t>digitalClock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=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>
                <a:solidFill>
                  <a:srgbClr val="800000"/>
                </a:solidFill>
                <a:latin typeface="Courier New"/>
              </a:rPr>
              <a:t>new</a:t>
            </a:r>
            <a:r>
              <a:rPr lang="en-US" sz="1600" b="1" dirty="0">
                <a:latin typeface="Courier New"/>
              </a:rPr>
              <a:t> </a:t>
            </a:r>
            <a:r>
              <a:rPr lang="en-US" sz="1600" b="1" dirty="0" err="1">
                <a:latin typeface="Courier New"/>
              </a:rPr>
              <a:t>DigitalClock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(</a:t>
            </a:r>
            <a:r>
              <a:rPr lang="en-US" sz="1600" b="1" dirty="0">
                <a:latin typeface="Courier New"/>
              </a:rPr>
              <a:t>timer</a:t>
            </a:r>
            <a:r>
              <a:rPr lang="en-US" sz="1600" b="1" dirty="0">
                <a:solidFill>
                  <a:srgbClr val="808030"/>
                </a:solidFill>
                <a:latin typeface="Courier New"/>
              </a:rPr>
              <a:t>)</a:t>
            </a:r>
            <a:r>
              <a:rPr lang="en-US" sz="1600" b="1" dirty="0">
                <a:solidFill>
                  <a:srgbClr val="800080"/>
                </a:solidFill>
                <a:latin typeface="Courier New"/>
              </a:rPr>
              <a:t>;</a:t>
            </a:r>
            <a:endParaRPr lang="en-US" sz="1600" b="1" dirty="0">
              <a:latin typeface="Courier New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455;p4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DE6B093-EC9E-4A45-AF92-498FF53D306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31</a:t>
            </a:fld>
            <a:endParaRPr lang="en-US" altLang="en-US" sz="1800"/>
          </a:p>
        </p:txBody>
      </p:sp>
      <p:sp>
        <p:nvSpPr>
          <p:cNvPr id="33795" name="Google Shape;456;p46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3796" name="Google Shape;457;p4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Google Shape;458;p4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59" name="Google Shape;459;p46"/>
          <p:cNvSpPr txBox="1"/>
          <p:nvPr/>
        </p:nvSpPr>
        <p:spPr>
          <a:xfrm>
            <a:off x="273925" y="1272049"/>
            <a:ext cx="9659700" cy="5479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5. Abstract Object Factory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intentie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de 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furniza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familii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intercorelate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dependente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fara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specifica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concreta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aplicabilitate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trebui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fie independent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modul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 care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sunt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create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compuse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reprezentate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un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sistem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urma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configurat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cu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familii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multiple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familie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intercorelate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proiectata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fie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utilizate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impreuna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se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doreste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furnizarea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unei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biblioteci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dar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se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doreste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accesibila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numai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interfata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nu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implementarea</a:t>
            </a:r>
            <a:r>
              <a:rPr lang="en-US" sz="2000" b="1" dirty="0">
                <a:solidFill>
                  <a:srgbClr val="FF0000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</a:t>
            </a:r>
            <a:endParaRPr sz="2000" b="1" dirty="0">
              <a:solidFill>
                <a:srgbClr val="FF0000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Google Shape;492;p49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7485ADC7-375E-4030-A6F6-6AC199481409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32</a:t>
            </a:fld>
            <a:endParaRPr lang="en-US" altLang="en-US" sz="1800"/>
          </a:p>
        </p:txBody>
      </p:sp>
      <p:sp>
        <p:nvSpPr>
          <p:cNvPr id="36867" name="Google Shape;493;p49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6868" name="Google Shape;494;p49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6869" name="Google Shape;495;p49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96" name="Google Shape;496;p49"/>
          <p:cNvSpPr txBox="1"/>
          <p:nvPr/>
        </p:nvSpPr>
        <p:spPr>
          <a:xfrm>
            <a:off x="273925" y="1272050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i="1" dirty="0">
              <a:solidFill>
                <a:srgbClr val="171717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colaborari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normal se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singura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instanta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consecinte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izoleaza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clasele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concrete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simplifica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schimbul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familiei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promoveaza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consistenta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printre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suporta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timpul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familii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usor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respecta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principiul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deschis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inchis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33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73925" y="1272050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structura</a:t>
            </a:r>
            <a:endParaRPr sz="2000" b="1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5847" name="Google Shape;484;p48"/>
          <p:cNvPicPr preferRelativeResize="0"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9425" y="2143125"/>
            <a:ext cx="9223375" cy="488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Google Shape;504;p50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D8BEC37-FE21-4438-9C52-300500A12A82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34</a:t>
            </a:fld>
            <a:endParaRPr lang="en-US" altLang="en-US" sz="1800"/>
          </a:p>
        </p:txBody>
      </p:sp>
      <p:sp>
        <p:nvSpPr>
          <p:cNvPr id="37891" name="Google Shape;505;p50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7892" name="Google Shape;506;p50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7893" name="Google Shape;507;p50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508" name="Google Shape;508;p50"/>
          <p:cNvSpPr txBox="1"/>
          <p:nvPr/>
        </p:nvSpPr>
        <p:spPr>
          <a:xfrm>
            <a:off x="273925" y="1272050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implementare</a:t>
            </a:r>
            <a:endParaRPr sz="2000" b="1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delegat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(callback)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functie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nu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invocata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explicit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programator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;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responsabilitatea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apelarii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delegata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altei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primeste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</a:t>
            </a: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parametru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adresa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functiei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delegat</a:t>
            </a: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Fabrica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utilizeaza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functii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delegat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: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fiecare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tip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delegata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functia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carea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creeaza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obiecte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acel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tip.</a:t>
            </a: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516;p5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7BC9041-6427-43CD-8228-B13CAC9DF15A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35</a:t>
            </a:fld>
            <a:endParaRPr lang="en-US" altLang="en-US" sz="1800"/>
          </a:p>
        </p:txBody>
      </p:sp>
      <p:sp>
        <p:nvSpPr>
          <p:cNvPr id="38915" name="Google Shape;517;p51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8916" name="Google Shape;518;p5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Google Shape;519;p5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520" name="Google Shape;520;p51"/>
          <p:cNvSpPr txBox="1"/>
          <p:nvPr/>
        </p:nvSpPr>
        <p:spPr>
          <a:xfrm>
            <a:off x="273925" y="1272050"/>
            <a:ext cx="9659700" cy="1136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solutia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definim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intai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abstracta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87712" y="2789237"/>
            <a:ext cx="4162164" cy="11937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392112" y="4310260"/>
            <a:ext cx="5953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Definim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grupurile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tipurile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Google Shape;516;p51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47BC9041-6427-43CD-8228-B13CAC9DF15A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36</a:t>
            </a:fld>
            <a:endParaRPr lang="en-US" altLang="en-US" sz="1800"/>
          </a:p>
        </p:txBody>
      </p:sp>
      <p:sp>
        <p:nvSpPr>
          <p:cNvPr id="38915" name="Google Shape;517;p51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8916" name="Google Shape;518;p51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8917" name="Google Shape;519;p51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520" name="Google Shape;520;p51"/>
          <p:cNvSpPr txBox="1"/>
          <p:nvPr/>
        </p:nvSpPr>
        <p:spPr>
          <a:xfrm>
            <a:off x="273925" y="1272050"/>
            <a:ext cx="9659700" cy="1136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solutia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392112" y="2408237"/>
            <a:ext cx="5953874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Definim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grupurile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tipurile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" y="3094037"/>
            <a:ext cx="4550374" cy="31178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6285" y="3094037"/>
            <a:ext cx="4326367" cy="2895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26360767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528;p5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9AEEC35-FCE5-4FC3-8C57-C3F8C2781F16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37</a:t>
            </a:fld>
            <a:endParaRPr lang="en-US" altLang="en-US" sz="1800"/>
          </a:p>
        </p:txBody>
      </p:sp>
      <p:sp>
        <p:nvSpPr>
          <p:cNvPr id="39939" name="Google Shape;529;p52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9940" name="Google Shape;530;p5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Google Shape;531;p5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532" name="Google Shape;532;p52"/>
          <p:cNvSpPr txBox="1"/>
          <p:nvPr/>
        </p:nvSpPr>
        <p:spPr>
          <a:xfrm>
            <a:off x="273925" y="1272050"/>
            <a:ext cx="9659700" cy="2279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solutia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definim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apoi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fabrica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figuri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adica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o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gestioneze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tipurile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figuri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71312" y="3363913"/>
            <a:ext cx="8641001" cy="16351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Google Shape;528;p52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09AEEC35-FCE5-4FC3-8C57-C3F8C2781F16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38</a:t>
            </a:fld>
            <a:endParaRPr lang="en-US" altLang="en-US" sz="1800"/>
          </a:p>
        </p:txBody>
      </p:sp>
      <p:sp>
        <p:nvSpPr>
          <p:cNvPr id="39939" name="Google Shape;529;p52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9940" name="Google Shape;530;p52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9941" name="Google Shape;531;p52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532" name="Google Shape;532;p52"/>
          <p:cNvSpPr txBox="1"/>
          <p:nvPr/>
        </p:nvSpPr>
        <p:spPr>
          <a:xfrm>
            <a:off x="273925" y="1272050"/>
            <a:ext cx="9659700" cy="22791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solutia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Generam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factory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pentru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grupuri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produse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2" y="2973389"/>
            <a:ext cx="5434235" cy="4089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239896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Google Shape;552;p54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DC813F32-FB41-446C-96D3-5617C4E6178C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39</a:t>
            </a:fld>
            <a:endParaRPr lang="en-US" altLang="en-US" sz="1800"/>
          </a:p>
        </p:txBody>
      </p:sp>
      <p:sp>
        <p:nvSpPr>
          <p:cNvPr id="41987" name="Google Shape;553;p54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41988" name="Google Shape;554;p54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1989" name="Google Shape;555;p54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556" name="Google Shape;556;p54"/>
          <p:cNvSpPr txBox="1"/>
          <p:nvPr/>
        </p:nvSpPr>
        <p:spPr>
          <a:xfrm>
            <a:off x="273925" y="1272050"/>
            <a:ext cx="9659700" cy="10599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Abstract Object Factory</a:t>
            </a:r>
            <a:endParaRPr sz="2000" b="1" i="1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solutia</a:t>
            </a:r>
            <a:endParaRPr sz="2000" b="1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620712" y="2560637"/>
            <a:ext cx="36888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pt-BR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Apel fara a numi efectiv figurile</a:t>
            </a: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30312" y="3398837"/>
            <a:ext cx="7143713" cy="3006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Google Shape;455;p4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BDE6B093-EC9E-4A45-AF92-498FF53D306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40</a:t>
            </a:fld>
            <a:endParaRPr lang="en-US" altLang="en-US" sz="1800"/>
          </a:p>
        </p:txBody>
      </p:sp>
      <p:sp>
        <p:nvSpPr>
          <p:cNvPr id="33795" name="Google Shape;456;p46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3796" name="Google Shape;457;p4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3797" name="Google Shape;458;p4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59" name="Google Shape;459;p46"/>
          <p:cNvSpPr txBox="1"/>
          <p:nvPr/>
        </p:nvSpPr>
        <p:spPr>
          <a:xfrm>
            <a:off x="273925" y="1272049"/>
            <a:ext cx="9659700" cy="5555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6. Strategy pattern</a:t>
            </a:r>
          </a:p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intentie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• </a:t>
            </a:r>
            <a:r>
              <a:rPr lang="en-US" sz="2000" dirty="0" err="1"/>
              <a:t>Presupune</a:t>
            </a:r>
            <a:r>
              <a:rPr lang="en-US" sz="2000" dirty="0"/>
              <a:t> </a:t>
            </a:r>
            <a:r>
              <a:rPr lang="en-US" sz="2000" dirty="0" err="1"/>
              <a:t>incapsularea</a:t>
            </a:r>
            <a:r>
              <a:rPr lang="en-US" sz="2000" dirty="0"/>
              <a:t> </a:t>
            </a:r>
            <a:r>
              <a:rPr lang="en-US" sz="2000" dirty="0" err="1"/>
              <a:t>separata</a:t>
            </a:r>
            <a:r>
              <a:rPr lang="en-US" sz="2000" dirty="0"/>
              <a:t> a </a:t>
            </a:r>
            <a:r>
              <a:rPr lang="en-US" sz="2000" dirty="0" err="1"/>
              <a:t>fiecarui</a:t>
            </a:r>
            <a:r>
              <a:rPr lang="en-US" sz="2000" dirty="0"/>
              <a:t> </a:t>
            </a:r>
            <a:r>
              <a:rPr lang="en-US" sz="2000" dirty="0" err="1"/>
              <a:t>algoritm</a:t>
            </a:r>
            <a:r>
              <a:rPr lang="en-US" sz="2000" dirty="0"/>
              <a:t> </a:t>
            </a:r>
            <a:r>
              <a:rPr lang="en-US" sz="2000" dirty="0" err="1"/>
              <a:t>dintr</a:t>
            </a:r>
            <a:r>
              <a:rPr lang="en-US" sz="2000" dirty="0"/>
              <a:t>-o </a:t>
            </a:r>
            <a:r>
              <a:rPr lang="en-US" sz="2000" dirty="0" err="1"/>
              <a:t>familie</a:t>
            </a:r>
            <a:r>
              <a:rPr lang="en-US" sz="2000" dirty="0"/>
              <a:t>, </a:t>
            </a:r>
            <a:r>
              <a:rPr lang="en-US" sz="2000" dirty="0" err="1"/>
              <a:t>facand</a:t>
            </a:r>
            <a:r>
              <a:rPr lang="en-US" sz="2000" dirty="0"/>
              <a:t> </a:t>
            </a:r>
            <a:r>
              <a:rPr lang="en-US" sz="2000" dirty="0" err="1"/>
              <a:t>astfel</a:t>
            </a:r>
            <a:r>
              <a:rPr lang="en-US" sz="2000" dirty="0"/>
              <a:t> ca </a:t>
            </a:r>
            <a:r>
              <a:rPr lang="en-US" sz="2000" dirty="0" err="1"/>
              <a:t>algoritmii</a:t>
            </a:r>
            <a:r>
              <a:rPr lang="en-US" sz="2000" dirty="0"/>
              <a:t> </a:t>
            </a:r>
            <a:r>
              <a:rPr lang="en-US" sz="2000" dirty="0" err="1"/>
              <a:t>respectivi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fie </a:t>
            </a:r>
            <a:r>
              <a:rPr lang="en-US" sz="2000" dirty="0" err="1"/>
              <a:t>interschimbabili</a:t>
            </a:r>
            <a:r>
              <a:rPr lang="en-US" sz="2000" dirty="0"/>
              <a:t>.</a:t>
            </a: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aplicabilitate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-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clase</a:t>
            </a:r>
            <a:r>
              <a:rPr lang="en-US" sz="2000" dirty="0"/>
              <a:t> </a:t>
            </a:r>
            <a:r>
              <a:rPr lang="en-US" sz="2000" dirty="0" err="1"/>
              <a:t>inrudite</a:t>
            </a:r>
            <a:r>
              <a:rPr lang="en-US" sz="2000" dirty="0"/>
              <a:t> </a:t>
            </a:r>
            <a:r>
              <a:rPr lang="en-US" sz="2000" dirty="0" err="1"/>
              <a:t>difera</a:t>
            </a:r>
            <a:r>
              <a:rPr lang="en-US" sz="2000" dirty="0"/>
              <a:t> </a:t>
            </a:r>
            <a:r>
              <a:rPr lang="en-US" sz="2000" dirty="0" err="1"/>
              <a:t>doar</a:t>
            </a:r>
            <a:r>
              <a:rPr lang="en-US" sz="2000" dirty="0"/>
              <a:t>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comportament</a:t>
            </a:r>
            <a:r>
              <a:rPr lang="en-US" sz="2000" dirty="0"/>
              <a:t>; 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  <a:defRPr/>
            </a:pPr>
            <a:r>
              <a:rPr lang="en-US" sz="2000" dirty="0" err="1"/>
              <a:t>sunt</a:t>
            </a:r>
            <a:r>
              <a:rPr lang="en-US" sz="2000" dirty="0"/>
              <a:t> </a:t>
            </a:r>
            <a:r>
              <a:rPr lang="en-US" sz="2000" dirty="0" err="1"/>
              <a:t>necesare</a:t>
            </a:r>
            <a:r>
              <a:rPr lang="en-US" sz="2000" dirty="0"/>
              <a:t>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variante</a:t>
            </a:r>
            <a:r>
              <a:rPr lang="en-US" sz="2000" dirty="0"/>
              <a:t> ale </a:t>
            </a:r>
            <a:r>
              <a:rPr lang="en-US" sz="2000" dirty="0" err="1"/>
              <a:t>unui</a:t>
            </a:r>
            <a:r>
              <a:rPr lang="en-US" sz="2000" dirty="0"/>
              <a:t> </a:t>
            </a:r>
            <a:r>
              <a:rPr lang="en-US" sz="2000" dirty="0" err="1"/>
              <a:t>algoritm</a:t>
            </a:r>
            <a:r>
              <a:rPr lang="en-US" sz="2000" dirty="0"/>
              <a:t>, care </a:t>
            </a:r>
            <a:r>
              <a:rPr lang="en-US" sz="2000" dirty="0" err="1"/>
              <a:t>difera</a:t>
            </a:r>
            <a:r>
              <a:rPr lang="en-US" sz="2000" dirty="0"/>
              <a:t> </a:t>
            </a:r>
            <a:r>
              <a:rPr lang="en-US" sz="2000" dirty="0" err="1"/>
              <a:t>intre</a:t>
            </a:r>
            <a:r>
              <a:rPr lang="en-US" sz="2000" dirty="0"/>
              <a:t> </a:t>
            </a:r>
            <a:r>
              <a:rPr lang="en-US" sz="2000" dirty="0" err="1"/>
              <a:t>ele</a:t>
            </a:r>
            <a:r>
              <a:rPr lang="en-US" sz="2000" dirty="0"/>
              <a:t>, de </a:t>
            </a:r>
            <a:r>
              <a:rPr lang="en-US" sz="2000" dirty="0" err="1"/>
              <a:t>exemplu</a:t>
            </a:r>
            <a:r>
              <a:rPr lang="en-US" sz="2000" dirty="0"/>
              <a:t>, </a:t>
            </a:r>
            <a:r>
              <a:rPr lang="en-US" sz="2000" dirty="0" err="1"/>
              <a:t>prin</a:t>
            </a:r>
            <a:r>
              <a:rPr lang="en-US" sz="2000" dirty="0"/>
              <a:t> </a:t>
            </a:r>
            <a:r>
              <a:rPr lang="en-US" sz="2000" dirty="0" err="1"/>
              <a:t>compromisul</a:t>
            </a:r>
            <a:r>
              <a:rPr lang="en-US" sz="2000" dirty="0"/>
              <a:t> </a:t>
            </a:r>
            <a:r>
              <a:rPr lang="en-US" sz="2000" dirty="0" err="1"/>
              <a:t>spatiu-timp</a:t>
            </a:r>
            <a:r>
              <a:rPr lang="en-US" sz="2000" dirty="0"/>
              <a:t> </a:t>
            </a:r>
            <a:r>
              <a:rPr lang="en-US" sz="2000" dirty="0" err="1"/>
              <a:t>adoptat</a:t>
            </a:r>
            <a:r>
              <a:rPr lang="en-US" sz="2000" dirty="0"/>
              <a:t>; </a:t>
            </a:r>
            <a:br>
              <a:rPr lang="en-US" sz="2000" dirty="0"/>
            </a:br>
            <a:endParaRPr lang="en-US" sz="20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  <a:defRPr/>
            </a:pPr>
            <a:r>
              <a:rPr lang="en-US" sz="2000" dirty="0"/>
              <a:t>un </a:t>
            </a:r>
            <a:r>
              <a:rPr lang="en-US" sz="2000" dirty="0" err="1"/>
              <a:t>algoritm</a:t>
            </a:r>
            <a:r>
              <a:rPr lang="en-US" sz="2000" dirty="0"/>
              <a:t> </a:t>
            </a:r>
            <a:r>
              <a:rPr lang="en-US" sz="2000" dirty="0" err="1"/>
              <a:t>utilizeaza</a:t>
            </a:r>
            <a:r>
              <a:rPr lang="en-US" sz="2000" dirty="0"/>
              <a:t> date </a:t>
            </a:r>
            <a:r>
              <a:rPr lang="en-US" sz="2000" dirty="0" err="1"/>
              <a:t>pe</a:t>
            </a:r>
            <a:r>
              <a:rPr lang="en-US" sz="2000" dirty="0"/>
              <a:t> care </a:t>
            </a:r>
            <a:r>
              <a:rPr lang="en-US" sz="2000" dirty="0" err="1"/>
              <a:t>clientul</a:t>
            </a:r>
            <a:r>
              <a:rPr lang="en-US" sz="2000" dirty="0"/>
              <a:t> </a:t>
            </a:r>
            <a:r>
              <a:rPr lang="en-US" sz="2000" dirty="0" err="1"/>
              <a:t>algoritmului</a:t>
            </a:r>
            <a:r>
              <a:rPr lang="en-US" sz="2000" dirty="0"/>
              <a:t> nu </a:t>
            </a:r>
            <a:r>
              <a:rPr lang="en-US" sz="2000" dirty="0" err="1"/>
              <a:t>trebuie</a:t>
            </a:r>
            <a:r>
              <a:rPr lang="en-US" sz="2000" dirty="0"/>
              <a:t> </a:t>
            </a:r>
            <a:r>
              <a:rPr lang="en-US" sz="2000" dirty="0" err="1"/>
              <a:t>sa</a:t>
            </a:r>
            <a:r>
              <a:rPr lang="en-US" sz="2000" dirty="0"/>
              <a:t> le </a:t>
            </a:r>
            <a:r>
              <a:rPr lang="en-US" sz="2000" dirty="0" err="1"/>
              <a:t>cunoasca</a:t>
            </a:r>
            <a:r>
              <a:rPr lang="en-US" sz="2000" dirty="0"/>
              <a:t>;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  <a:defRPr/>
            </a:pPr>
            <a:endParaRPr lang="en-US" sz="2000" dirty="0"/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Tx/>
              <a:buChar char="-"/>
              <a:defRPr/>
            </a:pPr>
            <a:r>
              <a:rPr lang="en-US" sz="2000" dirty="0" err="1"/>
              <a:t>intr</a:t>
            </a:r>
            <a:r>
              <a:rPr lang="en-US" sz="2000" dirty="0"/>
              <a:t>-o </a:t>
            </a:r>
            <a:r>
              <a:rPr lang="en-US" sz="2000" dirty="0" err="1"/>
              <a:t>clasa</a:t>
            </a:r>
            <a:r>
              <a:rPr lang="en-US" sz="2000" dirty="0"/>
              <a:t> </a:t>
            </a:r>
            <a:r>
              <a:rPr lang="en-US" sz="2000" dirty="0" err="1"/>
              <a:t>sunt</a:t>
            </a:r>
            <a:r>
              <a:rPr lang="en-US" sz="2000" dirty="0"/>
              <a:t> definite </a:t>
            </a:r>
            <a:r>
              <a:rPr lang="en-US" sz="2000" dirty="0" err="1"/>
              <a:t>mai</a:t>
            </a:r>
            <a:r>
              <a:rPr lang="en-US" sz="2000" dirty="0"/>
              <a:t> </a:t>
            </a:r>
            <a:r>
              <a:rPr lang="en-US" sz="2000" dirty="0" err="1"/>
              <a:t>multe</a:t>
            </a:r>
            <a:r>
              <a:rPr lang="en-US" sz="2000" dirty="0"/>
              <a:t> </a:t>
            </a:r>
            <a:r>
              <a:rPr lang="en-US" sz="2000" dirty="0" err="1"/>
              <a:t>actiuni</a:t>
            </a:r>
            <a:r>
              <a:rPr lang="en-US" sz="2000" dirty="0"/>
              <a:t> care </a:t>
            </a:r>
            <a:r>
              <a:rPr lang="en-US" sz="2000" dirty="0" err="1"/>
              <a:t>apar</a:t>
            </a:r>
            <a:r>
              <a:rPr lang="en-US" sz="2000" dirty="0"/>
              <a:t> ca </a:t>
            </a:r>
            <a:r>
              <a:rPr lang="en-US" sz="2000" dirty="0" err="1"/>
              <a:t>structuri</a:t>
            </a:r>
            <a:r>
              <a:rPr lang="en-US" sz="2000" dirty="0"/>
              <a:t> </a:t>
            </a:r>
            <a:r>
              <a:rPr lang="en-US" sz="2000" dirty="0" err="1"/>
              <a:t>conditionale</a:t>
            </a:r>
            <a:r>
              <a:rPr lang="en-US" sz="2000" dirty="0"/>
              <a:t> multiple. In </a:t>
            </a:r>
            <a:r>
              <a:rPr lang="en-US" sz="2000" dirty="0" err="1"/>
              <a:t>loc</a:t>
            </a:r>
            <a:r>
              <a:rPr lang="en-US" sz="2000" dirty="0"/>
              <a:t> de </a:t>
            </a:r>
            <a:r>
              <a:rPr lang="en-US" sz="2000" dirty="0" err="1"/>
              <a:t>aceasta</a:t>
            </a:r>
            <a:r>
              <a:rPr lang="en-US" sz="2000" dirty="0"/>
              <a:t>, se </a:t>
            </a:r>
            <a:r>
              <a:rPr lang="en-US" sz="2000" dirty="0" err="1"/>
              <a:t>recomanda</a:t>
            </a:r>
            <a:r>
              <a:rPr lang="en-US" sz="2000" dirty="0"/>
              <a:t> </a:t>
            </a:r>
            <a:r>
              <a:rPr lang="en-US" sz="2000" dirty="0" err="1"/>
              <a:t>plasarea</a:t>
            </a:r>
            <a:r>
              <a:rPr lang="en-US" sz="2000" dirty="0"/>
              <a:t> </a:t>
            </a:r>
            <a:r>
              <a:rPr lang="en-US" sz="2000" dirty="0" err="1"/>
              <a:t>ramurilor</a:t>
            </a:r>
            <a:r>
              <a:rPr lang="en-US" sz="2000" dirty="0"/>
              <a:t> </a:t>
            </a:r>
            <a:r>
              <a:rPr lang="en-US" sz="2000" dirty="0" err="1"/>
              <a:t>conditionale</a:t>
            </a:r>
            <a:r>
              <a:rPr lang="en-US" sz="2000" dirty="0"/>
              <a:t> </a:t>
            </a:r>
            <a:r>
              <a:rPr lang="en-US" sz="2000" dirty="0" err="1"/>
              <a:t>inrudite</a:t>
            </a:r>
            <a:r>
              <a:rPr lang="en-US" sz="2000" dirty="0"/>
              <a:t> in cate o </a:t>
            </a:r>
            <a:r>
              <a:rPr lang="en-US" sz="2000" dirty="0" err="1"/>
              <a:t>clasa</a:t>
            </a:r>
            <a:r>
              <a:rPr lang="en-US" sz="2000" dirty="0"/>
              <a:t> strategy </a:t>
            </a:r>
            <a:r>
              <a:rPr lang="en-US" sz="2000" dirty="0" err="1"/>
              <a:t>separata</a:t>
            </a:r>
            <a:r>
              <a:rPr lang="en-US" sz="2000" dirty="0"/>
              <a:t>.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34448853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41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73925" y="1272050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structura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105" y="2408237"/>
            <a:ext cx="8921880" cy="3121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004199464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42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39712" y="1272050"/>
            <a:ext cx="9659700" cy="48819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exemplu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Algoritm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impart un text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linii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SimpleCompositor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algoritm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simplu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cu \n </a:t>
            </a: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TeXCompositor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algoritm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grupeaza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mai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eficient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paragrafe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marL="34290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Tx/>
              <a:buChar char="-"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ArrayCompositor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–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algoritm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care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imparte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textul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astfel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incat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fiecare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linie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existe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acelasi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nr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caractere</a:t>
            </a:r>
            <a:endParaRPr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2719" y="4008437"/>
            <a:ext cx="7416800" cy="2387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845940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43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39712" y="1272050"/>
            <a:ext cx="9659700" cy="907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implementare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Problema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!!</a:t>
            </a: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767" y="3087688"/>
            <a:ext cx="8444871" cy="2292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05006668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44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39712" y="1272050"/>
            <a:ext cx="9659700" cy="907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implementare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3600" y="2454714"/>
            <a:ext cx="5522912" cy="4608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4512" y="2300825"/>
            <a:ext cx="27622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Strategiile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transport</a:t>
            </a:r>
          </a:p>
        </p:txBody>
      </p:sp>
    </p:spTree>
    <p:extLst>
      <p:ext uri="{BB962C8B-B14F-4D97-AF65-F5344CB8AC3E}">
        <p14:creationId xmlns:p14="http://schemas.microsoft.com/office/powerpoint/2010/main" val="137298900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45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39712" y="1272050"/>
            <a:ext cx="9659700" cy="907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implementare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4512" y="2300825"/>
            <a:ext cx="79031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Noua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clasa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turist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(care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contine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un pointer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catre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modul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de </a:t>
            </a: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deplasare</a:t>
            </a:r>
            <a:r>
              <a:rPr lang="en-US" sz="2000" dirty="0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)</a:t>
            </a: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3112" y="3017837"/>
            <a:ext cx="8927083" cy="3816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37643546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Google Shape;479;p48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3EEAE698-08EB-4665-B264-8665D0E0640D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46</a:t>
            </a:fld>
            <a:endParaRPr lang="en-US" altLang="en-US" sz="1800"/>
          </a:p>
        </p:txBody>
      </p:sp>
      <p:sp>
        <p:nvSpPr>
          <p:cNvPr id="35843" name="Google Shape;480;p48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35844" name="Google Shape;481;p48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5845" name="Google Shape;482;p48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/>
              <a:t>Sabloane de proiectare (Design patterns)</a:t>
            </a:r>
          </a:p>
        </p:txBody>
      </p:sp>
      <p:sp>
        <p:nvSpPr>
          <p:cNvPr id="483" name="Google Shape;483;p48"/>
          <p:cNvSpPr txBox="1"/>
          <p:nvPr/>
        </p:nvSpPr>
        <p:spPr>
          <a:xfrm>
            <a:off x="239712" y="1272050"/>
            <a:ext cx="9659700" cy="9075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Strategy pattern</a:t>
            </a:r>
            <a:endParaRPr sz="2000" b="1" i="1" dirty="0">
              <a:solidFill>
                <a:schemeClr val="tx2"/>
              </a:solidFill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Exemplu</a:t>
            </a:r>
            <a:r>
              <a:rPr lang="en-US" sz="2000" b="1" dirty="0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dirty="0" err="1">
                <a:solidFill>
                  <a:schemeClr val="accent1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implementare</a:t>
            </a:r>
            <a:endParaRPr sz="2000" b="1" dirty="0">
              <a:solidFill>
                <a:schemeClr val="accent1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544512" y="2300825"/>
            <a:ext cx="69923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/>
            </a:pPr>
            <a:r>
              <a:rPr lang="en-US" sz="2000" dirty="0" err="1">
                <a:solidFill>
                  <a:srgbClr val="171717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Apel</a:t>
            </a:r>
            <a:endParaRPr lang="en-US" sz="2000" dirty="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266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44712" y="2514260"/>
            <a:ext cx="6221565" cy="31400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83478428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Google Shape;576;p56"/>
          <p:cNvSpPr>
            <a:spLocks noChangeArrowheads="1"/>
          </p:cNvSpPr>
          <p:nvPr/>
        </p:nvSpPr>
        <p:spPr bwMode="auto">
          <a:xfrm>
            <a:off x="9291638" y="7062788"/>
            <a:ext cx="641350" cy="401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 anchor="b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r" eaLnBrk="1" hangingPunct="1">
              <a:lnSpc>
                <a:spcPct val="104000"/>
              </a:lnSpc>
              <a:buClr>
                <a:srgbClr val="000000"/>
              </a:buClr>
              <a:buSzPts val="1500"/>
              <a:buFont typeface="Arial" charset="0"/>
              <a:buNone/>
            </a:pPr>
            <a:fld id="{1C0B0F4F-CA78-4B83-808A-E48E7D36D1D0}" type="slidenum">
              <a:rPr lang="en-US" altLang="en-US" sz="1500"/>
              <a:pPr algn="r" eaLnBrk="1" hangingPunct="1">
                <a:lnSpc>
                  <a:spcPct val="104000"/>
                </a:lnSpc>
                <a:buClr>
                  <a:srgbClr val="000000"/>
                </a:buClr>
                <a:buSzPts val="1500"/>
                <a:buFont typeface="Arial" charset="0"/>
                <a:buNone/>
              </a:pPr>
              <a:t>47</a:t>
            </a:fld>
            <a:endParaRPr lang="en-US" altLang="en-US" sz="1800"/>
          </a:p>
        </p:txBody>
      </p:sp>
      <p:sp>
        <p:nvSpPr>
          <p:cNvPr id="43011" name="Google Shape;577;p56"/>
          <p:cNvSpPr>
            <a:spLocks noChangeArrowheads="1"/>
          </p:cNvSpPr>
          <p:nvPr/>
        </p:nvSpPr>
        <p:spPr bwMode="auto">
          <a:xfrm>
            <a:off x="84138" y="84138"/>
            <a:ext cx="5038725" cy="657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00800" tIns="50400" rIns="100800" bIns="50400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eaLnBrk="1" hangingPunct="1">
              <a:lnSpc>
                <a:spcPct val="104000"/>
              </a:lnSpc>
              <a:buClr>
                <a:srgbClr val="000000"/>
              </a:buClr>
              <a:buSzPts val="1800"/>
              <a:buFont typeface="Arial" charset="0"/>
              <a:buNone/>
            </a:pPr>
            <a:r>
              <a:rPr lang="vi-VN" altLang="en-US" sz="1800" b="1"/>
              <a:t>Facultatea de Matematică şi Informatică </a:t>
            </a:r>
            <a:r>
              <a:rPr lang="en-US" altLang="en-US" sz="1800" b="1"/>
              <a:t>Universitatea din Bucureşti</a:t>
            </a:r>
            <a:endParaRPr lang="en-US" altLang="en-US" sz="1800"/>
          </a:p>
        </p:txBody>
      </p:sp>
      <p:pic>
        <p:nvPicPr>
          <p:cNvPr id="43012" name="Google Shape;578;p56"/>
          <p:cNvPicPr preferRelativeResize="0"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26525" y="84138"/>
            <a:ext cx="884238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3013" name="Google Shape;579;p56"/>
          <p:cNvSpPr>
            <a:spLocks noChangeArrowheads="1"/>
          </p:cNvSpPr>
          <p:nvPr/>
        </p:nvSpPr>
        <p:spPr bwMode="auto">
          <a:xfrm>
            <a:off x="1789113" y="827088"/>
            <a:ext cx="6704012" cy="444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10075" rIns="0" bIns="10075"/>
          <a:lstStyle>
            <a:lvl1pPr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1pPr>
            <a:lvl2pPr marL="742950" indent="-28575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2pPr>
            <a:lvl3pPr marL="11430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3pPr>
            <a:lvl4pPr marL="16002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4pPr>
            <a:lvl5pPr marL="2057400" indent="-228600" eaLnBrk="0" hangingPunct="0"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400">
                <a:solidFill>
                  <a:srgbClr val="000000"/>
                </a:solidFill>
                <a:latin typeface="Arial" charset="0"/>
                <a:cs typeface="Arial" charset="0"/>
                <a:sym typeface="Arial" charset="0"/>
              </a:defRPr>
            </a:lvl9pPr>
          </a:lstStyle>
          <a:p>
            <a:pPr algn="ctr" eaLnBrk="1" hangingPunct="1">
              <a:buClr>
                <a:srgbClr val="000000"/>
              </a:buClr>
              <a:buSzPts val="2000"/>
              <a:buFont typeface="Arial" charset="0"/>
              <a:buNone/>
            </a:pPr>
            <a:r>
              <a:rPr lang="en-US" altLang="en-US" sz="2000" b="1" dirty="0"/>
              <a:t>Curs 13</a:t>
            </a:r>
          </a:p>
        </p:txBody>
      </p:sp>
      <p:sp>
        <p:nvSpPr>
          <p:cNvPr id="580" name="Google Shape;580;p56"/>
          <p:cNvSpPr txBox="1"/>
          <p:nvPr/>
        </p:nvSpPr>
        <p:spPr>
          <a:xfrm>
            <a:off x="2830512" y="2948450"/>
            <a:ext cx="5833187" cy="602787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lIns="91425" tIns="91425" rIns="91425" bIns="91425"/>
          <a:lstStyle/>
          <a:p>
            <a:pPr algn="just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  <a:defRPr/>
            </a:pP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Succes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colocviu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si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la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examenul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 b="1" i="1" dirty="0" err="1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scris</a:t>
            </a:r>
            <a:r>
              <a:rPr lang="en-US" sz="2000" b="1" i="1" dirty="0">
                <a:solidFill>
                  <a:schemeClr val="tx2"/>
                </a:solidFill>
                <a:latin typeface="Arial"/>
                <a:ea typeface="Arial"/>
                <a:cs typeface="Arial"/>
                <a:sym typeface="Arial"/>
              </a:rPr>
              <a:t>!</a:t>
            </a:r>
            <a:endParaRPr sz="2000">
              <a:solidFill>
                <a:srgbClr val="171717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6E02F608F3513458693E499A1B4021C" ma:contentTypeVersion="3" ma:contentTypeDescription="Creați un document nou." ma:contentTypeScope="" ma:versionID="399cf48525c93e7bd603b375853bb402">
  <xsd:schema xmlns:xsd="http://www.w3.org/2001/XMLSchema" xmlns:xs="http://www.w3.org/2001/XMLSchema" xmlns:p="http://schemas.microsoft.com/office/2006/metadata/properties" xmlns:ns2="e011d0cb-f29a-4db3-9b8c-3b4d1a8211af" targetNamespace="http://schemas.microsoft.com/office/2006/metadata/properties" ma:root="true" ma:fieldsID="c6228155182473796e27d3838206c164" ns2:_="">
    <xsd:import namespace="e011d0cb-f29a-4db3-9b8c-3b4d1a8211a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11d0cb-f29a-4db3-9b8c-3b4d1a8211a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 de conținut"/>
        <xsd:element ref="dc:title" minOccurs="0" maxOccurs="1" ma:index="4" ma:displayName="Titlu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936A3A9-F3E1-4D2A-9270-C288FCB7FC7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3AC9A83-9532-454D-A3F3-F15E5774FF1E}"/>
</file>

<file path=customXml/itemProps3.xml><?xml version="1.0" encoding="utf-8"?>
<ds:datastoreItem xmlns:ds="http://schemas.openxmlformats.org/officeDocument/2006/customXml" ds:itemID="{C5DA21AD-EB0F-4E68-BE48-90D46B800C40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2041</TotalTime>
  <Words>2672</Words>
  <Application>Microsoft Office PowerPoint</Application>
  <PresentationFormat>Custom</PresentationFormat>
  <Paragraphs>748</Paragraphs>
  <Slides>47</Slides>
  <Notes>47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47</vt:i4>
      </vt:variant>
    </vt:vector>
  </HeadingPairs>
  <TitlesOfParts>
    <vt:vector size="48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Ank</dc:creator>
  <cp:lastModifiedBy>Admin</cp:lastModifiedBy>
  <cp:revision>282</cp:revision>
  <dcterms:modified xsi:type="dcterms:W3CDTF">2026-05-18T04:45:00Z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0x010100C6E02F608F3513458693E499A1B4021C</vt:lpwstr>
  </property>
</Properties>
</file>