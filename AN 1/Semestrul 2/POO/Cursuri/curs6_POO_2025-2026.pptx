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4"/>
  </p:sldMasterIdLst>
  <p:notesMasterIdLst>
    <p:notesMasterId r:id="rId53"/>
  </p:notesMasterIdLst>
  <p:sldIdLst>
    <p:sldId id="256" r:id="rId5"/>
    <p:sldId id="257" r:id="rId6"/>
    <p:sldId id="260" r:id="rId7"/>
    <p:sldId id="261" r:id="rId8"/>
    <p:sldId id="262" r:id="rId9"/>
    <p:sldId id="323" r:id="rId10"/>
    <p:sldId id="328" r:id="rId11"/>
    <p:sldId id="267" r:id="rId12"/>
    <p:sldId id="269" r:id="rId13"/>
    <p:sldId id="271" r:id="rId14"/>
    <p:sldId id="276" r:id="rId15"/>
    <p:sldId id="277" r:id="rId16"/>
    <p:sldId id="278" r:id="rId17"/>
    <p:sldId id="281" r:id="rId18"/>
    <p:sldId id="284" r:id="rId19"/>
    <p:sldId id="286" r:id="rId20"/>
    <p:sldId id="288" r:id="rId21"/>
    <p:sldId id="289" r:id="rId22"/>
    <p:sldId id="290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31" r:id="rId32"/>
    <p:sldId id="335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</p:sldIdLst>
  <p:sldSz cx="10080625" cy="7559675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002DB-83E6-4615-8BE7-594E5F883322}" v="3" dt="2026-04-22T13:32:19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4" d="100"/>
          <a:sy n="54" d="100"/>
        </p:scale>
        <p:origin x="-1456" y="-160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ELIA OBREJA" userId="S::camelia.obreja@unibuc.ro::b334adac-b9b2-48d3-857d-735123cc251e" providerId="AD" clId="Web-{8BD002DB-83E6-4615-8BE7-594E5F883322}"/>
    <pc:docChg chg="modSld">
      <pc:chgData name="CAMELIA OBREJA" userId="S::camelia.obreja@unibuc.ro::b334adac-b9b2-48d3-857d-735123cc251e" providerId="AD" clId="Web-{8BD002DB-83E6-4615-8BE7-594E5F883322}" dt="2026-04-22T13:32:19.757" v="2" actId="20577"/>
      <pc:docMkLst>
        <pc:docMk/>
      </pc:docMkLst>
      <pc:sldChg chg="modSp">
        <pc:chgData name="CAMELIA OBREJA" userId="S::camelia.obreja@unibuc.ro::b334adac-b9b2-48d3-857d-735123cc251e" providerId="AD" clId="Web-{8BD002DB-83E6-4615-8BE7-594E5F883322}" dt="2026-04-22T13:32:19.757" v="2" actId="20577"/>
        <pc:sldMkLst>
          <pc:docMk/>
          <pc:sldMk cId="0" sldId="308"/>
        </pc:sldMkLst>
        <pc:spChg chg="mod">
          <ac:chgData name="CAMELIA OBREJA" userId="S::camelia.obreja@unibuc.ro::b334adac-b9b2-48d3-857d-735123cc251e" providerId="AD" clId="Web-{8BD002DB-83E6-4615-8BE7-594E5F883322}" dt="2026-04-22T13:32:19.757" v="2" actId="20577"/>
          <ac:spMkLst>
            <pc:docMk/>
            <pc:sldMk cId="0" sldId="308"/>
            <ac:spMk id="542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2688" y="768350"/>
            <a:ext cx="4733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</p:sp>
      <p:sp>
        <p:nvSpPr>
          <p:cNvPr id="6861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785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Google Shape;60;p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6E4444C-20E8-4981-9293-DDC652EEB19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sz="1800"/>
          </a:p>
        </p:txBody>
      </p:sp>
      <p:sp>
        <p:nvSpPr>
          <p:cNvPr id="69635" name="Google Shape;61;p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373FF23-0357-4B33-BC9B-975875C8666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sz="1800"/>
          </a:p>
        </p:txBody>
      </p:sp>
      <p:sp>
        <p:nvSpPr>
          <p:cNvPr id="69636" name="Google Shape;62;p1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69637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69638" name="Google Shape;64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74;p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C5394E-49F3-4FAC-8FB4-FA293AF8078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sz="1800"/>
          </a:p>
        </p:txBody>
      </p:sp>
      <p:sp>
        <p:nvSpPr>
          <p:cNvPr id="70659" name="Google Shape;75;p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153390F-BB3D-4D6E-8EA5-E1E8D2AB707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sz="1800"/>
          </a:p>
        </p:txBody>
      </p:sp>
      <p:sp>
        <p:nvSpPr>
          <p:cNvPr id="70660" name="Google Shape;76;p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0661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70662" name="Google Shape;78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Google Shape;110;g50e229d72d_0_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482004C-EBB9-45DD-8C9C-A47DA393ACB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sz="1800"/>
          </a:p>
        </p:txBody>
      </p:sp>
      <p:sp>
        <p:nvSpPr>
          <p:cNvPr id="73731" name="Google Shape;111;g50e229d72d_0_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FE9D656-694A-4847-9B8B-B8C1CB196DA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sz="1800"/>
          </a:p>
        </p:txBody>
      </p:sp>
      <p:sp>
        <p:nvSpPr>
          <p:cNvPr id="73732" name="Google Shape;112;g50e229d72d_0_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3733" name="Google Shape;113;g50e229d72d_0_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73734" name="Google Shape;114;g50e229d72d_0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Google Shape;122;g50e229d72d_0_2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3BC60FF-92E1-46F1-81D8-006D320A88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sz="1800"/>
          </a:p>
        </p:txBody>
      </p:sp>
      <p:sp>
        <p:nvSpPr>
          <p:cNvPr id="74755" name="Google Shape;123;g50e229d72d_0_2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CB0CED9-F918-4893-80BA-20BDD578FE8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sz="1800"/>
          </a:p>
        </p:txBody>
      </p:sp>
      <p:sp>
        <p:nvSpPr>
          <p:cNvPr id="74756" name="Google Shape;124;g50e229d72d_0_2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4757" name="Google Shape;125;g50e229d72d_0_2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74758" name="Google Shape;126;g50e229d72d_0_2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Google Shape;135;g50e229d72d_0_4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BB27428-0C9A-4017-8F37-52DB1B13AA6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sz="1800"/>
          </a:p>
        </p:txBody>
      </p:sp>
      <p:sp>
        <p:nvSpPr>
          <p:cNvPr id="75779" name="Google Shape;136;g50e229d72d_0_4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FF4C502-B941-4E9A-80FC-3EB36B42E9F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sz="1800"/>
          </a:p>
        </p:txBody>
      </p:sp>
      <p:sp>
        <p:nvSpPr>
          <p:cNvPr id="75780" name="Google Shape;137;g50e229d72d_0_4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75781" name="Google Shape;138;g50e229d72d_0_4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75782" name="Google Shape;139;g50e229d72d_0_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Google Shape;364;g6ad14e0c7f_0_20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</a:pPr>
            <a:fld id="{3157C583-CF29-41F6-B82C-D6F4E580613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</a:pPr>
              <a:t>6</a:t>
            </a:fld>
            <a:endParaRPr lang="en-US" sz="1800"/>
          </a:p>
        </p:txBody>
      </p:sp>
      <p:sp>
        <p:nvSpPr>
          <p:cNvPr id="76803" name="Google Shape;365;g6ad14e0c7f_0_207:notes"/>
          <p:cNvSpPr>
            <a:spLocks noChangeArrowheads="1"/>
          </p:cNvSpPr>
          <p:nvPr/>
        </p:nvSpPr>
        <p:spPr bwMode="auto">
          <a:xfrm>
            <a:off x="4017963" y="9721850"/>
            <a:ext cx="3059112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</a:pPr>
            <a:fld id="{E6086742-6800-432B-8DE9-90AE2DD86262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</a:pPr>
              <a:t>6</a:t>
            </a:fld>
            <a:endParaRPr lang="en-US" sz="1800"/>
          </a:p>
        </p:txBody>
      </p:sp>
      <p:sp>
        <p:nvSpPr>
          <p:cNvPr id="76804" name="Google Shape;366;g6ad14e0c7f_0_207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pPr>
              <a:buClr>
                <a:srgbClr val="000000"/>
              </a:buClr>
              <a:buSzPts val="1400"/>
            </a:pPr>
            <a:endParaRPr lang="en-US"/>
          </a:p>
        </p:txBody>
      </p:sp>
      <p:sp>
        <p:nvSpPr>
          <p:cNvPr id="76805" name="Google Shape;367;g6ad14e0c7f_0_20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5175"/>
          </a:xfrm>
        </p:spPr>
        <p:txBody>
          <a:bodyPr lIns="0" tIns="0" rIns="0" bIns="0"/>
          <a:lstStyle/>
          <a:p>
            <a:pPr eaLnBrk="1" hangingPunct="1">
              <a:buSzPts val="1100"/>
              <a:buFont typeface="Arial" charset="0"/>
              <a:buChar char="●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76806" name="Google Shape;368;g6ad14e0c7f_0_20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Google Shape;400;g6ad14e0c7f_0_24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</a:pPr>
            <a:fld id="{D93ABEFC-CD0F-4A55-96CF-92A942ED0459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</a:pPr>
              <a:t>7</a:t>
            </a:fld>
            <a:endParaRPr lang="en-US" sz="1800"/>
          </a:p>
        </p:txBody>
      </p:sp>
      <p:sp>
        <p:nvSpPr>
          <p:cNvPr id="80899" name="Google Shape;401;g6ad14e0c7f_0_240:notes"/>
          <p:cNvSpPr>
            <a:spLocks noChangeArrowheads="1"/>
          </p:cNvSpPr>
          <p:nvPr/>
        </p:nvSpPr>
        <p:spPr bwMode="auto">
          <a:xfrm>
            <a:off x="4017963" y="9721850"/>
            <a:ext cx="3059112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</a:pPr>
            <a:fld id="{9F1036CE-6270-4DFA-A3DE-88CF882F84E8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</a:pPr>
              <a:t>7</a:t>
            </a:fld>
            <a:endParaRPr lang="en-US" sz="1800"/>
          </a:p>
        </p:txBody>
      </p:sp>
      <p:sp>
        <p:nvSpPr>
          <p:cNvPr id="80900" name="Google Shape;402;g6ad14e0c7f_0_240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pPr>
              <a:buClr>
                <a:srgbClr val="000000"/>
              </a:buClr>
              <a:buSzPts val="1400"/>
            </a:pPr>
            <a:endParaRPr lang="en-US"/>
          </a:p>
        </p:txBody>
      </p:sp>
      <p:sp>
        <p:nvSpPr>
          <p:cNvPr id="80901" name="Google Shape;403;g6ad14e0c7f_0_24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5175"/>
          </a:xfrm>
        </p:spPr>
        <p:txBody>
          <a:bodyPr lIns="0" tIns="0" rIns="0" bIns="0"/>
          <a:lstStyle/>
          <a:p>
            <a:pPr eaLnBrk="1" hangingPunct="1">
              <a:buSzPts val="1100"/>
              <a:buFont typeface="Arial" charset="0"/>
              <a:buChar char="●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80902" name="Google Shape;404;g6ad14e0c7f_0_2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Google Shape;196;g50e229d72d_0_20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E2B1FE8-5ED0-40C2-BB0E-75F159E3769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81923" name="Google Shape;197;g50e229d72d_0_20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0FA1532-6398-4A85-A736-B314890BFAC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81924" name="Google Shape;198;g50e229d72d_0_20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1925" name="Google Shape;199;g50e229d72d_0_20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81926" name="Google Shape;200;g50e229d72d_0_20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Google Shape;220;g50e229d72d_0_22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08C58D9-1C9A-4032-B2A6-05B660AC717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82947" name="Google Shape;221;g50e229d72d_0_22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E6AB91A-6A2E-4510-8917-E9DD17953DE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82948" name="Google Shape;222;g50e229d72d_0_22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2949" name="Google Shape;223;g50e229d72d_0_22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82950" name="Google Shape;224;g50e229d72d_0_22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Google Shape;244;g50e229d72d_0_24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EBA3F56-3E9A-4598-9260-9A8BBB9D5AD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83971" name="Google Shape;245;g50e229d72d_0_24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59CEFEF-00FD-4205-B45B-60FE5009523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83972" name="Google Shape;246;g50e229d72d_0_24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3973" name="Google Shape;247;g50e229d72d_0_24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83974" name="Google Shape;248;g50e229d72d_0_24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Google Shape;306;g50e229d72d_0_34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4FA1252-9AAF-4881-8006-60934F5C6FC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89091" name="Google Shape;307;g50e229d72d_0_34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640BA88-A567-4E92-8741-78870C0F6B4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89092" name="Google Shape;308;g50e229d72d_0_34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89093" name="Google Shape;309;g50e229d72d_0_34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89094" name="Google Shape;310;g50e229d72d_0_34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Google Shape;318;g50e229d72d_0_33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A8BD1C9-409F-4481-9E06-AEF3B3F886A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90115" name="Google Shape;319;g50e229d72d_0_33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1753EC4-24DB-4DD4-945A-7520A636C84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90116" name="Google Shape;320;g50e229d72d_0_33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0117" name="Google Shape;321;g50e229d72d_0_33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90118" name="Google Shape;322;g50e229d72d_0_3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Google Shape;330;g50e229d72d_0_36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E71FB74-F3F5-4770-91B4-07B3923A5E7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91139" name="Google Shape;331;g50e229d72d_0_36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67B52D4-8C50-4D36-A05A-8A1737D4206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91140" name="Google Shape;332;g50e229d72d_0_36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1141" name="Google Shape;333;g50e229d72d_0_36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91142" name="Google Shape;334;g50e229d72d_0_3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Google Shape;369;g50e229d72d_0_40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B19906B-940E-42D1-A911-565136FCCB5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94211" name="Google Shape;370;g50e229d72d_0_40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6D07AC5-1EF0-438A-A3B9-ACFB0768E02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94212" name="Google Shape;371;g50e229d72d_0_40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4213" name="Google Shape;372;g50e229d72d_0_40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94214" name="Google Shape;373;g50e229d72d_0_4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405;g50e229d72d_0_42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C2CB6C0-375E-42F9-AC3E-EBFA8622397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97283" name="Google Shape;406;g50e229d72d_0_42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F642711-33EB-4006-AF08-792A92100F6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97284" name="Google Shape;407;g50e229d72d_0_42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7285" name="Google Shape;408;g50e229d72d_0_4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97286" name="Google Shape;409;g50e229d72d_0_42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Google Shape;429;g50e229d72d_0_3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6C1FE9D-B4DD-4810-8FE9-5690584AF88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99331" name="Google Shape;430;g50e229d72d_0_3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BBFFCA0-96F4-494B-BADA-F20CBD36260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99332" name="Google Shape;431;g50e229d72d_0_3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99333" name="Google Shape;432;g50e229d72d_0_3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99334" name="Google Shape;433;g50e229d72d_0_3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Google Shape;454;g50e229d72d_0_46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4EA203C-65B7-47EE-AACE-A19A8050F7C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101379" name="Google Shape;455;g50e229d72d_0_46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1EE0D18-B01A-40F3-A6B8-CB74F8C46FD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101380" name="Google Shape;456;g50e229d72d_0_46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1381" name="Google Shape;457;g50e229d72d_0_46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1382" name="Google Shape;458;g50e229d72d_0_46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466;g50e229d72d_0_45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CC249C1-0E9C-44D4-A5FE-C9CA5FCD03D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102403" name="Google Shape;467;g50e229d72d_0_45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636134D-88DE-4461-B2F0-C1A4C1BC0CA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102404" name="Google Shape;468;g50e229d72d_0_45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2405" name="Google Shape;469;g50e229d72d_0_45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2406" name="Google Shape;470;g50e229d72d_0_45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479;g50e229d72d_0_48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6F670C7-13BC-4E4B-9623-AD33CE8193D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103427" name="Google Shape;480;g50e229d72d_0_48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83E32CB-AF98-4605-B659-1B213D9146D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103428" name="Google Shape;481;g50e229d72d_0_48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3429" name="Google Shape;482;g50e229d72d_0_48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3430" name="Google Shape;483;g50e229d72d_0_48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Google Shape;516;g50e229d72d_0_49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99DAB44-08E1-44DD-B1B0-0976E207B81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107523" name="Google Shape;517;g50e229d72d_0_49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857C1D4-01EA-4511-98F4-02B03EF0575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107524" name="Google Shape;518;g50e229d72d_0_49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7525" name="Google Shape;519;g50e229d72d_0_49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7526" name="Google Shape;520;g50e229d72d_0_49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Google Shape;528;g50e229d72d_0_53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B3567F1-47EC-4FBB-A798-24A701FF47B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108547" name="Google Shape;529;g50e229d72d_0_53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5930342-A646-43E7-AE1A-ABD39D93477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108548" name="Google Shape;530;g50e229d72d_0_53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8549" name="Google Shape;531;g50e229d72d_0_53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8550" name="Google Shape;532;g50e229d72d_0_5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Google Shape;540;g50e229d72d_0_55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B0AE3B2-7E2C-4E96-8058-0847B7010A0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109571" name="Google Shape;541;g50e229d72d_0_55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8A94E29-EDF8-4202-9476-B998DA3A2D8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109572" name="Google Shape;542;g50e229d72d_0_55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09573" name="Google Shape;543;g50e229d72d_0_55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09574" name="Google Shape;544;g50e229d72d_0_55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EA24532-E8ED-40CD-AAD7-E9BF6EE6F9E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1F50A34-36EB-40DB-A755-86AF595E16D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Google Shape;564;g50e229d72d_0_58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D627F6-EF3C-46AA-89DD-0409367656E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111619" name="Google Shape;565;g50e229d72d_0_58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E6E1880-7B22-46BE-BAE8-4A70D3DFA93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111620" name="Google Shape;566;g50e229d72d_0_58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1621" name="Google Shape;567;g50e229d72d_0_58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1622" name="Google Shape;568;g50e229d72d_0_58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Google Shape;576;g50e229d72d_0_61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FD71749-C938-4B72-9ECE-98E6F8E4E06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112643" name="Google Shape;577;g50e229d72d_0_61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19F94E7-1988-42DC-A47D-FFBA1DBF424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112644" name="Google Shape;578;g50e229d72d_0_61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2645" name="Google Shape;579;g50e229d72d_0_6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2646" name="Google Shape;580;g50e229d72d_0_6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Google Shape;588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04A9ADE-3FA7-4DFD-966F-CB118514F5F8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113667" name="Google Shape;589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9AFAD66-EBE2-4A5A-9A27-A6DA394AA3F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113668" name="Google Shape;590;g50e229d72d_0_62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3669" name="Google Shape;591;g50e229d72d_0_6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3670" name="Google Shape;592;g50e229d72d_0_6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600;g50e229d72d_0_65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B019173-A8FE-454A-B4F8-70357293C7E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114691" name="Google Shape;601;g50e229d72d_0_65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7C02DDA-7FAD-4E96-86BB-C3C368D3D0D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114692" name="Google Shape;602;g50e229d72d_0_65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4693" name="Google Shape;603;g50e229d72d_0_65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4694" name="Google Shape;604;g50e229d72d_0_65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Google Shape;588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82F9602-709D-4605-8CBB-BFA470BE981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115715" name="Google Shape;589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909CF8A-932E-42B4-A4AA-01BD3E0C03B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115716" name="Google Shape;590;g50e229d72d_0_62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5717" name="Google Shape;591;g50e229d72d_0_6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5718" name="Google Shape;592;g50e229d72d_0_6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Google Shape;636;g50e229d72d_0_64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3A91D9F-BD5D-4B0C-9108-735395C2B0B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116739" name="Google Shape;637;g50e229d72d_0_64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77CCECB-364F-456B-9FD9-E79E800DA5A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116740" name="Google Shape;638;g50e229d72d_0_64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6741" name="Google Shape;639;g50e229d72d_0_64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6742" name="Google Shape;640;g50e229d72d_0_64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Google Shape;648;g50e229d72d_0_68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F2237C3-5A10-49A1-ABB0-9BC9EC5B4C8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117763" name="Google Shape;649;g50e229d72d_0_68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FED010E-0664-4F79-9619-2F379518F09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117764" name="Google Shape;650;g50e229d72d_0_68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7765" name="Google Shape;651;g50e229d72d_0_68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7766" name="Google Shape;652;g50e229d72d_0_68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Google Shape;661;g50e229d72d_0_69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582761-7229-4F1F-AF90-874A043FBD8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118787" name="Google Shape;662;g50e229d72d_0_69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E0C567A-84A8-4700-B68E-9063D0B9894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118788" name="Google Shape;663;g50e229d72d_0_69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8789" name="Google Shape;664;g50e229d72d_0_69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8790" name="Google Shape;665;g50e229d72d_0_69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Google Shape;673;g50e229d72d_0_71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CDA7A8B-9A4D-489D-B4F9-61FCCC7D95B4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119811" name="Google Shape;674;g50e229d72d_0_71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80D79C1-D421-46D3-82D1-2EE04AF25D15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119812" name="Google Shape;675;g50e229d72d_0_71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19813" name="Google Shape;676;g50e229d72d_0_71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19814" name="Google Shape;677;g50e229d72d_0_7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Google Shape;685;g50fc3a0ed1_1_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8849286-F5E2-45E5-AB1D-33DB7B5E16D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120835" name="Google Shape;686;g50fc3a0ed1_1_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F62CB34-0033-4E38-9800-6B8F7CE51F56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120836" name="Google Shape;687;g50fc3a0ed1_1_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0837" name="Google Shape;688;g50fc3a0ed1_1_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0838" name="Google Shape;689;g50fc3a0ed1_1_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Google Shape;697;g56345b4d2e_0_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9A9FC8E-9968-4D74-9D32-FFF6F791990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121859" name="Google Shape;698;g56345b4d2e_0_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6074B4F-4168-4E67-BE42-AE75F62D748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121860" name="Google Shape;699;g56345b4d2e_0_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1861" name="Google Shape;700;g56345b4d2e_0_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1862" name="Google Shape;701;g56345b4d2e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Google Shape;709;g56345b4d2e_0_1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4D90D25-9D95-47B7-8C0C-D5FE1B2498B9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122883" name="Google Shape;710;g56345b4d2e_0_1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100DD75-544A-44D8-9B44-BFA07465EED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122884" name="Google Shape;711;g56345b4d2e_0_1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2885" name="Google Shape;712;g56345b4d2e_0_1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2886" name="Google Shape;713;g56345b4d2e_0_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Google Shape;723;g50fc3a0ed1_1_1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50DDCFB-0803-4179-817F-4A05F535C17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123907" name="Google Shape;724;g50fc3a0ed1_1_1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C8BC14-99D1-4FFB-8BB5-16456B03EC5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123908" name="Google Shape;725;g50fc3a0ed1_1_1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3909" name="Google Shape;726;g50fc3a0ed1_1_1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3910" name="Google Shape;727;g50fc3a0ed1_1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Google Shape;735;g56345b4d2e_0_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3366462-21E9-4350-9B26-24EFEE40ABF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124931" name="Google Shape;736;g56345b4d2e_0_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2E2FD8E-9BC6-43A6-9E98-42199627492A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124932" name="Google Shape;737;g56345b4d2e_0_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4933" name="Google Shape;738;g56345b4d2e_0_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4934" name="Google Shape;739;g56345b4d2e_0_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Google Shape;749;g56345b4d2e_0_5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F4C410B-C074-44E8-93CF-F9CD2D16509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125955" name="Google Shape;750;g56345b4d2e_0_5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1CBED3B-1976-4DE0-A2F0-E27665C88C37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125956" name="Google Shape;751;g56345b4d2e_0_5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5957" name="Google Shape;752;g56345b4d2e_0_5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5958" name="Google Shape;753;g56345b4d2e_0_5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Google Shape;763;g50fc3a0ed1_1_2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6D62542-0B16-46B4-A855-00322342D51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126979" name="Google Shape;764;g50fc3a0ed1_1_2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FABE49D-E9E7-43EB-88FA-4C74E8A0A8E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126980" name="Google Shape;765;g50fc3a0ed1_1_2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6981" name="Google Shape;766;g50fc3a0ed1_1_2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6982" name="Google Shape;767;g50fc3a0ed1_1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Google Shape;775;g56345b4d2e_0_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8E0E48A-45B4-4B8A-86E9-6E26BA874AC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128003" name="Google Shape;776;g56345b4d2e_0_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C3DF96B-3B0F-4F23-AB20-FC7E00FA02F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128004" name="Google Shape;777;g56345b4d2e_0_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8005" name="Google Shape;778;g56345b4d2e_0_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8006" name="Google Shape;779;g56345b4d2e_0_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Google Shape;787;g56345b4d2e_0_7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3BF8CA8-19DF-4B1E-97EC-807DE5B7199D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129027" name="Google Shape;788;g56345b4d2e_0_7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D6A3F22-94E9-4296-8698-708AFF4C167E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129028" name="Google Shape;789;g56345b4d2e_0_7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29029" name="Google Shape;790;g56345b4d2e_0_7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29030" name="Google Shape;791;g56345b4d2e_0_7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069F66D-DB4F-4A93-9944-087CD587FFF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3981522-945C-4988-948C-E147DAA2EE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Google Shape;811;g56345b4d2e_0_9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25EACE3-C629-4101-ABAD-3C14A86B9FC2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131075" name="Google Shape;812;g56345b4d2e_0_9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DC549EA-536B-4D49-8E80-D8BDD8CF4C8C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131076" name="Google Shape;813;g56345b4d2e_0_9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1077" name="Google Shape;814;g56345b4d2e_0_9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1078" name="Google Shape;815;g56345b4d2e_0_9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Google Shape;823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10533D5-EA56-4959-8D6C-12D918F7BD2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132099" name="Google Shape;824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027A6EA-4AC4-4E8F-9FCE-24B09E30DC6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132100" name="Google Shape;825;g56345b4d2e_0_1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2101" name="Google Shape;826;g56345b4d2e_0_1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2102" name="Google Shape;827;g56345b4d2e_0_1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Google Shape;835;g56345b4d2e_0_13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6FC5743-BCF8-4D60-B584-00553AE16621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133123" name="Google Shape;836;g56345b4d2e_0_13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7E49D78-0FD7-445D-B0CA-F4CC2A190E10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133124" name="Google Shape;837;g56345b4d2e_0_13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3125" name="Google Shape;838;g56345b4d2e_0_1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3126" name="Google Shape;839;g56345b4d2e_0_13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Google Shape;847;g56345b4d2e_0_14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2676C4C-BE4B-4FB7-BA99-B1B9C35C4C5F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134147" name="Google Shape;848;g56345b4d2e_0_14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A8247C1-48B0-46E9-B2DA-68EC227ED4F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134148" name="Google Shape;849;g56345b4d2e_0_14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4149" name="Google Shape;850;g56345b4d2e_0_14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4150" name="Google Shape;851;g56345b4d2e_0_14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Google Shape;860;p4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9DDBCF0-9982-4307-8E48-8E3B664222A3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135171" name="Google Shape;861;p4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784CD89-6E8B-44B3-AD17-D8C80F0B361B}" type="slidenum">
              <a:rPr 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135172" name="Google Shape;862;p47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charset="0"/>
              <a:buNone/>
            </a:pPr>
            <a:endParaRPr lang="en-US"/>
          </a:p>
        </p:txBody>
      </p:sp>
      <p:sp>
        <p:nvSpPr>
          <p:cNvPr id="135173" name="Google Shape;863;p4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charset="0"/>
              <a:cs typeface="Arial" charset="0"/>
            </a:endParaRPr>
          </a:p>
        </p:txBody>
      </p:sp>
      <p:sp>
        <p:nvSpPr>
          <p:cNvPr id="135174" name="Google Shape;864;p4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C4AA4-07FC-432D-A65B-2A4D92D2258F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BED2A-6B6D-41AB-A94E-04BD437D5F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1F2C3-7C3E-4A20-8CF4-5A2F426936F5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0457E-AF51-4920-9155-C30BCB02C5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8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7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6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5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5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3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8ECAF-A980-4122-BF26-087FEB242873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66A00-BA5F-44F4-B5CC-772FBE4A0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87C32-A2CA-421E-9D47-3BDC04294BCF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77FE8-8A8E-4618-A961-98C561502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CF995-2C77-4FFE-B8CE-7E53F712F63E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51058-CFC7-48BC-B3FF-6AA12503F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83A8F-F6E0-422D-8C9D-F2BC32517929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24FA4-112D-4B56-83EF-FDEC6BAFE4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014CE-DA1D-4335-84A0-1A770578444E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28EF8-7E13-4C27-AB94-366B8B2B3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47CB-A139-44CA-9A7E-E6B8B5FA78C5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4D1E8-6345-4D6C-ABBA-8D44B5168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 rtlCol="0">
            <a:normAutofit/>
          </a:bodyPr>
          <a:lstStyle>
            <a:lvl1pPr marL="0" indent="0">
              <a:buNone/>
              <a:defRPr sz="3500"/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C959C-16D6-4CE4-8B93-6894CB81FABB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6A75C-69A6-4D24-9A51-D6DEE38CA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00364-8615-4350-BA95-8B009F1C2015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A7076-8E20-4406-A7D2-46D73E70E1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FCA5F-9FF4-44A6-900E-D7967196CA21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1C6D-C919-43DB-9F69-3914DCA92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3238" y="303213"/>
            <a:ext cx="9074150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3238" y="1763713"/>
            <a:ext cx="9074150" cy="498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783" tIns="50392" rIns="100783" bIns="50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238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FC5DCE09-D7B5-4360-B1E7-A0152F68C6DC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875" y="7007225"/>
            <a:ext cx="31908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713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872B6BE7-3A59-488C-8FD1-F69981D7B1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10064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2pPr>
      <a:lvl3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3pPr>
      <a:lvl4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4pPr>
      <a:lvl5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5pPr>
      <a:lvl6pPr marL="4572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6pPr>
      <a:lvl7pPr marL="9144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7pPr>
      <a:lvl8pPr marL="13716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8pPr>
      <a:lvl9pPr marL="18288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9pPr>
    </p:titleStyle>
    <p:bodyStyle>
      <a:lvl1pPr marL="377825" indent="-377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563" indent="-3143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3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6950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67;p1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/>
          <a:lstStyle/>
          <a:p>
            <a:pPr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en-US" sz="1800" b="1"/>
              <a:t>Facultatea de Matematic</a:t>
            </a:r>
            <a:r>
              <a:rPr lang="vi-VN" sz="1800" b="1"/>
              <a:t>ă</a:t>
            </a:r>
            <a:r>
              <a:rPr lang="en-US" sz="1800" b="1"/>
              <a:t> şi Informatic</a:t>
            </a:r>
            <a:r>
              <a:rPr lang="vi-VN" sz="1800" b="1"/>
              <a:t>ă</a:t>
            </a:r>
            <a:r>
              <a:rPr lang="en-US" sz="1800" b="1"/>
              <a:t> Universitatea din Bucureşti</a:t>
            </a:r>
            <a:endParaRPr lang="en-US" sz="1800"/>
          </a:p>
        </p:txBody>
      </p:sp>
      <p:pic>
        <p:nvPicPr>
          <p:cNvPr id="2051" name="Google Shape;68;p14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Google Shape;71;p14"/>
          <p:cNvSpPr>
            <a:spLocks noChangeArrowheads="1"/>
          </p:cNvSpPr>
          <p:nvPr/>
        </p:nvSpPr>
        <p:spPr bwMode="auto">
          <a:xfrm>
            <a:off x="968375" y="1847850"/>
            <a:ext cx="8393113" cy="148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39025" rIns="0" bIns="0" anchor="ctr"/>
          <a:lstStyle/>
          <a:p>
            <a:pPr algn="ctr">
              <a:lnSpc>
                <a:spcPct val="72000"/>
              </a:lnSpc>
              <a:buClr>
                <a:srgbClr val="000000"/>
              </a:buClr>
              <a:buSzPts val="4000"/>
              <a:buFont typeface="Arial" charset="0"/>
              <a:buNone/>
            </a:pPr>
            <a:r>
              <a:rPr lang="en-US" sz="4000" b="1"/>
              <a:t>Programare orientat</a:t>
            </a:r>
            <a:r>
              <a:rPr lang="vi-VN" sz="4000" b="1"/>
              <a:t>ă</a:t>
            </a:r>
            <a:r>
              <a:rPr lang="en-US" sz="4000" b="1"/>
              <a:t> pe obiecte</a:t>
            </a:r>
            <a:endParaRPr lang="en-US" sz="1800"/>
          </a:p>
          <a:p>
            <a:pPr algn="ctr">
              <a:lnSpc>
                <a:spcPct val="72000"/>
              </a:lnSpc>
              <a:buClr>
                <a:srgbClr val="000000"/>
              </a:buClr>
              <a:buSzPts val="1800"/>
              <a:buFont typeface="Arial" charset="0"/>
              <a:buNone/>
            </a:pPr>
            <a:endParaRPr lang="en-US" sz="1800"/>
          </a:p>
          <a:p>
            <a:pPr algn="ctr">
              <a:lnSpc>
                <a:spcPct val="72000"/>
              </a:lnSpc>
              <a:buClr>
                <a:srgbClr val="000000"/>
              </a:buClr>
              <a:buSzPts val="2600"/>
              <a:buFont typeface="Arial" charset="0"/>
              <a:buNone/>
            </a:pPr>
            <a:r>
              <a:rPr lang="en-US" sz="2600" b="1"/>
              <a:t>- suport de curs -</a:t>
            </a:r>
            <a:endParaRPr lang="en-US" sz="1800"/>
          </a:p>
        </p:txBody>
      </p:sp>
      <p:grpSp>
        <p:nvGrpSpPr>
          <p:cNvPr id="8" name="Group 7"/>
          <p:cNvGrpSpPr/>
          <p:nvPr/>
        </p:nvGrpSpPr>
        <p:grpSpPr>
          <a:xfrm>
            <a:off x="3108324" y="3551237"/>
            <a:ext cx="6503988" cy="3429000"/>
            <a:chOff x="2355850" y="3124200"/>
            <a:chExt cx="6503988" cy="3429000"/>
          </a:xfrm>
        </p:grpSpPr>
        <p:sp>
          <p:nvSpPr>
            <p:cNvPr id="9" name="Google Shape;126;p27"/>
            <p:cNvSpPr/>
            <p:nvPr/>
          </p:nvSpPr>
          <p:spPr>
            <a:xfrm>
              <a:off x="5410200" y="3124200"/>
              <a:ext cx="34496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0" tIns="0" rIns="0" bIns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defRPr/>
              </a:pPr>
              <a:r>
                <a:rPr lang="en-US" sz="2600" b="1" err="1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Anca</a:t>
              </a:r>
              <a:r>
                <a:rPr lang="en-US" sz="2600" b="1" dirty="0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 </a:t>
              </a:r>
              <a:r>
                <a:rPr lang="en-US" sz="2600" b="1" err="1">
                  <a:solidFill>
                    <a:srgbClr val="000000"/>
                  </a:solidFill>
                  <a:latin typeface="+mn-lt"/>
                  <a:ea typeface="Arial"/>
                  <a:cs typeface="Arial"/>
                  <a:sym typeface="Arial"/>
                </a:rPr>
                <a:t>Dobrov</a:t>
              </a:r>
              <a:r>
                <a:rPr lang="ro-RO" altLang="ro-RO" sz="2600" b="1" dirty="0">
                  <a:latin typeface="+mn-lt"/>
                  <a:cs typeface="Arial"/>
                </a:rPr>
                <a:t>ăț</a:t>
              </a:r>
              <a:endParaRPr lang="ro-RO" sz="1800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defRPr/>
              </a:pPr>
              <a:r>
                <a:rPr lang="ro-RO" altLang="ro-RO" sz="2600" b="1">
                  <a:latin typeface="+mn-lt"/>
                  <a:cs typeface="Arial"/>
                </a:rPr>
                <a:t>Andrei P</a:t>
              </a:r>
              <a:r>
                <a:rPr lang="ro-RO" sz="2600" b="1">
                  <a:latin typeface="+mn-lt"/>
                  <a:cs typeface="Calibri"/>
                </a:rPr>
                <a:t>ă</a:t>
              </a:r>
              <a:r>
                <a:rPr lang="ro-RO" altLang="ro-RO" sz="2600" b="1">
                  <a:latin typeface="+mn-lt"/>
                  <a:cs typeface="Arial"/>
                </a:rPr>
                <a:t>un</a:t>
              </a:r>
              <a:endParaRPr lang="ro-RO" altLang="ro-RO" sz="2600" b="1" dirty="0">
                <a:latin typeface="+mn-lt"/>
                <a:cs typeface="Arial"/>
              </a:endParaRPr>
            </a:p>
          </p:txBody>
        </p:sp>
        <p:sp>
          <p:nvSpPr>
            <p:cNvPr id="10" name="Google Shape;129;p27"/>
            <p:cNvSpPr txBox="1"/>
            <p:nvPr/>
          </p:nvSpPr>
          <p:spPr>
            <a:xfrm>
              <a:off x="2355850" y="4919663"/>
              <a:ext cx="4044950" cy="163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90000" tIns="45000" rIns="90000" bIns="45000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An </a:t>
              </a: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universitar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2025 – 20</a:t>
              </a:r>
              <a:r>
                <a:rPr lang="en-US" sz="2000" b="1" dirty="0">
                  <a:latin typeface="+mn-lt"/>
                  <a:cs typeface="Arial" pitchFamily="34" charset="0"/>
                </a:rPr>
                <a:t>26</a:t>
              </a:r>
              <a:endParaRPr sz="2000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Semestrul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II</a:t>
              </a:r>
              <a:endParaRPr sz="2000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buSzPts val="2400"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Seriile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 13, 14</a:t>
              </a:r>
              <a:r>
                <a:rPr lang="ro-RO" altLang="ro-RO" sz="2000" b="1" dirty="0">
                  <a:latin typeface="+mn-lt"/>
                  <a:cs typeface="Arial" pitchFamily="34" charset="0"/>
                </a:rPr>
                <a:t> şi </a:t>
              </a:r>
              <a:r>
                <a:rPr lang="en-US" altLang="ro-RO" sz="2000" b="1" dirty="0">
                  <a:latin typeface="+mn-lt"/>
                  <a:cs typeface="Arial" pitchFamily="34" charset="0"/>
                </a:rPr>
                <a:t>15</a:t>
              </a:r>
              <a:endParaRPr sz="2000" b="1" dirty="0">
                <a:latin typeface="+mn-lt"/>
                <a:cs typeface="Arial" pitchFamily="34" charset="0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None/>
                <a:defRPr/>
              </a:pPr>
              <a:endParaRPr sz="2000" b="1" dirty="0">
                <a:solidFill>
                  <a:srgbClr val="000000"/>
                </a:solidFill>
                <a:latin typeface="+mn-lt"/>
                <a:ea typeface="Arial"/>
                <a:cs typeface="Arial" pitchFamily="34" charset="0"/>
                <a:sym typeface="Arial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/>
                  <a:cs typeface="Arial" pitchFamily="34" charset="0"/>
                  <a:sym typeface="Arial"/>
                </a:rPr>
                <a:t>Curs  6</a:t>
              </a:r>
              <a:endParaRPr sz="2000" dirty="0">
                <a:latin typeface="+mn-lt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83;p15"/>
          <p:cNvSpPr>
            <a:spLocks noChangeArrowheads="1"/>
          </p:cNvSpPr>
          <p:nvPr/>
        </p:nvSpPr>
        <p:spPr bwMode="auto">
          <a:xfrm>
            <a:off x="2322513" y="9794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800"/>
              <a:buFont typeface="Arial" charset="0"/>
              <a:buNone/>
            </a:pPr>
            <a:r>
              <a:rPr lang="en-US" sz="2800" b="1">
                <a:solidFill>
                  <a:srgbClr val="0C1C1D"/>
                </a:solidFill>
              </a:rPr>
              <a:t>Agenda cursului</a:t>
            </a:r>
            <a:endParaRPr lang="en-US" sz="1800"/>
          </a:p>
        </p:txBody>
      </p:sp>
      <p:sp>
        <p:nvSpPr>
          <p:cNvPr id="84" name="Google Shape;84;p15"/>
          <p:cNvSpPr/>
          <p:nvPr/>
        </p:nvSpPr>
        <p:spPr>
          <a:xfrm>
            <a:off x="457200" y="1933559"/>
            <a:ext cx="9233640" cy="4970477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/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/>
            </a:pP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Proiectarea descendentă a claselor. Moștenirea în C++ (recapitulare și completări 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la</a:t>
            </a: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cursul 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5</a:t>
            </a: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</a:t>
            </a:r>
            <a:endParaRPr lang="en-US" sz="2400" kern="0" dirty="0">
              <a:solidFill>
                <a:schemeClr val="dk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Modificatori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acces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, c</a:t>
            </a: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onstructori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/ </a:t>
            </a: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destructori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, re</a:t>
            </a:r>
            <a:r>
              <a:rPr lang="vi-VN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definirea membrilor unei clase de bază într-o clasă derivată.</a:t>
            </a:r>
          </a:p>
          <a:p>
            <a:pPr marL="0" lvl="4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Mostenire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din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baza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multipla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Mostenire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in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diamant</a:t>
            </a:r>
            <a:endParaRPr lang="en-US" sz="2400" kern="0" dirty="0">
              <a:solidFill>
                <a:schemeClr val="dk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0" lvl="4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400" kern="0" dirty="0">
              <a:solidFill>
                <a:schemeClr val="dk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0" lvl="4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2.   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Polimorfims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la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execuție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prin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funcții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C++.</a:t>
            </a:r>
          </a:p>
          <a:p>
            <a:pPr marL="0" lvl="6"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Parametrizarea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metodelor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polimorfism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la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execuție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).</a:t>
            </a:r>
          </a:p>
          <a:p>
            <a:pPr marL="0" lvl="6"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Funcții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C++. </a:t>
            </a:r>
          </a:p>
          <a:p>
            <a:pPr marL="0" lvl="6"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abstracte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marL="0" lvl="6"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Overloading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funcții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endParaRPr lang="en-US" sz="2400" kern="0" dirty="0">
              <a:solidFill>
                <a:schemeClr val="dk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0" lvl="6"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Destructori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și</a:t>
            </a:r>
            <a:r>
              <a:rPr lang="en-US" sz="2400" kern="0" dirty="0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virtualizare</a:t>
            </a:r>
            <a:endParaRPr lang="en-US" sz="2400" kern="0" dirty="0">
              <a:solidFill>
                <a:schemeClr val="dk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Google Shape;119;p18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6150" name="Google Shape;120;p18"/>
          <p:cNvSpPr txBox="1">
            <a:spLocks noChangeArrowheads="1"/>
          </p:cNvSpPr>
          <p:nvPr/>
        </p:nvSpPr>
        <p:spPr bwMode="auto">
          <a:xfrm>
            <a:off x="274638" y="1189038"/>
            <a:ext cx="9531350" cy="5638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</a:rPr>
              <a:t>C++ permite moștenirea ceea ce înseamnă că putem deriva o clasă din altă clasă de bază sau din mai multe clase. 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 b="1">
                <a:latin typeface="Times New Roman" pitchFamily="18" charset="0"/>
              </a:rPr>
              <a:t>Sintaxa</a:t>
            </a:r>
            <a:r>
              <a:rPr lang="vi-VN" sz="2400">
                <a:latin typeface="Times New Roman" pitchFamily="18" charset="0"/>
              </a:rPr>
              <a:t>: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400" b="1">
              <a:solidFill>
                <a:schemeClr val="accent1"/>
              </a:solidFill>
              <a:latin typeface="Calibri" pitchFamily="34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class Clasa_Derivată : [modificatori de acces] Clasa_de_Bază { .... } ;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>
                <a:latin typeface="Times New Roman" pitchFamily="18" charset="0"/>
              </a:rPr>
              <a:t>	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</a:rPr>
              <a:t>sau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4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class Clasa_Derivată : [modificatori de acces] Clasa_de_Bază1, [modificatori de acces] Clasa_de_Bază2, [modificatori de acces] Clasa_de_Bază3 ........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</a:rPr>
              <a:t>Clasă de bază se mai numește </a:t>
            </a:r>
            <a:r>
              <a:rPr lang="vi-VN" sz="2400" b="1">
                <a:latin typeface="Times New Roman" pitchFamily="18" charset="0"/>
              </a:rPr>
              <a:t>clasa părinte </a:t>
            </a:r>
            <a:r>
              <a:rPr lang="vi-VN" sz="2400">
                <a:latin typeface="Times New Roman" pitchFamily="18" charset="0"/>
              </a:rPr>
              <a:t>sau </a:t>
            </a:r>
            <a:r>
              <a:rPr lang="vi-VN" sz="2400" b="1">
                <a:latin typeface="Times New Roman" pitchFamily="18" charset="0"/>
              </a:rPr>
              <a:t>superclasă</a:t>
            </a:r>
            <a:r>
              <a:rPr lang="vi-VN" sz="2400">
                <a:latin typeface="Times New Roman" pitchFamily="18" charset="0"/>
              </a:rPr>
              <a:t>, iar clasa derivată se mai numește </a:t>
            </a:r>
            <a:r>
              <a:rPr lang="vi-VN" sz="2400" b="1">
                <a:latin typeface="Times New Roman" pitchFamily="18" charset="0"/>
              </a:rPr>
              <a:t>subclasa</a:t>
            </a:r>
            <a:r>
              <a:rPr lang="vi-VN" sz="2400">
                <a:latin typeface="Times New Roman" pitchFamily="18" charset="0"/>
              </a:rPr>
              <a:t> sau </a:t>
            </a:r>
            <a:r>
              <a:rPr lang="vi-VN" sz="2400" b="1">
                <a:latin typeface="Times New Roman" pitchFamily="18" charset="0"/>
              </a:rPr>
              <a:t>clasa copil</a:t>
            </a:r>
            <a:r>
              <a:rPr lang="vi-VN" sz="2400">
                <a:latin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Google Shape;131;p19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7174" name="Google Shape;132;p19"/>
          <p:cNvSpPr txBox="1">
            <a:spLocks noChangeArrowheads="1"/>
          </p:cNvSpPr>
          <p:nvPr/>
        </p:nvSpPr>
        <p:spPr bwMode="auto">
          <a:xfrm>
            <a:off x="274638" y="1101725"/>
            <a:ext cx="2784475" cy="544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i="1"/>
              <a:t>Exemplu: moştenire</a:t>
            </a:r>
          </a:p>
        </p:txBody>
      </p:sp>
      <p:sp>
        <p:nvSpPr>
          <p:cNvPr id="7175" name="Rectangle 2"/>
          <p:cNvSpPr>
            <a:spLocks noChangeArrowheads="1"/>
          </p:cNvSpPr>
          <p:nvPr/>
        </p:nvSpPr>
        <p:spPr bwMode="auto">
          <a:xfrm>
            <a:off x="0" y="1595438"/>
            <a:ext cx="5376863" cy="584835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lIns="503813" tIns="0" rIns="0" bIns="0" anchor="ctr">
            <a:spAutoFit/>
          </a:bodyPr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public</a:t>
            </a:r>
            <a:r>
              <a:rPr lang="en-US" sz="2000">
                <a:solidFill>
                  <a:srgbClr val="E34ADC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   X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void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ii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read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permute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  <a:cs typeface="Times New Roman" pitchFamily="18" charset="0"/>
              </a:rPr>
              <a:t>47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};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  <a:cs typeface="Times New Roman" pitchFamily="18" charset="0"/>
              </a:rPr>
              <a:t>// Different from X's I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>
                <a:solidFill>
                  <a:srgbClr val="E34ADC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Y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change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  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permute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  <a:cs typeface="Times New Roman" pitchFamily="18" charset="0"/>
              </a:rPr>
              <a:t>// Different name call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   return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ii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ii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::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  <a:cs typeface="Times New Roman" pitchFamily="18" charset="0"/>
              </a:rPr>
              <a:t>// Same-name funcţion call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      }</a:t>
            </a:r>
            <a:endParaRPr lang="en-US" sz="2000">
              <a:solidFill>
                <a:srgbClr val="696969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r>
              <a:rPr lang="en-US" sz="2000">
                <a:latin typeface="Times New Roman" pitchFamily="18" charset="0"/>
                <a:ea typeface="Arial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535488" y="2228850"/>
            <a:ext cx="5545137" cy="28717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100794" tIns="50397" rIns="100794" bIns="50397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4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main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()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</a:t>
            </a:r>
            <a:r>
              <a:rPr lang="en-US" sz="1800" kern="0" dirty="0" err="1">
                <a:solidFill>
                  <a:srgbClr val="603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cout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sizeof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X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sizeof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Y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Y D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</a:t>
            </a:r>
            <a:r>
              <a:rPr lang="en-US" sz="18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change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()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// X </a:t>
            </a:r>
            <a:r>
              <a:rPr lang="en-US" sz="1800" kern="0" dirty="0" err="1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funcţion</a:t>
            </a:r>
            <a:r>
              <a:rPr lang="en-US" sz="18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interface comes through: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</a:t>
            </a:r>
            <a:r>
              <a:rPr lang="en-US" sz="18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read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()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</a:t>
            </a:r>
            <a:r>
              <a:rPr lang="en-US" sz="18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permute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()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8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// Redefined </a:t>
            </a:r>
            <a:r>
              <a:rPr lang="en-US" sz="1800" kern="0" dirty="0" err="1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funcţions</a:t>
            </a:r>
            <a:r>
              <a:rPr lang="en-US" sz="18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hide base versions: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</a:t>
            </a:r>
            <a:r>
              <a:rPr lang="en-US" sz="18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</a:t>
            </a:r>
            <a:r>
              <a:rPr lang="en-US" sz="18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1800" kern="0" dirty="0" err="1">
                <a:solidFill>
                  <a:srgbClr val="603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set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</a:t>
            </a:r>
            <a:r>
              <a:rPr lang="en-US" sz="1800" kern="0" dirty="0">
                <a:solidFill>
                  <a:srgbClr val="008C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12</a:t>
            </a:r>
            <a:r>
              <a:rPr lang="en-US" sz="18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</a:t>
            </a: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18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</a:t>
            </a:r>
            <a:r>
              <a:rPr lang="en-US" sz="18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Google Shape;144;p20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8198" name="Google Shape;145;p20"/>
          <p:cNvSpPr txBox="1">
            <a:spLocks noChangeArrowheads="1"/>
          </p:cNvSpPr>
          <p:nvPr/>
        </p:nvSpPr>
        <p:spPr bwMode="auto">
          <a:xfrm>
            <a:off x="274638" y="1330325"/>
            <a:ext cx="9050337" cy="5497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Inițializare de obiecte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vi-VN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>
                <a:latin typeface="Times New Roman" pitchFamily="18" charset="0"/>
                <a:cs typeface="Times New Roman" pitchFamily="18" charset="0"/>
              </a:rPr>
              <a:t>Foarte important în C++: garantarea inițializării corecte =&gt; trebuie să fie asigurată și la compoziție și moștenire.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>
                <a:latin typeface="Times New Roman" pitchFamily="18" charset="0"/>
                <a:cs typeface="Times New Roman" pitchFamily="18" charset="0"/>
              </a:rPr>
              <a:t>La crearea unui obiect, compilatorul trebuie să garanteze apelul TUTUROR subobiectelor.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vi-VN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>
                <a:latin typeface="Times New Roman" pitchFamily="18" charset="0"/>
                <a:cs typeface="Times New Roman" pitchFamily="18" charset="0"/>
              </a:rPr>
              <a:t>Problema</a:t>
            </a:r>
            <a:r>
              <a:rPr lang="vi-VN" sz="2400">
                <a:latin typeface="Times New Roman" pitchFamily="18" charset="0"/>
                <a:cs typeface="Times New Roman" pitchFamily="18" charset="0"/>
              </a:rPr>
              <a:t>: - cazul subobiectelor care nu au constructori impliciți sau schimbarea valorii unui argument default în constructor.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vi-VN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>
                <a:latin typeface="Times New Roman" pitchFamily="18" charset="0"/>
                <a:cs typeface="Times New Roman" pitchFamily="18" charset="0"/>
              </a:rPr>
              <a:t>De ce?</a:t>
            </a:r>
            <a:r>
              <a:rPr lang="vi-VN" sz="2400">
                <a:latin typeface="Times New Roman" pitchFamily="18" charset="0"/>
                <a:cs typeface="Times New Roman" pitchFamily="18" charset="0"/>
              </a:rPr>
              <a:t> - constructorul noii clase nu are permisiunea să acceseze datele private ale subobiectelor, deci nu le pot inițializa direct.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vi-VN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>
                <a:latin typeface="Times New Roman" pitchFamily="18" charset="0"/>
                <a:cs typeface="Times New Roman" pitchFamily="18" charset="0"/>
              </a:rPr>
              <a:t>Rezolvare</a:t>
            </a:r>
            <a:r>
              <a:rPr lang="vi-VN" sz="2400">
                <a:latin typeface="Times New Roman" pitchFamily="18" charset="0"/>
                <a:cs typeface="Times New Roman" pitchFamily="18" charset="0"/>
              </a:rPr>
              <a:t>: - o sintaxă specială: </a:t>
            </a: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listă de inițializare pentru constructori</a:t>
            </a:r>
            <a:r>
              <a:rPr lang="vi-VN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252413" y="1390650"/>
            <a:ext cx="6216650" cy="40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000" b="1" i="1"/>
              <a:t>Exemple: lista de iniţializare pentru constructori</a:t>
            </a:r>
          </a:p>
        </p:txBody>
      </p:sp>
      <p:grpSp>
        <p:nvGrpSpPr>
          <p:cNvPr id="9220" name="Group 11"/>
          <p:cNvGrpSpPr>
            <a:grpSpLocks/>
          </p:cNvGrpSpPr>
          <p:nvPr/>
        </p:nvGrpSpPr>
        <p:grpSpPr bwMode="auto">
          <a:xfrm>
            <a:off x="1176338" y="2103438"/>
            <a:ext cx="7643812" cy="4524375"/>
            <a:chOff x="1066800" y="1676400"/>
            <a:chExt cx="6934200" cy="4103830"/>
          </a:xfrm>
        </p:grpSpPr>
        <p:sp>
          <p:nvSpPr>
            <p:cNvPr id="227329" name="Rectangle 1"/>
            <p:cNvSpPr>
              <a:spLocks noChangeArrowheads="1"/>
            </p:cNvSpPr>
            <p:nvPr/>
          </p:nvSpPr>
          <p:spPr bwMode="auto">
            <a:xfrm>
              <a:off x="1066800" y="1676400"/>
              <a:ext cx="6934200" cy="410383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b="1" kern="0" dirty="0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class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Bar 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{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      </a:t>
              </a:r>
              <a:r>
                <a:rPr lang="en-US" sz="2200" b="1" kern="0" dirty="0" err="1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int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x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;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      </a:t>
              </a:r>
              <a:r>
                <a:rPr lang="en-US" sz="2200" b="1" kern="0" dirty="0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public</a:t>
              </a:r>
              <a:r>
                <a:rPr lang="en-US" sz="2200" kern="0" dirty="0">
                  <a:solidFill>
                    <a:srgbClr val="E34ADC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E34ADC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          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Bar</a:t>
              </a:r>
              <a:r>
                <a:rPr lang="en-US" sz="22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(</a:t>
              </a:r>
              <a:r>
                <a:rPr lang="en-US" sz="2200" b="1" kern="0" dirty="0" err="1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int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22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</a:t>
              </a:r>
              <a:r>
                <a:rPr lang="en-US" sz="22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)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{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x </a:t>
              </a:r>
              <a:r>
                <a:rPr lang="en-US" sz="22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=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22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;}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};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sz="2200" kern="0" dirty="0">
                <a:solidFill>
                  <a:srgbClr val="80008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b="1" kern="0" dirty="0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class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22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MyType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: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2200" b="1" kern="0" dirty="0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public</a:t>
              </a:r>
              <a:r>
                <a:rPr lang="en-US" sz="22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Bar 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{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      </a:t>
              </a:r>
              <a:r>
                <a:rPr lang="en-US" sz="2200" b="1" kern="0" dirty="0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public</a:t>
              </a:r>
              <a:r>
                <a:rPr lang="en-US" sz="2200" kern="0" dirty="0">
                  <a:solidFill>
                    <a:srgbClr val="E34ADC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: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E34ADC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          </a:t>
              </a:r>
              <a:r>
                <a:rPr lang="en-US" sz="22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MyType</a:t>
              </a:r>
              <a:r>
                <a:rPr lang="en-US" sz="22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(</a:t>
              </a:r>
              <a:r>
                <a:rPr lang="en-US" sz="2200" b="1" kern="0" dirty="0" err="1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int</a:t>
              </a:r>
              <a:r>
                <a:rPr lang="en-US" sz="22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)</a:t>
              </a: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;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2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};</a:t>
              </a:r>
              <a:r>
                <a:rPr lang="en-US" sz="22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sz="2200" kern="0" dirty="0">
                <a:latin typeface="+mn-lt"/>
                <a:ea typeface="Arial"/>
                <a:cs typeface="Arial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30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MyType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:: </a:t>
              </a:r>
              <a:r>
                <a:rPr lang="en-US" sz="30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MyType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30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(</a:t>
              </a:r>
              <a:r>
                <a:rPr lang="en-US" sz="3000" b="1" kern="0" dirty="0" err="1">
                  <a:solidFill>
                    <a:srgbClr val="80000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int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</a:t>
              </a:r>
              <a:r>
                <a:rPr lang="en-US" sz="30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</a:t>
              </a:r>
              <a:r>
                <a:rPr lang="en-US" sz="3000" kern="0" dirty="0">
                  <a:solidFill>
                    <a:srgbClr val="80803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)</a:t>
              </a:r>
              <a:r>
                <a:rPr lang="en-US" sz="30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: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Bar (</a:t>
              </a:r>
              <a:r>
                <a:rPr lang="en-US" sz="3000" kern="0" dirty="0" err="1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i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) </a:t>
              </a:r>
              <a:r>
                <a:rPr lang="en-US" sz="30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{</a:t>
              </a:r>
              <a:r>
                <a:rPr lang="en-US" sz="3000" kern="0" dirty="0"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 … </a:t>
              </a:r>
              <a:r>
                <a:rPr lang="en-US" sz="3000" kern="0" dirty="0">
                  <a:solidFill>
                    <a:srgbClr val="800080"/>
                  </a:solidFill>
                  <a:latin typeface="Times New Roman" pitchFamily="18" charset="0"/>
                  <a:ea typeface="Times New Roman" pitchFamily="18" charset="0"/>
                  <a:cs typeface="Times New Roman" pitchFamily="18" charset="0"/>
                  <a:sym typeface="Arial"/>
                </a:rPr>
                <a:t>}</a:t>
              </a:r>
              <a:endParaRPr lang="en-US" sz="3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sz="2200" kern="0" dirty="0">
                <a:latin typeface="+mn-lt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86819" y="4855788"/>
              <a:ext cx="967764" cy="761728"/>
            </a:xfrm>
            <a:prstGeom prst="rect">
              <a:avLst/>
            </a:prstGeom>
            <a:solidFill>
              <a:srgbClr val="FFCC99">
                <a:alpha val="25000"/>
              </a:srgbClr>
            </a:solidFill>
            <a:ln>
              <a:solidFill>
                <a:srgbClr val="FF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  <p:sp>
        <p:nvSpPr>
          <p:cNvPr id="9222" name="Google Shape;156;p21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336550" y="1314450"/>
            <a:ext cx="5040313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Exemple: compoziţie şi moştenire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587375" y="2095500"/>
            <a:ext cx="3613150" cy="450373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100794" tIns="50397" rIns="100794" bIns="50397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class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A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i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public</a:t>
            </a:r>
            <a:r>
              <a:rPr lang="en-US" sz="2200" kern="0" dirty="0">
                <a:solidFill>
                  <a:srgbClr val="E34ADC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A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~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A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void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f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const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};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US" sz="2200" kern="0" dirty="0">
              <a:latin typeface="+mn-lt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class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B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i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public</a:t>
            </a:r>
            <a:r>
              <a:rPr lang="en-US" sz="2200" kern="0" dirty="0">
                <a:solidFill>
                  <a:srgbClr val="E34ADC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B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~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B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void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f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const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};</a:t>
            </a:r>
            <a:endParaRPr lang="en-US" sz="2200" kern="0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4535488" y="1941513"/>
            <a:ext cx="5124450" cy="48101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lIns="100794" tIns="50397" rIns="100794" bIns="50397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class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C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public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B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A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a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public</a:t>
            </a:r>
            <a:r>
              <a:rPr lang="en-US" sz="2200" kern="0" dirty="0">
                <a:solidFill>
                  <a:srgbClr val="E34ADC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C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B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),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a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ii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    ~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C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696969"/>
                </a:solidFill>
                <a:latin typeface="+mn-lt"/>
                <a:ea typeface="Arial"/>
                <a:cs typeface="Arial"/>
                <a:sym typeface="Arial"/>
              </a:rPr>
              <a:t>// Calls ~A() and ~B()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void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f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b="1" kern="0" dirty="0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const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     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696969"/>
                </a:solidFill>
                <a:latin typeface="+mn-lt"/>
                <a:ea typeface="Arial"/>
                <a:cs typeface="Arial"/>
                <a:sym typeface="Arial"/>
              </a:rPr>
              <a:t>// Redefinition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           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a</a:t>
            </a:r>
            <a:r>
              <a:rPr lang="en-US" sz="2200" kern="0" dirty="0" err="1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.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f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            B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::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f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     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};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b="1" kern="0" dirty="0" err="1">
                <a:solidFill>
                  <a:srgbClr val="800000"/>
                </a:solidFill>
                <a:latin typeface="+mn-lt"/>
                <a:ea typeface="Arial"/>
                <a:cs typeface="Arial"/>
                <a:sym typeface="Arial"/>
              </a:rPr>
              <a:t>int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400000"/>
                </a:solidFill>
                <a:latin typeface="+mn-lt"/>
                <a:ea typeface="Arial"/>
                <a:cs typeface="Arial"/>
                <a:sym typeface="Arial"/>
              </a:rPr>
              <a:t>main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()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{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   C </a:t>
            </a:r>
            <a:r>
              <a:rPr lang="en-US" sz="2200" kern="0" dirty="0" err="1">
                <a:latin typeface="+mn-lt"/>
                <a:ea typeface="Arial"/>
                <a:cs typeface="Arial"/>
                <a:sym typeface="Arial"/>
              </a:rPr>
              <a:t>c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(</a:t>
            </a:r>
            <a:r>
              <a:rPr lang="en-US" sz="2200" kern="0" dirty="0">
                <a:solidFill>
                  <a:srgbClr val="008C00"/>
                </a:solidFill>
                <a:latin typeface="+mn-lt"/>
                <a:ea typeface="Arial"/>
                <a:cs typeface="Arial"/>
                <a:sym typeface="Arial"/>
              </a:rPr>
              <a:t>47</a:t>
            </a:r>
            <a:r>
              <a:rPr lang="en-US" sz="2200" kern="0" dirty="0">
                <a:solidFill>
                  <a:srgbClr val="808030"/>
                </a:solidFill>
                <a:latin typeface="+mn-lt"/>
                <a:ea typeface="Arial"/>
                <a:cs typeface="Arial"/>
                <a:sym typeface="Arial"/>
              </a:rPr>
              <a:t>)</a:t>
            </a: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200" kern="0" dirty="0">
                <a:solidFill>
                  <a:srgbClr val="800080"/>
                </a:solidFill>
                <a:latin typeface="+mn-lt"/>
                <a:ea typeface="Arial"/>
                <a:cs typeface="Arial"/>
                <a:sym typeface="Arial"/>
              </a:rPr>
              <a:t>}</a:t>
            </a:r>
            <a:r>
              <a:rPr lang="en-US" sz="2200" kern="0" dirty="0">
                <a:latin typeface="+mn-lt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319" name="Google Shape;156;p21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202;p25"/>
          <p:cNvSpPr>
            <a:spLocks noChangeArrowheads="1"/>
          </p:cNvSpPr>
          <p:nvPr/>
        </p:nvSpPr>
        <p:spPr bwMode="auto">
          <a:xfrm>
            <a:off x="9393238" y="7062788"/>
            <a:ext cx="5397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00976FB-0119-442B-AF17-9E729B643A0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8</a:t>
            </a:fld>
            <a:endParaRPr lang="en-US" sz="1800"/>
          </a:p>
        </p:txBody>
      </p:sp>
      <p:sp>
        <p:nvSpPr>
          <p:cNvPr id="14341" name="Google Shape;205;p25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14342" name="Google Shape;206;p25"/>
          <p:cNvSpPr txBox="1">
            <a:spLocks noChangeArrowheads="1"/>
          </p:cNvSpPr>
          <p:nvPr/>
        </p:nvSpPr>
        <p:spPr bwMode="auto">
          <a:xfrm>
            <a:off x="274638" y="1265238"/>
            <a:ext cx="9531350" cy="5943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i="1">
                <a:solidFill>
                  <a:srgbClr val="0000FF"/>
                </a:solidFill>
              </a:rPr>
              <a:t>Constructorii clasei derivate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Pentru crearea unui obiect al unei clase derivate,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se creează iniţial un obiect al clasei de bază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prin apelul constructorului acesteia, apoi se adaugă elementele specifice clasei derivate prin apelul constructorului clasei derivate.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Declaraţia obiectului derivat trebuie să conţină valorile de iniţializare,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atât pentru elementele specifice, cât şi pentru obiectul clasei de bază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Această specificare se ataşează la antetul funcţiei constructor a clasei derivate.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În situaţia în care clasele de bază au definit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constructor implicit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sau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constructor cu parametri impliciţi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nu se impune specificarea parametrilor care se transferă către obiectul clasei de bază.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226;p27"/>
          <p:cNvSpPr>
            <a:spLocks noChangeArrowheads="1"/>
          </p:cNvSpPr>
          <p:nvPr/>
        </p:nvSpPr>
        <p:spPr bwMode="auto">
          <a:xfrm>
            <a:off x="9393238" y="7062788"/>
            <a:ext cx="5397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F78B6C5-B84E-4231-BCC1-DC4F9AA51F2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9</a:t>
            </a:fld>
            <a:endParaRPr lang="en-US" sz="1800"/>
          </a:p>
        </p:txBody>
      </p:sp>
      <p:sp>
        <p:nvSpPr>
          <p:cNvPr id="15365" name="Google Shape;229;p27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15366" name="Google Shape;230;p27"/>
          <p:cNvSpPr txBox="1">
            <a:spLocks noChangeArrowheads="1"/>
          </p:cNvSpPr>
          <p:nvPr/>
        </p:nvSpPr>
        <p:spPr bwMode="auto">
          <a:xfrm>
            <a:off x="274638" y="1265238"/>
            <a:ext cx="9531350" cy="5943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Constructorii</a:t>
            </a:r>
            <a:r>
              <a:rPr lang="en-US" sz="20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clasei</a:t>
            </a:r>
            <a:r>
              <a:rPr lang="en-US" sz="20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derivate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Constructorul</a:t>
            </a:r>
            <a:r>
              <a:rPr lang="en-US" sz="2000" b="1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b="1" i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copiere</a:t>
            </a:r>
            <a:endParaRPr lang="en-US" sz="2000" b="1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 pot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distinge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situaţii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AutoNum type="arabicParenR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ambele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derivată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nu au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definit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constructor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copiere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se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apelează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constructorul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implicit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creat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compilator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Copierea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 face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membru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membru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sz="2000" dirty="0" err="1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constructorul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copiere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definit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derivată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nu,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derivată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compilatorul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creează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 constructor implicit care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apelează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constructorul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copiere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clasei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considerata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particular </a:t>
            </a: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al primei situații, deoarece și partea de bază poate fi privită ca un fel de membru, iar la copiere se apelează cc pentru fiecare membru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3)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defineşte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constructor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copiere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derivată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acestuia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îi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revine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totalitate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sarcina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transferării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valorilor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corespunzătoare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membrilor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aparţin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clasei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250;p29"/>
          <p:cNvSpPr>
            <a:spLocks noChangeArrowheads="1"/>
          </p:cNvSpPr>
          <p:nvPr/>
        </p:nvSpPr>
        <p:spPr bwMode="auto">
          <a:xfrm>
            <a:off x="9120188" y="7062788"/>
            <a:ext cx="812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62C544A-4CFD-4FF0-BFAC-329598C348F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10</a:t>
            </a:fld>
            <a:endParaRPr lang="en-US" sz="1800"/>
          </a:p>
        </p:txBody>
      </p:sp>
      <p:sp>
        <p:nvSpPr>
          <p:cNvPr id="16389" name="Google Shape;253;p29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696913" y="1570038"/>
            <a:ext cx="8839200" cy="38465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vi-VN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Ordinea chemării constructorilor și destructorilor</a:t>
            </a:r>
            <a:endParaRPr lang="en-US" sz="24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vi-VN" sz="2000" dirty="0">
              <a:latin typeface="+mj-lt"/>
            </a:endParaRPr>
          </a:p>
          <a:p>
            <a:pPr>
              <a:defRPr/>
            </a:pPr>
            <a:r>
              <a:rPr lang="en-US" sz="2000" dirty="0">
                <a:latin typeface="+mj-lt"/>
              </a:rPr>
              <a:t>C</a:t>
            </a:r>
            <a:r>
              <a:rPr lang="vi-VN" sz="2000" dirty="0">
                <a:latin typeface="+mj-lt"/>
              </a:rPr>
              <a:t>onstructorii sunt chemați în ordinea definirii obiectelor ca membri ai clasei și în ordinea moştenirii:</a:t>
            </a:r>
          </a:p>
          <a:p>
            <a:pPr>
              <a:defRPr/>
            </a:pPr>
            <a:endParaRPr lang="vi-VN" sz="2000" dirty="0">
              <a:latin typeface="+mj-lt"/>
            </a:endParaRPr>
          </a:p>
          <a:p>
            <a:pPr>
              <a:defRPr/>
            </a:pPr>
            <a:r>
              <a:rPr lang="vi-VN" sz="2000" dirty="0">
                <a:latin typeface="+mj-lt"/>
              </a:rPr>
              <a:t>-</a:t>
            </a:r>
            <a:r>
              <a:rPr lang="en-US" sz="2000" dirty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la fiecare nivel se apelează întâi constructorul de la moştenire, apoi constructorii din obiectele membru în clasa respectivă (care sunt chemați în ordinea definirii) și la final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constructorul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propriu</a:t>
            </a:r>
            <a:r>
              <a:rPr lang="vi-VN" sz="2000" dirty="0">
                <a:latin typeface="+mj-lt"/>
              </a:rPr>
              <a:t>;</a:t>
            </a:r>
          </a:p>
          <a:p>
            <a:pPr>
              <a:defRPr/>
            </a:pPr>
            <a:r>
              <a:rPr lang="vi-VN" sz="2000" dirty="0">
                <a:latin typeface="+mj-lt"/>
              </a:rPr>
              <a:t> </a:t>
            </a:r>
          </a:p>
          <a:p>
            <a:pPr>
              <a:defRPr/>
            </a:pPr>
            <a:r>
              <a:rPr lang="vi-VN" sz="2000" dirty="0">
                <a:latin typeface="+mj-lt"/>
              </a:rPr>
              <a:t>-</a:t>
            </a:r>
            <a:r>
              <a:rPr lang="en-US" sz="2000" dirty="0">
                <a:latin typeface="+mj-lt"/>
              </a:rPr>
              <a:t> </a:t>
            </a:r>
            <a:r>
              <a:rPr lang="vi-VN" sz="2000" dirty="0">
                <a:latin typeface="+mj-lt"/>
              </a:rPr>
              <a:t>se merge pe următorul nivel în ordinea moştenirii;</a:t>
            </a:r>
          </a:p>
          <a:p>
            <a:pPr>
              <a:defRPr/>
            </a:pPr>
            <a:endParaRPr lang="vi-VN" sz="2000" dirty="0">
              <a:latin typeface="+mj-lt"/>
            </a:endParaRPr>
          </a:p>
          <a:p>
            <a:pPr>
              <a:defRPr/>
            </a:pPr>
            <a:r>
              <a:rPr lang="en-US" sz="2000" dirty="0">
                <a:latin typeface="+mj-lt"/>
              </a:rPr>
              <a:t>D</a:t>
            </a:r>
            <a:r>
              <a:rPr lang="vi-VN" sz="2000" dirty="0">
                <a:latin typeface="+mj-lt"/>
              </a:rPr>
              <a:t>estructorii sunt chemați în ordinea inversă a constructorilor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312;p3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4C347C1-B4E0-4C94-A8E7-C241B9AB515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11</a:t>
            </a:fld>
            <a:endParaRPr lang="en-US" sz="1800"/>
          </a:p>
        </p:txBody>
      </p:sp>
      <p:sp>
        <p:nvSpPr>
          <p:cNvPr id="21509" name="Google Shape;315;p3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21510" name="Google Shape;316;p34"/>
          <p:cNvSpPr txBox="1">
            <a:spLocks noChangeArrowheads="1"/>
          </p:cNvSpPr>
          <p:nvPr/>
        </p:nvSpPr>
        <p:spPr bwMode="auto">
          <a:xfrm>
            <a:off x="274638" y="1406525"/>
            <a:ext cx="8931275" cy="5810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Redefinirea funcţiilor membre</a:t>
            </a:r>
            <a:endParaRPr lang="vi-VN" sz="24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Clasa derivată are acces la toţi membrii cu acces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sau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ai clasei de bază.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Este permisă supradefinirea funcţiilor membre clasei de bază cu funcţii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membre ale clasei derivate.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000"/>
              <a:buFont typeface="Arial" charset="0"/>
              <a:buChar char="-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2 modalităţi de a redefini o funcţie membră:</a:t>
            </a:r>
          </a:p>
          <a:p>
            <a:pPr marL="914400" lvl="1" indent="-355600">
              <a:lnSpc>
                <a:spcPct val="115000"/>
              </a:lnSpc>
              <a:buClr>
                <a:srgbClr val="000000"/>
              </a:buClr>
              <a:buSzPts val="2000"/>
              <a:buFont typeface="Arial" charset="0"/>
              <a:buChar char="-"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 acelasi antet ca în clasa de baz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ă (“redefining” - în cazul funcţiilor oarecare / “overloading” - în cazul funcţiilor virtuale);</a:t>
            </a:r>
          </a:p>
          <a:p>
            <a:pPr marL="914400" lvl="1" indent="-355600">
              <a:lnSpc>
                <a:spcPct val="115000"/>
              </a:lnSpc>
              <a:buClr>
                <a:srgbClr val="000000"/>
              </a:buClr>
              <a:buSzPts val="2000"/>
              <a:buFont typeface="Arial" charset="0"/>
              <a:buChar char="-"/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cu schimbarea listei de argumente sau a tipului returnat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24;p3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3A23FA4-DB06-4266-A844-DB8DFA350B96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12</a:t>
            </a:fld>
            <a:endParaRPr lang="en-US" sz="1800"/>
          </a:p>
        </p:txBody>
      </p:sp>
      <p:sp>
        <p:nvSpPr>
          <p:cNvPr id="22533" name="Google Shape;327;p35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22534" name="Google Shape;328;p35"/>
          <p:cNvSpPr txBox="1">
            <a:spLocks noChangeArrowheads="1"/>
          </p:cNvSpPr>
          <p:nvPr/>
        </p:nvSpPr>
        <p:spPr bwMode="auto">
          <a:xfrm>
            <a:off x="274638" y="1189038"/>
            <a:ext cx="8931275" cy="1306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Redefinirea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funcţiilor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membre</a:t>
            </a:r>
            <a:endParaRPr lang="en-US" sz="24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b="1" i="1" dirty="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dirty="0" err="1"/>
              <a:t>Exemplu</a:t>
            </a:r>
            <a:r>
              <a:rPr lang="en-US" sz="2000" b="1" dirty="0"/>
              <a:t>: - </a:t>
            </a:r>
            <a:r>
              <a:rPr lang="en-US" sz="2000" b="1" dirty="0" err="1"/>
              <a:t>pastrarea</a:t>
            </a:r>
            <a:r>
              <a:rPr lang="en-US" sz="2000" b="1" dirty="0"/>
              <a:t> </a:t>
            </a:r>
            <a:r>
              <a:rPr lang="en-US" sz="2000" b="1" dirty="0" err="1"/>
              <a:t>antetului</a:t>
            </a:r>
            <a:r>
              <a:rPr lang="en-US" sz="2000" b="1" dirty="0"/>
              <a:t>/</a:t>
            </a:r>
            <a:r>
              <a:rPr lang="en-US" sz="2000" b="1" dirty="0" err="1"/>
              <a:t>tipului</a:t>
            </a:r>
            <a:r>
              <a:rPr lang="en-US" sz="2000" b="1" dirty="0"/>
              <a:t> </a:t>
            </a:r>
            <a:r>
              <a:rPr lang="en-US" sz="2000" b="1" dirty="0" err="1"/>
              <a:t>returnat</a:t>
            </a:r>
            <a:endParaRPr lang="en-US" sz="2000" b="1" dirty="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/>
          </a:p>
        </p:txBody>
      </p:sp>
      <p:grpSp>
        <p:nvGrpSpPr>
          <p:cNvPr id="22535" name="Group 9"/>
          <p:cNvGrpSpPr>
            <a:grpSpLocks/>
          </p:cNvGrpSpPr>
          <p:nvPr/>
        </p:nvGrpSpPr>
        <p:grpSpPr bwMode="auto">
          <a:xfrm>
            <a:off x="1230313" y="2427288"/>
            <a:ext cx="7772400" cy="4400550"/>
            <a:chOff x="1230312" y="2360850"/>
            <a:chExt cx="7772400" cy="4401205"/>
          </a:xfrm>
        </p:grpSpPr>
        <p:sp>
          <p:nvSpPr>
            <p:cNvPr id="22536" name="Rectangle 6"/>
            <p:cNvSpPr>
              <a:spLocks noChangeArrowheads="1"/>
            </p:cNvSpPr>
            <p:nvPr/>
          </p:nvSpPr>
          <p:spPr bwMode="auto">
            <a:xfrm>
              <a:off x="1230312" y="2360850"/>
              <a:ext cx="7772400" cy="4401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latin typeface="Times New Roman" pitchFamily="18" charset="0"/>
                </a:rPr>
                <a:t>Baza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>
                  <a:latin typeface="Times New Roman" pitchFamily="18" charset="0"/>
                </a:rPr>
                <a:t> afis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>
                  <a:latin typeface="Times New Roman" pitchFamily="18" charset="0"/>
                </a:rPr>
                <a:t>        </a:t>
              </a:r>
              <a:r>
                <a:rPr lang="en-US" sz="2000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0000E6"/>
                  </a:solidFill>
                  <a:latin typeface="Times New Roman" pitchFamily="18" charset="0"/>
                </a:rPr>
                <a:t>Baza</a:t>
              </a:r>
              <a:r>
                <a:rPr lang="en-US" sz="2000">
                  <a:solidFill>
                    <a:srgbClr val="0F69FF"/>
                  </a:solidFill>
                  <a:latin typeface="Times New Roman" pitchFamily="18" charset="0"/>
                </a:rPr>
                <a:t>\n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>
                  <a:latin typeface="Times New Roman" pitchFamily="18" charset="0"/>
                </a:rPr>
                <a:t> Derivata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latin typeface="Times New Roman" pitchFamily="18" charset="0"/>
                </a:rPr>
                <a:t>Baza</a:t>
              </a:r>
              <a:r>
                <a:rPr lang="en-US" sz="2000" b="1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>
                  <a:latin typeface="Times New Roman" pitchFamily="18" charset="0"/>
                </a:rPr>
                <a:t> afis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>
                  <a:latin typeface="Times New Roman" pitchFamily="18" charset="0"/>
                </a:rPr>
                <a:t>        </a:t>
              </a:r>
              <a:r>
                <a:rPr lang="en-US" sz="2000">
                  <a:latin typeface="Times New Roman" pitchFamily="18" charset="0"/>
                </a:rPr>
                <a:t>Baza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::</a:t>
              </a:r>
              <a:r>
                <a:rPr lang="en-US" sz="2000">
                  <a:latin typeface="Times New Roman" pitchFamily="18" charset="0"/>
                </a:rPr>
                <a:t>afis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       </a:t>
              </a:r>
              <a:r>
                <a:rPr lang="en-US" sz="2000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0000E6"/>
                  </a:solidFill>
                  <a:latin typeface="Times New Roman" pitchFamily="18" charset="0"/>
                </a:rPr>
                <a:t>si Derivata</a:t>
              </a:r>
              <a:r>
                <a:rPr lang="en-US" sz="2000">
                  <a:solidFill>
                    <a:srgbClr val="0F69FF"/>
                  </a:solidFill>
                  <a:latin typeface="Times New Roman" pitchFamily="18" charset="0"/>
                </a:rPr>
                <a:t>\n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400000"/>
                  </a:solidFill>
                  <a:latin typeface="Times New Roman" pitchFamily="18" charset="0"/>
                </a:rPr>
                <a:t>main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Derivata d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it-IT" sz="2000">
                  <a:latin typeface="Times New Roman" pitchFamily="18" charset="0"/>
                </a:rPr>
                <a:t>d</a:t>
              </a:r>
              <a:r>
                <a:rPr lang="it-IT" sz="2000">
                  <a:solidFill>
                    <a:srgbClr val="808030"/>
                  </a:solidFill>
                  <a:latin typeface="Times New Roman" pitchFamily="18" charset="0"/>
                </a:rPr>
                <a:t>.</a:t>
              </a:r>
              <a:r>
                <a:rPr lang="it-IT" sz="2000">
                  <a:latin typeface="Times New Roman" pitchFamily="18" charset="0"/>
                </a:rPr>
                <a:t>afis</a:t>
              </a:r>
              <a:r>
                <a:rPr lang="it-IT" sz="200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it-IT" sz="2000">
                  <a:latin typeface="Times New Roman" pitchFamily="18" charset="0"/>
                </a:rPr>
                <a:t> </a:t>
              </a:r>
              <a:r>
                <a:rPr lang="it-IT" sz="200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it-IT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it-IT" sz="2000">
                  <a:latin typeface="Times New Roman" pitchFamily="18" charset="0"/>
                </a:rPr>
                <a:t> </a:t>
              </a:r>
              <a:r>
                <a:rPr lang="it-IT" sz="2000">
                  <a:solidFill>
                    <a:srgbClr val="696969"/>
                  </a:solidFill>
                  <a:latin typeface="Times New Roman" pitchFamily="18" charset="0"/>
                </a:rPr>
                <a:t>// se afiseaza “Baza si Derivata”</a:t>
              </a:r>
              <a:endParaRPr lang="it-IT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458912" y="3018173"/>
              <a:ext cx="1371600" cy="381057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458912" y="4542400"/>
              <a:ext cx="1371600" cy="381057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336;p3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F49C7FC-95D2-43BD-ADAD-0A2027DD276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13</a:t>
            </a:fld>
            <a:endParaRPr lang="en-US" sz="1800"/>
          </a:p>
        </p:txBody>
      </p:sp>
      <p:sp>
        <p:nvSpPr>
          <p:cNvPr id="23557" name="Google Shape;339;p36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23558" name="Google Shape;340;p36"/>
          <p:cNvSpPr txBox="1">
            <a:spLocks noChangeArrowheads="1"/>
          </p:cNvSpPr>
          <p:nvPr/>
        </p:nvSpPr>
        <p:spPr bwMode="auto">
          <a:xfrm>
            <a:off x="274638" y="1112838"/>
            <a:ext cx="6342062" cy="7731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Redefinirea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funcţiilor</a:t>
            </a:r>
            <a:r>
              <a:rPr lang="en-US" sz="2400" b="1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membre</a:t>
            </a:r>
            <a:endParaRPr lang="en-US" sz="2400" b="1" i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dirty="0" err="1"/>
              <a:t>Exemplu</a:t>
            </a:r>
            <a:r>
              <a:rPr lang="en-US" sz="2000" b="1" dirty="0"/>
              <a:t>: - </a:t>
            </a:r>
            <a:r>
              <a:rPr lang="en-US" sz="2000" b="1" dirty="0" err="1"/>
              <a:t>nepastrarea</a:t>
            </a:r>
            <a:r>
              <a:rPr lang="en-US" sz="2000" b="1" dirty="0"/>
              <a:t> </a:t>
            </a:r>
            <a:r>
              <a:rPr lang="en-US" sz="2000" b="1" dirty="0" err="1"/>
              <a:t>antetului</a:t>
            </a:r>
            <a:r>
              <a:rPr lang="en-US" sz="2000" b="1" dirty="0"/>
              <a:t>/</a:t>
            </a:r>
            <a:r>
              <a:rPr lang="en-US" sz="2000" b="1" dirty="0" err="1"/>
              <a:t>tipului</a:t>
            </a:r>
            <a:r>
              <a:rPr lang="en-US" sz="2000" b="1" dirty="0"/>
              <a:t> </a:t>
            </a:r>
            <a:r>
              <a:rPr lang="en-US" sz="2000" b="1" dirty="0" err="1"/>
              <a:t>returnat</a:t>
            </a:r>
            <a:endParaRPr lang="en-US" sz="2000" b="1" dirty="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dirty="0"/>
          </a:p>
        </p:txBody>
      </p:sp>
      <p:sp>
        <p:nvSpPr>
          <p:cNvPr id="23559" name="Google Shape;340;p36"/>
          <p:cNvSpPr txBox="1">
            <a:spLocks noChangeArrowheads="1"/>
          </p:cNvSpPr>
          <p:nvPr/>
        </p:nvSpPr>
        <p:spPr bwMode="auto">
          <a:xfrm>
            <a:off x="6335713" y="3235325"/>
            <a:ext cx="3581400" cy="19161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Obs: la redefinirea unei funcţii din clasa de baza, toate celelalte versiuni sunt automat ascunse!</a:t>
            </a:r>
          </a:p>
        </p:txBody>
      </p:sp>
      <p:grpSp>
        <p:nvGrpSpPr>
          <p:cNvPr id="23560" name="Group 11"/>
          <p:cNvGrpSpPr>
            <a:grpSpLocks/>
          </p:cNvGrpSpPr>
          <p:nvPr/>
        </p:nvGrpSpPr>
        <p:grpSpPr bwMode="auto">
          <a:xfrm>
            <a:off x="468313" y="2144713"/>
            <a:ext cx="5038725" cy="5018087"/>
            <a:chOff x="468312" y="2145407"/>
            <a:chExt cx="5038725" cy="5016758"/>
          </a:xfrm>
        </p:grpSpPr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468312" y="2145407"/>
              <a:ext cx="5038725" cy="5016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latin typeface="Times New Roman" pitchFamily="18" charset="0"/>
                </a:rPr>
                <a:t>Baza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>
                  <a:latin typeface="Times New Roman" pitchFamily="18" charset="0"/>
                </a:rPr>
                <a:t> afis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>
                  <a:latin typeface="Times New Roman" pitchFamily="18" charset="0"/>
                </a:rPr>
                <a:t>        </a:t>
              </a:r>
              <a:r>
                <a:rPr lang="en-US" sz="2000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0000E6"/>
                  </a:solidFill>
                  <a:latin typeface="Times New Roman" pitchFamily="18" charset="0"/>
                </a:rPr>
                <a:t>Baza</a:t>
              </a:r>
              <a:r>
                <a:rPr lang="en-US" sz="2000">
                  <a:solidFill>
                    <a:srgbClr val="0F69FF"/>
                  </a:solidFill>
                  <a:latin typeface="Times New Roman" pitchFamily="18" charset="0"/>
                </a:rPr>
                <a:t>\n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b="1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latin typeface="Times New Roman" pitchFamily="18" charset="0"/>
                </a:rPr>
                <a:t>Derivata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latin typeface="Times New Roman" pitchFamily="18" charset="0"/>
                </a:rPr>
                <a:t>Baza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>
                  <a:latin typeface="Times New Roman" pitchFamily="18" charset="0"/>
                </a:rPr>
                <a:t> afis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 b="1">
                  <a:latin typeface="Times New Roman" pitchFamily="18" charset="0"/>
                </a:rPr>
                <a:t> x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   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    Baza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::</a:t>
              </a:r>
              <a:r>
                <a:rPr lang="en-US" sz="2000">
                  <a:latin typeface="Times New Roman" pitchFamily="18" charset="0"/>
                </a:rPr>
                <a:t>afis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    </a:t>
              </a:r>
              <a:r>
                <a:rPr lang="en-US" sz="2000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0000E6"/>
                  </a:solidFill>
                  <a:latin typeface="Times New Roman" pitchFamily="18" charset="0"/>
                </a:rPr>
                <a:t>si Derivata</a:t>
              </a:r>
              <a:r>
                <a:rPr lang="en-US" sz="2000">
                  <a:solidFill>
                    <a:srgbClr val="0F69FF"/>
                  </a:solidFill>
                  <a:latin typeface="Times New Roman" pitchFamily="18" charset="0"/>
                </a:rPr>
                <a:t>\n</a:t>
              </a:r>
              <a:r>
                <a:rPr lang="en-US" sz="200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  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400000"/>
                  </a:solidFill>
                  <a:latin typeface="Times New Roman" pitchFamily="18" charset="0"/>
                </a:rPr>
                <a:t>main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Derivata d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d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.</a:t>
              </a:r>
              <a:r>
                <a:rPr lang="en-US" sz="2000">
                  <a:latin typeface="Times New Roman" pitchFamily="18" charset="0"/>
                </a:rPr>
                <a:t>afis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696969"/>
                  </a:solidFill>
                  <a:latin typeface="Times New Roman" pitchFamily="18" charset="0"/>
                </a:rPr>
                <a:t>//nu exista Derivata::afis( )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  d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.</a:t>
              </a:r>
              <a:r>
                <a:rPr lang="en-US" sz="2000">
                  <a:latin typeface="Times New Roman" pitchFamily="18" charset="0"/>
                </a:rPr>
                <a:t>afis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>
                  <a:solidFill>
                    <a:srgbClr val="008C00"/>
                  </a:solidFill>
                  <a:latin typeface="Times New Roman" pitchFamily="18" charset="0"/>
                </a:rPr>
                <a:t>3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6912" y="2789761"/>
              <a:ext cx="1371600" cy="380899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3112" y="4313358"/>
              <a:ext cx="1752600" cy="380899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375;p3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9D698EE-0EDA-416D-998B-ECC26560427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14</a:t>
            </a:fld>
            <a:endParaRPr lang="en-US" sz="1800"/>
          </a:p>
        </p:txBody>
      </p:sp>
      <p:sp>
        <p:nvSpPr>
          <p:cNvPr id="26629" name="Google Shape;378;p39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379" name="Google Shape;379;p39"/>
          <p:cNvSpPr txBox="1"/>
          <p:nvPr/>
        </p:nvSpPr>
        <p:spPr>
          <a:xfrm>
            <a:off x="274638" y="1254125"/>
            <a:ext cx="9566275" cy="49641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Redefinirea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funcţiilor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membre</a:t>
            </a: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b="1" i="1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</a:t>
            </a:r>
            <a:r>
              <a:rPr lang="en-US" sz="2000" b="1" i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b="1" i="1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vi-VN" sz="2400" kern="0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Schimbarea interfeței clasei de bază prin modificarea tipului returnat sau a signaturii unei funcții, înseamnă, de fapt, utilizarea clasei în alt mod.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lang="vi-VN" sz="2400" kern="0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vi-VN" sz="2400" kern="0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Scopul principal al moştenirii: polimorfismul.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lang="vi-VN" sz="2400" kern="0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vi-VN" sz="2400" kern="0" dirty="0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rPr>
              <a:t>Schimbarea signaturii sau a tipului returnat = schimbarea interfeței = contravine exact polimorfismului (un aspect esențial este păstrarea interfeței clasei de bază).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b="1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411;p42"/>
          <p:cNvSpPr>
            <a:spLocks noChangeArrowheads="1"/>
          </p:cNvSpPr>
          <p:nvPr/>
        </p:nvSpPr>
        <p:spPr bwMode="auto">
          <a:xfrm>
            <a:off x="9205913" y="7062788"/>
            <a:ext cx="7270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4869FCF-9873-4AC4-BBC6-573290FEE9C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15</a:t>
            </a:fld>
            <a:endParaRPr lang="en-US" sz="1800"/>
          </a:p>
        </p:txBody>
      </p:sp>
      <p:sp>
        <p:nvSpPr>
          <p:cNvPr id="29701" name="Google Shape;414;p42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29702" name="Google Shape;415;p42"/>
          <p:cNvSpPr txBox="1">
            <a:spLocks noChangeArrowheads="1"/>
          </p:cNvSpPr>
          <p:nvPr/>
        </p:nvSpPr>
        <p:spPr bwMode="auto">
          <a:xfrm>
            <a:off x="274638" y="1406525"/>
            <a:ext cx="9531350" cy="49307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ea typeface="Arial" charset="0"/>
                <a:cs typeface="Times New Roman" pitchFamily="18" charset="0"/>
              </a:rPr>
              <a:t>Moştenirea si funcţiile statice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b="1" i="1"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  <a:ea typeface="Arial" charset="0"/>
                <a:cs typeface="Times New Roman" pitchFamily="18" charset="0"/>
              </a:rPr>
              <a:t>Funcțiile membre statice se comportă exact ca și funcțiile nemembre: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  <a:ea typeface="Arial" charset="0"/>
                <a:cs typeface="Times New Roman" pitchFamily="18" charset="0"/>
              </a:rPr>
              <a:t>Se moștenesc în clasa derivată.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  <a:ea typeface="Arial" charset="0"/>
                <a:cs typeface="Times New Roman" pitchFamily="18" charset="0"/>
              </a:rPr>
              <a:t>Redefinirea unei funcții membre statice duce la ascunderea celorlalte supraîncărcări.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>
                <a:latin typeface="Times New Roman" pitchFamily="18" charset="0"/>
                <a:ea typeface="Arial" charset="0"/>
                <a:cs typeface="Times New Roman" pitchFamily="18" charset="0"/>
              </a:rPr>
              <a:t>Schimbarea signaturii unei funcții din clasa de bază duce la ascunderea celorlalte versiuni ale funcției.</a:t>
            </a:r>
            <a:endParaRPr lang="en-US" sz="2400">
              <a:latin typeface="Calibri" pitchFamily="34" charset="0"/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400">
              <a:latin typeface="Times New Roman" pitchFamily="18" charset="0"/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400" b="1">
                <a:latin typeface="Times New Roman" pitchFamily="18" charset="0"/>
                <a:ea typeface="Arial" charset="0"/>
                <a:cs typeface="Times New Roman" pitchFamily="18" charset="0"/>
              </a:rPr>
              <a:t>Dar: O funcție membră statică nu poate fi virtuală.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000" b="1" i="1">
              <a:ea typeface="Arial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 b="1" i="1">
              <a:ea typeface="Arial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435;p44"/>
          <p:cNvSpPr>
            <a:spLocks noChangeArrowheads="1"/>
          </p:cNvSpPr>
          <p:nvPr/>
        </p:nvSpPr>
        <p:spPr bwMode="auto">
          <a:xfrm>
            <a:off x="9359900" y="7062788"/>
            <a:ext cx="5730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ABC63F6-1F3C-42F3-8C7D-6831CFC0EAC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16</a:t>
            </a:fld>
            <a:endParaRPr lang="en-US" sz="1800"/>
          </a:p>
        </p:txBody>
      </p:sp>
      <p:sp>
        <p:nvSpPr>
          <p:cNvPr id="31749" name="Google Shape;438;p4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31750" name="Google Shape;439;p44"/>
          <p:cNvSpPr txBox="1">
            <a:spLocks noChangeArrowheads="1"/>
          </p:cNvSpPr>
          <p:nvPr/>
        </p:nvSpPr>
        <p:spPr bwMode="auto">
          <a:xfrm>
            <a:off x="274638" y="1406525"/>
            <a:ext cx="9531350" cy="54689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Modificatorii de acces la moştenire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/>
              <a:t>class A : </a:t>
            </a: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/>
              <a:t> B { /* declaraţii */};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/>
              <a:t>class A : </a:t>
            </a: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en-US" sz="2000"/>
              <a:t> B { /* declaraţii */};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/>
              <a:t>class A : </a:t>
            </a: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en-US" sz="2000"/>
              <a:t> B { /* declaraţii */};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000"/>
              <a:t>Dacă modificatorul de acces la moştenire este </a:t>
            </a:r>
            <a:r>
              <a:rPr lang="vi-VN" sz="2000" b="1"/>
              <a:t>public</a:t>
            </a:r>
            <a:r>
              <a:rPr lang="vi-VN" sz="2000"/>
              <a:t>, membrii din clasa de bază își păstrează tipul de acces și în derivată.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000"/>
              <a:t>Dacă modificatorul de acces la moştenire este </a:t>
            </a:r>
            <a:r>
              <a:rPr lang="vi-VN" sz="2000" b="1"/>
              <a:t>private</a:t>
            </a:r>
            <a:r>
              <a:rPr lang="vi-VN" sz="2000"/>
              <a:t>, toți membrii din clasa de bază vor avea tipul de acces “private” în derivată, indiferent de tipul avut în bază.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vi-VN" sz="2000"/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vi-VN" sz="2000"/>
              <a:t>Dacă modificatorul de acces la moştenire este </a:t>
            </a:r>
            <a:r>
              <a:rPr lang="vi-VN" sz="2000" b="1"/>
              <a:t>protected</a:t>
            </a:r>
            <a:r>
              <a:rPr lang="vi-VN" sz="2000"/>
              <a:t>, membrii “publici” din clasa de bază devin “protected” în clasa derivată, restul nu se modifică.</a:t>
            </a:r>
          </a:p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460;p4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C105DCE-C581-4658-8174-2C4A70C7CCF4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17</a:t>
            </a:fld>
            <a:endParaRPr lang="en-US" sz="1800"/>
          </a:p>
        </p:txBody>
      </p:sp>
      <p:sp>
        <p:nvSpPr>
          <p:cNvPr id="33797" name="Google Shape;463;p46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464" name="Google Shape;464;p46"/>
          <p:cNvSpPr txBox="1"/>
          <p:nvPr/>
        </p:nvSpPr>
        <p:spPr>
          <a:xfrm>
            <a:off x="274638" y="1177925"/>
            <a:ext cx="9239250" cy="5970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Moştenirea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cu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specificatorul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“private”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lang="en-US" sz="2000" b="1" i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inclusă în limbaj pentru completitudine;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endParaRPr lang="vi-VN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este mai bine a se utiliza compunerea în locul moştenirii private;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endParaRPr lang="vi-VN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toți membrii private din clasa de bază sunt ascunși în clasa derivată, deci inaccesibili;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endParaRPr lang="vi-VN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toți membrii public și protected devin private, dar sunt accesibile în clasa derivată;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endParaRPr lang="vi-VN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un obiect obținut printr-o astfel de derivare se tratează diferit față de cel din clasa de bază, e similar cu definirea unui obiect de tip bază în interiorul clasei noi (fără moştenire).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endParaRPr lang="vi-VN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  <a:defRPr/>
            </a:pPr>
            <a:r>
              <a:rPr lang="vi-VN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dacă în clasa de bază o componentă era public, iar moştenirea se face cu specificatorul private, se poate reveni la public utilizând: 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lang="en-US" sz="2000" b="1" i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indent="-3556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r>
              <a:rPr lang="en-US" sz="2000" b="1" i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				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using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Baza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::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nume_componenta</a:t>
            </a: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472;p4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E41E322-3B70-413E-A4C4-1F44282FB9B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18</a:t>
            </a:fld>
            <a:endParaRPr lang="en-US" sz="1800"/>
          </a:p>
        </p:txBody>
      </p:sp>
      <p:sp>
        <p:nvSpPr>
          <p:cNvPr id="34821" name="Google Shape;475;p47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34822" name="Google Shape;476;p47"/>
          <p:cNvSpPr txBox="1">
            <a:spLocks noChangeArrowheads="1"/>
          </p:cNvSpPr>
          <p:nvPr/>
        </p:nvSpPr>
        <p:spPr bwMode="auto">
          <a:xfrm>
            <a:off x="274638" y="1265238"/>
            <a:ext cx="6891337" cy="5445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Moştenirea cu specificatorul “private”</a:t>
            </a:r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5411788" y="1874838"/>
            <a:ext cx="442912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Goldfish bob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bob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eat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bob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sleep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bob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sleep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bob.speak();// Error: private member funcţion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</p:txBody>
      </p:sp>
      <p:grpSp>
        <p:nvGrpSpPr>
          <p:cNvPr id="34824" name="Group 9"/>
          <p:cNvGrpSpPr>
            <a:grpSpLocks/>
          </p:cNvGrpSpPr>
          <p:nvPr/>
        </p:nvGrpSpPr>
        <p:grpSpPr bwMode="auto">
          <a:xfrm>
            <a:off x="620713" y="2427288"/>
            <a:ext cx="6096000" cy="4400550"/>
            <a:chOff x="620713" y="2427288"/>
            <a:chExt cx="6096000" cy="4400550"/>
          </a:xfrm>
        </p:grpSpPr>
        <p:sp>
          <p:nvSpPr>
            <p:cNvPr id="34825" name="Rectangle 7"/>
            <p:cNvSpPr>
              <a:spLocks noChangeArrowheads="1"/>
            </p:cNvSpPr>
            <p:nvPr/>
          </p:nvSpPr>
          <p:spPr bwMode="auto">
            <a:xfrm>
              <a:off x="620713" y="2427288"/>
              <a:ext cx="6096000" cy="4400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>
                  <a:latin typeface="Times New Roman" pitchFamily="18" charset="0"/>
                </a:rPr>
                <a:t> Pet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char</a:t>
              </a:r>
              <a:r>
                <a:rPr lang="en-US" sz="2000">
                  <a:latin typeface="Times New Roman" pitchFamily="18" charset="0"/>
                </a:rPr>
                <a:t> eat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return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0000E6"/>
                  </a:solidFill>
                  <a:latin typeface="Times New Roman" pitchFamily="18" charset="0"/>
                </a:rPr>
                <a:t>'a'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>
                  <a:latin typeface="Times New Roman" pitchFamily="18" charset="0"/>
                </a:rPr>
                <a:t> speak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return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008C00"/>
                  </a:solidFill>
                  <a:latin typeface="Times New Roman" pitchFamily="18" charset="0"/>
                </a:rPr>
                <a:t>2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float</a:t>
              </a:r>
              <a:r>
                <a:rPr lang="en-US" sz="2000">
                  <a:latin typeface="Times New Roman" pitchFamily="18" charset="0"/>
                </a:rPr>
                <a:t> sleep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return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008000"/>
                  </a:solidFill>
                  <a:latin typeface="Times New Roman" pitchFamily="18" charset="0"/>
                </a:rPr>
                <a:t>3.0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float</a:t>
              </a:r>
              <a:r>
                <a:rPr lang="en-US" sz="2000">
                  <a:latin typeface="Times New Roman" pitchFamily="18" charset="0"/>
                </a:rPr>
                <a:t> sleep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(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return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008000"/>
                  </a:solidFill>
                  <a:latin typeface="Times New Roman" pitchFamily="18" charset="0"/>
                </a:rPr>
                <a:t>4.0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>
                  <a:latin typeface="Times New Roman" pitchFamily="18" charset="0"/>
                </a:rPr>
                <a:t> Goldfish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r>
                <a:rPr lang="en-US" sz="2000">
                  <a:latin typeface="Times New Roman" pitchFamily="18" charset="0"/>
                </a:rPr>
                <a:t> Pet 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696969"/>
                  </a:solidFill>
                  <a:latin typeface="Times New Roman" pitchFamily="18" charset="0"/>
                </a:rPr>
                <a:t>// Private inheritance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using</a:t>
              </a:r>
              <a:r>
                <a:rPr lang="en-US" sz="2000">
                  <a:latin typeface="Times New Roman" pitchFamily="18" charset="0"/>
                </a:rPr>
                <a:t> Pet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::</a:t>
              </a:r>
              <a:r>
                <a:rPr lang="en-US" sz="2000">
                  <a:latin typeface="Times New Roman" pitchFamily="18" charset="0"/>
                </a:rPr>
                <a:t>eat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696969"/>
                  </a:solidFill>
                  <a:latin typeface="Times New Roman" pitchFamily="18" charset="0"/>
                </a:rPr>
                <a:t>// Name publicizes member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latin typeface="Times New Roman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itchFamily="18" charset="0"/>
                </a:rPr>
                <a:t>using</a:t>
              </a:r>
              <a:r>
                <a:rPr lang="en-US" sz="2000">
                  <a:latin typeface="Times New Roman" pitchFamily="18" charset="0"/>
                </a:rPr>
                <a:t> Pet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::</a:t>
              </a:r>
              <a:r>
                <a:rPr lang="en-US" sz="2000">
                  <a:latin typeface="Times New Roman" pitchFamily="18" charset="0"/>
                </a:rPr>
                <a:t>sleep</a:t>
              </a: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>
                  <a:latin typeface="Times New Roman" pitchFamily="18" charset="0"/>
                </a:rPr>
                <a:t> </a:t>
              </a:r>
              <a:r>
                <a:rPr lang="en-US" sz="2000">
                  <a:solidFill>
                    <a:srgbClr val="696969"/>
                  </a:solidFill>
                  <a:latin typeface="Times New Roman" pitchFamily="18" charset="0"/>
                </a:rPr>
                <a:t>// Both overloaded members exposed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696913" y="5532438"/>
              <a:ext cx="1828800" cy="609600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85;p48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A87B1DA5-D8F2-4F4D-A142-199F5C58214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19</a:t>
            </a:fld>
            <a:endParaRPr lang="en-US" sz="1800"/>
          </a:p>
        </p:txBody>
      </p:sp>
      <p:sp>
        <p:nvSpPr>
          <p:cNvPr id="35845" name="Google Shape;488;p48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489" name="Google Shape;489;p48"/>
          <p:cNvSpPr txBox="1"/>
          <p:nvPr/>
        </p:nvSpPr>
        <p:spPr>
          <a:xfrm>
            <a:off x="274638" y="1406525"/>
            <a:ext cx="9658350" cy="4873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Moştenirea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cu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specificatorul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“protected”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secțiuni definite ca protected sunt similare ca definire cu private (sunt ascunse de restul programului), cu excepția claselor derivate;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good practice: cel mai bine este ca variabilele de instanță să fie PRIVATE și funcții care le modifică să fie protected;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Sintaxă: </a:t>
            </a:r>
            <a:r>
              <a:rPr lang="vi-VN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class derivată: protected baza {…};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toți membrii publici și protected din baza devin protected în derivată;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nu se prea folosește, inclusă în limbaj pentru completitudine.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522;p51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A2D4ACB-E0C1-4E16-BAAE-F70FA9362421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20</a:t>
            </a:fld>
            <a:endParaRPr lang="en-US" sz="1800"/>
          </a:p>
        </p:txBody>
      </p:sp>
      <p:sp>
        <p:nvSpPr>
          <p:cNvPr id="39941" name="Google Shape;525;p51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526" name="Google Shape;526;p51"/>
          <p:cNvSpPr txBox="1"/>
          <p:nvPr/>
        </p:nvSpPr>
        <p:spPr>
          <a:xfrm>
            <a:off x="273925" y="1405750"/>
            <a:ext cx="9034200" cy="52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vi-VN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(MM)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putine limbaje au MM;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moştenirea multiplă e complicată: ambiguitate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LA MOSTENIREA IN ROMB / IN DIAMANT</a:t>
            </a: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nu e nevoie de MM (se simulează cu moştenire simplă);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endParaRPr lang="vi-VN" sz="24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itchFamily="34" charset="0"/>
              <a:buChar char="•"/>
              <a:defRPr/>
            </a:pPr>
            <a:r>
              <a:rPr lang="vi-VN" sz="24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se moşteneste in acelaşi timp din mai multe clase;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 sz="2400" b="1" i="1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 sz="2400" b="1" i="1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Sintaxa</a:t>
            </a:r>
            <a:r>
              <a:rPr lang="en-US" sz="2400" b="1" i="1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</a:t>
            </a:r>
            <a:r>
              <a:rPr lang="vi-VN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lass Clasa_Derivată : [modificatori de acces] Clasa_de_Bază1, [modificatori de acces] Clasa_de_Bază2, [modificatori de acces] Clasa_de_Bază3 ........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kern="0" dirty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Google Shape;534;p52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F7F52CC-B301-4CA0-8778-462AFDDD70E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21</a:t>
            </a:fld>
            <a:endParaRPr lang="en-US" sz="1800"/>
          </a:p>
        </p:txBody>
      </p:sp>
      <p:sp>
        <p:nvSpPr>
          <p:cNvPr id="40965" name="Google Shape;537;p52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sp>
        <p:nvSpPr>
          <p:cNvPr id="538" name="Google Shape;538;p52"/>
          <p:cNvSpPr txBox="1"/>
          <p:nvPr/>
        </p:nvSpPr>
        <p:spPr>
          <a:xfrm>
            <a:off x="273925" y="1405750"/>
            <a:ext cx="9034200" cy="52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vi-VN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(MM)</a:t>
            </a:r>
            <a:endParaRPr lang="vi-VN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b="1" i="1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i="1" kern="0" dirty="0" err="1"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b="1" i="1" kern="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2000" b="1" i="1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b="1" i="1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 </a:t>
            </a:r>
            <a:r>
              <a:rPr lang="en-US" sz="2000" kern="0" dirty="0" err="1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Imprimanta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{  };</a:t>
            </a:r>
            <a:endParaRPr sz="2000" kern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 </a:t>
            </a:r>
            <a:r>
              <a:rPr lang="en-US" sz="2000" kern="0" dirty="0" err="1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Scaner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{  };</a:t>
            </a:r>
            <a:endParaRPr sz="2000" kern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Multifuncţionala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public </a:t>
            </a:r>
            <a:r>
              <a:rPr lang="en-US" sz="2000" kern="0" dirty="0" err="1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Imprimanta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public </a:t>
            </a:r>
            <a:r>
              <a:rPr lang="en-US" sz="2000" kern="0" dirty="0" err="1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Scaner</a:t>
            </a:r>
            <a:r>
              <a:rPr lang="en-US" sz="2000" kern="0" dirty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{   };</a:t>
            </a:r>
            <a:endParaRPr sz="2000" kern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putea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probleme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cazul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kern="0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urmator</a:t>
            </a:r>
            <a:r>
              <a:rPr lang="en-US" sz="2000" b="1" i="1" kern="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000" b="1" i="1" kern="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b="1" i="1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 };</a:t>
            </a: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Derivata_1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public </a:t>
            </a:r>
            <a:r>
              <a:rPr lang="en-US" sz="2000" b="1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 };</a:t>
            </a: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Derivata_2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public </a:t>
            </a:r>
            <a:r>
              <a:rPr lang="en-US" sz="2000" b="1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 };</a:t>
            </a: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Derivata_3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public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Derivata_1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public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Derivata_2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{  };</a:t>
            </a: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000" b="1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Derivata_3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avem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doua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variabilele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000" b="1" kern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kern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!!</a:t>
            </a:r>
            <a:endParaRPr sz="2000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b="1" i="1" ker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546;p53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2D6F2E5-C9F2-4E99-913B-AA64DAE1869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22</a:t>
            </a:fld>
            <a:endParaRPr lang="en-US" sz="1800"/>
          </a:p>
        </p:txBody>
      </p:sp>
      <p:sp>
        <p:nvSpPr>
          <p:cNvPr id="549" name="Google Shape;549;p53"/>
          <p:cNvSpPr txBox="1"/>
          <p:nvPr/>
        </p:nvSpPr>
        <p:spPr>
          <a:xfrm>
            <a:off x="273925" y="1253350"/>
            <a:ext cx="9034200" cy="572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Moştenire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vi-VN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: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ambiguitati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problema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diamantului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class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base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 </a:t>
            </a:r>
            <a:r>
              <a:rPr lang="en-US" sz="20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};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class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derived1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base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 </a:t>
            </a:r>
            <a:r>
              <a:rPr lang="en-US" sz="20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j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};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class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derived2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base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   </a:t>
            </a:r>
            <a:r>
              <a:rPr lang="en-US" sz="20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};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class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derived3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derived1</a:t>
            </a:r>
            <a:r>
              <a:rPr lang="en-US" sz="2000" b="1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,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derived2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   </a:t>
            </a:r>
            <a:r>
              <a:rPr lang="en-US" sz="20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sum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};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 err="1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4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main</a:t>
            </a:r>
            <a:r>
              <a:rPr lang="en-US" sz="2000" b="1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()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{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derived3 ob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=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008C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10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// this is ambiguous, which </a:t>
            </a:r>
            <a:r>
              <a:rPr lang="en-US" sz="2000" kern="0" dirty="0" err="1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solidFill>
                  <a:srgbClr val="FFFF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???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// </a:t>
            </a:r>
            <a:r>
              <a:rPr lang="en-US" sz="2000" b="1" kern="0" dirty="0" err="1">
                <a:solidFill>
                  <a:srgbClr val="0070C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expl</a:t>
            </a:r>
            <a:r>
              <a:rPr lang="en-US" sz="2000" b="1" kern="0" dirty="0">
                <a:solidFill>
                  <a:srgbClr val="0070C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ob.derived1::</a:t>
            </a:r>
            <a:r>
              <a:rPr lang="en-US" sz="2000" b="1" kern="0" dirty="0" err="1">
                <a:solidFill>
                  <a:srgbClr val="0070C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endParaRPr lang="en-US" sz="2000" b="1" kern="0" dirty="0">
              <a:solidFill>
                <a:srgbClr val="0070C0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j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=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008C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20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=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008C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30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sum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=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+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j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+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// </a:t>
            </a:r>
            <a:r>
              <a:rPr lang="en-US" sz="2000" kern="0" dirty="0" err="1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ambiguous here, too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rgbClr val="603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cout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// also ambiguous, which </a:t>
            </a:r>
            <a:r>
              <a:rPr lang="en-US" sz="2000" kern="0" dirty="0" err="1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000" kern="0" dirty="0">
                <a:solidFill>
                  <a:srgbClr val="696969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?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rgbClr val="603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cout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j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</a:t>
            </a:r>
            <a:r>
              <a:rPr lang="en-US" sz="2000" kern="0" dirty="0" err="1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"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rgbClr val="603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cout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&lt;&lt;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ob</a:t>
            </a:r>
            <a:r>
              <a:rPr lang="en-US" sz="2000" kern="0" dirty="0">
                <a:solidFill>
                  <a:srgbClr val="80803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r>
              <a:rPr lang="en-US" sz="20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sum</a:t>
            </a: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return</a:t>
            </a:r>
            <a:r>
              <a: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b="1" kern="0" dirty="0">
                <a:solidFill>
                  <a:srgbClr val="008C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0</a:t>
            </a:r>
            <a:r>
              <a:rPr lang="en-US" sz="2000" b="1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;</a:t>
            </a:r>
            <a:endParaRPr lang="en-US" sz="2000" b="1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solidFill>
                  <a:srgbClr val="80008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}</a:t>
            </a:r>
            <a:endParaRPr lang="en-US" sz="20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solidFill>
                <a:srgbClr val="0000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90" name="Google Shape;550;p53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05E3A1A-B149-4444-B1FA-55C629D37AE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23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1. Moştenirea in C++</a:t>
            </a:r>
          </a:p>
        </p:txBody>
      </p:sp>
      <p:grpSp>
        <p:nvGrpSpPr>
          <p:cNvPr id="43014" name="Group 7"/>
          <p:cNvGrpSpPr>
            <a:grpSpLocks/>
          </p:cNvGrpSpPr>
          <p:nvPr/>
        </p:nvGrpSpPr>
        <p:grpSpPr bwMode="auto">
          <a:xfrm>
            <a:off x="274638" y="1254125"/>
            <a:ext cx="9032875" cy="5808663"/>
            <a:chOff x="273925" y="1253350"/>
            <a:chExt cx="9034200" cy="5809500"/>
          </a:xfrm>
        </p:grpSpPr>
        <p:sp>
          <p:nvSpPr>
            <p:cNvPr id="561" name="Google Shape;561;p54"/>
            <p:cNvSpPr txBox="1"/>
            <p:nvPr/>
          </p:nvSpPr>
          <p:spPr>
            <a:xfrm>
              <a:off x="273925" y="1253350"/>
              <a:ext cx="9034200" cy="580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lIns="91425" tIns="91425" rIns="91425" bIns="91425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defRPr/>
              </a:pPr>
              <a:r>
                <a:rPr lang="en-US" sz="2400" b="1" i="1" kern="0" dirty="0" err="1">
                  <a:solidFill>
                    <a:srgbClr val="0000FF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Moştenire</a:t>
              </a:r>
              <a:r>
                <a:rPr lang="en-US" sz="2400" b="1" i="1" kern="0" dirty="0">
                  <a:solidFill>
                    <a:srgbClr val="0000FF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vi-VN" sz="2400" b="1" i="1" kern="0" dirty="0">
                  <a:solidFill>
                    <a:srgbClr val="0000FF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multiplă</a:t>
              </a:r>
              <a:r>
                <a:rPr lang="en-US" sz="2400" b="1" i="1" kern="0" dirty="0">
                  <a:solidFill>
                    <a:srgbClr val="0000FF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(MM)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-"/>
                <a:defRPr/>
              </a:pP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dar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dac</a:t>
              </a:r>
              <a:r>
                <a:rPr lang="vi-VN" sz="2000" kern="0" dirty="0">
                  <a:latin typeface="Arial"/>
                  <a:ea typeface="Arial"/>
                  <a:cs typeface="Arial"/>
                  <a:sym typeface="Arial"/>
                </a:rPr>
                <a:t>ă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avem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nevoie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doar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de o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copie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lui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-"/>
                <a:defRPr/>
              </a:pP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nu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vrem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s</a:t>
              </a:r>
              <a:r>
                <a:rPr lang="vi-VN" sz="2000" kern="0" dirty="0">
                  <a:latin typeface="Arial"/>
                  <a:ea typeface="Arial"/>
                  <a:cs typeface="Arial"/>
                  <a:sym typeface="Arial"/>
                </a:rPr>
                <a:t>ă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consum</a:t>
              </a:r>
              <a:r>
                <a:rPr lang="vi-VN" sz="2000" kern="0" dirty="0">
                  <a:latin typeface="Arial"/>
                  <a:ea typeface="Arial"/>
                  <a:cs typeface="Arial"/>
                  <a:sym typeface="Arial"/>
                </a:rPr>
                <a:t>ă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m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spaţiu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în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kern="0" dirty="0" err="1">
                  <a:latin typeface="Arial"/>
                  <a:ea typeface="Arial"/>
                  <a:cs typeface="Arial"/>
                  <a:sym typeface="Arial"/>
                </a:rPr>
                <a:t>memorie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marL="4572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-"/>
                <a:defRPr/>
              </a:pPr>
              <a:r>
                <a:rPr lang="en-US" sz="2000" b="1" i="1" kern="0" dirty="0" err="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folosim</a:t>
              </a:r>
              <a:r>
                <a:rPr lang="en-US" sz="2000" b="1" i="1" kern="0" dirty="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 b="1" i="1" kern="0" dirty="0" err="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moştenire</a:t>
              </a:r>
              <a:r>
                <a:rPr lang="en-US" sz="2000" b="1" i="1" kern="0" dirty="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virtual</a:t>
              </a:r>
              <a:r>
                <a:rPr lang="vi-VN" sz="2000" b="1" i="1" kern="0" dirty="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ă</a:t>
              </a:r>
              <a:r>
                <a:rPr lang="en-US" sz="2000" kern="0" dirty="0"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marL="4572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000" kern="0">
                <a:latin typeface="Arial"/>
                <a:ea typeface="Arial"/>
                <a:cs typeface="Arial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class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base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{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    </a:t>
              </a:r>
              <a:r>
                <a:rPr lang="en-US" sz="2000" b="1" kern="0" dirty="0" err="1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int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 err="1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i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;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};</a:t>
              </a:r>
              <a:endPara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class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derived1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virtual public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base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{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    </a:t>
              </a:r>
              <a:r>
                <a:rPr lang="en-US" sz="2000" b="1" kern="0" dirty="0" err="1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int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j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;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};</a:t>
              </a:r>
              <a:endPara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class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derived2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virtual public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base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{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     </a:t>
              </a:r>
              <a:r>
                <a:rPr lang="en-US" sz="2000" b="1" kern="0" dirty="0" err="1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int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k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;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};</a:t>
              </a:r>
              <a:endPara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class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derived3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derived1</a:t>
              </a:r>
              <a:r>
                <a:rPr lang="en-US" sz="2000" b="1" kern="0" dirty="0">
                  <a:solidFill>
                    <a:srgbClr val="80803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,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derived2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{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: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    </a:t>
              </a:r>
              <a:r>
                <a:rPr lang="en-US" sz="2000" b="1" kern="0" dirty="0" err="1">
                  <a:solidFill>
                    <a:srgbClr val="80000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int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sum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;</a:t>
              </a:r>
              <a:r>
                <a:rPr lang="en-US" sz="2000" b="1" kern="0" dirty="0"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itchFamily="18" charset="0"/>
                  <a:ea typeface="Arial"/>
                  <a:cs typeface="Times New Roman" pitchFamily="18" charset="0"/>
                  <a:sym typeface="Arial"/>
                </a:rPr>
                <a:t>};</a:t>
              </a:r>
              <a:endParaRPr lang="en-US" sz="2000" b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sz="2000" kern="0" dirty="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itchFamily="34" charset="0"/>
                <a:buChar char="•"/>
                <a:defRPr/>
              </a:pPr>
              <a:r>
                <a:rPr lang="vi-VN" sz="2000" kern="0" dirty="0">
                  <a:solidFill>
                    <a:schemeClr val="tx1"/>
                  </a:solidFill>
                  <a:highlight>
                    <a:srgbClr val="FFFFFF"/>
                  </a:highlight>
                  <a:latin typeface="+mj-lt"/>
                  <a:ea typeface="Arial"/>
                  <a:cs typeface="Arial"/>
                  <a:sym typeface="Arial"/>
                </a:rPr>
                <a:t>Dacă avem moştenire de două sau mai multe ori dintr-o clasă de bază (fiecare moştenire trebuie să fie virtuală) atunci compilatorul alocă spaţiu pentru o singură copie;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itchFamily="34" charset="0"/>
                <a:buChar char="•"/>
                <a:defRPr/>
              </a:pPr>
              <a:r>
                <a:rPr lang="vi-VN" sz="2000" kern="0" dirty="0">
                  <a:solidFill>
                    <a:schemeClr val="tx1"/>
                  </a:solidFill>
                  <a:highlight>
                    <a:srgbClr val="FFFFFF"/>
                  </a:highlight>
                  <a:latin typeface="+mj-lt"/>
                  <a:ea typeface="Arial"/>
                  <a:cs typeface="Arial"/>
                  <a:sym typeface="Arial"/>
                </a:rPr>
                <a:t>În clasele derived1 şi 2 moştenirea e la fel ca mai înainte (niciun efect pentru virtual în acel caz)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000" kern="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91852" y="4084271"/>
              <a:ext cx="838323" cy="609688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570;p55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8165F1E-3F2F-4140-AA36-0F4EB688066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24</a:t>
            </a:fld>
            <a:endParaRPr lang="en-US" sz="1800"/>
          </a:p>
        </p:txBody>
      </p:sp>
      <p:sp>
        <p:nvSpPr>
          <p:cNvPr id="573" name="Google Shape;573;p55"/>
          <p:cNvSpPr txBox="1"/>
          <p:nvPr/>
        </p:nvSpPr>
        <p:spPr>
          <a:xfrm>
            <a:off x="274638" y="1254125"/>
            <a:ext cx="9566275" cy="5516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şi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felul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lor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folosire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 component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IMPORTANTĂ a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limbajului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OOP.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Folosit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pentru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polimorfism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la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execuţie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---&gt; cod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bine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organizat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cu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polimorfism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Codul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poate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“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creşte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” f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schimb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semnificative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programe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extensibile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sunt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definite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şi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redefinite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Pointer de tip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care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arat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tre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obiect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tip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şi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cheam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o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şi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redefinite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vi-VN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executa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 </a:t>
            </a:r>
            <a:r>
              <a:rPr lang="en-US" sz="2400" b="1" i="1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Funcţia</a:t>
            </a:r>
            <a:r>
              <a:rPr lang="en-US" sz="2400" b="1" i="1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din </a:t>
            </a:r>
            <a:r>
              <a:rPr lang="en-US" sz="2400" b="1" i="1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clasa</a:t>
            </a:r>
            <a:r>
              <a:rPr lang="en-US" sz="2400" b="1" i="1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vi-VN" sz="2400" b="1" i="1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Poate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vazuta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ca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exemplu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separare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dintre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interfata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implementare</a:t>
            </a:r>
            <a:r>
              <a:rPr lang="en-US" sz="2000" kern="0" dirty="0">
                <a:solidFill>
                  <a:schemeClr val="tx1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b="1" i="1" kern="0" dirty="0">
              <a:solidFill>
                <a:srgbClr val="0000FF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  <p:sp>
        <p:nvSpPr>
          <p:cNvPr id="44038" name="Google Shape;574;p55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Google Shape;582;p5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2F92D1A-5E33-4A8E-9CD1-822AD9C23F1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25</a:t>
            </a:fld>
            <a:endParaRPr lang="en-US" sz="1800"/>
          </a:p>
        </p:txBody>
      </p:sp>
      <p:sp>
        <p:nvSpPr>
          <p:cNvPr id="585" name="Google Shape;585;p56"/>
          <p:cNvSpPr txBox="1"/>
          <p:nvPr/>
        </p:nvSpPr>
        <p:spPr>
          <a:xfrm>
            <a:off x="273925" y="1253350"/>
            <a:ext cx="9034200" cy="486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Decuplare</a:t>
            </a:r>
            <a:r>
              <a:rPr lang="en-US" sz="2400" b="1" i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in </a:t>
            </a:r>
            <a:r>
              <a:rPr lang="en-US" sz="2400" b="1" i="1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privinţa</a:t>
            </a:r>
            <a:r>
              <a:rPr lang="en-US" sz="2400" b="1" i="1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tipurilor</a:t>
            </a:r>
            <a:endParaRPr lang="en-US"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b="1" kern="0" dirty="0">
              <a:solidFill>
                <a:srgbClr val="FF0000"/>
              </a:solidFill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kern="0" dirty="0" err="1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Upcasting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-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Tipul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poate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lua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locul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tipului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baz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foarte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important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pentru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procesarea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multor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tipuri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prin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acela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ş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cod).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 ne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las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s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chem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pentru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tipul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derivat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Problem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: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apel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la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prin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pointer (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tipul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pointerului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ne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apelat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).</a:t>
            </a:r>
            <a:endParaRPr sz="2400" kern="0">
              <a:highlight>
                <a:srgbClr val="FFFFFF"/>
              </a:highlight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  <p:sp>
        <p:nvSpPr>
          <p:cNvPr id="45062" name="Google Shape;586;p56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594;p5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7E83594-7B5F-4634-A17F-34D262A636C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26</a:t>
            </a:fld>
            <a:endParaRPr lang="en-US" sz="1800"/>
          </a:p>
        </p:txBody>
      </p:sp>
      <p:sp>
        <p:nvSpPr>
          <p:cNvPr id="46085" name="Google Shape;597;p57"/>
          <p:cNvSpPr txBox="1">
            <a:spLocks noChangeArrowheads="1"/>
          </p:cNvSpPr>
          <p:nvPr/>
        </p:nvSpPr>
        <p:spPr bwMode="auto">
          <a:xfrm>
            <a:off x="274638" y="1254125"/>
            <a:ext cx="9032875" cy="6210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enum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note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middleC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,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Csharp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,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Eflat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};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// Etc.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Instrument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note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 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Instrument::play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Wind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Instrument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solidFill>
                  <a:srgbClr val="E34ADC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// Redefine interface function: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note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 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Wind::play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tune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 err="1">
                <a:latin typeface="Times New Roman" pitchFamily="18" charset="0"/>
              </a:rPr>
              <a:t>i</a:t>
            </a:r>
            <a:r>
              <a:rPr lang="en-US" sz="2000" dirty="0" err="1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 dirty="0" err="1">
                <a:latin typeface="Times New Roman" pitchFamily="18" charset="0"/>
              </a:rPr>
              <a:t>play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 err="1">
                <a:latin typeface="Times New Roman" pitchFamily="18" charset="0"/>
              </a:rPr>
              <a:t>middleC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Wind flute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tune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flute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696969"/>
                </a:solidFill>
                <a:latin typeface="Times New Roman" pitchFamily="18" charset="0"/>
              </a:rPr>
              <a:t>// </a:t>
            </a:r>
            <a:r>
              <a:rPr lang="en-US" sz="2000" dirty="0" err="1">
                <a:solidFill>
                  <a:srgbClr val="696969"/>
                </a:solidFill>
                <a:latin typeface="Times New Roman" pitchFamily="18" charset="0"/>
              </a:rPr>
              <a:t>Upcasting</a:t>
            </a:r>
            <a:r>
              <a:rPr lang="en-US" sz="2000" dirty="0">
                <a:solidFill>
                  <a:srgbClr val="696969"/>
                </a:solidFill>
                <a:latin typeface="Times New Roman" pitchFamily="18" charset="0"/>
              </a:rPr>
              <a:t> ===&gt; se </a:t>
            </a:r>
            <a:r>
              <a:rPr lang="en-US" sz="2000" dirty="0" err="1">
                <a:solidFill>
                  <a:srgbClr val="696969"/>
                </a:solidFill>
                <a:latin typeface="Times New Roman" pitchFamily="18" charset="0"/>
              </a:rPr>
              <a:t>afiseaza</a:t>
            </a:r>
            <a:r>
              <a:rPr lang="en-US" sz="2000" dirty="0">
                <a:solidFill>
                  <a:srgbClr val="696969"/>
                </a:solidFill>
                <a:latin typeface="Times New Roman" pitchFamily="18" charset="0"/>
              </a:rPr>
              <a:t> Instrument::play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</p:txBody>
      </p:sp>
      <p:sp>
        <p:nvSpPr>
          <p:cNvPr id="46086" name="Google Shape;598;p57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Google Shape;606;p58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AEC1FA8-BBCC-450A-B369-231D9A12DC2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27</a:t>
            </a:fld>
            <a:endParaRPr lang="en-US" sz="1800"/>
          </a:p>
        </p:txBody>
      </p:sp>
      <p:sp>
        <p:nvSpPr>
          <p:cNvPr id="47109" name="Google Shape;609;p58"/>
          <p:cNvSpPr txBox="1">
            <a:spLocks noChangeArrowheads="1"/>
          </p:cNvSpPr>
          <p:nvPr/>
        </p:nvSpPr>
        <p:spPr bwMode="auto">
          <a:xfrm>
            <a:off x="274638" y="1254125"/>
            <a:ext cx="9032875" cy="6210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/>
              <a:t>In C ---&gt; early binding la apel de funcţii - se face la compilare.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/>
              <a:t>In C++ ---&gt; putem defini late binding prin funcţii virtuale (late, dynamic, runtime binding) - se face apel de funcţie bazat pe tipul obiectului, la rulare (nu se poate face la compilare).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Late binding ===&gt; prin pointeri!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Late binding pentru o funcţie: se scrie virtual inainte de definirea funcţiei.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Pentru clasa de baz</a:t>
            </a:r>
            <a:r>
              <a:rPr lang="vi-VN" sz="2000"/>
              <a:t>ă</a:t>
            </a:r>
            <a:r>
              <a:rPr lang="en-US" sz="2000"/>
              <a:t>: nu se schimb</a:t>
            </a:r>
            <a:r>
              <a:rPr lang="vi-VN" sz="2000"/>
              <a:t>ă</a:t>
            </a:r>
            <a:r>
              <a:rPr lang="en-US" sz="2000"/>
              <a:t> nimic!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/>
              <a:t>Pentru clasa derivat</a:t>
            </a:r>
            <a:r>
              <a:rPr lang="vi-VN" sz="2000"/>
              <a:t>ă</a:t>
            </a:r>
            <a:r>
              <a:rPr lang="en-US" sz="2000"/>
              <a:t>: late binding însemn</a:t>
            </a:r>
            <a:r>
              <a:rPr lang="vi-VN" sz="2000"/>
              <a:t>ă</a:t>
            </a:r>
            <a:r>
              <a:rPr lang="en-US" sz="2000"/>
              <a:t> c</a:t>
            </a:r>
            <a:r>
              <a:rPr lang="vi-VN" sz="2000"/>
              <a:t>ă</a:t>
            </a:r>
            <a:r>
              <a:rPr lang="en-US" sz="2000"/>
              <a:t> un obiect derivat folosit în locul obiectului de baz</a:t>
            </a:r>
            <a:r>
              <a:rPr lang="vi-VN" sz="2000"/>
              <a:t>ă</a:t>
            </a:r>
            <a:r>
              <a:rPr lang="en-US" sz="2000"/>
              <a:t> îşi va folosi funcţia sa, nu cea din baz</a:t>
            </a:r>
            <a:r>
              <a:rPr lang="vi-VN" sz="2000"/>
              <a:t>ă</a:t>
            </a:r>
            <a:r>
              <a:rPr lang="en-US" sz="2000"/>
              <a:t> (din cauz</a:t>
            </a:r>
            <a:r>
              <a:rPr lang="vi-VN" sz="2000"/>
              <a:t>ă</a:t>
            </a:r>
            <a:r>
              <a:rPr lang="en-US" sz="2000"/>
              <a:t> de late binding).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 b="1">
              <a:solidFill>
                <a:srgbClr val="FF0000"/>
              </a:solidFill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Utilitate: putem extinde codul precedent fara schimbari in codul deja scris.</a:t>
            </a:r>
            <a:endParaRPr lang="en-US" sz="2400" b="1">
              <a:solidFill>
                <a:srgbClr val="FF0000"/>
              </a:solidFill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47110" name="Google Shape;610;p58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Google Shape;594;p5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E2DA89F-19E3-4E30-BA3F-1E0AB82D648C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28</a:t>
            </a:fld>
            <a:endParaRPr lang="en-US" sz="1800"/>
          </a:p>
        </p:txBody>
      </p:sp>
      <p:sp>
        <p:nvSpPr>
          <p:cNvPr id="48133" name="Google Shape;598;p57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dirty="0"/>
              <a:t>2. </a:t>
            </a:r>
            <a:r>
              <a:rPr lang="en-US" sz="2000" b="1" dirty="0" err="1"/>
              <a:t>Polimorfismul</a:t>
            </a:r>
            <a:r>
              <a:rPr lang="en-US" sz="2000" b="1" dirty="0"/>
              <a:t> la </a:t>
            </a:r>
            <a:r>
              <a:rPr lang="en-US" sz="2000" b="1" dirty="0" err="1"/>
              <a:t>execuţie</a:t>
            </a:r>
            <a:r>
              <a:rPr lang="en-US" sz="2000" b="1" dirty="0"/>
              <a:t> </a:t>
            </a:r>
            <a:r>
              <a:rPr lang="en-US" sz="2000" b="1" dirty="0" err="1"/>
              <a:t>prin</a:t>
            </a:r>
            <a:r>
              <a:rPr lang="en-US" sz="2000" b="1" dirty="0"/>
              <a:t> </a:t>
            </a:r>
            <a:r>
              <a:rPr lang="en-US" sz="2000" b="1" dirty="0" err="1"/>
              <a:t>funcţii</a:t>
            </a:r>
            <a:r>
              <a:rPr lang="en-US" sz="2000" b="1" dirty="0"/>
              <a:t> </a:t>
            </a:r>
            <a:r>
              <a:rPr lang="en-US" sz="2000" b="1" dirty="0" err="1"/>
              <a:t>virtuale</a:t>
            </a:r>
            <a:endParaRPr lang="en-US" sz="2000" b="1" dirty="0"/>
          </a:p>
        </p:txBody>
      </p:sp>
      <p:grpSp>
        <p:nvGrpSpPr>
          <p:cNvPr id="48134" name="Group 7"/>
          <p:cNvGrpSpPr>
            <a:grpSpLocks/>
          </p:cNvGrpSpPr>
          <p:nvPr/>
        </p:nvGrpSpPr>
        <p:grpSpPr bwMode="auto">
          <a:xfrm>
            <a:off x="274638" y="1254125"/>
            <a:ext cx="9032875" cy="6210300"/>
            <a:chOff x="273925" y="1253350"/>
            <a:chExt cx="9034200" cy="6210300"/>
          </a:xfrm>
        </p:grpSpPr>
        <p:sp>
          <p:nvSpPr>
            <p:cNvPr id="48135" name="Google Shape;597;p57"/>
            <p:cNvSpPr txBox="1">
              <a:spLocks noChangeArrowheads="1"/>
            </p:cNvSpPr>
            <p:nvPr/>
          </p:nvSpPr>
          <p:spPr bwMode="auto">
            <a:xfrm>
              <a:off x="273925" y="1253350"/>
              <a:ext cx="9034200" cy="6210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91425" tIns="91425" rIns="91425" bIns="91425"/>
            <a:lstStyle/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 err="1">
                  <a:solidFill>
                    <a:srgbClr val="800000"/>
                  </a:solidFill>
                  <a:latin typeface="Times New Roman" pitchFamily="18" charset="0"/>
                </a:rPr>
                <a:t>enum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note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</a:rPr>
                <a:t>middleC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,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</a:rPr>
                <a:t>Csharp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,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</a:rPr>
                <a:t>Eflat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696969"/>
                  </a:solidFill>
                  <a:latin typeface="Times New Roman" pitchFamily="18" charset="0"/>
                </a:rPr>
                <a:t>// Etc.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Instrument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 dirty="0">
                  <a:latin typeface="Times New Roman" pitchFamily="18" charset="0"/>
                </a:rPr>
                <a:t> 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virtual void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play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dirty="0">
                  <a:latin typeface="Times New Roman" pitchFamily="18" charset="0"/>
                </a:rPr>
                <a:t>note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  </a:t>
              </a:r>
              <a:r>
                <a:rPr lang="en-US" sz="2000" dirty="0" err="1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 dirty="0">
                  <a:solidFill>
                    <a:srgbClr val="0000E6"/>
                  </a:solidFill>
                  <a:latin typeface="Times New Roman" pitchFamily="18" charset="0"/>
                </a:rPr>
                <a:t>Instrument::play</a:t>
              </a:r>
              <a:r>
                <a:rPr lang="en-US" sz="2000" dirty="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 err="1">
                  <a:solidFill>
                    <a:srgbClr val="603000"/>
                  </a:solidFill>
                  <a:latin typeface="Times New Roman" pitchFamily="18" charset="0"/>
                </a:rPr>
                <a:t>endl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Wind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Instrument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 dirty="0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r>
                <a:rPr lang="en-US" sz="2000" b="1" dirty="0">
                  <a:latin typeface="Times New Roman" pitchFamily="18" charset="0"/>
                </a:rPr>
                <a:t>  </a:t>
              </a:r>
              <a:r>
                <a:rPr lang="en-US" sz="2000" b="1" dirty="0">
                  <a:solidFill>
                    <a:srgbClr val="696969"/>
                  </a:solidFill>
                  <a:latin typeface="Times New Roman" pitchFamily="18" charset="0"/>
                </a:rPr>
                <a:t>// Redefine interface </a:t>
              </a:r>
              <a:r>
                <a:rPr lang="en-US" sz="2000" b="1" dirty="0" err="1">
                  <a:solidFill>
                    <a:srgbClr val="696969"/>
                  </a:solidFill>
                  <a:latin typeface="Times New Roman" pitchFamily="18" charset="0"/>
                </a:rPr>
                <a:t>funcţion</a:t>
              </a:r>
              <a:r>
                <a:rPr lang="en-US" sz="2000" b="1" dirty="0">
                  <a:solidFill>
                    <a:srgbClr val="696969"/>
                  </a:solidFill>
                  <a:latin typeface="Times New Roman" pitchFamily="18" charset="0"/>
                </a:rPr>
                <a:t>: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play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dirty="0">
                  <a:latin typeface="Times New Roman" pitchFamily="18" charset="0"/>
                </a:rPr>
                <a:t>note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const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  </a:t>
              </a:r>
              <a:r>
                <a:rPr lang="en-US" sz="2000" dirty="0" err="1">
                  <a:solidFill>
                    <a:srgbClr val="603000"/>
                  </a:solidFill>
                  <a:latin typeface="Times New Roman" pitchFamily="18" charset="0"/>
                </a:rPr>
                <a:t>cout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 dirty="0">
                  <a:solidFill>
                    <a:srgbClr val="0000E6"/>
                  </a:solidFill>
                  <a:latin typeface="Times New Roman" pitchFamily="18" charset="0"/>
                </a:rPr>
                <a:t>Wind::play</a:t>
              </a:r>
              <a:r>
                <a:rPr lang="en-US" sz="2000" dirty="0">
                  <a:solidFill>
                    <a:srgbClr val="800000"/>
                  </a:solidFill>
                  <a:latin typeface="Times New Roman" pitchFamily="18" charset="0"/>
                </a:rPr>
                <a:t>"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&lt;&lt;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 err="1">
                  <a:solidFill>
                    <a:srgbClr val="603000"/>
                  </a:solidFill>
                  <a:latin typeface="Times New Roman" pitchFamily="18" charset="0"/>
                </a:rPr>
                <a:t>endl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void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tune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dirty="0">
                  <a:latin typeface="Times New Roman" pitchFamily="18" charset="0"/>
                </a:rPr>
                <a:t>Instrument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&amp;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</a:rPr>
                <a:t>i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dirty="0" err="1">
                  <a:latin typeface="Times New Roman" pitchFamily="18" charset="0"/>
                </a:rPr>
                <a:t>i</a:t>
              </a:r>
              <a:r>
                <a:rPr lang="en-US" sz="2000" dirty="0" err="1">
                  <a:solidFill>
                    <a:srgbClr val="808030"/>
                  </a:solidFill>
                  <a:latin typeface="Times New Roman" pitchFamily="18" charset="0"/>
                </a:rPr>
                <a:t>.</a:t>
              </a:r>
              <a:r>
                <a:rPr lang="en-US" sz="2000" dirty="0" err="1">
                  <a:latin typeface="Times New Roman" pitchFamily="18" charset="0"/>
                </a:rPr>
                <a:t>play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dirty="0" err="1">
                  <a:latin typeface="Times New Roman" pitchFamily="18" charset="0"/>
                </a:rPr>
                <a:t>middleC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b="1" dirty="0" err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400000"/>
                  </a:solidFill>
                  <a:latin typeface="Times New Roman" pitchFamily="18" charset="0"/>
                </a:rPr>
                <a:t>main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Wind flute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latin typeface="Times New Roman" pitchFamily="18" charset="0"/>
                </a:rPr>
                <a:t>  tune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(</a:t>
              </a:r>
              <a:r>
                <a:rPr lang="en-US" sz="2000" dirty="0">
                  <a:latin typeface="Times New Roman" pitchFamily="18" charset="0"/>
                </a:rPr>
                <a:t>flute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)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696969"/>
                  </a:solidFill>
                  <a:latin typeface="Times New Roman" pitchFamily="18" charset="0"/>
                </a:rPr>
                <a:t>// se </a:t>
              </a:r>
              <a:r>
                <a:rPr lang="en-US" sz="2000" dirty="0" err="1">
                  <a:solidFill>
                    <a:srgbClr val="696969"/>
                  </a:solidFill>
                  <a:latin typeface="Times New Roman" pitchFamily="18" charset="0"/>
                </a:rPr>
                <a:t>afiseaza</a:t>
              </a:r>
              <a:r>
                <a:rPr lang="en-US" sz="2000" dirty="0">
                  <a:solidFill>
                    <a:srgbClr val="696969"/>
                  </a:solidFill>
                  <a:latin typeface="Times New Roman" pitchFamily="18" charset="0"/>
                </a:rPr>
                <a:t> Wind::play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</a:pPr>
              <a:endParaRPr lang="en-US" sz="2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91417" y="2255063"/>
              <a:ext cx="914534" cy="304800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468312" y="1189037"/>
            <a:ext cx="4278312" cy="65035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00794" tIns="50397" rIns="100794" bIns="50397">
            <a:spAutoFit/>
          </a:bodyPr>
          <a:lstStyle/>
          <a:p>
            <a:pPr marL="377979" indent="-377979"/>
            <a:r>
              <a:rPr lang="en-US" altLang="en-US" sz="1600" dirty="0"/>
              <a:t>#include &lt;</a:t>
            </a:r>
            <a:r>
              <a:rPr lang="en-US" altLang="en-US" sz="1600" dirty="0" err="1"/>
              <a:t>iostream</a:t>
            </a:r>
            <a:r>
              <a:rPr lang="en-US" altLang="en-US" sz="1600" dirty="0"/>
              <a:t>&gt;</a:t>
            </a:r>
          </a:p>
          <a:p>
            <a:pPr marL="377979" indent="-377979"/>
            <a:r>
              <a:rPr lang="en-US" altLang="en-US" sz="1600" dirty="0"/>
              <a:t>using namespace std;</a:t>
            </a:r>
          </a:p>
          <a:p>
            <a:pPr marL="377979" indent="-377979"/>
            <a:r>
              <a:rPr lang="en-US" altLang="en-US" sz="1600" dirty="0" err="1"/>
              <a:t>enum</a:t>
            </a:r>
            <a:r>
              <a:rPr lang="en-US" altLang="en-US" sz="1600" dirty="0"/>
              <a:t> note { </a:t>
            </a:r>
            <a:r>
              <a:rPr lang="en-US" altLang="en-US" sz="1600" dirty="0" err="1"/>
              <a:t>middleC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Csharp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Eflat</a:t>
            </a:r>
            <a:r>
              <a:rPr lang="en-US" altLang="en-US" sz="1600" dirty="0"/>
              <a:t> }; // Etc.</a:t>
            </a:r>
          </a:p>
          <a:p>
            <a:pPr marL="377979" indent="-377979"/>
            <a:endParaRPr lang="en-US" altLang="en-US" sz="1600" dirty="0"/>
          </a:p>
          <a:p>
            <a:pPr marL="377979" indent="-377979"/>
            <a:r>
              <a:rPr lang="en-US" altLang="en-US" sz="1600" dirty="0"/>
              <a:t>class Instrument {</a:t>
            </a:r>
          </a:p>
          <a:p>
            <a:pPr marL="377979" indent="-377979"/>
            <a:r>
              <a:rPr lang="en-US" altLang="en-US" sz="1600" dirty="0"/>
              <a:t>public:</a:t>
            </a:r>
          </a:p>
          <a:p>
            <a:pPr marL="377979" indent="-377979"/>
            <a:r>
              <a:rPr lang="en-US" altLang="en-US" sz="1600" dirty="0"/>
              <a:t>  </a:t>
            </a:r>
            <a:r>
              <a:rPr lang="en-US" altLang="en-US" sz="1600" dirty="0">
                <a:solidFill>
                  <a:srgbClr val="FF0000"/>
                </a:solidFill>
              </a:rPr>
              <a:t>virtual</a:t>
            </a:r>
            <a:r>
              <a:rPr lang="en-US" altLang="en-US" sz="1600" dirty="0"/>
              <a:t> void play(note) const {</a:t>
            </a:r>
          </a:p>
          <a:p>
            <a:pPr marL="377979" indent="-377979"/>
            <a:r>
              <a:rPr lang="en-US" altLang="en-US" sz="1600" dirty="0"/>
              <a:t>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"Instrument::play"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</a:t>
            </a:r>
          </a:p>
          <a:p>
            <a:pPr marL="377979" indent="-377979"/>
            <a:r>
              <a:rPr lang="en-US" altLang="en-US" sz="1600" dirty="0"/>
              <a:t>  }</a:t>
            </a:r>
          </a:p>
          <a:p>
            <a:pPr marL="377979" indent="-377979"/>
            <a:r>
              <a:rPr lang="en-US" altLang="en-US" sz="1600" dirty="0"/>
              <a:t>};</a:t>
            </a:r>
          </a:p>
          <a:p>
            <a:pPr marL="377979" indent="-377979"/>
            <a:endParaRPr lang="en-US" altLang="en-US" sz="1600" dirty="0"/>
          </a:p>
          <a:p>
            <a:pPr marL="377979" indent="-377979"/>
            <a:r>
              <a:rPr lang="en-US" altLang="en-US" sz="1600" dirty="0"/>
              <a:t>// Wind objects are Instruments</a:t>
            </a:r>
          </a:p>
          <a:p>
            <a:pPr marL="377979" indent="-377979"/>
            <a:r>
              <a:rPr lang="en-US" altLang="en-US" sz="1600" dirty="0"/>
              <a:t>// because they have the same interface:</a:t>
            </a:r>
          </a:p>
          <a:p>
            <a:pPr marL="377979" indent="-377979"/>
            <a:r>
              <a:rPr lang="en-US" altLang="en-US" sz="1600" dirty="0"/>
              <a:t>class Wind : public Instrument {</a:t>
            </a:r>
          </a:p>
          <a:p>
            <a:pPr marL="377979" indent="-377979"/>
            <a:r>
              <a:rPr lang="en-US" altLang="en-US" sz="1600" dirty="0"/>
              <a:t>public:</a:t>
            </a:r>
          </a:p>
          <a:p>
            <a:pPr marL="377979" indent="-377979"/>
            <a:r>
              <a:rPr lang="en-US" altLang="en-US" sz="1600" dirty="0"/>
              <a:t>  // Override interface function:</a:t>
            </a:r>
          </a:p>
          <a:p>
            <a:pPr marL="377979" indent="-377979"/>
            <a:r>
              <a:rPr lang="en-US" altLang="en-US" sz="1600" dirty="0"/>
              <a:t>  void play(note) const {</a:t>
            </a:r>
          </a:p>
          <a:p>
            <a:pPr marL="377979" indent="-377979"/>
            <a:r>
              <a:rPr lang="en-US" altLang="en-US" sz="1600" dirty="0"/>
              <a:t>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"Wind::play"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</a:t>
            </a:r>
          </a:p>
          <a:p>
            <a:pPr marL="377979" indent="-377979"/>
            <a:r>
              <a:rPr lang="en-US" altLang="en-US" sz="1600" dirty="0"/>
              <a:t>  }</a:t>
            </a:r>
          </a:p>
          <a:p>
            <a:pPr marL="377979" indent="-377979"/>
            <a:r>
              <a:rPr lang="en-US" altLang="en-US" sz="1600" dirty="0"/>
              <a:t>};</a:t>
            </a:r>
          </a:p>
          <a:p>
            <a:pPr marL="377979" indent="-377979"/>
            <a:endParaRPr lang="en-US" altLang="en-US" sz="1600" dirty="0"/>
          </a:p>
          <a:p>
            <a:pPr marL="377979" indent="-377979"/>
            <a:r>
              <a:rPr lang="en-US" altLang="en-US" sz="1600" dirty="0"/>
              <a:t>void tune(Instrument&amp; </a:t>
            </a:r>
            <a:r>
              <a:rPr lang="en-US" altLang="en-US" sz="1600" dirty="0" err="1"/>
              <a:t>i</a:t>
            </a:r>
            <a:r>
              <a:rPr lang="en-US" altLang="en-US" sz="1600" dirty="0"/>
              <a:t>) {</a:t>
            </a:r>
          </a:p>
          <a:p>
            <a:pPr marL="377979" indent="-377979"/>
            <a:r>
              <a:rPr lang="en-US" altLang="en-US" sz="1600" dirty="0"/>
              <a:t>  // ...</a:t>
            </a:r>
          </a:p>
          <a:p>
            <a:pPr marL="377979" indent="-377979"/>
            <a:r>
              <a:rPr lang="en-US" altLang="en-US" sz="1600" dirty="0"/>
              <a:t>  </a:t>
            </a:r>
            <a:r>
              <a:rPr lang="en-US" altLang="en-US" sz="1600" dirty="0" err="1"/>
              <a:t>i.play</a:t>
            </a:r>
            <a:r>
              <a:rPr lang="en-US" altLang="en-US" sz="1600" dirty="0"/>
              <a:t>(</a:t>
            </a:r>
            <a:r>
              <a:rPr lang="en-US" altLang="en-US" sz="1600" dirty="0" err="1"/>
              <a:t>middleC</a:t>
            </a:r>
            <a:r>
              <a:rPr lang="en-US" altLang="en-US" sz="1600" dirty="0"/>
              <a:t>);</a:t>
            </a:r>
          </a:p>
          <a:p>
            <a:pPr marL="377979" indent="-377979"/>
            <a:r>
              <a:rPr lang="en-US" altLang="en-US" sz="1600" dirty="0"/>
              <a:t>}</a:t>
            </a:r>
          </a:p>
          <a:p>
            <a:pPr marL="377979" indent="-377979"/>
            <a:endParaRPr lang="en-US" altLang="en-US" sz="1600" dirty="0"/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5040312" y="1010106"/>
            <a:ext cx="5040313" cy="6011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pPr marL="377979" indent="-377979"/>
            <a:r>
              <a:rPr lang="en-US" altLang="en-US" sz="1600" dirty="0"/>
              <a:t>class Percussion : public Instrument { </a:t>
            </a:r>
          </a:p>
          <a:p>
            <a:pPr marL="377979" indent="-377979"/>
            <a:r>
              <a:rPr lang="en-US" altLang="en-US" sz="1600" dirty="0"/>
              <a:t>public: </a:t>
            </a:r>
          </a:p>
          <a:p>
            <a:pPr marL="377979" indent="-377979"/>
            <a:r>
              <a:rPr lang="en-US" altLang="en-US" sz="1600" dirty="0"/>
              <a:t>    void play(note) const {</a:t>
            </a:r>
          </a:p>
          <a:p>
            <a:pPr marL="377979" indent="-377979"/>
            <a:r>
              <a:rPr lang="en-US" altLang="en-US" sz="1600" dirty="0"/>
              <a:t>    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"Percussion::play"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 } }; </a:t>
            </a:r>
          </a:p>
          <a:p>
            <a:pPr marL="377979" indent="-377979"/>
            <a:r>
              <a:rPr lang="en-US" altLang="en-US" sz="1600" dirty="0"/>
              <a:t>class Stringed : public Instrument { </a:t>
            </a:r>
          </a:p>
          <a:p>
            <a:pPr marL="377979" indent="-377979"/>
            <a:r>
              <a:rPr lang="en-US" altLang="en-US" sz="1600" dirty="0"/>
              <a:t>public: </a:t>
            </a:r>
          </a:p>
          <a:p>
            <a:pPr marL="377979" indent="-377979"/>
            <a:r>
              <a:rPr lang="en-US" altLang="en-US" sz="1600" dirty="0"/>
              <a:t>     void play(note) const { </a:t>
            </a:r>
          </a:p>
          <a:p>
            <a:pPr marL="377979" indent="-377979"/>
            <a:r>
              <a:rPr lang="en-US" altLang="en-US" sz="1600" dirty="0"/>
              <a:t>     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"Stringed::play"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 } }; </a:t>
            </a:r>
          </a:p>
          <a:p>
            <a:pPr marL="377979" indent="-377979"/>
            <a:r>
              <a:rPr lang="en-US" altLang="en-US" sz="1600" dirty="0"/>
              <a:t>class Brass : public Wind { </a:t>
            </a:r>
          </a:p>
          <a:p>
            <a:pPr marL="377979" indent="-377979"/>
            <a:r>
              <a:rPr lang="en-US" altLang="en-US" sz="1600" dirty="0"/>
              <a:t>public: </a:t>
            </a:r>
          </a:p>
          <a:p>
            <a:pPr marL="377979" indent="-377979"/>
            <a:r>
              <a:rPr lang="en-US" altLang="en-US" sz="1600" dirty="0"/>
              <a:t>      void play(note) const { </a:t>
            </a:r>
          </a:p>
          <a:p>
            <a:pPr marL="377979" indent="-377979"/>
            <a:r>
              <a:rPr lang="en-US" altLang="en-US" sz="1600" dirty="0"/>
              <a:t>       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"Brass::play"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 }}; </a:t>
            </a:r>
          </a:p>
          <a:p>
            <a:pPr marL="377979" indent="-377979"/>
            <a:r>
              <a:rPr lang="en-US" altLang="en-US" sz="1600" dirty="0"/>
              <a:t>class Woodwind : public Wind { </a:t>
            </a:r>
          </a:p>
          <a:p>
            <a:pPr marL="377979" indent="-377979"/>
            <a:r>
              <a:rPr lang="en-US" altLang="en-US" sz="1600" dirty="0"/>
              <a:t>public: </a:t>
            </a:r>
          </a:p>
          <a:p>
            <a:pPr marL="377979" indent="-377979"/>
            <a:r>
              <a:rPr lang="en-US" altLang="en-US" sz="1600" dirty="0"/>
              <a:t>       void play(note) const { </a:t>
            </a:r>
          </a:p>
          <a:p>
            <a:pPr marL="377979" indent="-377979"/>
            <a:r>
              <a:rPr lang="en-US" altLang="en-US" sz="1600" dirty="0"/>
              <a:t>          </a:t>
            </a:r>
            <a:r>
              <a:rPr lang="en-US" altLang="en-US" sz="1600" dirty="0" err="1"/>
              <a:t>cout</a:t>
            </a:r>
            <a:r>
              <a:rPr lang="en-US" altLang="en-US" sz="1600" dirty="0"/>
              <a:t> &lt;&lt; "Woodwind::play" &lt;&lt; </a:t>
            </a:r>
            <a:r>
              <a:rPr lang="en-US" altLang="en-US" sz="1600" dirty="0" err="1"/>
              <a:t>endl</a:t>
            </a:r>
            <a:r>
              <a:rPr lang="en-US" altLang="en-US" sz="1600" dirty="0"/>
              <a:t>; } };</a:t>
            </a:r>
          </a:p>
          <a:p>
            <a:pPr marL="377979" indent="-377979"/>
            <a:r>
              <a:rPr lang="en-US" altLang="en-US" sz="1600" dirty="0" err="1"/>
              <a:t>int</a:t>
            </a:r>
            <a:r>
              <a:rPr lang="en-US" altLang="en-US" sz="1600" dirty="0"/>
              <a:t> main() {</a:t>
            </a:r>
          </a:p>
          <a:p>
            <a:pPr marL="377979" indent="-377979"/>
            <a:r>
              <a:rPr lang="en-US" altLang="en-US" sz="1600" dirty="0"/>
              <a:t>   Wind flute; </a:t>
            </a:r>
          </a:p>
          <a:p>
            <a:pPr marL="377979" indent="-377979"/>
            <a:r>
              <a:rPr lang="en-US" altLang="en-US" sz="1600" dirty="0"/>
              <a:t>   Percussion drum; </a:t>
            </a:r>
          </a:p>
          <a:p>
            <a:pPr marL="377979" indent="-377979"/>
            <a:r>
              <a:rPr lang="en-US" altLang="en-US" sz="1600" dirty="0"/>
              <a:t>   Stringed violin; </a:t>
            </a:r>
          </a:p>
          <a:p>
            <a:pPr marL="377979" indent="-377979"/>
            <a:r>
              <a:rPr lang="en-US" altLang="en-US" sz="1600" dirty="0"/>
              <a:t>   Brass flugelhorn; </a:t>
            </a:r>
          </a:p>
          <a:p>
            <a:pPr marL="377979" indent="-377979"/>
            <a:r>
              <a:rPr lang="en-US" altLang="en-US" sz="1600" dirty="0"/>
              <a:t>   Woodwind recorder;</a:t>
            </a:r>
          </a:p>
          <a:p>
            <a:pPr marL="377979" indent="-377979"/>
            <a:r>
              <a:rPr lang="en-US" altLang="en-US" sz="1600" dirty="0"/>
              <a:t>  tune(flute); tune(</a:t>
            </a:r>
            <a:r>
              <a:rPr lang="en-US" altLang="en-US" sz="1600" dirty="0" err="1"/>
              <a:t>flugehorn</a:t>
            </a:r>
            <a:r>
              <a:rPr lang="en-US" altLang="en-US" sz="1600" dirty="0"/>
              <a:t>); tune(violin); </a:t>
            </a:r>
          </a:p>
          <a:p>
            <a:pPr marL="377979" indent="-377979"/>
            <a:r>
              <a:rPr lang="en-US" altLang="en-US" sz="1600" dirty="0"/>
              <a:t>}</a:t>
            </a:r>
          </a:p>
        </p:txBody>
      </p:sp>
      <p:sp>
        <p:nvSpPr>
          <p:cNvPr id="5" name="Google Shape;598;p57"/>
          <p:cNvSpPr>
            <a:spLocks noChangeArrowheads="1"/>
          </p:cNvSpPr>
          <p:nvPr/>
        </p:nvSpPr>
        <p:spPr bwMode="auto">
          <a:xfrm>
            <a:off x="2322513" y="744537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 dirty="0"/>
              <a:t>2. </a:t>
            </a:r>
            <a:r>
              <a:rPr lang="en-US" sz="2000" b="1" dirty="0" err="1"/>
              <a:t>Polimorfismul</a:t>
            </a:r>
            <a:r>
              <a:rPr lang="en-US" sz="2000" b="1" dirty="0"/>
              <a:t> la </a:t>
            </a:r>
            <a:r>
              <a:rPr lang="en-US" sz="2000" b="1" dirty="0" err="1"/>
              <a:t>execuţie</a:t>
            </a:r>
            <a:r>
              <a:rPr lang="en-US" sz="2000" b="1" dirty="0"/>
              <a:t> </a:t>
            </a:r>
            <a:r>
              <a:rPr lang="en-US" sz="2000" b="1" dirty="0" err="1"/>
              <a:t>prin</a:t>
            </a:r>
            <a:r>
              <a:rPr lang="en-US" sz="2000" b="1" dirty="0"/>
              <a:t> </a:t>
            </a:r>
            <a:r>
              <a:rPr lang="en-US" sz="2000" b="1" dirty="0" err="1"/>
              <a:t>funcţii</a:t>
            </a:r>
            <a:r>
              <a:rPr lang="en-US" sz="2000" b="1" dirty="0"/>
              <a:t> </a:t>
            </a:r>
            <a:r>
              <a:rPr lang="en-US" sz="2000" b="1" dirty="0" err="1"/>
              <a:t>virtuale</a:t>
            </a:r>
            <a:endParaRPr lang="en-US" sz="20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642;p61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EEC218A-D5A3-458D-AA7A-2DF5B46AF5E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30</a:t>
            </a:fld>
            <a:endParaRPr lang="en-US" sz="1800"/>
          </a:p>
        </p:txBody>
      </p:sp>
      <p:sp>
        <p:nvSpPr>
          <p:cNvPr id="49157" name="Google Shape;645;p61"/>
          <p:cNvSpPr txBox="1">
            <a:spLocks noChangeArrowheads="1"/>
          </p:cNvSpPr>
          <p:nvPr/>
        </p:nvSpPr>
        <p:spPr bwMode="auto">
          <a:xfrm>
            <a:off x="274638" y="1254125"/>
            <a:ext cx="9032875" cy="46593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Cum se face late binding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 err="1"/>
              <a:t>Tipul</a:t>
            </a:r>
            <a:r>
              <a:rPr lang="en-US" sz="2000" dirty="0"/>
              <a:t> </a:t>
            </a:r>
            <a:r>
              <a:rPr lang="en-US" sz="2000" dirty="0" err="1"/>
              <a:t>obiectului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ţinut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clasele</a:t>
            </a:r>
            <a:r>
              <a:rPr lang="en-US" sz="2000" dirty="0"/>
              <a:t> cu </a:t>
            </a:r>
            <a:r>
              <a:rPr lang="en-US" sz="2000" dirty="0" err="1"/>
              <a:t>funcţii</a:t>
            </a:r>
            <a:r>
              <a:rPr lang="en-US" sz="2000" dirty="0"/>
              <a:t> </a:t>
            </a:r>
            <a:r>
              <a:rPr lang="en-US" sz="2000" dirty="0" err="1"/>
              <a:t>virtuale</a:t>
            </a:r>
            <a:r>
              <a:rPr lang="en-US" sz="2000" dirty="0"/>
              <a:t>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/>
              <a:t>Late binding se face (</a:t>
            </a:r>
            <a:r>
              <a:rPr lang="en-US" sz="2000" dirty="0" err="1"/>
              <a:t>uzual</a:t>
            </a:r>
            <a:r>
              <a:rPr lang="en-US" sz="2000" dirty="0"/>
              <a:t>) cu o </a:t>
            </a:r>
            <a:r>
              <a:rPr lang="en-US" sz="2000" dirty="0" err="1"/>
              <a:t>tabel</a:t>
            </a:r>
            <a:r>
              <a:rPr lang="vi-VN" sz="2000" dirty="0"/>
              <a:t>ă</a:t>
            </a:r>
            <a:r>
              <a:rPr lang="en-US" sz="2000" dirty="0"/>
              <a:t> de </a:t>
            </a:r>
            <a:r>
              <a:rPr lang="en-US" sz="2000" dirty="0" err="1"/>
              <a:t>pointeri</a:t>
            </a:r>
            <a:r>
              <a:rPr lang="en-US" sz="2000" dirty="0"/>
              <a:t>: </a:t>
            </a:r>
            <a:r>
              <a:rPr lang="en-US" sz="2000" dirty="0" err="1"/>
              <a:t>vptr</a:t>
            </a:r>
            <a:r>
              <a:rPr lang="en-US" sz="2000" dirty="0"/>
              <a:t> c</a:t>
            </a:r>
            <a:r>
              <a:rPr lang="vi-VN" sz="2000" dirty="0"/>
              <a:t>ă</a:t>
            </a:r>
            <a:r>
              <a:rPr lang="en-US" sz="2000" dirty="0" err="1"/>
              <a:t>tre</a:t>
            </a:r>
            <a:r>
              <a:rPr lang="en-US" sz="2000" dirty="0"/>
              <a:t> </a:t>
            </a:r>
            <a:r>
              <a:rPr lang="en-US" sz="2000" dirty="0" err="1"/>
              <a:t>funcţii</a:t>
            </a:r>
            <a:r>
              <a:rPr lang="en-US" sz="2000" dirty="0"/>
              <a:t>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adresele</a:t>
            </a:r>
            <a:r>
              <a:rPr lang="en-US" sz="2000" dirty="0"/>
              <a:t> </a:t>
            </a:r>
            <a:r>
              <a:rPr lang="en-US" sz="2000" dirty="0" err="1"/>
              <a:t>funcţiilor</a:t>
            </a:r>
            <a:r>
              <a:rPr lang="en-US" sz="2000" dirty="0"/>
              <a:t> </a:t>
            </a:r>
            <a:r>
              <a:rPr lang="en-US" sz="2000" dirty="0" err="1"/>
              <a:t>clasei</a:t>
            </a:r>
            <a:r>
              <a:rPr lang="en-US" sz="2000" dirty="0"/>
              <a:t> respective (</a:t>
            </a:r>
            <a:r>
              <a:rPr lang="en-US" sz="2000" dirty="0" err="1"/>
              <a:t>funcţiile</a:t>
            </a:r>
            <a:r>
              <a:rPr lang="en-US" sz="2000" dirty="0"/>
              <a:t> </a:t>
            </a:r>
            <a:r>
              <a:rPr lang="en-US" sz="2000" dirty="0" err="1"/>
              <a:t>virtuale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din </a:t>
            </a:r>
            <a:r>
              <a:rPr lang="en-US" sz="2000" dirty="0" err="1"/>
              <a:t>clasa</a:t>
            </a:r>
            <a:r>
              <a:rPr lang="en-US" sz="2000" dirty="0"/>
              <a:t>, </a:t>
            </a:r>
            <a:r>
              <a:rPr lang="en-US" sz="2000" dirty="0" err="1"/>
              <a:t>celelalte</a:t>
            </a:r>
            <a:r>
              <a:rPr lang="en-US" sz="2000" dirty="0"/>
              <a:t> pot </a:t>
            </a:r>
            <a:r>
              <a:rPr lang="en-US" sz="2000" dirty="0" err="1"/>
              <a:t>fi</a:t>
            </a:r>
            <a:r>
              <a:rPr lang="en-US" sz="2000" dirty="0"/>
              <a:t> mo</a:t>
            </a:r>
            <a:r>
              <a:rPr lang="vi-VN" sz="2000" dirty="0"/>
              <a:t>ş</a:t>
            </a:r>
            <a:r>
              <a:rPr lang="en-US" sz="2000" dirty="0" err="1"/>
              <a:t>tenite</a:t>
            </a:r>
            <a:r>
              <a:rPr lang="en-US" sz="2000" dirty="0"/>
              <a:t>, etc.).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obiect</a:t>
            </a:r>
            <a:r>
              <a:rPr lang="en-US" sz="2000" dirty="0"/>
              <a:t> din </a:t>
            </a:r>
            <a:r>
              <a:rPr lang="en-US" sz="2000" dirty="0" err="1"/>
              <a:t>clas</a:t>
            </a:r>
            <a:r>
              <a:rPr lang="vi-VN" sz="2000" dirty="0"/>
              <a:t>ă</a:t>
            </a:r>
            <a:r>
              <a:rPr lang="en-US" sz="2000" dirty="0"/>
              <a:t> are </a:t>
            </a:r>
            <a:r>
              <a:rPr lang="en-US" sz="2000" dirty="0" err="1"/>
              <a:t>pointerul</a:t>
            </a:r>
            <a:r>
              <a:rPr lang="en-US" sz="2000" dirty="0"/>
              <a:t> </a:t>
            </a:r>
            <a:r>
              <a:rPr lang="en-US" sz="2000" dirty="0" err="1"/>
              <a:t>acesta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componenţ</a:t>
            </a:r>
            <a:r>
              <a:rPr lang="vi-VN" sz="2000" dirty="0"/>
              <a:t>ă</a:t>
            </a:r>
            <a:r>
              <a:rPr lang="en-US" sz="2000" dirty="0"/>
              <a:t>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/>
              <a:t>La </a:t>
            </a:r>
            <a:r>
              <a:rPr lang="en-US" sz="2000" dirty="0" err="1"/>
              <a:t>apel</a:t>
            </a:r>
            <a:r>
              <a:rPr lang="en-US" sz="2000" dirty="0"/>
              <a:t> de </a:t>
            </a:r>
            <a:r>
              <a:rPr lang="en-US" sz="2000" dirty="0" err="1"/>
              <a:t>funcţie</a:t>
            </a:r>
            <a:r>
              <a:rPr lang="en-US" sz="2000" dirty="0"/>
              <a:t> </a:t>
            </a:r>
            <a:r>
              <a:rPr lang="en-US" sz="2000" dirty="0" err="1"/>
              <a:t>membru</a:t>
            </a:r>
            <a:r>
              <a:rPr lang="en-US" sz="2000" dirty="0"/>
              <a:t> se merge la </a:t>
            </a:r>
            <a:r>
              <a:rPr lang="en-US" sz="2000" dirty="0" err="1"/>
              <a:t>obiect</a:t>
            </a:r>
            <a:r>
              <a:rPr lang="en-US" sz="2000" dirty="0"/>
              <a:t>, se </a:t>
            </a:r>
            <a:r>
              <a:rPr lang="en-US" sz="2000" dirty="0" err="1"/>
              <a:t>apeleaz</a:t>
            </a:r>
            <a:r>
              <a:rPr lang="vi-VN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funcţia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vptr</a:t>
            </a:r>
            <a:r>
              <a:rPr lang="en-US" sz="2000" dirty="0"/>
              <a:t>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 err="1"/>
              <a:t>Vptr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iniţializat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constructor (automat).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</p:txBody>
      </p:sp>
      <p:sp>
        <p:nvSpPr>
          <p:cNvPr id="49158" name="Google Shape;646;p61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654;p62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31F5939-3DE0-49D4-8298-EE632B87CEBE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31</a:t>
            </a:fld>
            <a:endParaRPr lang="en-US" sz="1800"/>
          </a:p>
        </p:txBody>
      </p:sp>
      <p:sp>
        <p:nvSpPr>
          <p:cNvPr id="50181" name="Google Shape;657;p62"/>
          <p:cNvSpPr txBox="1">
            <a:spLocks noChangeArrowheads="1"/>
          </p:cNvSpPr>
          <p:nvPr/>
        </p:nvSpPr>
        <p:spPr bwMode="auto">
          <a:xfrm>
            <a:off x="274638" y="1254125"/>
            <a:ext cx="4456112" cy="56880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Cum se face late binding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NoVirtual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a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x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i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OneVirtual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a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x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i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TwoVirtuals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a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x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i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50182" name="Google Shape;658;p62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sp>
        <p:nvSpPr>
          <p:cNvPr id="50183" name="Google Shape;659;p62"/>
          <p:cNvSpPr txBox="1">
            <a:spLocks noChangeArrowheads="1"/>
          </p:cNvSpPr>
          <p:nvPr/>
        </p:nvSpPr>
        <p:spPr bwMode="auto">
          <a:xfrm>
            <a:off x="4049713" y="2484438"/>
            <a:ext cx="556736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int: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sizeof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NoVirtual: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  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sizeof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NoVirtual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void* :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sizeof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*)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OneVirtual: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  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sizeof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OneVirtual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TwoVirtuals: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  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sizeof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TwoVirtuals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667;p63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1B01B0F-638E-41D7-815F-4CE0D46056F6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32</a:t>
            </a:fld>
            <a:endParaRPr lang="en-US" sz="1800"/>
          </a:p>
        </p:txBody>
      </p:sp>
      <p:sp>
        <p:nvSpPr>
          <p:cNvPr id="670" name="Google Shape;670;p63"/>
          <p:cNvSpPr txBox="1"/>
          <p:nvPr/>
        </p:nvSpPr>
        <p:spPr>
          <a:xfrm>
            <a:off x="274638" y="1254125"/>
            <a:ext cx="6351587" cy="61071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Cum se face late binding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class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Pet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{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:</a:t>
            </a:r>
            <a:endParaRPr lang="en-US" sz="2000" b="1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virtual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string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speak</a:t>
            </a:r>
            <a:r>
              <a:rPr lang="en-US" sz="2000" b="1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const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{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return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b="1" kern="0" dirty="0">
                <a:solidFill>
                  <a:srgbClr val="0000E6"/>
                </a:solidFill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}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};</a:t>
            </a:r>
            <a:endParaRPr lang="en-US" sz="2000" b="1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class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Dog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: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public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Pet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{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public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:</a:t>
            </a:r>
            <a:endParaRPr lang="en-US" sz="2000" b="1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string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speak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const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{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return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/>
                <a:ea typeface="Arial"/>
                <a:cs typeface="Arial"/>
                <a:sym typeface="Arial"/>
              </a:rPr>
              <a:t>Bark!</a:t>
            </a:r>
            <a:r>
              <a:rPr lang="en-US" sz="2000" b="1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}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};</a:t>
            </a:r>
            <a:endParaRPr lang="en-US" sz="2000" b="1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b="1" kern="0" dirty="0" err="1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int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400000"/>
                </a:solidFill>
                <a:latin typeface="Times New Roman"/>
                <a:ea typeface="Arial"/>
                <a:cs typeface="Arial"/>
                <a:sym typeface="Arial"/>
              </a:rPr>
              <a:t>main</a:t>
            </a:r>
            <a:r>
              <a:rPr lang="en-US" sz="2000" b="1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b="1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b="1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{</a:t>
            </a:r>
            <a:endParaRPr lang="en-US" sz="2000" b="1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Dog </a:t>
            </a:r>
            <a:r>
              <a:rPr lang="en-US" sz="2000" kern="0" dirty="0" err="1">
                <a:latin typeface="Times New Roman"/>
                <a:ea typeface="Arial"/>
                <a:cs typeface="Arial"/>
                <a:sym typeface="Arial"/>
              </a:rPr>
              <a:t>ralph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Pet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*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p1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=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&amp;</a:t>
            </a:r>
            <a:r>
              <a:rPr lang="en-US" sz="2000" kern="0" dirty="0" err="1">
                <a:latin typeface="Times New Roman"/>
                <a:ea typeface="Arial"/>
                <a:cs typeface="Arial"/>
                <a:sym typeface="Arial"/>
              </a:rPr>
              <a:t>ralph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Pet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&amp;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p2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=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latin typeface="Times New Roman"/>
                <a:ea typeface="Arial"/>
                <a:cs typeface="Arial"/>
                <a:sym typeface="Arial"/>
              </a:rPr>
              <a:t>ralph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Pet p3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>
                <a:solidFill>
                  <a:srgbClr val="696969"/>
                </a:solidFill>
                <a:latin typeface="Times New Roman"/>
                <a:ea typeface="Arial"/>
                <a:cs typeface="Arial"/>
                <a:sym typeface="Arial"/>
              </a:rPr>
              <a:t>// Late binding for both: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cout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/>
                <a:ea typeface="Arial"/>
                <a:cs typeface="Arial"/>
                <a:sym typeface="Arial"/>
              </a:rPr>
              <a:t>p1-&gt;speak() =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p1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-&gt;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speak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endl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cout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/>
                <a:ea typeface="Arial"/>
                <a:cs typeface="Arial"/>
                <a:sym typeface="Arial"/>
              </a:rPr>
              <a:t>p2.speak() =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p2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.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speak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endl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>
                <a:solidFill>
                  <a:srgbClr val="696969"/>
                </a:solidFill>
                <a:latin typeface="Times New Roman"/>
                <a:ea typeface="Arial"/>
                <a:cs typeface="Arial"/>
                <a:sym typeface="Arial"/>
              </a:rPr>
              <a:t>// Early binding (probably):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 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cout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solidFill>
                  <a:srgbClr val="0000E6"/>
                </a:solidFill>
                <a:latin typeface="Times New Roman"/>
                <a:ea typeface="Arial"/>
                <a:cs typeface="Arial"/>
                <a:sym typeface="Arial"/>
              </a:rPr>
              <a:t>p3.speak() = </a:t>
            </a:r>
            <a:r>
              <a:rPr lang="en-US" sz="2000" kern="0" dirty="0">
                <a:solidFill>
                  <a:srgbClr val="800000"/>
                </a:solidFill>
                <a:latin typeface="Times New Roman"/>
                <a:ea typeface="Arial"/>
                <a:cs typeface="Arial"/>
                <a:sym typeface="Arial"/>
              </a:rPr>
              <a:t>"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p3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.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speak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()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>
                <a:solidFill>
                  <a:srgbClr val="808030"/>
                </a:solidFill>
                <a:latin typeface="Times New Roman"/>
                <a:ea typeface="Arial"/>
                <a:cs typeface="Arial"/>
                <a:sym typeface="Arial"/>
              </a:rPr>
              <a:t>&lt;&lt;</a:t>
            </a:r>
            <a:r>
              <a:rPr lang="en-US" sz="2000" kern="0" dirty="0">
                <a:latin typeface="Times New Roman"/>
                <a:ea typeface="Arial"/>
                <a:cs typeface="Arial"/>
                <a:sym typeface="Arial"/>
              </a:rPr>
              <a:t> </a:t>
            </a:r>
            <a:r>
              <a:rPr lang="en-US" sz="2000" kern="0" dirty="0" err="1">
                <a:solidFill>
                  <a:srgbClr val="603000"/>
                </a:solidFill>
                <a:latin typeface="Times New Roman"/>
                <a:ea typeface="Arial"/>
                <a:cs typeface="Arial"/>
                <a:sym typeface="Arial"/>
              </a:rPr>
              <a:t>endl</a:t>
            </a: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;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000" kern="0" dirty="0">
                <a:solidFill>
                  <a:srgbClr val="800080"/>
                </a:solidFill>
                <a:latin typeface="Times New Roman"/>
                <a:ea typeface="Arial"/>
                <a:cs typeface="Arial"/>
                <a:sym typeface="Arial"/>
              </a:rPr>
              <a:t>}</a:t>
            </a:r>
            <a:endParaRPr lang="en-US" sz="2000" kern="0" dirty="0">
              <a:latin typeface="Times New Roman"/>
              <a:ea typeface="Arial"/>
              <a:cs typeface="Arial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06" name="Google Shape;671;p63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Google Shape;679;p6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AC670DC-F5E3-4E97-89C5-0FCD9E8EE49F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33</a:t>
            </a:fld>
            <a:endParaRPr lang="en-US" sz="1800"/>
          </a:p>
        </p:txBody>
      </p:sp>
      <p:sp>
        <p:nvSpPr>
          <p:cNvPr id="682" name="Google Shape;682;p64"/>
          <p:cNvSpPr txBox="1"/>
          <p:nvPr/>
        </p:nvSpPr>
        <p:spPr>
          <a:xfrm>
            <a:off x="152400" y="1625600"/>
            <a:ext cx="9764713" cy="3373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Daca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sunt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aşa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importante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nu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sunt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toate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definite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(din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oficiu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)?</a:t>
            </a: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Deoarece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“cost</a:t>
            </a:r>
            <a:r>
              <a:rPr lang="vi-VN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ă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”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viteza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programului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lang="en-US"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În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Java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sunt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“default”,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dar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Java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ocupa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multa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memorie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.</a:t>
            </a: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Nu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mai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putem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avea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inline (ne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trebuie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adresa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funcţiei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pentru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kern="0" dirty="0" err="1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vptr</a:t>
            </a:r>
            <a:r>
              <a:rPr lang="en-US" sz="2400" kern="0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).</a:t>
            </a: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400" kern="0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</p:txBody>
      </p:sp>
      <p:sp>
        <p:nvSpPr>
          <p:cNvPr id="52230" name="Google Shape;683;p64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691;p65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A8B5B9A-DBC3-42A1-9D50-B41992499E39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34</a:t>
            </a:fld>
            <a:endParaRPr lang="en-US" sz="1800"/>
          </a:p>
        </p:txBody>
      </p:sp>
      <p:sp>
        <p:nvSpPr>
          <p:cNvPr id="53253" name="Google Shape;694;p65"/>
          <p:cNvSpPr txBox="1">
            <a:spLocks noChangeArrowheads="1"/>
          </p:cNvSpPr>
          <p:nvPr/>
        </p:nvSpPr>
        <p:spPr bwMode="auto">
          <a:xfrm>
            <a:off x="274638" y="1254125"/>
            <a:ext cx="9032875" cy="53451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 i="1" dirty="0">
                <a:solidFill>
                  <a:srgbClr val="0070C0"/>
                </a:solidFill>
                <a:latin typeface="Times New Roman" pitchFamily="18" charset="0"/>
              </a:rPr>
              <a:t>Clase abstracte și funcții virtuale pure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/>
              <a:t> </a:t>
            </a:r>
            <a:r>
              <a:rPr lang="vi-VN" sz="2400" dirty="0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Clasă abstractă = clasă care are cel puțin o funcție virtuală PURĂ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Necesitate: clase care dau doar interfață (nu vrem obiecte din clasă abstractă ci upcasting la ea).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Eroare la instantierea unei clase abstracte (nu se pot defini obiecte de tipul respectiv).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Permisă utilizarea de pointeri și referințe către clasă abstractă (pentru upcasting).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dirty="0">
                <a:latin typeface="Times New Roman" pitchFamily="18" charset="0"/>
              </a:rPr>
              <a:t> Nu pot fi trimise către funcții (prin valoare). 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53254" name="Google Shape;695;p65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703;p6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470154E-80FE-421E-B6F5-078121884E6A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35</a:t>
            </a:fld>
            <a:endParaRPr lang="en-US" sz="1800"/>
          </a:p>
        </p:txBody>
      </p:sp>
      <p:sp>
        <p:nvSpPr>
          <p:cNvPr id="54277" name="Google Shape;706;p66"/>
          <p:cNvSpPr txBox="1">
            <a:spLocks noChangeArrowheads="1"/>
          </p:cNvSpPr>
          <p:nvPr/>
        </p:nvSpPr>
        <p:spPr bwMode="auto">
          <a:xfrm>
            <a:off x="274638" y="1254125"/>
            <a:ext cx="9032875" cy="44307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Funcţii virtuale pure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Sintaxa: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tip_returnat nume_funcţie(lista_parametri) =0;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Ex: virtual int pura(int i)=0;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vi-VN" sz="2400">
                <a:latin typeface="Times New Roman" pitchFamily="18" charset="0"/>
                <a:cs typeface="Times New Roman" pitchFamily="18" charset="0"/>
              </a:rPr>
              <a:t>Obs: La moștenire, dacă în clasa derivată nu se definește funcția pură, clasa derivată este și ea clasă abstractă ---&gt; nu trebuie definită funcție care nu se execută niciodată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vi-VN" sz="240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vi-VN" sz="2400">
                <a:latin typeface="Times New Roman" pitchFamily="18" charset="0"/>
                <a:cs typeface="Times New Roman" pitchFamily="18" charset="0"/>
              </a:rPr>
              <a:t> UTILIZARE IMPORTANTĂ: prevenirea “object slicing”. 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/>
          </a:p>
        </p:txBody>
      </p:sp>
      <p:sp>
        <p:nvSpPr>
          <p:cNvPr id="54278" name="Google Shape;707;p66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charset="0"/>
            </a:pPr>
            <a:r>
              <a:rPr lang="en-US" sz="2000" b="1" dirty="0">
                <a:latin typeface="Arial"/>
                <a:cs typeface="Arial"/>
              </a:rPr>
              <a:t>2. </a:t>
            </a:r>
            <a:r>
              <a:rPr lang="en-US" sz="2000" b="1" dirty="0" err="1">
                <a:latin typeface="Arial"/>
                <a:cs typeface="Arial"/>
              </a:rPr>
              <a:t>Polimorfismul</a:t>
            </a:r>
            <a:r>
              <a:rPr lang="en-US" sz="2000" b="1" dirty="0">
                <a:latin typeface="Arial"/>
                <a:cs typeface="Arial"/>
              </a:rPr>
              <a:t> la </a:t>
            </a:r>
            <a:r>
              <a:rPr lang="en-US" sz="2000" b="1" dirty="0" err="1">
                <a:latin typeface="Arial"/>
                <a:cs typeface="Arial"/>
              </a:rPr>
              <a:t>execuţie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prin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funcţii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dirty="0" err="1">
                <a:latin typeface="Arial"/>
                <a:cs typeface="Arial"/>
              </a:rPr>
              <a:t>virtuale</a:t>
            </a:r>
            <a:endParaRPr lang="en-US" dirty="0" err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Google Shape;715;p6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CFBACD2-DF08-4E72-A110-4A25A55A963C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36</a:t>
            </a:fld>
            <a:endParaRPr lang="en-US" sz="1800"/>
          </a:p>
        </p:txBody>
      </p:sp>
      <p:sp>
        <p:nvSpPr>
          <p:cNvPr id="718" name="Google Shape;718;p67"/>
          <p:cNvSpPr txBox="1"/>
          <p:nvPr/>
        </p:nvSpPr>
        <p:spPr>
          <a:xfrm>
            <a:off x="274638" y="1254125"/>
            <a:ext cx="5037137" cy="54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Clase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abstracte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si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funcţii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virtuale</a:t>
            </a:r>
            <a:r>
              <a:rPr lang="en-US" sz="2400" b="1" i="1" kern="0" dirty="0">
                <a:solidFill>
                  <a:srgbClr val="0000FF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pure</a:t>
            </a: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  <a:p>
            <a:pPr marL="4572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sz="2000" kern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02" name="Google Shape;719;p67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sp>
        <p:nvSpPr>
          <p:cNvPr id="55303" name="Google Shape;720;p67"/>
          <p:cNvSpPr txBox="1">
            <a:spLocks noChangeArrowheads="1"/>
          </p:cNvSpPr>
          <p:nvPr/>
        </p:nvSpPr>
        <p:spPr bwMode="auto">
          <a:xfrm>
            <a:off x="274638" y="1725613"/>
            <a:ext cx="6170612" cy="534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Pet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pname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Pet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pname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pname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description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b="1">
                <a:solidFill>
                  <a:srgbClr val="0000E6"/>
                </a:solidFill>
                <a:latin typeface="Times New Roman" pitchFamily="18" charset="0"/>
              </a:rPr>
              <a:t>This is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+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pname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Dog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Pet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favoriteActivity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Dog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,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activity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>
                <a:latin typeface="Times New Roman" pitchFamily="18" charset="0"/>
              </a:rPr>
              <a:t> Pet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),</a:t>
            </a:r>
            <a:r>
              <a:rPr lang="en-US" sz="2000">
                <a:latin typeface="Times New Roman" pitchFamily="18" charset="0"/>
              </a:rPr>
              <a:t> favoriteActivity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activity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>
                <a:latin typeface="Times New Roman" pitchFamily="18" charset="0"/>
              </a:rPr>
              <a:t> description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Pet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::</a:t>
            </a:r>
            <a:r>
              <a:rPr lang="en-US" sz="2000">
                <a:latin typeface="Times New Roman" pitchFamily="18" charset="0"/>
              </a:rPr>
              <a:t>name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+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b="1">
                <a:solidFill>
                  <a:srgbClr val="0000E6"/>
                </a:solidFill>
                <a:latin typeface="Times New Roman" pitchFamily="18" charset="0"/>
              </a:rPr>
              <a:t> likes to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+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favoriteActivity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55304" name="Google Shape;721;p67"/>
          <p:cNvSpPr txBox="1">
            <a:spLocks noChangeArrowheads="1"/>
          </p:cNvSpPr>
          <p:nvPr/>
        </p:nvSpPr>
        <p:spPr bwMode="auto">
          <a:xfrm>
            <a:off x="6119813" y="1576388"/>
            <a:ext cx="3719512" cy="389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describe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Pet 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itchFamily="18" charset="0"/>
              </a:rPr>
              <a:t>// Slicing 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description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Pet 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Alfred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Dog d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Fluffy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,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sleep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describe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p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describe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d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800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800">
                <a:latin typeface="Times New Roman" pitchFamily="18" charset="0"/>
              </a:rPr>
              <a:t> </a:t>
            </a:r>
            <a:endParaRPr 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729;p68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76111D91-B3CA-4CC4-B551-73955B4668E7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37</a:t>
            </a:fld>
            <a:endParaRPr lang="en-US" sz="1800"/>
          </a:p>
        </p:txBody>
      </p:sp>
      <p:sp>
        <p:nvSpPr>
          <p:cNvPr id="55301" name="Google Shape;732;p68"/>
          <p:cNvSpPr txBox="1">
            <a:spLocks noChangeArrowheads="1"/>
          </p:cNvSpPr>
          <p:nvPr/>
        </p:nvSpPr>
        <p:spPr bwMode="auto">
          <a:xfrm>
            <a:off x="274638" y="1254125"/>
            <a:ext cx="9032875" cy="39735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Overload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funcţii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virtuale</a:t>
            </a:r>
            <a:endParaRPr lang="en-US" sz="24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endParaRPr lang="en-US" sz="2400" dirty="0">
              <a:solidFill>
                <a:schemeClr val="tx1"/>
              </a:solidFill>
              <a:latin typeface="+mj-lt"/>
            </a:endParaRP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Obs. Nu e posibil overload prin schimbarea tipului param. de întoarcere (e posibil pentru ne-virtuale) </a:t>
            </a: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 De ce. Pentru că se vrea să se garanteze că se poate chema baza prin apelul respectiv. </a:t>
            </a: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 Excepție: pointer către bază întors în bază, pointer către derivată în derivată </a:t>
            </a:r>
          </a:p>
          <a:p>
            <a:pPr>
              <a:buClr>
                <a:srgbClr val="000000"/>
              </a:buClr>
              <a:buFont typeface="Arial" charset="0"/>
              <a:buNone/>
              <a:defRPr/>
            </a:pPr>
            <a:r>
              <a:rPr lang="vi-VN" sz="2400" dirty="0">
                <a:solidFill>
                  <a:schemeClr val="tx1"/>
                </a:solidFill>
                <a:latin typeface="+mj-lt"/>
              </a:rPr>
              <a:t> 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6326" name="Google Shape;733;p68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741;p69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4E147D6-8CA5-4965-85E2-84E3C53253D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38</a:t>
            </a:fld>
            <a:endParaRPr lang="en-US" sz="1800"/>
          </a:p>
        </p:txBody>
      </p:sp>
      <p:sp>
        <p:nvSpPr>
          <p:cNvPr id="57349" name="Google Shape;744;p69"/>
          <p:cNvSpPr txBox="1">
            <a:spLocks noChangeArrowheads="1"/>
          </p:cNvSpPr>
          <p:nvPr/>
        </p:nvSpPr>
        <p:spPr bwMode="auto">
          <a:xfrm>
            <a:off x="274638" y="1254125"/>
            <a:ext cx="3822700" cy="5286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Overload pe funcţii virtuale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57350" name="Google Shape;745;p69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sp>
        <p:nvSpPr>
          <p:cNvPr id="57351" name="Google Shape;746;p69"/>
          <p:cNvSpPr txBox="1">
            <a:spLocks noChangeArrowheads="1"/>
          </p:cNvSpPr>
          <p:nvPr/>
        </p:nvSpPr>
        <p:spPr bwMode="auto">
          <a:xfrm>
            <a:off x="274638" y="1782763"/>
            <a:ext cx="4748212" cy="543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  <a:cs typeface="Times New Roman" pitchFamily="18" charset="0"/>
              </a:rPr>
              <a:t>Base::f()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  <a:cs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{}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{}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Derived1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{}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Derived2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  <a:cs typeface="Times New Roman" pitchFamily="18" charset="0"/>
              </a:rPr>
              <a:t>// Overriding a virtual funcţion: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  <a:cs typeface="Times New Roman" pitchFamily="18" charset="0"/>
              </a:rPr>
              <a:t>Derived2::f()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  <a:cs typeface="Times New Roman" pitchFamily="18" charset="0"/>
              </a:rPr>
              <a:t>\n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b="1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};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57352" name="Google Shape;747;p69"/>
          <p:cNvSpPr txBox="1">
            <a:spLocks noChangeArrowheads="1"/>
          </p:cNvSpPr>
          <p:nvPr/>
        </p:nvSpPr>
        <p:spPr bwMode="auto">
          <a:xfrm>
            <a:off x="5948363" y="1271588"/>
            <a:ext cx="38227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>
                <a:latin typeface="Times New Roman" pitchFamily="18" charset="0"/>
              </a:rPr>
              <a:t> s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hello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Derived1 d1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x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d1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s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Derived2 d2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x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d2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 d2.f(s); // string version hidden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Google Shape;755;p70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18D459A-3152-4729-95AD-76A1C87BEF4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39</a:t>
            </a:fld>
            <a:endParaRPr lang="en-US" sz="1800"/>
          </a:p>
        </p:txBody>
      </p:sp>
      <p:sp>
        <p:nvSpPr>
          <p:cNvPr id="58373" name="Google Shape;758;p70"/>
          <p:cNvSpPr txBox="1">
            <a:spLocks noChangeArrowheads="1"/>
          </p:cNvSpPr>
          <p:nvPr/>
        </p:nvSpPr>
        <p:spPr bwMode="auto">
          <a:xfrm>
            <a:off x="274638" y="1254125"/>
            <a:ext cx="3822700" cy="5286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Overload pe funcţii virtuale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58374" name="Google Shape;759;p70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sp>
        <p:nvSpPr>
          <p:cNvPr id="58375" name="Google Shape;760;p70"/>
          <p:cNvSpPr txBox="1">
            <a:spLocks noChangeArrowheads="1"/>
          </p:cNvSpPr>
          <p:nvPr/>
        </p:nvSpPr>
        <p:spPr bwMode="auto">
          <a:xfrm>
            <a:off x="274638" y="1782763"/>
            <a:ext cx="5141912" cy="543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E34ADC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Base::f()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 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g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Derived3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void f() const{ cout &lt;&lt; "Derived3::f()\n";}};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Derived4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Change argument list: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const</a:t>
            </a:r>
            <a:r>
              <a:rPr lang="en-US" sz="2000" b="1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        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“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Derived4::f()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4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58376" name="Google Shape;761;p70"/>
          <p:cNvSpPr txBox="1">
            <a:spLocks noChangeArrowheads="1"/>
          </p:cNvSpPr>
          <p:nvPr/>
        </p:nvSpPr>
        <p:spPr bwMode="auto">
          <a:xfrm>
            <a:off x="5726113" y="1271588"/>
            <a:ext cx="4044950" cy="500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string</a:t>
            </a:r>
            <a:r>
              <a:rPr lang="en-US" sz="2000">
                <a:latin typeface="Times New Roman" pitchFamily="18" charset="0"/>
              </a:rPr>
              <a:t> s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hello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Derived4 d4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x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d4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</a:rPr>
              <a:t>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 x = d4.f(); // f() version hidden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 d4.f(s); // string version hidden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Base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>
                <a:latin typeface="Times New Roman" pitchFamily="18" charset="0"/>
              </a:rPr>
              <a:t> br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d4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Upcast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//!  br.f(1); // Derived version unavailable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br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br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.</a:t>
            </a:r>
            <a:r>
              <a:rPr lang="en-US" sz="2000">
                <a:latin typeface="Times New Roman" pitchFamily="18" charset="0"/>
              </a:rPr>
              <a:t>f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s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Base version available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return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0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769;p71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855E53A-211D-4DD6-8683-DE146CBA8CB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40</a:t>
            </a:fld>
            <a:endParaRPr lang="en-US" sz="1800"/>
          </a:p>
        </p:txBody>
      </p:sp>
      <p:sp>
        <p:nvSpPr>
          <p:cNvPr id="59397" name="Google Shape;772;p71"/>
          <p:cNvSpPr txBox="1">
            <a:spLocks noChangeArrowheads="1"/>
          </p:cNvSpPr>
          <p:nvPr/>
        </p:nvSpPr>
        <p:spPr bwMode="auto">
          <a:xfrm>
            <a:off x="274638" y="1254125"/>
            <a:ext cx="9032875" cy="47291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Obs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NU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constructori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virtuali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În general pentru funcțiile virtuale se utilizează late binding, dar în utilizarea funcțiilor virtuale în constructori, varianta locală este folosită (early binding)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De ce?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Pentru că funcția virtuală din clasa derivată ar putea crede că obiectul e inițializat deja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Pentru că la nivel de compilator în acel moment doar VPTR local este cunoscut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</p:txBody>
      </p:sp>
      <p:sp>
        <p:nvSpPr>
          <p:cNvPr id="59398" name="Google Shape;773;p71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781;p72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BDD3C65-1497-4051-B05C-02EF82B06642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41</a:t>
            </a:fld>
            <a:endParaRPr lang="en-US" sz="1800"/>
          </a:p>
        </p:txBody>
      </p:sp>
      <p:sp>
        <p:nvSpPr>
          <p:cNvPr id="60421" name="Google Shape;784;p72"/>
          <p:cNvSpPr txBox="1">
            <a:spLocks noChangeArrowheads="1"/>
          </p:cNvSpPr>
          <p:nvPr/>
        </p:nvSpPr>
        <p:spPr bwMode="auto">
          <a:xfrm>
            <a:off x="274638" y="1254125"/>
            <a:ext cx="9032875" cy="33734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Destructori si virtualizare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Este uzual să se întâlnească.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 cheamă în ordine inversă decât constructorii.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Dacă vrem să eliminăm porțiuni alocate dinamic și pentru clasa derivată dar facem upcasting trebuie să folosim destructori virtuali. </a:t>
            </a:r>
            <a:endParaRPr lang="en-US" sz="2400" b="1" i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422" name="Google Shape;785;p72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Google Shape;793;p73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0C6C2A5-7F3D-4DD2-8015-B3805DF5E4ED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42</a:t>
            </a:fld>
            <a:endParaRPr lang="en-US" sz="1800"/>
          </a:p>
        </p:txBody>
      </p:sp>
      <p:sp>
        <p:nvSpPr>
          <p:cNvPr id="61445" name="Google Shape;796;p73"/>
          <p:cNvSpPr txBox="1">
            <a:spLocks noChangeArrowheads="1"/>
          </p:cNvSpPr>
          <p:nvPr/>
        </p:nvSpPr>
        <p:spPr bwMode="auto">
          <a:xfrm>
            <a:off x="274638" y="1254125"/>
            <a:ext cx="9634537" cy="56197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Destructori si virtualizare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800000"/>
              </a:solidFill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Base1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>
                <a:latin typeface="Times New Roman" pitchFamily="18" charset="0"/>
              </a:rPr>
              <a:t>Base1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~Base1()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Derived1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Base1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>
                <a:latin typeface="Times New Roman" pitchFamily="18" charset="0"/>
              </a:rPr>
              <a:t>Derived1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~Derived1()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Base2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pt-BR" sz="2000">
                <a:latin typeface="Times New Roman" pitchFamily="18" charset="0"/>
              </a:rPr>
              <a:t>  </a:t>
            </a:r>
            <a:r>
              <a:rPr lang="pt-BR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pt-BR" sz="2000" b="1">
                <a:latin typeface="Times New Roman" pitchFamily="18" charset="0"/>
              </a:rPr>
              <a:t> </a:t>
            </a:r>
            <a:r>
              <a:rPr lang="pt-BR" sz="2000" b="1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pt-BR" sz="2000">
                <a:latin typeface="Times New Roman" pitchFamily="18" charset="0"/>
              </a:rPr>
              <a:t>Base2</a:t>
            </a:r>
            <a:r>
              <a:rPr lang="pt-BR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pt-BR" sz="2000" b="1">
                <a:latin typeface="Times New Roman" pitchFamily="18" charset="0"/>
              </a:rPr>
              <a:t> </a:t>
            </a:r>
            <a:r>
              <a:rPr lang="pt-BR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pt-BR" sz="2000" b="1">
                <a:latin typeface="Times New Roman" pitchFamily="18" charset="0"/>
              </a:rPr>
              <a:t> </a:t>
            </a:r>
            <a:r>
              <a:rPr lang="pt-BR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pt-BR" sz="2000">
                <a:latin typeface="Times New Roman" pitchFamily="18" charset="0"/>
              </a:rPr>
              <a:t> </a:t>
            </a:r>
            <a:r>
              <a:rPr lang="pt-BR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pt-BR" sz="2000">
                <a:latin typeface="Times New Roman" pitchFamily="18" charset="0"/>
              </a:rPr>
              <a:t> </a:t>
            </a:r>
            <a:r>
              <a:rPr lang="pt-BR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pt-BR" sz="2000">
                <a:solidFill>
                  <a:srgbClr val="0000E6"/>
                </a:solidFill>
                <a:latin typeface="Times New Roman" pitchFamily="18" charset="0"/>
              </a:rPr>
              <a:t>~Base2()</a:t>
            </a:r>
            <a:r>
              <a:rPr lang="pt-BR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pt-BR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pt-BR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pt-BR" sz="2000" b="1">
                <a:latin typeface="Times New Roman" pitchFamily="18" charset="0"/>
              </a:rPr>
              <a:t> </a:t>
            </a:r>
            <a:r>
              <a:rPr lang="pt-BR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pt-BR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Derived2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Base2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>
                <a:latin typeface="Times New Roman" pitchFamily="18" charset="0"/>
              </a:rPr>
              <a:t>Derived2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~Derived2()</a:t>
            </a:r>
            <a:r>
              <a:rPr lang="en-US" sz="200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Base1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bp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new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Derived1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delete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bp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itchFamily="18" charset="0"/>
              </a:rPr>
              <a:t>// Afis: ~Base1()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Base2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b2p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new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Derived2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delete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b2p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itchFamily="18" charset="0"/>
              </a:rPr>
              <a:t>// Afis: ~Derived2()  ~Base2()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61446" name="Google Shape;797;p73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21CDE78-C7C1-4250-B45F-831A8C5D6348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43</a:t>
            </a:fld>
            <a:endParaRPr lang="en-US" sz="1800"/>
          </a:p>
        </p:txBody>
      </p:sp>
      <p:sp>
        <p:nvSpPr>
          <p:cNvPr id="62469" name="Google Shape;809;p74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grpSp>
        <p:nvGrpSpPr>
          <p:cNvPr id="62470" name="Group 8"/>
          <p:cNvGrpSpPr>
            <a:grpSpLocks/>
          </p:cNvGrpSpPr>
          <p:nvPr/>
        </p:nvGrpSpPr>
        <p:grpSpPr bwMode="auto">
          <a:xfrm>
            <a:off x="274638" y="1254125"/>
            <a:ext cx="9634537" cy="5619750"/>
            <a:chOff x="274638" y="1254125"/>
            <a:chExt cx="9634537" cy="5619750"/>
          </a:xfrm>
        </p:grpSpPr>
        <p:sp>
          <p:nvSpPr>
            <p:cNvPr id="61445" name="Google Shape;808;p74"/>
            <p:cNvSpPr txBox="1">
              <a:spLocks noChangeArrowheads="1"/>
            </p:cNvSpPr>
            <p:nvPr/>
          </p:nvSpPr>
          <p:spPr bwMode="auto">
            <a:xfrm>
              <a:off x="274638" y="1254125"/>
              <a:ext cx="9634537" cy="561975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lIns="91425" tIns="91425" rIns="91425" bIns="91425"/>
            <a:lstStyle/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400" b="1" i="1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Destructori</a:t>
              </a:r>
              <a:r>
                <a:rPr lang="en-US" sz="24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virtuali</a:t>
              </a:r>
              <a:r>
                <a:rPr lang="en-US" sz="2400" b="1" i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 err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puri</a:t>
              </a:r>
              <a:endPara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b="1" dirty="0">
                <a:solidFill>
                  <a:srgbClr val="0000FF"/>
                </a:solidFill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vi-VN" sz="2000" b="1" dirty="0">
                  <a:latin typeface="+mj-lt"/>
                </a:rPr>
                <a:t>Utilizare</a:t>
              </a:r>
              <a:r>
                <a:rPr lang="vi-VN" sz="2000" dirty="0">
                  <a:latin typeface="+mj-lt"/>
                </a:rPr>
                <a:t>: recomandat să fie utilizat dacă mai sunt și alte funcții virtuale. </a:t>
              </a: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vi-VN" sz="2000" b="1" dirty="0">
                  <a:latin typeface="+mj-lt"/>
                </a:rPr>
                <a:t> Restricție</a:t>
              </a:r>
              <a:r>
                <a:rPr lang="vi-VN" sz="2000" dirty="0">
                  <a:latin typeface="+mj-lt"/>
                </a:rPr>
                <a:t>: trebuiesc definiți în clasă (chiar dacă este abstractă). </a:t>
              </a: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vi-VN" sz="2000" dirty="0">
                  <a:latin typeface="+mj-lt"/>
                </a:rPr>
                <a:t> La moștenire nu mai trebuiesc redefiniti (se construiește un destructor din oficiu) </a:t>
              </a: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vi-VN" sz="2000" dirty="0">
                  <a:latin typeface="+mj-lt"/>
                </a:rPr>
                <a:t> De ce? Pentru a preveni instantierea clasei. </a:t>
              </a: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vi-VN" sz="2000" dirty="0">
                  <a:latin typeface="+mj-lt"/>
                </a:rPr>
                <a:t> </a:t>
              </a:r>
              <a:r>
                <a:rPr lang="vi-VN" sz="2000" b="1" dirty="0">
                  <a:latin typeface="+mj-lt"/>
                </a:rPr>
                <a:t>Obs</a:t>
              </a:r>
              <a:r>
                <a:rPr lang="vi-VN" sz="2000" dirty="0">
                  <a:latin typeface="+mj-lt"/>
                </a:rPr>
                <a:t>. Nu are nici un efect dacă nu se face upcasting. </a:t>
              </a: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dirty="0"/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 err="1">
                  <a:latin typeface="Times New Roman" pitchFamily="18" charset="0"/>
                </a:rPr>
                <a:t>AbstractBase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 dirty="0">
                  <a:solidFill>
                    <a:srgbClr val="E34ADC"/>
                  </a:solidFill>
                  <a:latin typeface="Times New Roman" pitchFamily="18" charset="0"/>
                </a:rPr>
                <a:t>: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dirty="0">
                  <a:latin typeface="Times New Roman" pitchFamily="18" charset="0"/>
                </a:rPr>
                <a:t> 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virtual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~</a:t>
              </a:r>
              <a:r>
                <a:rPr lang="en-US" sz="2000" dirty="0" err="1">
                  <a:latin typeface="Times New Roman" pitchFamily="18" charset="0"/>
                </a:rPr>
                <a:t>AbstractBase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=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008C00"/>
                  </a:solidFill>
                  <a:latin typeface="Times New Roman" pitchFamily="18" charset="0"/>
                </a:rPr>
                <a:t>0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};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dirty="0" err="1">
                  <a:latin typeface="Times New Roman" pitchFamily="18" charset="0"/>
                </a:rPr>
                <a:t>AbstractBase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::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~</a:t>
              </a:r>
              <a:r>
                <a:rPr lang="en-US" sz="2000" dirty="0" err="1">
                  <a:latin typeface="Times New Roman" pitchFamily="18" charset="0"/>
                </a:rPr>
                <a:t>AbstractBase</a:t>
              </a:r>
              <a:r>
                <a:rPr lang="en-US" sz="2000" dirty="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800080"/>
                  </a:solidFill>
                  <a:latin typeface="Times New Roman" pitchFamily="18" charset="0"/>
                </a:rPr>
                <a:t>{}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class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Derived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: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  <a:latin typeface="Times New Roman" pitchFamily="18" charset="0"/>
                </a:rPr>
                <a:t>public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</a:rPr>
                <a:t>AbstractBase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{};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dirty="0">
                  <a:solidFill>
                    <a:srgbClr val="696969"/>
                  </a:solidFill>
                  <a:latin typeface="Times New Roman" pitchFamily="18" charset="0"/>
                </a:rPr>
                <a:t>// No overriding of destructor necessary?</a:t>
              </a:r>
              <a:endParaRPr lang="en-US" sz="2000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r>
                <a:rPr lang="en-US" sz="2000" b="1" dirty="0" err="1">
                  <a:solidFill>
                    <a:srgbClr val="800000"/>
                  </a:solidFill>
                  <a:latin typeface="Times New Roman" pitchFamily="18" charset="0"/>
                </a:rPr>
                <a:t>int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solidFill>
                    <a:srgbClr val="400000"/>
                  </a:solidFill>
                  <a:latin typeface="Times New Roman" pitchFamily="18" charset="0"/>
                </a:rPr>
                <a:t>main</a:t>
              </a:r>
              <a:r>
                <a:rPr lang="en-US" sz="2000" b="1" dirty="0">
                  <a:solidFill>
                    <a:srgbClr val="808030"/>
                  </a:solidFill>
                  <a:latin typeface="Times New Roman" pitchFamily="18" charset="0"/>
                </a:rPr>
                <a:t>()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{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</a:rPr>
                <a:t>Derived d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;</a:t>
              </a:r>
              <a:r>
                <a:rPr lang="en-US" sz="2000" b="1" dirty="0">
                  <a:latin typeface="Times New Roman" pitchFamily="18" charset="0"/>
                </a:rPr>
                <a:t> </a:t>
              </a:r>
              <a:r>
                <a:rPr lang="en-US" sz="2000" b="1" dirty="0">
                  <a:solidFill>
                    <a:srgbClr val="800080"/>
                  </a:solidFill>
                  <a:latin typeface="Times New Roman" pitchFamily="18" charset="0"/>
                </a:rPr>
                <a:t>}</a:t>
              </a:r>
              <a:endParaRPr lang="en-US" sz="2000" b="1" dirty="0">
                <a:latin typeface="Times New Roman" pitchFamily="18" charset="0"/>
              </a:endParaRPr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dirty="0"/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dirty="0"/>
            </a:p>
            <a:p>
              <a:pPr>
                <a:buClr>
                  <a:srgbClr val="000000"/>
                </a:buClr>
                <a:buFont typeface="Arial" charset="0"/>
                <a:buNone/>
                <a:defRPr/>
              </a:pPr>
              <a:endParaRPr lang="en-US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92113" y="4465638"/>
              <a:ext cx="3200400" cy="381000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15913" y="5303838"/>
              <a:ext cx="3733800" cy="381000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lang="en-US" kern="0"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Google Shape;817;p75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DFA8A5A-D5FC-4967-9BB3-02F2267AFC40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44</a:t>
            </a:fld>
            <a:endParaRPr lang="en-US" sz="1800"/>
          </a:p>
        </p:txBody>
      </p:sp>
      <p:sp>
        <p:nvSpPr>
          <p:cNvPr id="63493" name="Google Shape;820;p75"/>
          <p:cNvSpPr txBox="1">
            <a:spLocks noChangeArrowheads="1"/>
          </p:cNvSpPr>
          <p:nvPr/>
        </p:nvSpPr>
        <p:spPr bwMode="auto">
          <a:xfrm>
            <a:off x="274638" y="1254125"/>
            <a:ext cx="9634537" cy="599757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Funcţii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virtuale</a:t>
            </a:r>
            <a:r>
              <a:rPr lang="en-US" sz="2400" b="1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destructori</a:t>
            </a:r>
            <a:endParaRPr lang="en-US" sz="24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/>
              <a:t>La apel de funcție virtuală din funcții normale se apelează conform VPTR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/>
              <a:t> În destructori se face early binding! (apeluri locale)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/>
              <a:t> De ce? Pentru că acel apel poate să se bazeze pe porțiuni deja distruse din obiect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2000" dirty="0"/>
              <a:t> </a:t>
            </a: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Base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pt-BR" sz="2000" dirty="0">
                <a:latin typeface="Times New Roman" pitchFamily="18" charset="0"/>
              </a:rPr>
              <a:t>  </a:t>
            </a:r>
            <a:r>
              <a:rPr lang="pt-BR" sz="2000" b="1" dirty="0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pt-BR" sz="2000" b="1" dirty="0">
                <a:latin typeface="Times New Roman" pitchFamily="18" charset="0"/>
              </a:rPr>
              <a:t> </a:t>
            </a:r>
            <a:r>
              <a:rPr lang="pt-BR" sz="2000" b="1" dirty="0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pt-BR" sz="2000" dirty="0">
                <a:latin typeface="Times New Roman" pitchFamily="18" charset="0"/>
              </a:rPr>
              <a:t>Base</a:t>
            </a:r>
            <a:r>
              <a:rPr lang="pt-BR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pt-BR" sz="2000" b="1" dirty="0">
                <a:latin typeface="Times New Roman" pitchFamily="18" charset="0"/>
              </a:rPr>
              <a:t> </a:t>
            </a:r>
            <a:r>
              <a:rPr lang="pt-BR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pt-BR" sz="2000" b="1" dirty="0">
                <a:latin typeface="Times New Roman" pitchFamily="18" charset="0"/>
              </a:rPr>
              <a:t>  </a:t>
            </a:r>
            <a:r>
              <a:rPr lang="pt-BR" sz="2000" dirty="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pt-BR" sz="2000" dirty="0">
                <a:latin typeface="Times New Roman" pitchFamily="18" charset="0"/>
              </a:rPr>
              <a:t> </a:t>
            </a:r>
            <a:r>
              <a:rPr lang="pt-BR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pt-BR" sz="2000" dirty="0">
                <a:latin typeface="Times New Roman" pitchFamily="18" charset="0"/>
              </a:rPr>
              <a:t> </a:t>
            </a:r>
            <a:r>
              <a:rPr lang="pt-BR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~</a:t>
            </a:r>
            <a:r>
              <a:rPr lang="pt-BR" sz="2000" dirty="0">
                <a:solidFill>
                  <a:srgbClr val="0000E6"/>
                </a:solidFill>
                <a:latin typeface="Times New Roman" pitchFamily="18" charset="0"/>
              </a:rPr>
              <a:t>Base1()</a:t>
            </a:r>
            <a:r>
              <a:rPr lang="pt-BR" sz="2000" dirty="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pt-BR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pt-BR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pt-BR" sz="2000" dirty="0">
                <a:latin typeface="Times New Roman" pitchFamily="18" charset="0"/>
              </a:rPr>
              <a:t>  this-&gt;f</a:t>
            </a:r>
            <a:r>
              <a:rPr lang="pt-BR" sz="2000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pt-BR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pt-BR" sz="2000" b="1" dirty="0">
                <a:latin typeface="Times New Roman" pitchFamily="18" charset="0"/>
              </a:rPr>
              <a:t>   </a:t>
            </a:r>
            <a:r>
              <a:rPr lang="pt-BR" sz="2000" b="1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pt-BR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f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Base::f()</a:t>
            </a:r>
            <a:r>
              <a:rPr lang="en-US" sz="2000" dirty="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Derived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Base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 dirty="0">
                <a:latin typeface="Times New Roman" pitchFamily="18" charset="0"/>
              </a:rPr>
              <a:t>Derived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~Derived()</a:t>
            </a:r>
            <a:r>
              <a:rPr lang="en-US" sz="2000" dirty="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void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f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Derived::f()</a:t>
            </a:r>
            <a:r>
              <a:rPr lang="en-US" sz="2000" dirty="0">
                <a:solidFill>
                  <a:srgbClr val="0F69FF"/>
                </a:solidFill>
                <a:latin typeface="Times New Roman" pitchFamily="18" charset="0"/>
              </a:rPr>
              <a:t>\n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Base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bp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new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Derived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latin typeface="Times New Roman" pitchFamily="18" charset="0"/>
              </a:rPr>
              <a:t>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delete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bp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 // </a:t>
            </a:r>
            <a:r>
              <a:rPr lang="en-US" sz="2000" b="1" dirty="0" err="1">
                <a:solidFill>
                  <a:srgbClr val="696969"/>
                </a:solidFill>
                <a:latin typeface="Times New Roman" pitchFamily="18" charset="0"/>
              </a:rPr>
              <a:t>Afis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: ~Derived() ~Base1() Base::f()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63494" name="Google Shape;821;p75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29;p7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9F966405-5F24-4A18-B561-AF9D60785515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45</a:t>
            </a:fld>
            <a:endParaRPr lang="en-US" sz="1800"/>
          </a:p>
        </p:txBody>
      </p:sp>
      <p:sp>
        <p:nvSpPr>
          <p:cNvPr id="64517" name="Google Shape;832;p76"/>
          <p:cNvSpPr txBox="1">
            <a:spLocks noChangeArrowheads="1"/>
          </p:cNvSpPr>
          <p:nvPr/>
        </p:nvSpPr>
        <p:spPr bwMode="auto">
          <a:xfrm>
            <a:off x="274638" y="1254125"/>
            <a:ext cx="9634537" cy="45053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Downcasting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/>
              <a:t>Folosit in ierarhii polimorfice (cu funcţii virtuale).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 b="1"/>
              <a:t>Problema</a:t>
            </a:r>
            <a:r>
              <a:rPr lang="en-US" sz="2000"/>
              <a:t>: upcasting e sigur pentru c</a:t>
            </a:r>
            <a:r>
              <a:rPr lang="vi-VN" sz="2000"/>
              <a:t>ă</a:t>
            </a:r>
            <a:r>
              <a:rPr lang="en-US" sz="2000"/>
              <a:t> respectivele funcţii trebuie s</a:t>
            </a:r>
            <a:r>
              <a:rPr lang="vi-VN" sz="2000"/>
              <a:t>ă</a:t>
            </a:r>
            <a:r>
              <a:rPr lang="en-US" sz="2000"/>
              <a:t> fie definite în baz</a:t>
            </a:r>
            <a:r>
              <a:rPr lang="vi-VN" sz="2000"/>
              <a:t>ă</a:t>
            </a:r>
            <a:r>
              <a:rPr lang="en-US" sz="2000"/>
              <a:t>, downcasting e problematic.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Explicit cast prin: </a:t>
            </a:r>
            <a:r>
              <a:rPr lang="en-US" sz="2000" b="1">
                <a:solidFill>
                  <a:srgbClr val="FF0000"/>
                </a:solidFill>
              </a:rPr>
              <a:t>dynamic_cast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i="1"/>
              <a:t>Dac</a:t>
            </a:r>
            <a:r>
              <a:rPr lang="vi-VN" sz="2000" b="1" i="1"/>
              <a:t>ă</a:t>
            </a:r>
            <a:r>
              <a:rPr lang="en-US" sz="2000" b="1" i="1"/>
              <a:t> ştim cu siguranţ</a:t>
            </a:r>
            <a:r>
              <a:rPr lang="vi-VN" sz="2000" b="1" i="1"/>
              <a:t>ă</a:t>
            </a:r>
            <a:r>
              <a:rPr lang="en-US" sz="2000" b="1" i="1"/>
              <a:t> tipul obiectului putem folosi “static_cast”.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 i="1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FF0000"/>
                </a:solidFill>
              </a:rPr>
              <a:t>Static_cast</a:t>
            </a:r>
            <a:r>
              <a:rPr lang="en-US" sz="2000"/>
              <a:t> întoarce pointer c</a:t>
            </a:r>
            <a:r>
              <a:rPr lang="vi-VN" sz="2000"/>
              <a:t>ă</a:t>
            </a:r>
            <a:r>
              <a:rPr lang="en-US" sz="2000"/>
              <a:t>tre obiectul care satisface cerinţele sau 0.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sz="2000"/>
              <a:t>Foloseşte tabelele VTABLE pentru determinarea tipului.</a:t>
            </a:r>
          </a:p>
          <a:p>
            <a:pPr>
              <a:buClr>
                <a:srgbClr val="000000"/>
              </a:buClr>
              <a:buSzPts val="1100"/>
              <a:buFont typeface="Arial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64518" name="Google Shape;833;p76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841;p7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A4F806F-29A3-4E3C-9A32-6320A37DA46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46</a:t>
            </a:fld>
            <a:endParaRPr lang="en-US" sz="1800"/>
          </a:p>
        </p:txBody>
      </p:sp>
      <p:sp>
        <p:nvSpPr>
          <p:cNvPr id="65541" name="Google Shape;844;p77"/>
          <p:cNvSpPr txBox="1">
            <a:spLocks noChangeArrowheads="1"/>
          </p:cNvSpPr>
          <p:nvPr/>
        </p:nvSpPr>
        <p:spPr bwMode="auto">
          <a:xfrm>
            <a:off x="274638" y="1254125"/>
            <a:ext cx="9634537" cy="5072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Downcasting</a:t>
            </a:r>
            <a:endParaRPr lang="en-US" sz="2400" b="1" i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Pet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 dirty="0">
                <a:latin typeface="Times New Roman" pitchFamily="18" charset="0"/>
              </a:rPr>
              <a:t>Pet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{}};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Dog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Pet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{};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Cat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Pet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{};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Pet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dirty="0">
                <a:latin typeface="Times New Roman" pitchFamily="18" charset="0"/>
              </a:rPr>
              <a:t> b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</a:rPr>
              <a:t>new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Cat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latin typeface="Times New Roman" pitchFamily="18" charset="0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// </a:t>
            </a:r>
            <a:r>
              <a:rPr lang="en-US" sz="2000" b="1" dirty="0" err="1">
                <a:solidFill>
                  <a:srgbClr val="696969"/>
                </a:solidFill>
                <a:latin typeface="Times New Roman" pitchFamily="18" charset="0"/>
              </a:rPr>
              <a:t>Upcast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Dog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dirty="0">
                <a:latin typeface="Times New Roman" pitchFamily="18" charset="0"/>
              </a:rPr>
              <a:t> d1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dynamic_cast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&lt;</a:t>
            </a:r>
            <a:r>
              <a:rPr lang="en-US" sz="2000" dirty="0">
                <a:latin typeface="Times New Roman" pitchFamily="18" charset="0"/>
              </a:rPr>
              <a:t>Dog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&gt;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b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latin typeface="Times New Roman" pitchFamily="18" charset="0"/>
              </a:rPr>
              <a:t>  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// </a:t>
            </a:r>
            <a:r>
              <a:rPr lang="en-US" sz="2000" b="1" dirty="0" err="1">
                <a:solidFill>
                  <a:srgbClr val="696969"/>
                </a:solidFill>
                <a:latin typeface="Times New Roman" pitchFamily="18" charset="0"/>
              </a:rPr>
              <a:t>Afis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 - 0; Try to cast it to Dog*: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Cat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dirty="0">
                <a:latin typeface="Times New Roman" pitchFamily="18" charset="0"/>
              </a:rPr>
              <a:t> d2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itchFamily="18" charset="0"/>
              </a:rPr>
              <a:t>dynamic_cast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&lt;</a:t>
            </a:r>
            <a:r>
              <a:rPr lang="en-US" sz="2000" dirty="0">
                <a:latin typeface="Times New Roman" pitchFamily="18" charset="0"/>
              </a:rPr>
              <a:t>Cat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&gt;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dirty="0">
                <a:latin typeface="Times New Roman" pitchFamily="18" charset="0"/>
              </a:rPr>
              <a:t>b</a:t>
            </a:r>
            <a:r>
              <a:rPr lang="en-US" sz="2000" b="1" dirty="0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 b="1" dirty="0">
                <a:solidFill>
                  <a:srgbClr val="696969"/>
                </a:solidFill>
                <a:latin typeface="Times New Roman" pitchFamily="18" charset="0"/>
              </a:rPr>
              <a:t>// Try to cast it to Cat*:</a:t>
            </a:r>
            <a:endParaRPr lang="en-US" sz="2000" b="1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it-IT" sz="2000" dirty="0">
                <a:latin typeface="Times New Roman" pitchFamily="18" charset="0"/>
              </a:rPr>
              <a:t>  </a:t>
            </a:r>
            <a:r>
              <a:rPr lang="it-IT" sz="2000" dirty="0">
                <a:solidFill>
                  <a:srgbClr val="696969"/>
                </a:solidFill>
                <a:latin typeface="Times New Roman" pitchFamily="18" charset="0"/>
              </a:rPr>
              <a:t>// b si d2 retin aceeasi adresa</a:t>
            </a:r>
            <a:endParaRPr lang="it-IT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d1 =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d1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latin typeface="Times New Roman" pitchFamily="18" charset="0"/>
              </a:rPr>
              <a:t> 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d2 =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d2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solidFill>
                  <a:srgbClr val="0000E6"/>
                </a:solidFill>
                <a:latin typeface="Times New Roman" pitchFamily="18" charset="0"/>
              </a:rPr>
              <a:t>b  = </a:t>
            </a:r>
            <a:r>
              <a:rPr lang="en-US" sz="2000" dirty="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b </a:t>
            </a:r>
            <a:r>
              <a:rPr lang="en-US" sz="2000" dirty="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dirty="0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dirty="0"/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 dirty="0">
              <a:solidFill>
                <a:srgbClr val="0000FF"/>
              </a:solidFill>
            </a:endParaRPr>
          </a:p>
        </p:txBody>
      </p:sp>
      <p:sp>
        <p:nvSpPr>
          <p:cNvPr id="65542" name="Google Shape;845;p77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Google Shape;853;p78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4D5952D-40C9-4162-89EC-BFE2559DB2BB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47</a:t>
            </a:fld>
            <a:endParaRPr lang="en-US" sz="1800"/>
          </a:p>
        </p:txBody>
      </p:sp>
      <p:sp>
        <p:nvSpPr>
          <p:cNvPr id="66565" name="Google Shape;856;p78"/>
          <p:cNvSpPr txBox="1">
            <a:spLocks noChangeArrowheads="1"/>
          </p:cNvSpPr>
          <p:nvPr/>
        </p:nvSpPr>
        <p:spPr bwMode="auto">
          <a:xfrm>
            <a:off x="274638" y="1254125"/>
            <a:ext cx="5227637" cy="5072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b="1" i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Downcasting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 b="1">
              <a:solidFill>
                <a:srgbClr val="800000"/>
              </a:solidFill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Shape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virtual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~</a:t>
            </a:r>
            <a:r>
              <a:rPr lang="en-US" sz="2000">
                <a:latin typeface="Times New Roman" pitchFamily="18" charset="0"/>
              </a:rPr>
              <a:t>Shape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{};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Circle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Shape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Square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: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public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Shape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class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>
                <a:latin typeface="Times New Roman" pitchFamily="18" charset="0"/>
              </a:rPr>
              <a:t>Other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{};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400000"/>
                </a:solidFill>
                <a:latin typeface="Times New Roman" pitchFamily="18" charset="0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{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Circle c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Shape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s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&amp;</a:t>
            </a:r>
            <a:r>
              <a:rPr lang="en-US" sz="2000">
                <a:latin typeface="Times New Roman" pitchFamily="18" charset="0"/>
              </a:rPr>
              <a:t>c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Upcast: normal and OK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More explicit but unnecessary: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s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&lt;</a:t>
            </a:r>
            <a:r>
              <a:rPr lang="en-US" sz="2000" b="1">
                <a:latin typeface="Times New Roman" pitchFamily="18" charset="0"/>
              </a:rPr>
              <a:t>Shape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(&amp;</a:t>
            </a:r>
            <a:r>
              <a:rPr lang="en-US" sz="2000" b="1">
                <a:latin typeface="Times New Roman" pitchFamily="18" charset="0"/>
              </a:rPr>
              <a:t>c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(Since upcasting is such a safe and common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operation, the cast becomes cluttering)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Circle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cp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Square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sp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itchFamily="18" charset="0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000"/>
          </a:p>
        </p:txBody>
      </p:sp>
      <p:sp>
        <p:nvSpPr>
          <p:cNvPr id="66566" name="Google Shape;857;p78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sz="2000" b="1"/>
              <a:t>2. Polimorfismul la execuţie prin funcţii virtuale</a:t>
            </a:r>
          </a:p>
        </p:txBody>
      </p:sp>
      <p:sp>
        <p:nvSpPr>
          <p:cNvPr id="66567" name="Google Shape;858;p78"/>
          <p:cNvSpPr txBox="1">
            <a:spLocks noChangeArrowheads="1"/>
          </p:cNvSpPr>
          <p:nvPr/>
        </p:nvSpPr>
        <p:spPr bwMode="auto">
          <a:xfrm>
            <a:off x="5245100" y="1371600"/>
            <a:ext cx="4665663" cy="584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Static Navigation of class hierarchies requires extra type information:  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  if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==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(c</a:t>
            </a:r>
            <a:r>
              <a:rPr lang="en-US" sz="2000" b="1">
                <a:latin typeface="Times New Roman" pitchFamily="18" charset="0"/>
              </a:rPr>
              <a:t>p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))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 // C++ RTTI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cp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&lt;</a:t>
            </a:r>
            <a:r>
              <a:rPr lang="en-US" sz="2000" b="1">
                <a:latin typeface="Times New Roman" pitchFamily="18" charset="0"/>
              </a:rPr>
              <a:t>Circle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==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sp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sp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&lt;</a:t>
            </a:r>
            <a:r>
              <a:rPr lang="en-US" sz="2000" b="1">
                <a:latin typeface="Times New Roman" pitchFamily="18" charset="0"/>
              </a:rPr>
              <a:t>Square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cp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!=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0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It's a circle!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 b="1">
                <a:latin typeface="Times New Roman" pitchFamily="18" charset="0"/>
              </a:rPr>
              <a:t>sp 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!=</a:t>
            </a:r>
            <a:r>
              <a:rPr lang="en-US" sz="2000" b="1">
                <a:latin typeface="Times New Roman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itchFamily="18" charset="0"/>
              </a:rPr>
              <a:t>0</a:t>
            </a:r>
            <a:r>
              <a:rPr lang="en-US" sz="2000" b="1">
                <a:solidFill>
                  <a:srgbClr val="808030"/>
                </a:solidFill>
                <a:latin typeface="Times New Roman" pitchFamily="18" charset="0"/>
              </a:rPr>
              <a:t>)</a:t>
            </a:r>
            <a:endParaRPr lang="en-US" sz="2000" b="1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cout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itchFamily="18" charset="0"/>
              </a:rPr>
              <a:t>It's a square!</a:t>
            </a:r>
            <a:r>
              <a:rPr lang="en-US" sz="2000">
                <a:solidFill>
                  <a:srgbClr val="800000"/>
                </a:solidFill>
                <a:latin typeface="Times New Roman" pitchFamily="18" charset="0"/>
              </a:rPr>
              <a:t>"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&lt;&lt;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itchFamily="18" charset="0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Static navigation is ONLY an efficiency hack;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dynamic_cast is always safer. However: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Other* op = static_cast&lt;Other*&gt;(s);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Conveniently gives an error message, while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Other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</a:t>
            </a:r>
            <a:r>
              <a:rPr lang="en-US" sz="2000">
                <a:latin typeface="Times New Roman" pitchFamily="18" charset="0"/>
              </a:rPr>
              <a:t> op2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=</a:t>
            </a:r>
            <a:r>
              <a:rPr lang="en-US" sz="2000"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(</a:t>
            </a:r>
            <a:r>
              <a:rPr lang="en-US" sz="2000">
                <a:latin typeface="Times New Roman" pitchFamily="18" charset="0"/>
              </a:rPr>
              <a:t>Other</a:t>
            </a:r>
            <a:r>
              <a:rPr lang="en-US" sz="2000">
                <a:solidFill>
                  <a:srgbClr val="808030"/>
                </a:solidFill>
                <a:latin typeface="Times New Roman" pitchFamily="18" charset="0"/>
              </a:rPr>
              <a:t>*)</a:t>
            </a:r>
            <a:r>
              <a:rPr lang="en-US" sz="2000">
                <a:latin typeface="Times New Roman" pitchFamily="18" charset="0"/>
              </a:rPr>
              <a:t>s</a:t>
            </a:r>
            <a:r>
              <a:rPr lang="en-US" sz="2000">
                <a:solidFill>
                  <a:srgbClr val="800080"/>
                </a:solidFill>
                <a:latin typeface="Times New Roman" pitchFamily="18" charset="0"/>
              </a:rPr>
              <a:t>;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>
                <a:latin typeface="Times New Roman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itchFamily="18" charset="0"/>
              </a:rPr>
              <a:t>// does not</a:t>
            </a:r>
            <a:endParaRPr lang="en-US" sz="2000">
              <a:latin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0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Google Shape;866;p79"/>
          <p:cNvSpPr>
            <a:spLocks noChangeArrowheads="1"/>
          </p:cNvSpPr>
          <p:nvPr/>
        </p:nvSpPr>
        <p:spPr bwMode="auto">
          <a:xfrm>
            <a:off x="9236075" y="7062788"/>
            <a:ext cx="6985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54B7120-4842-49D8-B105-2E9BDCFA2853}" type="slidenum">
              <a:rPr lang="en-US" sz="1500"/>
              <a:pPr algn="r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48</a:t>
            </a:fld>
            <a:endParaRPr lang="en-US" sz="1800"/>
          </a:p>
        </p:txBody>
      </p:sp>
      <p:sp>
        <p:nvSpPr>
          <p:cNvPr id="67589" name="Google Shape;869;p79"/>
          <p:cNvSpPr>
            <a:spLocks noChangeArrowheads="1"/>
          </p:cNvSpPr>
          <p:nvPr/>
        </p:nvSpPr>
        <p:spPr bwMode="auto">
          <a:xfrm>
            <a:off x="2322513" y="836613"/>
            <a:ext cx="55403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600"/>
              <a:buFont typeface="Arial" charset="0"/>
              <a:buNone/>
            </a:pPr>
            <a:r>
              <a:rPr lang="en-US" sz="2600" b="1">
                <a:solidFill>
                  <a:srgbClr val="0C1C1D"/>
                </a:solidFill>
              </a:rPr>
              <a:t>Perspective</a:t>
            </a:r>
            <a:endParaRPr lang="en-US" sz="1800"/>
          </a:p>
        </p:txBody>
      </p:sp>
      <p:sp>
        <p:nvSpPr>
          <p:cNvPr id="67590" name="Google Shape;870;p79"/>
          <p:cNvSpPr>
            <a:spLocks noChangeArrowheads="1"/>
          </p:cNvSpPr>
          <p:nvPr/>
        </p:nvSpPr>
        <p:spPr bwMode="auto">
          <a:xfrm>
            <a:off x="1136650" y="1879600"/>
            <a:ext cx="8232775" cy="460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5000" rIns="90000" bIns="45000"/>
          <a:lstStyle/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Cursul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7:</a:t>
            </a: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Mostenire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completari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vi-VN" sz="1800" dirty="0"/>
              <a:t>C</a:t>
            </a:r>
            <a:r>
              <a:rPr lang="en-US" sz="1800" dirty="0" err="1"/>
              <a:t>opy</a:t>
            </a:r>
            <a:r>
              <a:rPr lang="en-US" sz="1800" dirty="0"/>
              <a:t> constructor, operator </a:t>
            </a:r>
            <a:r>
              <a:rPr lang="vi-VN" sz="1800" dirty="0"/>
              <a:t>=</a:t>
            </a:r>
            <a:r>
              <a:rPr lang="en-US" sz="1800" dirty="0"/>
              <a:t>, </a:t>
            </a:r>
            <a:r>
              <a:rPr lang="vi-VN" sz="1800" dirty="0"/>
              <a:t>destructor pt clasele cu atribute de tip pointer</a:t>
            </a:r>
            <a:br>
              <a:rPr lang="vi-VN" sz="1800" dirty="0"/>
            </a:br>
            <a:r>
              <a:rPr lang="vi-VN" sz="1800" dirty="0"/>
              <a:t>- clone, copy&amp;swap, </a:t>
            </a:r>
            <a:endParaRPr lang="en-US" sz="1800" dirty="0"/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1800" dirty="0"/>
              <a:t>- </a:t>
            </a:r>
            <a:r>
              <a:rPr lang="vi-VN" sz="1800" dirty="0"/>
              <a:t>RAII</a:t>
            </a:r>
            <a:r>
              <a:rPr lang="en-US" sz="1800" dirty="0"/>
              <a:t> (</a:t>
            </a:r>
            <a:r>
              <a:rPr lang="en-US" sz="1800" i="1" dirty="0"/>
              <a:t>Resource Acquisition Is Initialization</a:t>
            </a:r>
            <a:r>
              <a:rPr lang="en-US" sz="1800" dirty="0"/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000000"/>
              </a:buClr>
              <a:buFont typeface="Arial" charset="0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Tratarea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exceptiilor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te a new document." ma:contentTypeScope="" ma:versionID="c4b86bf4112670e546faf249db29eaac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385c4a4ff57182115937dd93269c8853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5F0668-CCE0-4DF5-8EC8-D6946AAA88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D1AEAC-39BC-4314-A20F-3B85927ED92B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9e395dfe-8be7-4ab8-8eec-6245ed9055d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681B3C5-2396-446D-BAA7-27D932064B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11d0cb-f29a-4db3-9b8c-3b4d1a821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1254</TotalTime>
  <Words>5320</Words>
  <Application>Microsoft Office PowerPoint</Application>
  <PresentationFormat>Custom</PresentationFormat>
  <Paragraphs>954</Paragraphs>
  <Slides>48</Slides>
  <Notes>48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</dc:creator>
  <cp:lastModifiedBy>Admin</cp:lastModifiedBy>
  <cp:revision>195</cp:revision>
  <dcterms:modified xsi:type="dcterms:W3CDTF">2026-04-22T13:32:19Z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