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721" r:id="rId5"/>
  </p:sldMasterIdLst>
  <p:notesMasterIdLst>
    <p:notesMasterId r:id="rId67"/>
  </p:notesMasterIdLst>
  <p:sldIdLst>
    <p:sldId id="256" r:id="rId6"/>
    <p:sldId id="257" r:id="rId7"/>
    <p:sldId id="612" r:id="rId8"/>
    <p:sldId id="613" r:id="rId9"/>
    <p:sldId id="667" r:id="rId10"/>
    <p:sldId id="561" r:id="rId11"/>
    <p:sldId id="621" r:id="rId12"/>
    <p:sldId id="622" r:id="rId13"/>
    <p:sldId id="563" r:id="rId14"/>
    <p:sldId id="602" r:id="rId15"/>
    <p:sldId id="565" r:id="rId16"/>
    <p:sldId id="666" r:id="rId17"/>
    <p:sldId id="627" r:id="rId18"/>
    <p:sldId id="631" r:id="rId19"/>
    <p:sldId id="633" r:id="rId20"/>
    <p:sldId id="645" r:id="rId21"/>
    <p:sldId id="650" r:id="rId22"/>
    <p:sldId id="656" r:id="rId23"/>
    <p:sldId id="657" r:id="rId24"/>
    <p:sldId id="659" r:id="rId25"/>
    <p:sldId id="660" r:id="rId26"/>
    <p:sldId id="661" r:id="rId27"/>
    <p:sldId id="663" r:id="rId28"/>
    <p:sldId id="664" r:id="rId29"/>
    <p:sldId id="665" r:id="rId30"/>
    <p:sldId id="603" r:id="rId31"/>
    <p:sldId id="604" r:id="rId32"/>
    <p:sldId id="605" r:id="rId33"/>
    <p:sldId id="606" r:id="rId34"/>
    <p:sldId id="638" r:id="rId35"/>
    <p:sldId id="570" r:id="rId36"/>
    <p:sldId id="571" r:id="rId37"/>
    <p:sldId id="626" r:id="rId38"/>
    <p:sldId id="607" r:id="rId39"/>
    <p:sldId id="578" r:id="rId40"/>
    <p:sldId id="513" r:id="rId41"/>
    <p:sldId id="514" r:id="rId42"/>
    <p:sldId id="595" r:id="rId43"/>
    <p:sldId id="596" r:id="rId44"/>
    <p:sldId id="598" r:id="rId45"/>
    <p:sldId id="611" r:id="rId46"/>
    <p:sldId id="597" r:id="rId47"/>
    <p:sldId id="588" r:id="rId48"/>
    <p:sldId id="589" r:id="rId49"/>
    <p:sldId id="590" r:id="rId50"/>
    <p:sldId id="591" r:id="rId51"/>
    <p:sldId id="581" r:id="rId52"/>
    <p:sldId id="582" r:id="rId53"/>
    <p:sldId id="583" r:id="rId54"/>
    <p:sldId id="585" r:id="rId55"/>
    <p:sldId id="586" r:id="rId56"/>
    <p:sldId id="515" r:id="rId57"/>
    <p:sldId id="594" r:id="rId58"/>
    <p:sldId id="538" r:id="rId59"/>
    <p:sldId id="539" r:id="rId60"/>
    <p:sldId id="540" r:id="rId61"/>
    <p:sldId id="541" r:id="rId62"/>
    <p:sldId id="543" r:id="rId63"/>
    <p:sldId id="592" r:id="rId64"/>
    <p:sldId id="593" r:id="rId65"/>
    <p:sldId id="610" r:id="rId6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4592A7-117D-4D48-A283-B0EDE1289BD3}" v="5" dt="2026-03-14T16:54:21.1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91" autoAdjust="0"/>
    <p:restoredTop sz="94660"/>
  </p:normalViewPr>
  <p:slideViewPr>
    <p:cSldViewPr>
      <p:cViewPr>
        <p:scale>
          <a:sx n="71" d="100"/>
          <a:sy n="71" d="100"/>
        </p:scale>
        <p:origin x="-1148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" Type="http://schemas.openxmlformats.org/officeDocument/2006/relationships/slide" Target="slides/slide2.xml"/><Relationship Id="rId7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LORIN ALEXANDRU GAVRILA" userId="S::florin-alexandru.gavrila@s.unibuc.ro::5f1f6806-f4d1-4909-aa61-ccc0cf118dce" providerId="AD" clId="Web-{DF4592A7-117D-4D48-A283-B0EDE1289BD3}"/>
    <pc:docChg chg="sldOrd">
      <pc:chgData name="FLORIN ALEXANDRU GAVRILA" userId="S::florin-alexandru.gavrila@s.unibuc.ro::5f1f6806-f4d1-4909-aa61-ccc0cf118dce" providerId="AD" clId="Web-{DF4592A7-117D-4D48-A283-B0EDE1289BD3}" dt="2026-03-14T16:54:21.145" v="4"/>
      <pc:docMkLst>
        <pc:docMk/>
      </pc:docMkLst>
      <pc:sldChg chg="ord">
        <pc:chgData name="FLORIN ALEXANDRU GAVRILA" userId="S::florin-alexandru.gavrila@s.unibuc.ro::5f1f6806-f4d1-4909-aa61-ccc0cf118dce" providerId="AD" clId="Web-{DF4592A7-117D-4D48-A283-B0EDE1289BD3}" dt="2026-03-14T16:54:19.020" v="3"/>
        <pc:sldMkLst>
          <pc:docMk/>
          <pc:sldMk cId="0" sldId="597"/>
        </pc:sldMkLst>
      </pc:sldChg>
      <pc:sldChg chg="ord">
        <pc:chgData name="FLORIN ALEXANDRU GAVRILA" userId="S::florin-alexandru.gavrila@s.unibuc.ro::5f1f6806-f4d1-4909-aa61-ccc0cf118dce" providerId="AD" clId="Web-{DF4592A7-117D-4D48-A283-B0EDE1289BD3}" dt="2026-03-14T16:54:21.145" v="4"/>
        <pc:sldMkLst>
          <pc:docMk/>
          <pc:sldMk cId="0" sldId="61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44766C11-F198-4F21-8C89-EC0C720FE6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6820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2D304F-615F-40B9-A7FF-F1AF32DA0F5F}" type="slidenum">
              <a:rPr lang="en-US" altLang="ro-RO" smtClean="0"/>
              <a:pPr/>
              <a:t>1</a:t>
            </a:fld>
            <a:endParaRPr lang="en-US" altLang="ro-RO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C6444C-D807-46C8-9235-1BCC059D7366}" type="slidenum">
              <a:rPr lang="en-US" altLang="ro-RO" smtClean="0"/>
              <a:pPr/>
              <a:t>2</a:t>
            </a:fld>
            <a:endParaRPr lang="en-US" altLang="ro-RO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CustomShape 1"/>
          <p:cNvSpPr/>
          <p:nvPr/>
        </p:nvSpPr>
        <p:spPr>
          <a:xfrm>
            <a:off x="3881392" y="8685833"/>
            <a:ext cx="2953211" cy="4351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93000"/>
              </a:lnSpc>
            </a:pPr>
            <a:fld id="{FF29ADB8-8965-4967-B130-634A4E5093B1}" type="slidenum">
              <a:rPr lang="en-US" sz="1300" spc="-1">
                <a:solidFill>
                  <a:srgbClr val="000000"/>
                </a:solidFill>
                <a:latin typeface="Times New Roman"/>
                <a:ea typeface="Times New Roman"/>
              </a:rPr>
              <a:t>3</a:t>
            </a:fld>
            <a:endParaRPr lang="en-US" sz="1300" spc="-1">
              <a:latin typeface="Arial"/>
            </a:endParaRPr>
          </a:p>
        </p:txBody>
      </p:sp>
      <p:sp>
        <p:nvSpPr>
          <p:cNvPr id="501" name="CustomShape 2"/>
          <p:cNvSpPr/>
          <p:nvPr/>
        </p:nvSpPr>
        <p:spPr>
          <a:xfrm>
            <a:off x="3881392" y="8685833"/>
            <a:ext cx="2956341" cy="43807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93000"/>
              </a:lnSpc>
            </a:pPr>
            <a:fld id="{74174D23-0DEC-4DBA-9C2C-2FF09933222A}" type="slidenum">
              <a:rPr lang="en-US" sz="1300" spc="-1">
                <a:solidFill>
                  <a:srgbClr val="000000"/>
                </a:solidFill>
                <a:latin typeface="Times New Roman"/>
                <a:ea typeface="Times New Roman"/>
              </a:rPr>
              <a:t>3</a:t>
            </a:fld>
            <a:endParaRPr lang="en-US" sz="1300" spc="-1">
              <a:latin typeface="Arial"/>
            </a:endParaRPr>
          </a:p>
        </p:txBody>
      </p:sp>
      <p:sp>
        <p:nvSpPr>
          <p:cNvPr id="502" name="PlaceHolder 3"/>
          <p:cNvSpPr>
            <a:spLocks noGrp="1" noRot="1" noChangeAspect="1"/>
          </p:cNvSpPr>
          <p:nvPr>
            <p:ph type="sldImg"/>
          </p:nvPr>
        </p:nvSpPr>
        <p:spPr>
          <a:xfrm>
            <a:off x="1144588" y="693738"/>
            <a:ext cx="4556125" cy="3417887"/>
          </a:xfrm>
          <a:prstGeom prst="rect">
            <a:avLst/>
          </a:prstGeom>
        </p:spPr>
      </p:sp>
      <p:sp>
        <p:nvSpPr>
          <p:cNvPr id="503" name="CustomShape 4"/>
          <p:cNvSpPr/>
          <p:nvPr/>
        </p:nvSpPr>
        <p:spPr>
          <a:xfrm>
            <a:off x="687181" y="4343077"/>
            <a:ext cx="5474499" cy="410281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04" name="PlaceHolder 5"/>
          <p:cNvSpPr>
            <a:spLocks noGrp="1"/>
          </p:cNvSpPr>
          <p:nvPr>
            <p:ph type="body"/>
          </p:nvPr>
        </p:nvSpPr>
        <p:spPr>
          <a:xfrm>
            <a:off x="687181" y="4343077"/>
            <a:ext cx="5460588" cy="409027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1800" spc="-1"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4:notes"/>
          <p:cNvSpPr txBox="1"/>
          <p:nvPr/>
        </p:nvSpPr>
        <p:spPr>
          <a:xfrm>
            <a:off x="3881395" y="8685878"/>
            <a:ext cx="2953602" cy="435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</a:pPr>
              <a:t>5</a:t>
            </a:fld>
            <a:endParaRPr/>
          </a:p>
        </p:txBody>
      </p:sp>
      <p:sp>
        <p:nvSpPr>
          <p:cNvPr id="462" name="Google Shape;462;p24:notes"/>
          <p:cNvSpPr txBox="1"/>
          <p:nvPr/>
        </p:nvSpPr>
        <p:spPr>
          <a:xfrm>
            <a:off x="3881394" y="8685878"/>
            <a:ext cx="2956669" cy="43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</a:pPr>
              <a:t>5</a:t>
            </a:fld>
            <a:endParaRPr/>
          </a:p>
        </p:txBody>
      </p:sp>
      <p:sp>
        <p:nvSpPr>
          <p:cNvPr id="463" name="Google Shape;46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93738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64" name="Google Shape;464;p24:notes"/>
          <p:cNvSpPr/>
          <p:nvPr/>
        </p:nvSpPr>
        <p:spPr>
          <a:xfrm>
            <a:off x="687027" y="4342939"/>
            <a:ext cx="5474745" cy="410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42186" rIns="84394" bIns="42186" anchor="ctr" anchorCtr="0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endParaRPr sz="1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4:notes"/>
          <p:cNvSpPr txBox="1">
            <a:spLocks noGrp="1"/>
          </p:cNvSpPr>
          <p:nvPr>
            <p:ph type="body" idx="1"/>
          </p:nvPr>
        </p:nvSpPr>
        <p:spPr>
          <a:xfrm>
            <a:off x="687027" y="4342939"/>
            <a:ext cx="5460943" cy="40904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>
              <a:cs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5:notes"/>
          <p:cNvSpPr txBox="1"/>
          <p:nvPr/>
        </p:nvSpPr>
        <p:spPr>
          <a:xfrm>
            <a:off x="3881395" y="8685878"/>
            <a:ext cx="2953602" cy="435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</a:pPr>
              <a:t>6</a:t>
            </a:fld>
            <a:endParaRPr/>
          </a:p>
        </p:txBody>
      </p:sp>
      <p:sp>
        <p:nvSpPr>
          <p:cNvPr id="476" name="Google Shape;476;p25:notes"/>
          <p:cNvSpPr txBox="1"/>
          <p:nvPr/>
        </p:nvSpPr>
        <p:spPr>
          <a:xfrm>
            <a:off x="3881394" y="8685878"/>
            <a:ext cx="2956669" cy="43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</a:pPr>
              <a:t>6</a:t>
            </a:fld>
            <a:endParaRPr/>
          </a:p>
        </p:txBody>
      </p:sp>
      <p:sp>
        <p:nvSpPr>
          <p:cNvPr id="477" name="Google Shape;47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93738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78" name="Google Shape;478;p25:notes"/>
          <p:cNvSpPr/>
          <p:nvPr/>
        </p:nvSpPr>
        <p:spPr>
          <a:xfrm>
            <a:off x="687027" y="4342939"/>
            <a:ext cx="5474745" cy="410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42186" rIns="84394" bIns="42186" anchor="ctr" anchorCtr="0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endParaRPr sz="1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5:notes"/>
          <p:cNvSpPr txBox="1">
            <a:spLocks noGrp="1"/>
          </p:cNvSpPr>
          <p:nvPr>
            <p:ph type="body" idx="1"/>
          </p:nvPr>
        </p:nvSpPr>
        <p:spPr>
          <a:xfrm>
            <a:off x="687027" y="4342939"/>
            <a:ext cx="5460943" cy="40904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6:notes"/>
          <p:cNvSpPr txBox="1"/>
          <p:nvPr/>
        </p:nvSpPr>
        <p:spPr>
          <a:xfrm>
            <a:off x="3881395" y="8685878"/>
            <a:ext cx="2953602" cy="435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</a:pPr>
              <a:t>9</a:t>
            </a:fld>
            <a:endParaRPr/>
          </a:p>
        </p:txBody>
      </p:sp>
      <p:sp>
        <p:nvSpPr>
          <p:cNvPr id="489" name="Google Shape;489;p26:notes"/>
          <p:cNvSpPr txBox="1"/>
          <p:nvPr/>
        </p:nvSpPr>
        <p:spPr>
          <a:xfrm>
            <a:off x="3881394" y="8685878"/>
            <a:ext cx="2956669" cy="43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</a:pPr>
              <a:t>9</a:t>
            </a:fld>
            <a:endParaRPr/>
          </a:p>
        </p:txBody>
      </p:sp>
      <p:sp>
        <p:nvSpPr>
          <p:cNvPr id="490" name="Google Shape;49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93738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91" name="Google Shape;491;p26:notes"/>
          <p:cNvSpPr/>
          <p:nvPr/>
        </p:nvSpPr>
        <p:spPr>
          <a:xfrm>
            <a:off x="687027" y="4342939"/>
            <a:ext cx="5474745" cy="410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42186" rIns="84394" bIns="42186" anchor="ctr" anchorCtr="0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endParaRPr sz="1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6:notes"/>
          <p:cNvSpPr txBox="1">
            <a:spLocks noGrp="1"/>
          </p:cNvSpPr>
          <p:nvPr>
            <p:ph type="body" idx="1"/>
          </p:nvPr>
        </p:nvSpPr>
        <p:spPr>
          <a:xfrm>
            <a:off x="687027" y="4342939"/>
            <a:ext cx="5460943" cy="40904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6:notes"/>
          <p:cNvSpPr txBox="1"/>
          <p:nvPr/>
        </p:nvSpPr>
        <p:spPr>
          <a:xfrm>
            <a:off x="3881395" y="8685878"/>
            <a:ext cx="2953602" cy="435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</a:pPr>
              <a:t>10</a:t>
            </a:fld>
            <a:endParaRPr/>
          </a:p>
        </p:txBody>
      </p:sp>
      <p:sp>
        <p:nvSpPr>
          <p:cNvPr id="489" name="Google Shape;489;p26:notes"/>
          <p:cNvSpPr txBox="1"/>
          <p:nvPr/>
        </p:nvSpPr>
        <p:spPr>
          <a:xfrm>
            <a:off x="3881394" y="8685878"/>
            <a:ext cx="2956669" cy="43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</a:pPr>
              <a:t>10</a:t>
            </a:fld>
            <a:endParaRPr/>
          </a:p>
        </p:txBody>
      </p:sp>
      <p:sp>
        <p:nvSpPr>
          <p:cNvPr id="490" name="Google Shape;49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93738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91" name="Google Shape;491;p26:notes"/>
          <p:cNvSpPr/>
          <p:nvPr/>
        </p:nvSpPr>
        <p:spPr>
          <a:xfrm>
            <a:off x="687027" y="4342939"/>
            <a:ext cx="5474745" cy="410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42186" rIns="84394" bIns="42186" anchor="ctr" anchorCtr="0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endParaRPr sz="1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6:notes"/>
          <p:cNvSpPr txBox="1">
            <a:spLocks noGrp="1"/>
          </p:cNvSpPr>
          <p:nvPr>
            <p:ph type="body" idx="1"/>
          </p:nvPr>
        </p:nvSpPr>
        <p:spPr>
          <a:xfrm>
            <a:off x="687027" y="4342939"/>
            <a:ext cx="5460943" cy="40904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7:notes"/>
          <p:cNvSpPr txBox="1"/>
          <p:nvPr/>
        </p:nvSpPr>
        <p:spPr>
          <a:xfrm>
            <a:off x="3881395" y="8685878"/>
            <a:ext cx="2953602" cy="435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</a:pPr>
              <a:t>11</a:t>
            </a:fld>
            <a:endParaRPr/>
          </a:p>
        </p:txBody>
      </p:sp>
      <p:sp>
        <p:nvSpPr>
          <p:cNvPr id="502" name="Google Shape;502;p27:notes"/>
          <p:cNvSpPr txBox="1"/>
          <p:nvPr/>
        </p:nvSpPr>
        <p:spPr>
          <a:xfrm>
            <a:off x="3881394" y="8685878"/>
            <a:ext cx="2956669" cy="43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</a:pPr>
              <a:t>11</a:t>
            </a:fld>
            <a:endParaRPr/>
          </a:p>
        </p:txBody>
      </p:sp>
      <p:sp>
        <p:nvSpPr>
          <p:cNvPr id="503" name="Google Shape;50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93738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04" name="Google Shape;504;p27:notes"/>
          <p:cNvSpPr/>
          <p:nvPr/>
        </p:nvSpPr>
        <p:spPr>
          <a:xfrm>
            <a:off x="687027" y="4342939"/>
            <a:ext cx="5474745" cy="410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42186" rIns="84394" bIns="42186" anchor="ctr" anchorCtr="0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endParaRPr sz="1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7:notes"/>
          <p:cNvSpPr txBox="1">
            <a:spLocks noGrp="1"/>
          </p:cNvSpPr>
          <p:nvPr>
            <p:ph type="body" idx="1"/>
          </p:nvPr>
        </p:nvSpPr>
        <p:spPr>
          <a:xfrm>
            <a:off x="687027" y="4342939"/>
            <a:ext cx="5460943" cy="40904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7:notes"/>
          <p:cNvSpPr txBox="1"/>
          <p:nvPr/>
        </p:nvSpPr>
        <p:spPr>
          <a:xfrm>
            <a:off x="3881395" y="8685878"/>
            <a:ext cx="2953602" cy="435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</a:pPr>
              <a:t>12</a:t>
            </a:fld>
            <a:endParaRPr/>
          </a:p>
        </p:txBody>
      </p:sp>
      <p:sp>
        <p:nvSpPr>
          <p:cNvPr id="502" name="Google Shape;502;p27:notes"/>
          <p:cNvSpPr txBox="1"/>
          <p:nvPr/>
        </p:nvSpPr>
        <p:spPr>
          <a:xfrm>
            <a:off x="3881394" y="8685878"/>
            <a:ext cx="2956669" cy="43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</a:pPr>
              <a:t>12</a:t>
            </a:fld>
            <a:endParaRPr/>
          </a:p>
        </p:txBody>
      </p:sp>
      <p:sp>
        <p:nvSpPr>
          <p:cNvPr id="503" name="Google Shape;50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93738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04" name="Google Shape;504;p27:notes"/>
          <p:cNvSpPr/>
          <p:nvPr/>
        </p:nvSpPr>
        <p:spPr>
          <a:xfrm>
            <a:off x="687027" y="4342939"/>
            <a:ext cx="5474745" cy="410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42186" rIns="84394" bIns="42186" anchor="ctr" anchorCtr="0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endParaRPr sz="1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7:notes"/>
          <p:cNvSpPr txBox="1">
            <a:spLocks noGrp="1"/>
          </p:cNvSpPr>
          <p:nvPr>
            <p:ph type="body" idx="1"/>
          </p:nvPr>
        </p:nvSpPr>
        <p:spPr>
          <a:xfrm>
            <a:off x="687027" y="4342939"/>
            <a:ext cx="5460943" cy="40904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7:notes"/>
          <p:cNvSpPr txBox="1"/>
          <p:nvPr/>
        </p:nvSpPr>
        <p:spPr>
          <a:xfrm>
            <a:off x="3881395" y="8685878"/>
            <a:ext cx="2953602" cy="435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</a:pPr>
              <a:t>13</a:t>
            </a:fld>
            <a:endParaRPr/>
          </a:p>
        </p:txBody>
      </p:sp>
      <p:sp>
        <p:nvSpPr>
          <p:cNvPr id="502" name="Google Shape;502;p27:notes"/>
          <p:cNvSpPr txBox="1"/>
          <p:nvPr/>
        </p:nvSpPr>
        <p:spPr>
          <a:xfrm>
            <a:off x="3881394" y="8685878"/>
            <a:ext cx="2956669" cy="43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</a:pPr>
              <a:t>13</a:t>
            </a:fld>
            <a:endParaRPr/>
          </a:p>
        </p:txBody>
      </p:sp>
      <p:sp>
        <p:nvSpPr>
          <p:cNvPr id="503" name="Google Shape;50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93738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04" name="Google Shape;504;p27:notes"/>
          <p:cNvSpPr/>
          <p:nvPr/>
        </p:nvSpPr>
        <p:spPr>
          <a:xfrm>
            <a:off x="687027" y="4342939"/>
            <a:ext cx="5474745" cy="410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42186" rIns="84394" bIns="42186" anchor="ctr" anchorCtr="0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endParaRPr sz="1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7:notes"/>
          <p:cNvSpPr txBox="1">
            <a:spLocks noGrp="1"/>
          </p:cNvSpPr>
          <p:nvPr>
            <p:ph type="body" idx="1"/>
          </p:nvPr>
        </p:nvSpPr>
        <p:spPr>
          <a:xfrm>
            <a:off x="687027" y="4342939"/>
            <a:ext cx="5460943" cy="40904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21:notes"/>
          <p:cNvSpPr txBox="1">
            <a:spLocks noGrp="1"/>
          </p:cNvSpPr>
          <p:nvPr>
            <p:ph type="body" idx="1"/>
          </p:nvPr>
        </p:nvSpPr>
        <p:spPr>
          <a:xfrm>
            <a:off x="685494" y="4342939"/>
            <a:ext cx="5487013" cy="4114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84394" rIns="84394" bIns="84394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23:notes"/>
          <p:cNvSpPr txBox="1">
            <a:spLocks noGrp="1"/>
          </p:cNvSpPr>
          <p:nvPr>
            <p:ph type="body" idx="1"/>
          </p:nvPr>
        </p:nvSpPr>
        <p:spPr>
          <a:xfrm>
            <a:off x="685494" y="4342939"/>
            <a:ext cx="5487013" cy="4114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84394" rIns="84394" bIns="84394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2" name="Google Shape;442;p60:notes"/>
          <p:cNvSpPr txBox="1">
            <a:spLocks noGrp="1"/>
          </p:cNvSpPr>
          <p:nvPr>
            <p:ph type="body" idx="1"/>
          </p:nvPr>
        </p:nvSpPr>
        <p:spPr>
          <a:xfrm>
            <a:off x="685494" y="4342939"/>
            <a:ext cx="5487013" cy="4114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84394" rIns="84394" bIns="84394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8" name="Google Shape;478;p65:notes"/>
          <p:cNvSpPr txBox="1">
            <a:spLocks noGrp="1"/>
          </p:cNvSpPr>
          <p:nvPr>
            <p:ph type="body" idx="1"/>
          </p:nvPr>
        </p:nvSpPr>
        <p:spPr>
          <a:xfrm>
            <a:off x="685494" y="4342939"/>
            <a:ext cx="5487013" cy="4114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84394" rIns="84394" bIns="84394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2" name="Google Shape;522;p71:notes"/>
          <p:cNvSpPr txBox="1">
            <a:spLocks noGrp="1"/>
          </p:cNvSpPr>
          <p:nvPr>
            <p:ph type="body" idx="1"/>
          </p:nvPr>
        </p:nvSpPr>
        <p:spPr>
          <a:xfrm>
            <a:off x="685494" y="4342939"/>
            <a:ext cx="5487013" cy="4114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84394" rIns="84394" bIns="84394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0" name="Google Shape;530;p72:notes"/>
          <p:cNvSpPr txBox="1">
            <a:spLocks noGrp="1"/>
          </p:cNvSpPr>
          <p:nvPr>
            <p:ph type="body" idx="1"/>
          </p:nvPr>
        </p:nvSpPr>
        <p:spPr>
          <a:xfrm>
            <a:off x="685494" y="4342939"/>
            <a:ext cx="5487013" cy="4114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84394" rIns="84394" bIns="84394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6" name="Google Shape;546;p74:notes"/>
          <p:cNvSpPr txBox="1">
            <a:spLocks noGrp="1"/>
          </p:cNvSpPr>
          <p:nvPr>
            <p:ph type="body" idx="1"/>
          </p:nvPr>
        </p:nvSpPr>
        <p:spPr>
          <a:xfrm>
            <a:off x="685494" y="4342939"/>
            <a:ext cx="5487013" cy="4114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84394" rIns="84394" bIns="84394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3" name="Google Shape;553;p75:notes"/>
          <p:cNvSpPr txBox="1">
            <a:spLocks noGrp="1"/>
          </p:cNvSpPr>
          <p:nvPr>
            <p:ph type="body" idx="1"/>
          </p:nvPr>
        </p:nvSpPr>
        <p:spPr>
          <a:xfrm>
            <a:off x="685494" y="4342939"/>
            <a:ext cx="5487013" cy="4114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84394" rIns="84394" bIns="84394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0" name="Google Shape;560;p76:notes"/>
          <p:cNvSpPr txBox="1">
            <a:spLocks noGrp="1"/>
          </p:cNvSpPr>
          <p:nvPr>
            <p:ph type="body" idx="1"/>
          </p:nvPr>
        </p:nvSpPr>
        <p:spPr>
          <a:xfrm>
            <a:off x="685494" y="4342939"/>
            <a:ext cx="5487013" cy="4114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84394" rIns="84394" bIns="84394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5" name="Google Shape;575;p78:notes"/>
          <p:cNvSpPr txBox="1">
            <a:spLocks noGrp="1"/>
          </p:cNvSpPr>
          <p:nvPr>
            <p:ph type="body" idx="1"/>
          </p:nvPr>
        </p:nvSpPr>
        <p:spPr>
          <a:xfrm>
            <a:off x="685494" y="4342939"/>
            <a:ext cx="5487013" cy="4114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84394" rIns="84394" bIns="84394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3" name="Google Shape;583;p79:notes"/>
          <p:cNvSpPr txBox="1">
            <a:spLocks noGrp="1"/>
          </p:cNvSpPr>
          <p:nvPr>
            <p:ph type="body" idx="1"/>
          </p:nvPr>
        </p:nvSpPr>
        <p:spPr>
          <a:xfrm>
            <a:off x="685494" y="4342939"/>
            <a:ext cx="5487013" cy="4114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84394" rIns="84394" bIns="84394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0" name="Google Shape;590;p80:notes"/>
          <p:cNvSpPr txBox="1">
            <a:spLocks noGrp="1"/>
          </p:cNvSpPr>
          <p:nvPr>
            <p:ph type="body" idx="1"/>
          </p:nvPr>
        </p:nvSpPr>
        <p:spPr>
          <a:xfrm>
            <a:off x="685494" y="4342939"/>
            <a:ext cx="5487013" cy="4114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84394" rIns="84394" bIns="84394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8:notes"/>
          <p:cNvSpPr txBox="1"/>
          <p:nvPr/>
        </p:nvSpPr>
        <p:spPr>
          <a:xfrm>
            <a:off x="3881395" y="8685878"/>
            <a:ext cx="2953602" cy="435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</a:pPr>
              <a:t>26</a:t>
            </a:fld>
            <a:endParaRPr/>
          </a:p>
        </p:txBody>
      </p:sp>
      <p:sp>
        <p:nvSpPr>
          <p:cNvPr id="515" name="Google Shape;515;p28:notes"/>
          <p:cNvSpPr txBox="1"/>
          <p:nvPr/>
        </p:nvSpPr>
        <p:spPr>
          <a:xfrm>
            <a:off x="3881394" y="8685878"/>
            <a:ext cx="2956669" cy="43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</a:pPr>
              <a:t>26</a:t>
            </a:fld>
            <a:endParaRPr/>
          </a:p>
        </p:txBody>
      </p:sp>
      <p:sp>
        <p:nvSpPr>
          <p:cNvPr id="516" name="Google Shape;51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93738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17" name="Google Shape;517;p28:notes"/>
          <p:cNvSpPr/>
          <p:nvPr/>
        </p:nvSpPr>
        <p:spPr>
          <a:xfrm>
            <a:off x="687027" y="4342939"/>
            <a:ext cx="5474745" cy="410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42186" rIns="84394" bIns="42186" anchor="ctr" anchorCtr="0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endParaRPr sz="1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8:notes"/>
          <p:cNvSpPr txBox="1">
            <a:spLocks noGrp="1"/>
          </p:cNvSpPr>
          <p:nvPr>
            <p:ph type="body" idx="1"/>
          </p:nvPr>
        </p:nvSpPr>
        <p:spPr>
          <a:xfrm>
            <a:off x="687027" y="4342939"/>
            <a:ext cx="5460943" cy="40904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Google Shape;271;g4ceff3631c_0_60:notes"/>
          <p:cNvSpPr>
            <a:spLocks noChangeArrowheads="1"/>
          </p:cNvSpPr>
          <p:nvPr/>
        </p:nvSpPr>
        <p:spPr bwMode="auto">
          <a:xfrm>
            <a:off x="3881438" y="8685213"/>
            <a:ext cx="2952750" cy="43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F36C753B-23DE-4843-A896-254232F75363}" type="slidenum">
              <a:rPr lang="en-US"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</a:pPr>
              <a:t>27</a:t>
            </a:fld>
            <a:endParaRPr lang="en-US" sz="1700" dirty="0"/>
          </a:p>
        </p:txBody>
      </p:sp>
      <p:sp>
        <p:nvSpPr>
          <p:cNvPr id="96259" name="Google Shape;272;g4ceff3631c_0_60:notes"/>
          <p:cNvSpPr>
            <a:spLocks noChangeArrowheads="1"/>
          </p:cNvSpPr>
          <p:nvPr/>
        </p:nvSpPr>
        <p:spPr bwMode="auto">
          <a:xfrm>
            <a:off x="3881439" y="8685214"/>
            <a:ext cx="295592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421E934E-BB74-41D5-978D-DBA96E819208}" type="slidenum">
              <a:rPr lang="en-US"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</a:pPr>
              <a:t>27</a:t>
            </a:fld>
            <a:endParaRPr lang="en-US" sz="1700" dirty="0"/>
          </a:p>
        </p:txBody>
      </p:sp>
      <p:sp>
        <p:nvSpPr>
          <p:cNvPr id="96260" name="Google Shape;273;g4ceff3631c_0_60:notes"/>
          <p:cNvSpPr>
            <a:spLocks noChangeArrowheads="1"/>
          </p:cNvSpPr>
          <p:nvPr/>
        </p:nvSpPr>
        <p:spPr bwMode="auto">
          <a:xfrm>
            <a:off x="687389" y="4343400"/>
            <a:ext cx="5473700" cy="410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4386" tIns="84386" rIns="84386" bIns="84386" anchor="ctr"/>
          <a:lstStyle/>
          <a:p>
            <a:endParaRPr lang="en-US"/>
          </a:p>
        </p:txBody>
      </p:sp>
      <p:sp>
        <p:nvSpPr>
          <p:cNvPr id="96261" name="Google Shape;274;g4ceff3631c_0_60:notes"/>
          <p:cNvSpPr>
            <a:spLocks noGrp="1"/>
          </p:cNvSpPr>
          <p:nvPr>
            <p:ph type="body" idx="1"/>
          </p:nvPr>
        </p:nvSpPr>
        <p:spPr>
          <a:xfrm>
            <a:off x="687388" y="4343400"/>
            <a:ext cx="5461000" cy="4089400"/>
          </a:xfrm>
          <a:noFill/>
          <a:ln/>
        </p:spPr>
        <p:txBody>
          <a:bodyPr lIns="0" tIns="0" rIns="0" bIns="0"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96262" name="Google Shape;275;g4ceff3631c_0_6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6175" y="693738"/>
            <a:ext cx="4540250" cy="3405187"/>
          </a:xfrm>
          <a:custGeom>
            <a:avLst/>
            <a:gdLst>
              <a:gd name="T0" fmla="*/ 0 w 120000"/>
              <a:gd name="T1" fmla="*/ 0 h 120000"/>
              <a:gd name="T2" fmla="*/ 4572000 w 120000"/>
              <a:gd name="T3" fmla="*/ 0 h 120000"/>
              <a:gd name="T4" fmla="*/ 4572000 w 120000"/>
              <a:gd name="T5" fmla="*/ 3429000 h 120000"/>
              <a:gd name="T6" fmla="*/ 0 w 120000"/>
              <a:gd name="T7" fmla="*/ 3429000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Google Shape;284;g4ceff3631c_0_75:notes"/>
          <p:cNvSpPr>
            <a:spLocks noChangeArrowheads="1"/>
          </p:cNvSpPr>
          <p:nvPr/>
        </p:nvSpPr>
        <p:spPr bwMode="auto">
          <a:xfrm>
            <a:off x="3881438" y="8685213"/>
            <a:ext cx="2952750" cy="43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CD6A4196-C380-451A-AC83-BB6CB23CEFB5}" type="slidenum">
              <a:rPr lang="en-US"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</a:pPr>
              <a:t>28</a:t>
            </a:fld>
            <a:endParaRPr lang="en-US" sz="1700" dirty="0"/>
          </a:p>
        </p:txBody>
      </p:sp>
      <p:sp>
        <p:nvSpPr>
          <p:cNvPr id="97283" name="Google Shape;285;g4ceff3631c_0_75:notes"/>
          <p:cNvSpPr>
            <a:spLocks noChangeArrowheads="1"/>
          </p:cNvSpPr>
          <p:nvPr/>
        </p:nvSpPr>
        <p:spPr bwMode="auto">
          <a:xfrm>
            <a:off x="3881439" y="8685214"/>
            <a:ext cx="295592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A7E1EB18-E2BE-4D68-953D-5F49785F78CC}" type="slidenum">
              <a:rPr lang="en-US"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</a:pPr>
              <a:t>28</a:t>
            </a:fld>
            <a:endParaRPr lang="en-US" sz="1700" dirty="0"/>
          </a:p>
        </p:txBody>
      </p:sp>
      <p:sp>
        <p:nvSpPr>
          <p:cNvPr id="97284" name="Google Shape;286;g4ceff3631c_0_75:notes"/>
          <p:cNvSpPr>
            <a:spLocks noChangeArrowheads="1"/>
          </p:cNvSpPr>
          <p:nvPr/>
        </p:nvSpPr>
        <p:spPr bwMode="auto">
          <a:xfrm>
            <a:off x="687389" y="4343400"/>
            <a:ext cx="5473700" cy="410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4386" tIns="84386" rIns="84386" bIns="84386" anchor="ctr"/>
          <a:lstStyle/>
          <a:p>
            <a:endParaRPr lang="en-US"/>
          </a:p>
        </p:txBody>
      </p:sp>
      <p:sp>
        <p:nvSpPr>
          <p:cNvPr id="97285" name="Google Shape;287;g4ceff3631c_0_75:notes"/>
          <p:cNvSpPr>
            <a:spLocks noGrp="1"/>
          </p:cNvSpPr>
          <p:nvPr>
            <p:ph type="body" idx="1"/>
          </p:nvPr>
        </p:nvSpPr>
        <p:spPr>
          <a:xfrm>
            <a:off x="687388" y="4343400"/>
            <a:ext cx="5461000" cy="4089400"/>
          </a:xfrm>
          <a:noFill/>
          <a:ln/>
        </p:spPr>
        <p:txBody>
          <a:bodyPr lIns="0" tIns="0" rIns="0" bIns="0"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97286" name="Google Shape;288;g4ceff3631c_0_7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6175" y="693738"/>
            <a:ext cx="4540250" cy="3405187"/>
          </a:xfrm>
          <a:custGeom>
            <a:avLst/>
            <a:gdLst>
              <a:gd name="T0" fmla="*/ 0 w 120000"/>
              <a:gd name="T1" fmla="*/ 0 h 120000"/>
              <a:gd name="T2" fmla="*/ 4572000 w 120000"/>
              <a:gd name="T3" fmla="*/ 0 h 120000"/>
              <a:gd name="T4" fmla="*/ 4572000 w 120000"/>
              <a:gd name="T5" fmla="*/ 3429000 h 120000"/>
              <a:gd name="T6" fmla="*/ 0 w 120000"/>
              <a:gd name="T7" fmla="*/ 3429000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Google Shape;297;p12:notes"/>
          <p:cNvSpPr>
            <a:spLocks noChangeArrowheads="1"/>
          </p:cNvSpPr>
          <p:nvPr/>
        </p:nvSpPr>
        <p:spPr bwMode="auto">
          <a:xfrm>
            <a:off x="3881438" y="8685213"/>
            <a:ext cx="2952750" cy="43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2D232494-EA57-40DA-9F85-70830129745C}" type="slidenum">
              <a:rPr lang="en-US"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</a:pPr>
              <a:t>29</a:t>
            </a:fld>
            <a:endParaRPr lang="en-US" sz="1700" dirty="0"/>
          </a:p>
        </p:txBody>
      </p:sp>
      <p:sp>
        <p:nvSpPr>
          <p:cNvPr id="98307" name="Google Shape;298;p12:notes"/>
          <p:cNvSpPr>
            <a:spLocks noChangeArrowheads="1"/>
          </p:cNvSpPr>
          <p:nvPr/>
        </p:nvSpPr>
        <p:spPr bwMode="auto">
          <a:xfrm>
            <a:off x="3881439" y="8685214"/>
            <a:ext cx="295592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15DCA55C-0CBA-4243-8582-6F164AC0BA66}" type="slidenum">
              <a:rPr lang="en-US"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</a:pPr>
              <a:t>29</a:t>
            </a:fld>
            <a:endParaRPr lang="en-US" sz="1700" dirty="0"/>
          </a:p>
        </p:txBody>
      </p:sp>
      <p:sp>
        <p:nvSpPr>
          <p:cNvPr id="98308" name="Google Shape;299;p12:notes"/>
          <p:cNvSpPr>
            <a:spLocks noChangeArrowheads="1"/>
          </p:cNvSpPr>
          <p:nvPr/>
        </p:nvSpPr>
        <p:spPr bwMode="auto">
          <a:xfrm>
            <a:off x="687389" y="4343400"/>
            <a:ext cx="5473700" cy="410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4386" tIns="84386" rIns="84386" bIns="84386" anchor="ctr"/>
          <a:lstStyle/>
          <a:p>
            <a:endParaRPr lang="en-US"/>
          </a:p>
        </p:txBody>
      </p:sp>
      <p:sp>
        <p:nvSpPr>
          <p:cNvPr id="98309" name="Google Shape;300;p12:notes"/>
          <p:cNvSpPr>
            <a:spLocks noGrp="1"/>
          </p:cNvSpPr>
          <p:nvPr>
            <p:ph type="body" idx="1"/>
          </p:nvPr>
        </p:nvSpPr>
        <p:spPr>
          <a:xfrm>
            <a:off x="687388" y="4343400"/>
            <a:ext cx="5461000" cy="4089400"/>
          </a:xfrm>
          <a:noFill/>
          <a:ln/>
        </p:spPr>
        <p:txBody>
          <a:bodyPr lIns="0" tIns="0" rIns="0" bIns="0"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98310" name="Google Shape;301;p1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6175" y="693738"/>
            <a:ext cx="4540250" cy="3405187"/>
          </a:xfrm>
          <a:custGeom>
            <a:avLst/>
            <a:gdLst>
              <a:gd name="T0" fmla="*/ 0 w 120000"/>
              <a:gd name="T1" fmla="*/ 0 h 120000"/>
              <a:gd name="T2" fmla="*/ 4572000 w 120000"/>
              <a:gd name="T3" fmla="*/ 0 h 120000"/>
              <a:gd name="T4" fmla="*/ 4572000 w 120000"/>
              <a:gd name="T5" fmla="*/ 3429000 h 120000"/>
              <a:gd name="T6" fmla="*/ 0 w 120000"/>
              <a:gd name="T7" fmla="*/ 3429000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p48:notes"/>
          <p:cNvSpPr txBox="1">
            <a:spLocks noGrp="1"/>
          </p:cNvSpPr>
          <p:nvPr>
            <p:ph type="body" idx="1"/>
          </p:nvPr>
        </p:nvSpPr>
        <p:spPr>
          <a:xfrm>
            <a:off x="685494" y="4342939"/>
            <a:ext cx="5487013" cy="4114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84394" rIns="84394" bIns="84394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9:notes"/>
          <p:cNvSpPr txBox="1"/>
          <p:nvPr/>
        </p:nvSpPr>
        <p:spPr>
          <a:xfrm>
            <a:off x="3881395" y="8685878"/>
            <a:ext cx="2953602" cy="435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</a:pPr>
              <a:t>31</a:t>
            </a:fld>
            <a:endParaRPr/>
          </a:p>
        </p:txBody>
      </p:sp>
      <p:sp>
        <p:nvSpPr>
          <p:cNvPr id="542" name="Google Shape;542;p29:notes"/>
          <p:cNvSpPr txBox="1"/>
          <p:nvPr/>
        </p:nvSpPr>
        <p:spPr>
          <a:xfrm>
            <a:off x="3881394" y="8685878"/>
            <a:ext cx="2956669" cy="43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</a:pPr>
              <a:t>31</a:t>
            </a:fld>
            <a:endParaRPr/>
          </a:p>
        </p:txBody>
      </p:sp>
      <p:sp>
        <p:nvSpPr>
          <p:cNvPr id="543" name="Google Shape;54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93738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44" name="Google Shape;544;p29:notes"/>
          <p:cNvSpPr/>
          <p:nvPr/>
        </p:nvSpPr>
        <p:spPr>
          <a:xfrm>
            <a:off x="687027" y="4342939"/>
            <a:ext cx="5474745" cy="410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42186" rIns="84394" bIns="42186" anchor="ctr" anchorCtr="0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endParaRPr sz="1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9:notes"/>
          <p:cNvSpPr txBox="1">
            <a:spLocks noGrp="1"/>
          </p:cNvSpPr>
          <p:nvPr>
            <p:ph type="body" idx="1"/>
          </p:nvPr>
        </p:nvSpPr>
        <p:spPr>
          <a:xfrm>
            <a:off x="687027" y="4342939"/>
            <a:ext cx="5460943" cy="40904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9:notes"/>
          <p:cNvSpPr txBox="1"/>
          <p:nvPr/>
        </p:nvSpPr>
        <p:spPr>
          <a:xfrm>
            <a:off x="3881395" y="8685878"/>
            <a:ext cx="2953602" cy="435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</a:pPr>
              <a:t>32</a:t>
            </a:fld>
            <a:endParaRPr/>
          </a:p>
        </p:txBody>
      </p:sp>
      <p:sp>
        <p:nvSpPr>
          <p:cNvPr id="542" name="Google Shape;542;p29:notes"/>
          <p:cNvSpPr txBox="1"/>
          <p:nvPr/>
        </p:nvSpPr>
        <p:spPr>
          <a:xfrm>
            <a:off x="3881394" y="8685878"/>
            <a:ext cx="2956669" cy="43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</a:pPr>
              <a:t>32</a:t>
            </a:fld>
            <a:endParaRPr/>
          </a:p>
        </p:txBody>
      </p:sp>
      <p:sp>
        <p:nvSpPr>
          <p:cNvPr id="543" name="Google Shape;54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93738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44" name="Google Shape;544;p29:notes"/>
          <p:cNvSpPr/>
          <p:nvPr/>
        </p:nvSpPr>
        <p:spPr>
          <a:xfrm>
            <a:off x="687027" y="4342939"/>
            <a:ext cx="5474745" cy="410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42186" rIns="84394" bIns="42186" anchor="ctr" anchorCtr="0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endParaRPr sz="1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9:notes"/>
          <p:cNvSpPr txBox="1">
            <a:spLocks noGrp="1"/>
          </p:cNvSpPr>
          <p:nvPr>
            <p:ph type="body" idx="1"/>
          </p:nvPr>
        </p:nvSpPr>
        <p:spPr>
          <a:xfrm>
            <a:off x="687027" y="4342939"/>
            <a:ext cx="5460943" cy="40904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CustomShape 1"/>
          <p:cNvSpPr/>
          <p:nvPr/>
        </p:nvSpPr>
        <p:spPr>
          <a:xfrm>
            <a:off x="3881393" y="8685190"/>
            <a:ext cx="2952515" cy="436141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93000"/>
              </a:lnSpc>
            </a:pPr>
            <a:fld id="{19DF6031-1D5D-455D-AACC-3BCAE5D83EAD}" type="slidenum">
              <a:rPr lang="en-US" sz="1300" spc="-1">
                <a:solidFill>
                  <a:srgbClr val="000000"/>
                </a:solidFill>
                <a:latin typeface="Arial"/>
                <a:ea typeface="Arial"/>
              </a:rPr>
              <a:pPr algn="r">
                <a:lnSpc>
                  <a:spcPct val="93000"/>
                </a:lnSpc>
              </a:pPr>
              <a:t>33</a:t>
            </a:fld>
            <a:endParaRPr lang="en-US" sz="1300" spc="-1">
              <a:latin typeface="Arial"/>
            </a:endParaRPr>
          </a:p>
        </p:txBody>
      </p:sp>
      <p:sp>
        <p:nvSpPr>
          <p:cNvPr id="711" name="CustomShape 2"/>
          <p:cNvSpPr/>
          <p:nvPr/>
        </p:nvSpPr>
        <p:spPr>
          <a:xfrm>
            <a:off x="3881393" y="8685190"/>
            <a:ext cx="2955645" cy="437749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93000"/>
              </a:lnSpc>
            </a:pPr>
            <a:fld id="{C4CDB632-DE47-4210-9F03-2692E7670176}" type="slidenum">
              <a:rPr lang="en-US" sz="1300" spc="-1">
                <a:solidFill>
                  <a:srgbClr val="000000"/>
                </a:solidFill>
                <a:latin typeface="Arial"/>
                <a:ea typeface="Arial"/>
              </a:rPr>
              <a:pPr algn="r">
                <a:lnSpc>
                  <a:spcPct val="93000"/>
                </a:lnSpc>
              </a:pPr>
              <a:t>33</a:t>
            </a:fld>
            <a:endParaRPr lang="en-US" sz="1300" spc="-1">
              <a:latin typeface="Arial"/>
            </a:endParaRPr>
          </a:p>
        </p:txBody>
      </p:sp>
      <p:sp>
        <p:nvSpPr>
          <p:cNvPr id="712" name="CustomShape 3"/>
          <p:cNvSpPr/>
          <p:nvPr/>
        </p:nvSpPr>
        <p:spPr>
          <a:xfrm>
            <a:off x="687529" y="4343399"/>
            <a:ext cx="5473455" cy="4101849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13" name="PlaceHolder 4"/>
          <p:cNvSpPr>
            <a:spLocks noGrp="1"/>
          </p:cNvSpPr>
          <p:nvPr>
            <p:ph type="body"/>
          </p:nvPr>
        </p:nvSpPr>
        <p:spPr>
          <a:xfrm>
            <a:off x="687529" y="4343399"/>
            <a:ext cx="5460588" cy="4088983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1800" spc="-1">
              <a:latin typeface="Arial"/>
            </a:endParaRPr>
          </a:p>
        </p:txBody>
      </p:sp>
      <p:sp>
        <p:nvSpPr>
          <p:cNvPr id="714" name="PlaceHolder 5"/>
          <p:cNvSpPr>
            <a:spLocks noGrp="1" noRot="1" noChangeAspect="1"/>
          </p:cNvSpPr>
          <p:nvPr>
            <p:ph type="sldImg"/>
          </p:nvPr>
        </p:nvSpPr>
        <p:spPr>
          <a:xfrm>
            <a:off x="1146175" y="693738"/>
            <a:ext cx="4540250" cy="3405187"/>
          </a:xfrm>
          <a:prstGeom prst="rect">
            <a:avLst/>
          </a:pr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Google Shape;346;g4ceff3631c_0_33:notes"/>
          <p:cNvSpPr>
            <a:spLocks noChangeArrowheads="1"/>
          </p:cNvSpPr>
          <p:nvPr/>
        </p:nvSpPr>
        <p:spPr bwMode="auto">
          <a:xfrm>
            <a:off x="3881438" y="8685213"/>
            <a:ext cx="2952750" cy="43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EDE5BA14-8FD2-4C46-AD00-A8775BD5C2EA}" type="slidenum">
              <a:rPr lang="en-US"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</a:pPr>
              <a:t>34</a:t>
            </a:fld>
            <a:endParaRPr lang="en-US" sz="1700" dirty="0"/>
          </a:p>
        </p:txBody>
      </p:sp>
      <p:sp>
        <p:nvSpPr>
          <p:cNvPr id="102403" name="Google Shape;347;g4ceff3631c_0_33:notes"/>
          <p:cNvSpPr>
            <a:spLocks noChangeArrowheads="1"/>
          </p:cNvSpPr>
          <p:nvPr/>
        </p:nvSpPr>
        <p:spPr bwMode="auto">
          <a:xfrm>
            <a:off x="3881439" y="8685214"/>
            <a:ext cx="295592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F7BBB177-D12B-4D4C-8194-D9E7B6D1FF77}" type="slidenum">
              <a:rPr lang="en-US"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</a:pPr>
              <a:t>34</a:t>
            </a:fld>
            <a:endParaRPr lang="en-US" sz="1700" dirty="0"/>
          </a:p>
        </p:txBody>
      </p:sp>
      <p:sp>
        <p:nvSpPr>
          <p:cNvPr id="102404" name="Google Shape;348;g4ceff3631c_0_33:notes"/>
          <p:cNvSpPr>
            <a:spLocks noChangeArrowheads="1"/>
          </p:cNvSpPr>
          <p:nvPr/>
        </p:nvSpPr>
        <p:spPr bwMode="auto">
          <a:xfrm>
            <a:off x="687389" y="4343400"/>
            <a:ext cx="5473700" cy="410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4386" tIns="84386" rIns="84386" bIns="84386" anchor="ctr"/>
          <a:lstStyle/>
          <a:p>
            <a:endParaRPr lang="en-US"/>
          </a:p>
        </p:txBody>
      </p:sp>
      <p:sp>
        <p:nvSpPr>
          <p:cNvPr id="102405" name="Google Shape;349;g4ceff3631c_0_33:notes"/>
          <p:cNvSpPr>
            <a:spLocks noGrp="1"/>
          </p:cNvSpPr>
          <p:nvPr>
            <p:ph type="body" idx="1"/>
          </p:nvPr>
        </p:nvSpPr>
        <p:spPr>
          <a:xfrm>
            <a:off x="687388" y="4343400"/>
            <a:ext cx="5461000" cy="4089400"/>
          </a:xfrm>
          <a:noFill/>
          <a:ln/>
        </p:spPr>
        <p:txBody>
          <a:bodyPr lIns="0" tIns="0" rIns="0" bIns="0"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02406" name="Google Shape;350;g4ceff3631c_0_3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6175" y="693738"/>
            <a:ext cx="4540250" cy="3405187"/>
          </a:xfrm>
          <a:custGeom>
            <a:avLst/>
            <a:gdLst>
              <a:gd name="T0" fmla="*/ 0 w 120000"/>
              <a:gd name="T1" fmla="*/ 0 h 120000"/>
              <a:gd name="T2" fmla="*/ 4572000 w 120000"/>
              <a:gd name="T3" fmla="*/ 0 h 120000"/>
              <a:gd name="T4" fmla="*/ 4572000 w 120000"/>
              <a:gd name="T5" fmla="*/ 3429000 h 120000"/>
              <a:gd name="T6" fmla="*/ 0 w 120000"/>
              <a:gd name="T7" fmla="*/ 3429000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5:notes"/>
          <p:cNvSpPr/>
          <p:nvPr/>
        </p:nvSpPr>
        <p:spPr>
          <a:xfrm>
            <a:off x="3881392" y="8685833"/>
            <a:ext cx="2953211" cy="43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35</a:t>
            </a:fld>
            <a:endParaRPr sz="1700"/>
          </a:p>
        </p:txBody>
      </p:sp>
      <p:sp>
        <p:nvSpPr>
          <p:cNvPr id="396" name="Google Shape;396;p15:notes"/>
          <p:cNvSpPr/>
          <p:nvPr/>
        </p:nvSpPr>
        <p:spPr>
          <a:xfrm>
            <a:off x="3881392" y="8685833"/>
            <a:ext cx="2956341" cy="438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35</a:t>
            </a:fld>
            <a:endParaRPr sz="1700"/>
          </a:p>
        </p:txBody>
      </p:sp>
      <p:sp>
        <p:nvSpPr>
          <p:cNvPr id="397" name="Google Shape;397;p15:notes"/>
          <p:cNvSpPr/>
          <p:nvPr/>
        </p:nvSpPr>
        <p:spPr>
          <a:xfrm>
            <a:off x="687181" y="4343077"/>
            <a:ext cx="5474499" cy="410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84394" rIns="84394" bIns="84394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98" name="Google Shape;398;p15:notes"/>
          <p:cNvSpPr txBox="1">
            <a:spLocks noGrp="1"/>
          </p:cNvSpPr>
          <p:nvPr>
            <p:ph type="body" idx="1"/>
          </p:nvPr>
        </p:nvSpPr>
        <p:spPr>
          <a:xfrm>
            <a:off x="687181" y="4343077"/>
            <a:ext cx="5460588" cy="4090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99" name="Google Shape;39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4ceff3631c_0_116:notes"/>
          <p:cNvSpPr/>
          <p:nvPr/>
        </p:nvSpPr>
        <p:spPr>
          <a:xfrm>
            <a:off x="3881392" y="8685833"/>
            <a:ext cx="2953095" cy="43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47</a:t>
            </a:fld>
            <a:endParaRPr sz="1700"/>
          </a:p>
        </p:txBody>
      </p:sp>
      <p:sp>
        <p:nvSpPr>
          <p:cNvPr id="432" name="Google Shape;432;g4ceff3631c_0_116:notes"/>
          <p:cNvSpPr/>
          <p:nvPr/>
        </p:nvSpPr>
        <p:spPr>
          <a:xfrm>
            <a:off x="3881392" y="8685833"/>
            <a:ext cx="2956283" cy="437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47</a:t>
            </a:fld>
            <a:endParaRPr sz="1700"/>
          </a:p>
        </p:txBody>
      </p:sp>
      <p:sp>
        <p:nvSpPr>
          <p:cNvPr id="433" name="Google Shape;433;g4ceff3631c_0_116:notes"/>
          <p:cNvSpPr/>
          <p:nvPr/>
        </p:nvSpPr>
        <p:spPr>
          <a:xfrm>
            <a:off x="687181" y="4343077"/>
            <a:ext cx="5474383" cy="410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84394" rIns="84394" bIns="84394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34" name="Google Shape;434;g4ceff3631c_0_116:notes"/>
          <p:cNvSpPr txBox="1">
            <a:spLocks noGrp="1"/>
          </p:cNvSpPr>
          <p:nvPr>
            <p:ph type="body" idx="1"/>
          </p:nvPr>
        </p:nvSpPr>
        <p:spPr>
          <a:xfrm>
            <a:off x="687182" y="4343077"/>
            <a:ext cx="5460472" cy="4090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35" name="Google Shape;435;g4ceff3631c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8:notes"/>
          <p:cNvSpPr/>
          <p:nvPr/>
        </p:nvSpPr>
        <p:spPr>
          <a:xfrm>
            <a:off x="3881392" y="8685833"/>
            <a:ext cx="2953211" cy="43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48</a:t>
            </a:fld>
            <a:endParaRPr sz="1700"/>
          </a:p>
        </p:txBody>
      </p:sp>
      <p:sp>
        <p:nvSpPr>
          <p:cNvPr id="444" name="Google Shape;444;p18:notes"/>
          <p:cNvSpPr/>
          <p:nvPr/>
        </p:nvSpPr>
        <p:spPr>
          <a:xfrm>
            <a:off x="3881392" y="8685833"/>
            <a:ext cx="2956341" cy="438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48</a:t>
            </a:fld>
            <a:endParaRPr sz="1700"/>
          </a:p>
        </p:txBody>
      </p:sp>
      <p:sp>
        <p:nvSpPr>
          <p:cNvPr id="445" name="Google Shape;445;p18:notes"/>
          <p:cNvSpPr/>
          <p:nvPr/>
        </p:nvSpPr>
        <p:spPr>
          <a:xfrm>
            <a:off x="687181" y="4343077"/>
            <a:ext cx="5474499" cy="410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84394" rIns="84394" bIns="84394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46" name="Google Shape;446;p18:notes"/>
          <p:cNvSpPr txBox="1">
            <a:spLocks noGrp="1"/>
          </p:cNvSpPr>
          <p:nvPr>
            <p:ph type="body" idx="1"/>
          </p:nvPr>
        </p:nvSpPr>
        <p:spPr>
          <a:xfrm>
            <a:off x="687181" y="4343077"/>
            <a:ext cx="5460588" cy="4090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47" name="Google Shape;44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4ceff3631c_0_166:notes"/>
          <p:cNvSpPr/>
          <p:nvPr/>
        </p:nvSpPr>
        <p:spPr>
          <a:xfrm>
            <a:off x="3881392" y="8685833"/>
            <a:ext cx="2953095" cy="43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49</a:t>
            </a:fld>
            <a:endParaRPr sz="1700"/>
          </a:p>
        </p:txBody>
      </p:sp>
      <p:sp>
        <p:nvSpPr>
          <p:cNvPr id="458" name="Google Shape;458;g4ceff3631c_0_166:notes"/>
          <p:cNvSpPr/>
          <p:nvPr/>
        </p:nvSpPr>
        <p:spPr>
          <a:xfrm>
            <a:off x="3881392" y="8685833"/>
            <a:ext cx="2956283" cy="437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49</a:t>
            </a:fld>
            <a:endParaRPr sz="1700"/>
          </a:p>
        </p:txBody>
      </p:sp>
      <p:sp>
        <p:nvSpPr>
          <p:cNvPr id="459" name="Google Shape;459;g4ceff3631c_0_166:notes"/>
          <p:cNvSpPr/>
          <p:nvPr/>
        </p:nvSpPr>
        <p:spPr>
          <a:xfrm>
            <a:off x="687181" y="4343077"/>
            <a:ext cx="5474383" cy="410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84394" rIns="84394" bIns="84394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60" name="Google Shape;460;g4ceff3631c_0_166:notes"/>
          <p:cNvSpPr txBox="1">
            <a:spLocks noGrp="1"/>
          </p:cNvSpPr>
          <p:nvPr>
            <p:ph type="body" idx="1"/>
          </p:nvPr>
        </p:nvSpPr>
        <p:spPr>
          <a:xfrm>
            <a:off x="687182" y="4343077"/>
            <a:ext cx="5460472" cy="4090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61" name="Google Shape;461;g4ceff3631c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4ceff3631c_0_142:notes"/>
          <p:cNvSpPr/>
          <p:nvPr/>
        </p:nvSpPr>
        <p:spPr>
          <a:xfrm>
            <a:off x="3881392" y="8685833"/>
            <a:ext cx="2953095" cy="43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50</a:t>
            </a:fld>
            <a:endParaRPr sz="1700"/>
          </a:p>
        </p:txBody>
      </p:sp>
      <p:sp>
        <p:nvSpPr>
          <p:cNvPr id="483" name="Google Shape;483;g4ceff3631c_0_142:notes"/>
          <p:cNvSpPr/>
          <p:nvPr/>
        </p:nvSpPr>
        <p:spPr>
          <a:xfrm>
            <a:off x="3881392" y="8685833"/>
            <a:ext cx="2956283" cy="437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50</a:t>
            </a:fld>
            <a:endParaRPr sz="1700"/>
          </a:p>
        </p:txBody>
      </p:sp>
      <p:sp>
        <p:nvSpPr>
          <p:cNvPr id="484" name="Google Shape;484;g4ceff3631c_0_142:notes"/>
          <p:cNvSpPr/>
          <p:nvPr/>
        </p:nvSpPr>
        <p:spPr>
          <a:xfrm>
            <a:off x="687181" y="4343077"/>
            <a:ext cx="5474383" cy="410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84394" rIns="84394" bIns="84394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85" name="Google Shape;485;g4ceff3631c_0_142:notes"/>
          <p:cNvSpPr txBox="1">
            <a:spLocks noGrp="1"/>
          </p:cNvSpPr>
          <p:nvPr>
            <p:ph type="body" idx="1"/>
          </p:nvPr>
        </p:nvSpPr>
        <p:spPr>
          <a:xfrm>
            <a:off x="687182" y="4343077"/>
            <a:ext cx="5460472" cy="4090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86" name="Google Shape;486;g4ceff3631c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4ceff3631c_0_193:notes"/>
          <p:cNvSpPr/>
          <p:nvPr/>
        </p:nvSpPr>
        <p:spPr>
          <a:xfrm>
            <a:off x="3881392" y="8685833"/>
            <a:ext cx="2953095" cy="43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51</a:t>
            </a:fld>
            <a:endParaRPr sz="1700"/>
          </a:p>
        </p:txBody>
      </p:sp>
      <p:sp>
        <p:nvSpPr>
          <p:cNvPr id="495" name="Google Shape;495;g4ceff3631c_0_193:notes"/>
          <p:cNvSpPr/>
          <p:nvPr/>
        </p:nvSpPr>
        <p:spPr>
          <a:xfrm>
            <a:off x="3881392" y="8685833"/>
            <a:ext cx="2956283" cy="437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</a:pPr>
              <a:t>51</a:t>
            </a:fld>
            <a:endParaRPr sz="1700"/>
          </a:p>
        </p:txBody>
      </p:sp>
      <p:sp>
        <p:nvSpPr>
          <p:cNvPr id="496" name="Google Shape;496;g4ceff3631c_0_193:notes"/>
          <p:cNvSpPr/>
          <p:nvPr/>
        </p:nvSpPr>
        <p:spPr>
          <a:xfrm>
            <a:off x="687181" y="4343077"/>
            <a:ext cx="5474383" cy="410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4" tIns="84394" rIns="84394" bIns="84394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97" name="Google Shape;497;g4ceff3631c_0_193:notes"/>
          <p:cNvSpPr txBox="1">
            <a:spLocks noGrp="1"/>
          </p:cNvSpPr>
          <p:nvPr>
            <p:ph type="body" idx="1"/>
          </p:nvPr>
        </p:nvSpPr>
        <p:spPr>
          <a:xfrm>
            <a:off x="687182" y="4343077"/>
            <a:ext cx="5460472" cy="4090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98" name="Google Shape;498;g4ceff3631c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C6444C-D807-46C8-9235-1BCC059D7366}" type="slidenum">
              <a:rPr lang="en-US" altLang="ro-RO" smtClean="0"/>
              <a:pPr/>
              <a:t>61</a:t>
            </a:fld>
            <a:endParaRPr lang="en-US" altLang="ro-RO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o-RO"/>
              <a:t>Faceți clic pentru editarea stilului de subtitlu al coordonatorului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EC20AB-2209-4B46-924F-015E90946B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809B40-6FE9-444A-9E25-FE3981E81E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CE10B8-03B3-478D-A371-3ED2FA122D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C904E0-3FA8-41D7-8C1B-8287817E1A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Faceți clic pentru a edita stilurile de text Coordonator</a:t>
            </a:r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Substituent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Faceți clic pentru a edita stilurile de text Coordonator</a:t>
            </a:r>
          </a:p>
        </p:txBody>
      </p:sp>
      <p:sp>
        <p:nvSpPr>
          <p:cNvPr id="6" name="Substituent conținut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3DF5E2-5DC2-40E6-A5C0-F3088CF980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2248C4-B94F-4AA5-B84F-CD0E1FB87A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ADE608-7D43-4761-966E-3997C21380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D98F5C-460E-4232-9967-0E6D9B8C8F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i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DA15DF-9CE8-4FF6-94F3-8763F68182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4E3615-03F5-42CF-AD01-1F1453E0B6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847BEB-E9E5-4700-8D3F-C58B022B92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o-RO"/>
              <a:t>Faceți clic pentru editarea stilului de subtitlu al coordonatorului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3D7175-9614-4C92-A845-203EF3D7D1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91FBFE-6778-45E0-8AF5-8D5064AB01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1901B7-B903-45D9-9504-9847B1CCF3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9D362C-D6C3-4B97-8FCA-A7FAFE76BE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Faceți clic pentru a edita stilurile de text Coordonator</a:t>
            </a:r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Substituent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Faceți clic pentru a edita stilurile de text Coordonator</a:t>
            </a:r>
          </a:p>
        </p:txBody>
      </p:sp>
      <p:sp>
        <p:nvSpPr>
          <p:cNvPr id="6" name="Substituent conținut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C49B85-FBF0-4993-AC9C-0D9934FFDD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532B86-D25D-4C13-88B2-9C8C884B3D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2ABBC7-DCD6-4DE5-80FC-E95E15725F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992F12-F6A3-45BC-AB39-BF6EBF49AB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i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Faceți clic pentru a edita stilurile de text Coordonator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6FDF69-A062-496B-9A3A-F19F8FF7C5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C423FE-5C52-4A23-90AA-F1A17B80D9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ro-RO"/>
              <a:t>Faceți clic pentru a edita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B0C9FF-1B84-466A-935B-13B412C6CC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/>
              <a:t>Click to edit Master text styles</a:t>
            </a:r>
          </a:p>
          <a:p>
            <a:pPr lvl="1"/>
            <a:r>
              <a:rPr lang="en-US" altLang="ro-RO"/>
              <a:t>Second level</a:t>
            </a:r>
          </a:p>
          <a:p>
            <a:pPr lvl="2"/>
            <a:r>
              <a:rPr lang="en-US" altLang="ro-RO"/>
              <a:t>Third level</a:t>
            </a:r>
          </a:p>
          <a:p>
            <a:pPr lvl="3"/>
            <a:r>
              <a:rPr lang="en-US" altLang="ro-RO"/>
              <a:t>Fourth level</a:t>
            </a:r>
          </a:p>
          <a:p>
            <a:pPr lvl="4"/>
            <a:r>
              <a:rPr lang="en-US" altLang="ro-RO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B563B7F-6C93-48CD-99C9-782215DD30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31" r:id="rId1"/>
    <p:sldLayoutId id="2147484132" r:id="rId2"/>
    <p:sldLayoutId id="2147484133" r:id="rId3"/>
    <p:sldLayoutId id="2147484134" r:id="rId4"/>
    <p:sldLayoutId id="2147484135" r:id="rId5"/>
    <p:sldLayoutId id="2147484136" r:id="rId6"/>
    <p:sldLayoutId id="2147484137" r:id="rId7"/>
    <p:sldLayoutId id="2147484138" r:id="rId8"/>
    <p:sldLayoutId id="2147484139" r:id="rId9"/>
    <p:sldLayoutId id="2147484140" r:id="rId10"/>
    <p:sldLayoutId id="214748414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/>
              <a:t>Click to edit Master text styles</a:t>
            </a:r>
          </a:p>
          <a:p>
            <a:pPr lvl="1"/>
            <a:r>
              <a:rPr lang="en-US" altLang="ro-RO"/>
              <a:t>Second level</a:t>
            </a:r>
          </a:p>
          <a:p>
            <a:pPr lvl="2"/>
            <a:r>
              <a:rPr lang="en-US" altLang="ro-RO"/>
              <a:t>Third level</a:t>
            </a:r>
          </a:p>
          <a:p>
            <a:pPr lvl="3"/>
            <a:r>
              <a:rPr lang="en-US" altLang="ro-RO"/>
              <a:t>Fourth level</a:t>
            </a:r>
          </a:p>
          <a:p>
            <a:pPr lvl="4"/>
            <a:r>
              <a:rPr lang="en-US" altLang="ro-RO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F9435BB-6A18-4EB2-9E0C-A522F88914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2" r:id="rId1"/>
    <p:sldLayoutId id="2147484143" r:id="rId2"/>
    <p:sldLayoutId id="2147484144" r:id="rId3"/>
    <p:sldLayoutId id="2147484145" r:id="rId4"/>
    <p:sldLayoutId id="2147484146" r:id="rId5"/>
    <p:sldLayoutId id="2147484147" r:id="rId6"/>
    <p:sldLayoutId id="2147484148" r:id="rId7"/>
    <p:sldLayoutId id="2147484149" r:id="rId8"/>
    <p:sldLayoutId id="2147484150" r:id="rId9"/>
    <p:sldLayoutId id="2147484151" r:id="rId10"/>
    <p:sldLayoutId id="214748415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mtlib/fmt#motivation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utility/functional/reference_wrapper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Google Shape;124;p27"/>
          <p:cNvSpPr>
            <a:spLocks noChangeArrowheads="1"/>
          </p:cNvSpPr>
          <p:nvPr/>
        </p:nvSpPr>
        <p:spPr bwMode="auto">
          <a:xfrm>
            <a:off x="84138" y="84138"/>
            <a:ext cx="5040312" cy="6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/>
          <a:lstStyle/>
          <a:p>
            <a:pPr>
              <a:lnSpc>
                <a:spcPct val="104000"/>
              </a:lnSpc>
            </a:pPr>
            <a:r>
              <a:rPr lang="en-US" sz="1800" b="1" dirty="0" err="1">
                <a:solidFill>
                  <a:srgbClr val="000000"/>
                </a:solidFill>
                <a:cs typeface="Arial" pitchFamily="34" charset="0"/>
                <a:sym typeface="Arial" pitchFamily="34" charset="0"/>
              </a:rPr>
              <a:t>Facultatea</a:t>
            </a:r>
            <a:r>
              <a:rPr lang="en-US" sz="1800" b="1" dirty="0">
                <a:solidFill>
                  <a:srgbClr val="000000"/>
                </a:solidFill>
                <a:cs typeface="Arial" pitchFamily="34" charset="0"/>
                <a:sym typeface="Arial" pitchFamily="34" charset="0"/>
              </a:rPr>
              <a:t> de </a:t>
            </a:r>
            <a:r>
              <a:rPr lang="en-US" sz="1800" b="1" dirty="0" err="1">
                <a:solidFill>
                  <a:srgbClr val="000000"/>
                </a:solidFill>
                <a:cs typeface="Arial" pitchFamily="34" charset="0"/>
                <a:sym typeface="Arial" pitchFamily="34" charset="0"/>
              </a:rPr>
              <a:t>Matematic</a:t>
            </a:r>
            <a:r>
              <a:rPr lang="ro-RO" altLang="ro-RO" sz="1800" b="1" dirty="0"/>
              <a:t>ă</a:t>
            </a:r>
            <a:r>
              <a:rPr lang="en-US" sz="1800" b="1" dirty="0">
                <a:solidFill>
                  <a:srgbClr val="000000"/>
                </a:solidFill>
                <a:cs typeface="Arial" pitchFamily="34" charset="0"/>
                <a:sym typeface="Arial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cs typeface="Arial" pitchFamily="34" charset="0"/>
                <a:sym typeface="Arial" pitchFamily="34" charset="0"/>
              </a:rPr>
              <a:t>şi</a:t>
            </a:r>
            <a:r>
              <a:rPr lang="en-US" sz="1800" b="1" dirty="0">
                <a:solidFill>
                  <a:srgbClr val="000000"/>
                </a:solidFill>
                <a:cs typeface="Arial" pitchFamily="34" charset="0"/>
                <a:sym typeface="Arial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cs typeface="Arial" pitchFamily="34" charset="0"/>
                <a:sym typeface="Arial" pitchFamily="34" charset="0"/>
              </a:rPr>
              <a:t>Informatic</a:t>
            </a:r>
            <a:r>
              <a:rPr lang="ro-RO" altLang="ro-RO" sz="1800" b="1" dirty="0"/>
              <a:t>ă</a:t>
            </a:r>
            <a:r>
              <a:rPr lang="en-US" sz="1800" b="1" dirty="0">
                <a:solidFill>
                  <a:srgbClr val="000000"/>
                </a:solidFill>
                <a:cs typeface="Arial" pitchFamily="34" charset="0"/>
                <a:sym typeface="Arial" pitchFamily="34" charset="0"/>
              </a:rPr>
              <a:t> </a:t>
            </a:r>
            <a:r>
              <a:rPr lang="en-US" sz="1800" b="1" dirty="0" err="1"/>
              <a:t>Universitatea</a:t>
            </a:r>
            <a:r>
              <a:rPr lang="en-US" sz="1800" b="1" dirty="0"/>
              <a:t> din </a:t>
            </a:r>
            <a:r>
              <a:rPr lang="en-US" sz="1800" b="1" dirty="0" err="1"/>
              <a:t>Bucure</a:t>
            </a:r>
            <a:r>
              <a:rPr lang="en-US" sz="1800" b="1" dirty="0" err="1">
                <a:solidFill>
                  <a:srgbClr val="000000"/>
                </a:solidFill>
                <a:cs typeface="Arial" pitchFamily="34" charset="0"/>
                <a:sym typeface="Arial" pitchFamily="34" charset="0"/>
              </a:rPr>
              <a:t>ş</a:t>
            </a:r>
            <a:r>
              <a:rPr lang="en-US" sz="1800" b="1" dirty="0" err="1"/>
              <a:t>ti</a:t>
            </a:r>
            <a:endParaRPr lang="en-US" sz="1800" dirty="0"/>
          </a:p>
        </p:txBody>
      </p:sp>
      <p:pic>
        <p:nvPicPr>
          <p:cNvPr id="5123" name="Google Shape;125;p27"/>
          <p:cNvPicPr preferRelativeResize="0"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58200" y="31750"/>
            <a:ext cx="657225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Google Shape;52;p3"/>
          <p:cNvSpPr txBox="1"/>
          <p:nvPr/>
        </p:nvSpPr>
        <p:spPr>
          <a:xfrm>
            <a:off x="228600" y="1162050"/>
            <a:ext cx="8394700" cy="148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9025" rIns="0" bIns="0" anchor="ctr" anchorCtr="0">
            <a:noAutofit/>
          </a:bodyPr>
          <a:lstStyle/>
          <a:p>
            <a:pPr lvl="0" algn="ctr">
              <a:lnSpc>
                <a:spcPct val="72000"/>
              </a:lnSpc>
              <a:buSzPts val="4000"/>
            </a:pPr>
            <a:r>
              <a:rPr lang="en-US" sz="4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Programare</a:t>
            </a:r>
            <a:r>
              <a:rPr lang="en-US" sz="4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orientat</a:t>
            </a:r>
            <a:r>
              <a:rPr lang="ro-RO" sz="4000" b="1" dirty="0">
                <a:latin typeface="Arial" pitchFamily="34" charset="0"/>
                <a:cs typeface="Arial" pitchFamily="34" charset="0"/>
              </a:rPr>
              <a:t>ă</a:t>
            </a:r>
            <a:r>
              <a:rPr lang="en-US" sz="4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4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endParaRPr/>
          </a:p>
          <a:p>
            <a:pPr marL="0" marR="0" lvl="0" indent="0" algn="ctr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endParaRPr sz="3200" b="1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26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suport</a:t>
            </a:r>
            <a:r>
              <a:rPr lang="en-US" sz="26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curs -</a:t>
            </a:r>
            <a:endParaRPr/>
          </a:p>
        </p:txBody>
      </p:sp>
      <p:sp>
        <p:nvSpPr>
          <p:cNvPr id="16" name="Google Shape;53;p3"/>
          <p:cNvSpPr txBox="1"/>
          <p:nvPr/>
        </p:nvSpPr>
        <p:spPr>
          <a:xfrm>
            <a:off x="2114550" y="4267200"/>
            <a:ext cx="4044900" cy="19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lang="en-US" sz="24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universitar</a:t>
            </a: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2025 – 2026</a:t>
            </a:r>
            <a:endParaRPr sz="2400" b="1" dirty="0"/>
          </a:p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Semestrul</a:t>
            </a: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II</a:t>
            </a:r>
            <a:endParaRPr dirty="0"/>
          </a:p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Seriile</a:t>
            </a: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13, 14, 15</a:t>
            </a:r>
            <a:endParaRPr dirty="0"/>
          </a:p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endParaRPr sz="2400" b="1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Curs 2</a:t>
            </a:r>
            <a:endParaRPr dirty="0"/>
          </a:p>
        </p:txBody>
      </p:sp>
      <p:sp>
        <p:nvSpPr>
          <p:cNvPr id="8" name="CustomShape 5"/>
          <p:cNvSpPr/>
          <p:nvPr/>
        </p:nvSpPr>
        <p:spPr>
          <a:xfrm>
            <a:off x="5059440" y="2895600"/>
            <a:ext cx="4053960" cy="1012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91440">
              <a:lnSpc>
                <a:spcPct val="104000"/>
              </a:lnSpc>
            </a:pPr>
            <a:r>
              <a:rPr lang="en-US" sz="28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Andrei </a:t>
            </a:r>
            <a:r>
              <a:rPr lang="en-US" sz="2800" b="1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Păun</a:t>
            </a:r>
            <a:endParaRPr lang="en-US" sz="2800" b="0" strike="noStrike" spc="-1" dirty="0">
              <a:latin typeface="Arial"/>
            </a:endParaRPr>
          </a:p>
          <a:p>
            <a:pPr marL="91440">
              <a:lnSpc>
                <a:spcPct val="104000"/>
              </a:lnSpc>
            </a:pPr>
            <a:r>
              <a:rPr lang="en-US" sz="2800" b="1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Anca</a:t>
            </a:r>
            <a:r>
              <a:rPr lang="en-US" sz="28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en-US" sz="2800" b="1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Dobrovăț</a:t>
            </a:r>
            <a:endParaRPr lang="en-US" sz="2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7772400" cy="4038600"/>
          </a:xfrm>
        </p:spPr>
        <p:txBody>
          <a:bodyPr/>
          <a:lstStyle/>
          <a:p>
            <a:pPr>
              <a:defRPr/>
            </a:pP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Recapitularea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discu</a:t>
            </a:r>
            <a:r>
              <a:rPr lang="ro-RO" altLang="ro-RO" sz="2400" dirty="0">
                <a:latin typeface="Arial" pitchFamily="34" charset="0"/>
                <a:cs typeface="Arial" pitchFamily="34" charset="0"/>
              </a:rPr>
              <a:t>ţ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iilor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din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cursul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anterior (</a:t>
            </a:r>
            <a:r>
              <a:rPr lang="ro-RO" altLang="ro-RO" sz="2400" dirty="0">
                <a:latin typeface="Arial" pitchFamily="34" charset="0"/>
                <a:cs typeface="Arial" pitchFamily="34" charset="0"/>
              </a:rPr>
              <a:t>Generalităţi despre curs</a:t>
            </a:r>
            <a:r>
              <a:rPr lang="en-US" altLang="ro-RO" sz="2400" dirty="0">
                <a:latin typeface="Arial" pitchFamily="34" charset="0"/>
                <a:cs typeface="Arial" pitchFamily="34" charset="0"/>
              </a:rPr>
              <a:t>, R</a:t>
            </a:r>
            <a:r>
              <a:rPr lang="ro-RO" altLang="ro-RO" sz="2400" dirty="0">
                <a:latin typeface="Arial" pitchFamily="34" charset="0"/>
                <a:cs typeface="Arial" pitchFamily="34" charset="0"/>
              </a:rPr>
              <a:t>eguli de comportament</a:t>
            </a:r>
            <a:r>
              <a:rPr lang="en-US" altLang="ro-RO" sz="2400" dirty="0">
                <a:latin typeface="Arial" pitchFamily="34" charset="0"/>
                <a:cs typeface="Arial" pitchFamily="34" charset="0"/>
              </a:rPr>
              <a:t>)</a:t>
            </a:r>
          </a:p>
          <a:p>
            <a:pPr>
              <a:defRPr/>
            </a:pPr>
            <a:endParaRPr lang="ro-RO" altLang="ro-RO" sz="2400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r>
              <a:rPr lang="ro-RO" altLang="ro-RO" sz="2400" dirty="0">
                <a:latin typeface="Arial" pitchFamily="34" charset="0"/>
                <a:cs typeface="Arial" pitchFamily="34" charset="0"/>
              </a:rPr>
              <a:t>Generalităţi despre OOP</a:t>
            </a:r>
            <a:r>
              <a:rPr lang="en-US" altLang="ro-RO" sz="2400" dirty="0">
                <a:latin typeface="Arial" pitchFamily="34" charset="0"/>
                <a:cs typeface="Arial" pitchFamily="34" charset="0"/>
              </a:rPr>
              <a:t> (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Principiile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program</a:t>
            </a:r>
            <a:r>
              <a:rPr lang="ro-RO" altLang="ro-RO" sz="2400" dirty="0">
                <a:latin typeface="Arial" pitchFamily="34" charset="0"/>
                <a:cs typeface="Arial" pitchFamily="34" charset="0"/>
              </a:rPr>
              <a:t>ă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rii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orientate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pe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obiecte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)</a:t>
            </a:r>
          </a:p>
          <a:p>
            <a:pPr>
              <a:defRPr/>
            </a:pPr>
            <a:endParaRPr lang="ro-RO" altLang="ro-RO" sz="2400" dirty="0">
              <a:latin typeface="Arial" pitchFamily="34" charset="0"/>
              <a:cs typeface="Arial" pitchFamily="34" charset="0"/>
            </a:endParaRPr>
          </a:p>
          <a:p>
            <a:pPr lvl="1" eaLnBrk="1" hangingPunct="1">
              <a:defRPr/>
            </a:pPr>
            <a:r>
              <a:rPr lang="en-US" altLang="ro-RO" sz="2000" dirty="0" err="1">
                <a:latin typeface="Arial" pitchFamily="34" charset="0"/>
                <a:cs typeface="Arial" pitchFamily="34" charset="0"/>
              </a:rPr>
              <a:t>Clase</a:t>
            </a:r>
            <a:r>
              <a:rPr lang="en-US" altLang="ro-RO" sz="20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altLang="ro-RO" sz="2000" dirty="0" err="1">
                <a:latin typeface="Arial" pitchFamily="34" charset="0"/>
                <a:cs typeface="Arial" pitchFamily="34" charset="0"/>
              </a:rPr>
              <a:t>obiecte</a:t>
            </a:r>
            <a:r>
              <a:rPr lang="en-US" altLang="ro-RO" sz="20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altLang="ro-RO" sz="2000" dirty="0" err="1">
                <a:latin typeface="Arial" pitchFamily="34" charset="0"/>
                <a:cs typeface="Arial" pitchFamily="34" charset="0"/>
              </a:rPr>
              <a:t>modificatori</a:t>
            </a:r>
            <a:r>
              <a:rPr lang="en-US" altLang="ro-RO" sz="2000" dirty="0">
                <a:latin typeface="Arial" pitchFamily="34" charset="0"/>
                <a:cs typeface="Arial" pitchFamily="34" charset="0"/>
              </a:rPr>
              <a:t> de </a:t>
            </a:r>
            <a:r>
              <a:rPr lang="en-US" altLang="ro-RO" sz="2000" dirty="0" err="1">
                <a:latin typeface="Arial" pitchFamily="34" charset="0"/>
                <a:cs typeface="Arial" pitchFamily="34" charset="0"/>
              </a:rPr>
              <a:t>acces</a:t>
            </a:r>
            <a:r>
              <a:rPr lang="en-US" altLang="ro-RO" sz="20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altLang="ro-RO" sz="2000" dirty="0" err="1">
                <a:latin typeface="Arial" pitchFamily="34" charset="0"/>
                <a:cs typeface="Arial" pitchFamily="34" charset="0"/>
              </a:rPr>
              <a:t>functii</a:t>
            </a:r>
            <a:r>
              <a:rPr lang="en-US" altLang="ro-RO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ro-RO" sz="2000" dirty="0" err="1">
                <a:latin typeface="Arial" pitchFamily="34" charset="0"/>
                <a:cs typeface="Arial" pitchFamily="34" charset="0"/>
              </a:rPr>
              <a:t>si</a:t>
            </a:r>
            <a:r>
              <a:rPr lang="en-US" altLang="ro-RO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ro-RO" sz="2000" dirty="0" err="1">
                <a:latin typeface="Arial" pitchFamily="34" charset="0"/>
                <a:cs typeface="Arial" pitchFamily="34" charset="0"/>
              </a:rPr>
              <a:t>clase</a:t>
            </a:r>
            <a:r>
              <a:rPr lang="en-US" altLang="ro-RO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ro-RO" sz="2000" dirty="0" err="1">
                <a:latin typeface="Arial" pitchFamily="34" charset="0"/>
                <a:cs typeface="Arial" pitchFamily="34" charset="0"/>
              </a:rPr>
              <a:t>prieten</a:t>
            </a:r>
            <a:r>
              <a:rPr lang="en-US" altLang="ro-RO" sz="20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altLang="ro-RO" sz="2000" dirty="0" err="1">
                <a:latin typeface="Arial" pitchFamily="34" charset="0"/>
                <a:cs typeface="Arial" pitchFamily="34" charset="0"/>
              </a:rPr>
              <a:t>constructori</a:t>
            </a:r>
            <a:r>
              <a:rPr lang="en-US" altLang="ro-RO" sz="2000" dirty="0">
                <a:latin typeface="Arial" pitchFamily="34" charset="0"/>
                <a:cs typeface="Arial" pitchFamily="34" charset="0"/>
              </a:rPr>
              <a:t> / destructor</a:t>
            </a:r>
            <a:endParaRPr lang="ro-RO" altLang="ro-RO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Google Shape;458;p34"/>
          <p:cNvSpPr txBox="1"/>
          <p:nvPr/>
        </p:nvSpPr>
        <p:spPr>
          <a:xfrm>
            <a:off x="1600200" y="979487"/>
            <a:ext cx="55435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1C1D"/>
              </a:buClr>
              <a:buSzPts val="2800"/>
              <a:buFont typeface="Arial"/>
              <a:buNone/>
            </a:pPr>
            <a:r>
              <a:rPr lang="en-US" sz="2800" b="1" i="0" u="none" dirty="0">
                <a:solidFill>
                  <a:srgbClr val="0C1C1D"/>
                </a:solidFill>
                <a:latin typeface="Arial"/>
                <a:ea typeface="Arial"/>
                <a:cs typeface="Arial"/>
                <a:sym typeface="Arial"/>
              </a:rPr>
              <a:t>Agenda </a:t>
            </a:r>
            <a:r>
              <a:rPr lang="en-US" sz="2800" b="1" i="0" u="none" dirty="0" err="1">
                <a:solidFill>
                  <a:srgbClr val="0C1C1D"/>
                </a:solidFill>
                <a:latin typeface="Arial"/>
                <a:ea typeface="Arial"/>
                <a:cs typeface="Arial"/>
                <a:sym typeface="Arial"/>
              </a:rPr>
              <a:t>cursului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CustomShape 2"/>
          <p:cNvSpPr/>
          <p:nvPr/>
        </p:nvSpPr>
        <p:spPr>
          <a:xfrm>
            <a:off x="2209800" y="228600"/>
            <a:ext cx="5028235" cy="40594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9144" rIns="0" bIns="9144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500" b="1" spc="-1" dirty="0" err="1">
                <a:solidFill>
                  <a:srgbClr val="0070C0"/>
                </a:solidFill>
                <a:latin typeface="Arial"/>
                <a:ea typeface="Arial"/>
              </a:rPr>
              <a:t>Generalităţi</a:t>
            </a:r>
            <a:r>
              <a:rPr lang="en-US" sz="2500" b="1" spc="-1" dirty="0">
                <a:solidFill>
                  <a:srgbClr val="0070C0"/>
                </a:solidFill>
                <a:latin typeface="Arial"/>
                <a:ea typeface="Arial"/>
              </a:rPr>
              <a:t> </a:t>
            </a:r>
            <a:r>
              <a:rPr lang="en-US" sz="2500" b="1" spc="-1" dirty="0" err="1">
                <a:solidFill>
                  <a:srgbClr val="0070C0"/>
                </a:solidFill>
                <a:latin typeface="Arial"/>
                <a:ea typeface="Arial"/>
              </a:rPr>
              <a:t>despre</a:t>
            </a:r>
            <a:r>
              <a:rPr lang="en-US" sz="2500" b="1" spc="-1" dirty="0">
                <a:solidFill>
                  <a:srgbClr val="0070C0"/>
                </a:solidFill>
                <a:latin typeface="Arial"/>
                <a:ea typeface="Arial"/>
              </a:rPr>
              <a:t> curs</a:t>
            </a:r>
            <a:endParaRPr lang="en-US" sz="2500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138" name="CustomShape 3"/>
          <p:cNvSpPr/>
          <p:nvPr/>
        </p:nvSpPr>
        <p:spPr>
          <a:xfrm>
            <a:off x="218848" y="762000"/>
            <a:ext cx="8586990" cy="5029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9" tIns="40820" rIns="81639" bIns="40820">
            <a:noAutofit/>
          </a:bodyPr>
          <a:lstStyle/>
          <a:p>
            <a:pPr marL="414726" indent="-414400">
              <a:lnSpc>
                <a:spcPct val="15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US" sz="2200" spc="-1" dirty="0">
                <a:solidFill>
                  <a:srgbClr val="000000"/>
                </a:solidFill>
                <a:latin typeface="Arial"/>
                <a:ea typeface="Arial"/>
              </a:rPr>
              <a:t>Curs – </a:t>
            </a:r>
            <a:r>
              <a:rPr lang="en-US" sz="2200" spc="-1" dirty="0" err="1">
                <a:solidFill>
                  <a:srgbClr val="000000"/>
                </a:solidFill>
                <a:latin typeface="Arial"/>
                <a:ea typeface="Arial"/>
              </a:rPr>
              <a:t>seria</a:t>
            </a:r>
            <a:r>
              <a:rPr lang="en-US" sz="2200" spc="-1" dirty="0">
                <a:solidFill>
                  <a:srgbClr val="000000"/>
                </a:solidFill>
                <a:latin typeface="Arial"/>
                <a:ea typeface="Arial"/>
              </a:rPr>
              <a:t> 15: </a:t>
            </a:r>
            <a:r>
              <a:rPr lang="en-US" sz="2200" spc="-1" dirty="0" err="1">
                <a:solidFill>
                  <a:srgbClr val="000000"/>
                </a:solidFill>
                <a:latin typeface="Arial"/>
                <a:ea typeface="Arial"/>
              </a:rPr>
              <a:t>luni</a:t>
            </a:r>
            <a:r>
              <a:rPr lang="en-US" sz="2200" spc="-1" dirty="0">
                <a:solidFill>
                  <a:srgbClr val="000000"/>
                </a:solidFill>
                <a:latin typeface="Arial"/>
                <a:ea typeface="Arial"/>
              </a:rPr>
              <a:t> (11 -14), </a:t>
            </a:r>
            <a:r>
              <a:rPr lang="en-US" sz="2200" spc="-1" dirty="0" err="1">
                <a:solidFill>
                  <a:srgbClr val="000000"/>
                </a:solidFill>
                <a:latin typeface="Arial"/>
                <a:ea typeface="Arial"/>
              </a:rPr>
              <a:t>seria</a:t>
            </a:r>
            <a:r>
              <a:rPr lang="en-US" sz="2200" spc="-1" dirty="0">
                <a:solidFill>
                  <a:srgbClr val="000000"/>
                </a:solidFill>
                <a:latin typeface="Arial"/>
                <a:ea typeface="Arial"/>
              </a:rPr>
              <a:t> 14: </a:t>
            </a:r>
            <a:r>
              <a:rPr lang="en-US" sz="2200" spc="-1" dirty="0" err="1">
                <a:solidFill>
                  <a:srgbClr val="000000"/>
                </a:solidFill>
                <a:latin typeface="Arial"/>
                <a:ea typeface="Arial"/>
              </a:rPr>
              <a:t>marti</a:t>
            </a:r>
            <a:r>
              <a:rPr lang="en-US" sz="2200" spc="-1" dirty="0">
                <a:solidFill>
                  <a:srgbClr val="000000"/>
                </a:solidFill>
                <a:latin typeface="Arial"/>
                <a:ea typeface="Arial"/>
              </a:rPr>
              <a:t> (14 – 17), </a:t>
            </a:r>
            <a:r>
              <a:rPr lang="en-US" sz="2200" spc="-1" dirty="0" err="1">
                <a:solidFill>
                  <a:srgbClr val="000000"/>
                </a:solidFill>
                <a:latin typeface="Arial"/>
                <a:ea typeface="Arial"/>
              </a:rPr>
              <a:t>seria</a:t>
            </a:r>
            <a:r>
              <a:rPr lang="en-US" sz="2200" spc="-1" dirty="0">
                <a:solidFill>
                  <a:srgbClr val="000000"/>
                </a:solidFill>
                <a:latin typeface="Arial"/>
                <a:ea typeface="Arial"/>
              </a:rPr>
              <a:t> 13: </a:t>
            </a:r>
            <a:r>
              <a:rPr lang="en-US" sz="2200" spc="-1" dirty="0" err="1">
                <a:solidFill>
                  <a:srgbClr val="000000"/>
                </a:solidFill>
                <a:latin typeface="Arial"/>
                <a:ea typeface="Arial"/>
              </a:rPr>
              <a:t>vineri</a:t>
            </a:r>
            <a:r>
              <a:rPr lang="en-US" sz="2200" spc="-1" dirty="0">
                <a:solidFill>
                  <a:srgbClr val="000000"/>
                </a:solidFill>
                <a:latin typeface="Arial"/>
                <a:ea typeface="Arial"/>
              </a:rPr>
              <a:t> (9 - 12)</a:t>
            </a:r>
            <a:endParaRPr lang="en-US" sz="2200" spc="-1" dirty="0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2200" spc="-1" dirty="0">
                <a:solidFill>
                  <a:srgbClr val="000000"/>
                </a:solidFill>
                <a:latin typeface="Arial"/>
                <a:ea typeface="Arial"/>
              </a:rPr>
              <a:t>2. </a:t>
            </a:r>
            <a:r>
              <a:rPr lang="en-US" sz="2200" spc="-1" dirty="0" err="1">
                <a:solidFill>
                  <a:srgbClr val="000000"/>
                </a:solidFill>
                <a:latin typeface="Arial"/>
                <a:ea typeface="Arial"/>
              </a:rPr>
              <a:t>Laborator</a:t>
            </a:r>
            <a:r>
              <a:rPr lang="en-US" sz="2200" spc="-1" dirty="0">
                <a:solidFill>
                  <a:srgbClr val="000000"/>
                </a:solidFill>
                <a:latin typeface="Arial"/>
                <a:ea typeface="Arial"/>
              </a:rPr>
              <a:t> – </a:t>
            </a:r>
            <a:r>
              <a:rPr lang="en-US" sz="2200" spc="-1" dirty="0" err="1">
                <a:solidFill>
                  <a:srgbClr val="000000"/>
                </a:solidFill>
                <a:latin typeface="Arial"/>
                <a:ea typeface="Arial"/>
              </a:rPr>
              <a:t>pe</a:t>
            </a:r>
            <a:r>
              <a:rPr lang="en-US" sz="2200" spc="-1" dirty="0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en-US" sz="2200" spc="-1" dirty="0" err="1">
                <a:solidFill>
                  <a:srgbClr val="000000"/>
                </a:solidFill>
                <a:latin typeface="Arial"/>
                <a:ea typeface="Arial"/>
              </a:rPr>
              <a:t>semigrupe</a:t>
            </a:r>
            <a:r>
              <a:rPr lang="en-US" sz="2200" spc="-1" dirty="0">
                <a:solidFill>
                  <a:srgbClr val="000000"/>
                </a:solidFill>
                <a:latin typeface="Arial"/>
                <a:ea typeface="Arial"/>
              </a:rPr>
              <a:t>, in </a:t>
            </a:r>
            <a:r>
              <a:rPr lang="en-US" sz="2200" spc="-1" dirty="0" err="1">
                <a:solidFill>
                  <a:srgbClr val="000000"/>
                </a:solidFill>
                <a:latin typeface="Arial"/>
                <a:ea typeface="Arial"/>
              </a:rPr>
              <a:t>fiecare</a:t>
            </a:r>
            <a:r>
              <a:rPr lang="en-US" sz="2200" spc="-1" dirty="0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en-US" sz="2200" spc="-1" dirty="0" err="1">
                <a:solidFill>
                  <a:srgbClr val="000000"/>
                </a:solidFill>
                <a:latin typeface="Arial"/>
                <a:ea typeface="Arial"/>
              </a:rPr>
              <a:t>saptamana</a:t>
            </a:r>
            <a:endParaRPr lang="en-US" sz="2200" spc="-1" dirty="0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2200" spc="-1" dirty="0">
                <a:solidFill>
                  <a:srgbClr val="000000"/>
                </a:solidFill>
                <a:latin typeface="Arial"/>
                <a:ea typeface="Arial"/>
              </a:rPr>
              <a:t>3. Seminar - o data la 2 </a:t>
            </a:r>
            <a:r>
              <a:rPr lang="en-US" sz="2200" spc="-1" dirty="0" err="1">
                <a:solidFill>
                  <a:srgbClr val="000000"/>
                </a:solidFill>
                <a:latin typeface="Arial"/>
                <a:ea typeface="Arial"/>
              </a:rPr>
              <a:t>saptamani</a:t>
            </a:r>
            <a:endParaRPr lang="en-US" sz="2200" spc="-1" dirty="0">
              <a:solidFill>
                <a:srgbClr val="000000"/>
              </a:solidFill>
              <a:latin typeface="Arial"/>
              <a:ea typeface="Arial"/>
            </a:endParaRPr>
          </a:p>
          <a:p>
            <a:pPr>
              <a:lnSpc>
                <a:spcPct val="150000"/>
              </a:lnSpc>
            </a:pPr>
            <a:r>
              <a:rPr lang="en-US" sz="2200" spc="-1" dirty="0">
                <a:solidFill>
                  <a:srgbClr val="FF0000"/>
                </a:solidFill>
                <a:latin typeface="Arial"/>
              </a:rPr>
              <a:t>COLOCVIU: Data </a:t>
            </a:r>
            <a:r>
              <a:rPr lang="en-US" sz="2200" spc="-1" dirty="0" err="1">
                <a:solidFill>
                  <a:srgbClr val="FF0000"/>
                </a:solidFill>
                <a:latin typeface="Arial"/>
              </a:rPr>
              <a:t>va</a:t>
            </a:r>
            <a:r>
              <a:rPr lang="en-US" sz="2200" spc="-1" dirty="0">
                <a:solidFill>
                  <a:srgbClr val="FF0000"/>
                </a:solidFill>
                <a:latin typeface="Arial"/>
              </a:rPr>
              <a:t> fi </a:t>
            </a:r>
            <a:r>
              <a:rPr lang="en-US" sz="2200" spc="-1" dirty="0" err="1">
                <a:solidFill>
                  <a:srgbClr val="FF0000"/>
                </a:solidFill>
                <a:latin typeface="Arial"/>
              </a:rPr>
              <a:t>anuntata</a:t>
            </a:r>
            <a:r>
              <a:rPr lang="en-US" sz="2200" spc="-1" dirty="0">
                <a:solidFill>
                  <a:srgbClr val="FF0000"/>
                </a:solidFill>
                <a:latin typeface="Arial"/>
              </a:rPr>
              <a:t> (in </a:t>
            </a:r>
            <a:r>
              <a:rPr lang="en-US" sz="2200" spc="-1" dirty="0" err="1">
                <a:solidFill>
                  <a:srgbClr val="FF0000"/>
                </a:solidFill>
                <a:latin typeface="Arial"/>
              </a:rPr>
              <a:t>principiu</a:t>
            </a:r>
            <a:r>
              <a:rPr lang="en-US" sz="2200" spc="-1" dirty="0">
                <a:solidFill>
                  <a:srgbClr val="FF0000"/>
                </a:solidFill>
                <a:latin typeface="Arial"/>
              </a:rPr>
              <a:t>, ultima </a:t>
            </a:r>
            <a:r>
              <a:rPr lang="en-US" sz="2200" spc="-1" dirty="0" err="1">
                <a:solidFill>
                  <a:srgbClr val="FF0000"/>
                </a:solidFill>
                <a:latin typeface="Arial"/>
              </a:rPr>
              <a:t>saptamana</a:t>
            </a:r>
            <a:r>
              <a:rPr lang="en-US" sz="2200" spc="-1" dirty="0">
                <a:solidFill>
                  <a:srgbClr val="FF0000"/>
                </a:solidFill>
                <a:latin typeface="Arial"/>
              </a:rPr>
              <a:t> de curs) – se </a:t>
            </a:r>
            <a:r>
              <a:rPr lang="en-US" sz="2200" spc="-1" dirty="0" err="1">
                <a:solidFill>
                  <a:srgbClr val="FF0000"/>
                </a:solidFill>
                <a:latin typeface="Arial"/>
              </a:rPr>
              <a:t>sustine</a:t>
            </a:r>
            <a:r>
              <a:rPr lang="en-US" sz="2200" spc="-1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sz="2200" spc="-1" dirty="0" err="1">
                <a:solidFill>
                  <a:srgbClr val="FF0000"/>
                </a:solidFill>
                <a:latin typeface="Arial"/>
              </a:rPr>
              <a:t>fizic</a:t>
            </a:r>
            <a:r>
              <a:rPr lang="en-US" sz="2200" spc="-1" dirty="0">
                <a:solidFill>
                  <a:srgbClr val="FF0000"/>
                </a:solidFill>
                <a:latin typeface="Arial"/>
              </a:rPr>
              <a:t> in </a:t>
            </a:r>
            <a:r>
              <a:rPr lang="en-US" sz="2200" spc="-1" dirty="0" err="1">
                <a:solidFill>
                  <a:srgbClr val="FF0000"/>
                </a:solidFill>
                <a:latin typeface="Arial"/>
              </a:rPr>
              <a:t>facultate</a:t>
            </a:r>
            <a:r>
              <a:rPr lang="en-US" sz="2200" spc="-1" dirty="0">
                <a:solidFill>
                  <a:srgbClr val="FF0000"/>
                </a:solidFill>
                <a:latin typeface="Arial"/>
              </a:rPr>
              <a:t>; </a:t>
            </a:r>
          </a:p>
          <a:p>
            <a:pPr>
              <a:lnSpc>
                <a:spcPct val="150000"/>
              </a:lnSpc>
            </a:pPr>
            <a:r>
              <a:rPr lang="en-US" sz="2200" spc="-1" dirty="0">
                <a:solidFill>
                  <a:srgbClr val="FF0000"/>
                </a:solidFill>
                <a:latin typeface="Arial"/>
              </a:rPr>
              <a:t>EXAMEN SCRIS: 11 </a:t>
            </a:r>
            <a:r>
              <a:rPr lang="en-US" sz="2200" spc="-1" dirty="0" err="1">
                <a:solidFill>
                  <a:srgbClr val="FF0000"/>
                </a:solidFill>
                <a:latin typeface="Arial"/>
              </a:rPr>
              <a:t>iunie</a:t>
            </a:r>
            <a:r>
              <a:rPr lang="en-US" sz="2200" spc="-1" dirty="0">
                <a:solidFill>
                  <a:srgbClr val="FF0000"/>
                </a:solidFill>
                <a:latin typeface="Arial"/>
              </a:rPr>
              <a:t> 2026, </a:t>
            </a:r>
            <a:r>
              <a:rPr lang="en-US" sz="2200" spc="-1" dirty="0" err="1">
                <a:solidFill>
                  <a:srgbClr val="FF0000"/>
                </a:solidFill>
                <a:latin typeface="Arial"/>
              </a:rPr>
              <a:t>ora</a:t>
            </a:r>
            <a:r>
              <a:rPr lang="en-US" sz="2200" spc="-1" dirty="0">
                <a:solidFill>
                  <a:srgbClr val="FF0000"/>
                </a:solidFill>
                <a:latin typeface="Arial"/>
              </a:rPr>
              <a:t> 9.00 – se </a:t>
            </a:r>
            <a:r>
              <a:rPr lang="en-US" sz="2200" spc="-1" dirty="0" err="1">
                <a:solidFill>
                  <a:srgbClr val="FF0000"/>
                </a:solidFill>
                <a:latin typeface="Arial"/>
              </a:rPr>
              <a:t>sustine</a:t>
            </a:r>
            <a:r>
              <a:rPr lang="en-US" sz="2200" spc="-1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sz="2200" spc="-1" dirty="0" err="1">
                <a:solidFill>
                  <a:srgbClr val="FF0000"/>
                </a:solidFill>
                <a:latin typeface="Arial"/>
              </a:rPr>
              <a:t>fizic</a:t>
            </a:r>
            <a:r>
              <a:rPr lang="en-US" sz="2200" spc="-1" dirty="0">
                <a:solidFill>
                  <a:srgbClr val="FF0000"/>
                </a:solidFill>
                <a:latin typeface="Arial"/>
              </a:rPr>
              <a:t> in </a:t>
            </a:r>
            <a:r>
              <a:rPr lang="en-US" sz="2200" spc="-1" dirty="0" err="1">
                <a:solidFill>
                  <a:srgbClr val="FF0000"/>
                </a:solidFill>
                <a:latin typeface="Arial"/>
              </a:rPr>
              <a:t>facultate</a:t>
            </a:r>
            <a:endParaRPr lang="en-US" sz="2200" spc="-1" dirty="0">
              <a:solidFill>
                <a:srgbClr val="FF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2000" spc="-1" dirty="0" err="1">
                <a:latin typeface="Arial"/>
              </a:rPr>
              <a:t>Daca</a:t>
            </a:r>
            <a:r>
              <a:rPr lang="en-US" sz="2000" spc="-1" dirty="0">
                <a:latin typeface="Arial"/>
              </a:rPr>
              <a:t> </a:t>
            </a:r>
            <a:r>
              <a:rPr lang="en-US" sz="2000" spc="-1" dirty="0" err="1">
                <a:latin typeface="Arial"/>
              </a:rPr>
              <a:t>cineva</a:t>
            </a:r>
            <a:r>
              <a:rPr lang="en-US" sz="2000" spc="-1" dirty="0">
                <a:latin typeface="Arial"/>
              </a:rPr>
              <a:t> are o </a:t>
            </a:r>
            <a:r>
              <a:rPr lang="en-US" sz="2000" spc="-1" dirty="0" err="1">
                <a:latin typeface="Arial"/>
              </a:rPr>
              <a:t>problema</a:t>
            </a:r>
            <a:r>
              <a:rPr lang="en-US" sz="2000" spc="-1" dirty="0">
                <a:latin typeface="Arial"/>
              </a:rPr>
              <a:t> cu </a:t>
            </a:r>
            <a:r>
              <a:rPr lang="en-US" sz="2000" spc="-1" dirty="0" err="1">
                <a:latin typeface="Arial"/>
              </a:rPr>
              <a:t>aceste</a:t>
            </a:r>
            <a:r>
              <a:rPr lang="en-US" sz="2000" spc="-1" dirty="0">
                <a:latin typeface="Arial"/>
              </a:rPr>
              <a:t> date </a:t>
            </a:r>
            <a:r>
              <a:rPr lang="en-US" sz="2000" spc="-1" dirty="0" err="1">
                <a:latin typeface="Arial"/>
              </a:rPr>
              <a:t>il</a:t>
            </a:r>
            <a:r>
              <a:rPr lang="en-US" sz="2000" spc="-1" dirty="0">
                <a:latin typeface="Arial"/>
              </a:rPr>
              <a:t>/o rog </a:t>
            </a:r>
            <a:r>
              <a:rPr lang="en-US" sz="2000" spc="-1" dirty="0" err="1">
                <a:latin typeface="Arial"/>
              </a:rPr>
              <a:t>sa</a:t>
            </a:r>
            <a:r>
              <a:rPr lang="en-US" sz="2000" spc="-1" dirty="0">
                <a:latin typeface="Arial"/>
              </a:rPr>
              <a:t> ne </a:t>
            </a:r>
            <a:r>
              <a:rPr lang="en-US" sz="2000" spc="-1" dirty="0" err="1">
                <a:latin typeface="Arial"/>
              </a:rPr>
              <a:t>anunte</a:t>
            </a:r>
            <a:endParaRPr lang="en-US" sz="2000" spc="-1" dirty="0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2000" spc="-1" dirty="0">
                <a:latin typeface="Arial"/>
              </a:rPr>
              <a:t>In 2 </a:t>
            </a:r>
            <a:r>
              <a:rPr lang="en-US" sz="2000" spc="-1" dirty="0" err="1">
                <a:latin typeface="Arial"/>
              </a:rPr>
              <a:t>saptamani</a:t>
            </a:r>
            <a:r>
              <a:rPr lang="en-US" sz="2000" spc="-1" dirty="0">
                <a:latin typeface="Arial"/>
              </a:rPr>
              <a:t> </a:t>
            </a:r>
            <a:r>
              <a:rPr lang="en-US" sz="2000" spc="-1" dirty="0" err="1">
                <a:latin typeface="Arial"/>
              </a:rPr>
              <a:t>datele</a:t>
            </a:r>
            <a:r>
              <a:rPr lang="en-US" sz="2000" spc="-1" dirty="0">
                <a:latin typeface="Arial"/>
              </a:rPr>
              <a:t> </a:t>
            </a:r>
            <a:r>
              <a:rPr lang="en-US" sz="2000" spc="-1" dirty="0" err="1">
                <a:latin typeface="Arial"/>
              </a:rPr>
              <a:t>acestea</a:t>
            </a:r>
            <a:r>
              <a:rPr lang="en-US" sz="2000" spc="-1" dirty="0">
                <a:latin typeface="Arial"/>
              </a:rPr>
              <a:t> </a:t>
            </a:r>
            <a:r>
              <a:rPr lang="en-US" sz="2000" spc="-1" dirty="0" err="1">
                <a:latin typeface="Arial"/>
              </a:rPr>
              <a:t>sunt</a:t>
            </a:r>
            <a:r>
              <a:rPr lang="en-US" sz="2000" spc="-1" dirty="0">
                <a:latin typeface="Arial"/>
              </a:rPr>
              <a:t> fixate/</a:t>
            </a:r>
            <a:r>
              <a:rPr lang="en-US" sz="2000" spc="-1" dirty="0" err="1">
                <a:latin typeface="Arial"/>
              </a:rPr>
              <a:t>finalizate</a:t>
            </a:r>
            <a:endParaRPr lang="en-US" sz="2000" spc="-1" dirty="0">
              <a:latin typeface="Arial"/>
            </a:endParaRPr>
          </a:p>
          <a:p>
            <a:pPr>
              <a:lnSpc>
                <a:spcPct val="150000"/>
              </a:lnSpc>
            </a:pPr>
            <a:endParaRPr lang="en-US" sz="2200" spc="-1" dirty="0">
              <a:solidFill>
                <a:srgbClr val="FF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lang="en-US" sz="2200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851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TextShape 1"/>
          <p:cNvSpPr txBox="1"/>
          <p:nvPr/>
        </p:nvSpPr>
        <p:spPr>
          <a:xfrm>
            <a:off x="129074" y="1447800"/>
            <a:ext cx="8588041" cy="4267200"/>
          </a:xfrm>
          <a:prstGeom prst="rect">
            <a:avLst/>
          </a:prstGeom>
          <a:noFill/>
          <a:ln>
            <a:noFill/>
          </a:ln>
        </p:spPr>
        <p:txBody>
          <a:bodyPr lIns="91436" tIns="45718" rIns="91436" bIns="45718">
            <a:noAutofit/>
          </a:bodyPr>
          <a:lstStyle/>
          <a:p>
            <a:pPr marL="342884" indent="-342557">
              <a:spcBef>
                <a:spcPts val="435"/>
              </a:spcBef>
              <a:buClr>
                <a:srgbClr val="000000"/>
              </a:buClr>
              <a:buFont typeface="Arial"/>
              <a:buChar char="•"/>
            </a:pPr>
            <a:r>
              <a:rPr lang="ro-RO" sz="2200" spc="-1" dirty="0">
                <a:solidFill>
                  <a:srgbClr val="000000"/>
                </a:solidFill>
                <a:latin typeface="Calibri"/>
              </a:rPr>
              <a:t>C++98: a definit standardul inițial, toate chestiunile de limbaj, STL</a:t>
            </a:r>
          </a:p>
          <a:p>
            <a:pPr marL="342884" indent="-342557">
              <a:spcBef>
                <a:spcPts val="435"/>
              </a:spcBef>
              <a:buClr>
                <a:srgbClr val="000000"/>
              </a:buClr>
              <a:buFont typeface="Arial"/>
              <a:buChar char="•"/>
            </a:pPr>
            <a:r>
              <a:rPr lang="ro-RO" sz="2200" spc="-1" dirty="0">
                <a:solidFill>
                  <a:srgbClr val="000000"/>
                </a:solidFill>
                <a:latin typeface="Calibri"/>
              </a:rPr>
              <a:t>C++03: bugfix o unică chestie nouă: value initialization</a:t>
            </a:r>
          </a:p>
          <a:p>
            <a:pPr marL="342884" indent="-342557">
              <a:spcBef>
                <a:spcPts val="435"/>
              </a:spcBef>
              <a:buClr>
                <a:srgbClr val="000000"/>
              </a:buClr>
              <a:buFont typeface="Arial"/>
              <a:buChar char="•"/>
            </a:pPr>
            <a:r>
              <a:rPr lang="ro-RO" sz="2200" spc="-1" dirty="0">
                <a:solidFill>
                  <a:srgbClr val="000000"/>
                </a:solidFill>
                <a:latin typeface="Calibri"/>
              </a:rPr>
              <a:t>C++11: initializer lists, rvalue references, moving constructors, lambda functions, final, constant null pointer, etc.</a:t>
            </a:r>
          </a:p>
          <a:p>
            <a:pPr marL="342884" indent="-342557">
              <a:spcBef>
                <a:spcPts val="435"/>
              </a:spcBef>
              <a:buClr>
                <a:srgbClr val="000000"/>
              </a:buClr>
              <a:buFont typeface="Arial"/>
              <a:buChar char="•"/>
            </a:pPr>
            <a:r>
              <a:rPr lang="ro-RO" sz="2200" spc="-1" dirty="0">
                <a:solidFill>
                  <a:srgbClr val="000000"/>
                </a:solidFill>
                <a:latin typeface="Calibri"/>
              </a:rPr>
              <a:t>C++14: generic lambdas, binary literals, auto, variable template, etc.  </a:t>
            </a:r>
          </a:p>
          <a:p>
            <a:pPr marL="342884" indent="-342557">
              <a:spcBef>
                <a:spcPts val="435"/>
              </a:spcBef>
              <a:buClr>
                <a:srgbClr val="000000"/>
              </a:buClr>
              <a:buFont typeface="Arial"/>
              <a:buChar char="•"/>
            </a:pPr>
            <a:r>
              <a:rPr lang="ro-RO" sz="2200" spc="-1" dirty="0">
                <a:solidFill>
                  <a:srgbClr val="000000"/>
                </a:solidFill>
                <a:latin typeface="Calibri"/>
              </a:rPr>
              <a:t>C++17: schimbări la  STL pentru  paralelizare,</a:t>
            </a:r>
            <a:r>
              <a:rPr lang="en-US" sz="2200" spc="-1" dirty="0">
                <a:solidFill>
                  <a:srgbClr val="000000"/>
                </a:solidFill>
                <a:latin typeface="Calibri"/>
              </a:rPr>
              <a:t> nested namespaces, inline variables, </a:t>
            </a:r>
            <a:r>
              <a:rPr lang="en-US" sz="2200" spc="-1" dirty="0" err="1">
                <a:solidFill>
                  <a:srgbClr val="000000"/>
                </a:solidFill>
                <a:latin typeface="Calibri"/>
              </a:rPr>
              <a:t>eliminat</a:t>
            </a:r>
            <a:r>
              <a:rPr lang="en-US" sz="2200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200" spc="-1" dirty="0" err="1">
                <a:solidFill>
                  <a:srgbClr val="000000"/>
                </a:solidFill>
                <a:latin typeface="Calibri"/>
              </a:rPr>
              <a:t>trigraphs</a:t>
            </a:r>
            <a:r>
              <a:rPr lang="en-US" sz="2200" spc="-1" dirty="0">
                <a:solidFill>
                  <a:srgbClr val="000000"/>
                </a:solidFill>
                <a:latin typeface="Calibri"/>
              </a:rPr>
              <a:t>, </a:t>
            </a:r>
            <a:r>
              <a:rPr lang="en-US" sz="2200" spc="-1" dirty="0" err="1">
                <a:solidFill>
                  <a:srgbClr val="000000"/>
                </a:solidFill>
                <a:latin typeface="Calibri"/>
              </a:rPr>
              <a:t>functii</a:t>
            </a:r>
            <a:r>
              <a:rPr lang="en-US" sz="2200" spc="-1" dirty="0">
                <a:solidFill>
                  <a:srgbClr val="000000"/>
                </a:solidFill>
                <a:latin typeface="Calibri"/>
              </a:rPr>
              <a:t> deprecated</a:t>
            </a:r>
            <a:endParaRPr lang="ro-RO" sz="2200" spc="-1" dirty="0">
              <a:solidFill>
                <a:srgbClr val="000000"/>
              </a:solidFill>
              <a:latin typeface="Calibri"/>
            </a:endParaRPr>
          </a:p>
          <a:p>
            <a:pPr marL="342884" indent="-342557">
              <a:spcBef>
                <a:spcPts val="435"/>
              </a:spcBef>
              <a:buClr>
                <a:srgbClr val="000000"/>
              </a:buClr>
              <a:buFont typeface="Arial"/>
              <a:buChar char="•"/>
            </a:pPr>
            <a:r>
              <a:rPr lang="ro-RO" sz="2200" spc="-1" dirty="0">
                <a:solidFill>
                  <a:srgbClr val="000000"/>
                </a:solidFill>
                <a:latin typeface="Calibri"/>
              </a:rPr>
              <a:t>C++20:</a:t>
            </a:r>
            <a:r>
              <a:rPr lang="en-US" sz="2200" spc="-1" dirty="0">
                <a:solidFill>
                  <a:srgbClr val="000000"/>
                </a:solidFill>
                <a:latin typeface="Calibri"/>
              </a:rPr>
              <a:t> concepts, modules, three-way comparison, </a:t>
            </a:r>
            <a:r>
              <a:rPr lang="en-US" sz="2200" spc="-1" dirty="0" err="1">
                <a:solidFill>
                  <a:srgbClr val="000000"/>
                </a:solidFill>
                <a:latin typeface="Calibri"/>
              </a:rPr>
              <a:t>coroutines</a:t>
            </a:r>
            <a:r>
              <a:rPr lang="en-US" sz="2200" spc="-1" dirty="0">
                <a:solidFill>
                  <a:srgbClr val="000000"/>
                </a:solidFill>
                <a:latin typeface="Calibri"/>
              </a:rPr>
              <a:t>, </a:t>
            </a:r>
            <a:r>
              <a:rPr lang="en-US" sz="2200" spc="-1" dirty="0" err="1">
                <a:solidFill>
                  <a:srgbClr val="000000"/>
                </a:solidFill>
                <a:latin typeface="Calibri"/>
              </a:rPr>
              <a:t>constinit</a:t>
            </a:r>
            <a:r>
              <a:rPr lang="en-US" sz="2200" spc="-1" dirty="0">
                <a:solidFill>
                  <a:srgbClr val="000000"/>
                </a:solidFill>
                <a:latin typeface="Calibri"/>
              </a:rPr>
              <a:t>, volatile deprecated</a:t>
            </a:r>
          </a:p>
          <a:p>
            <a:pPr marL="342884" indent="-342557">
              <a:spcBef>
                <a:spcPts val="435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spc="-1" dirty="0">
                <a:solidFill>
                  <a:srgbClr val="000000"/>
                </a:solidFill>
                <a:latin typeface="Calibri"/>
              </a:rPr>
              <a:t>C++23: &lt;expected&gt;, &lt;</a:t>
            </a:r>
            <a:r>
              <a:rPr lang="en-US" sz="2200" spc="-1" dirty="0" err="1">
                <a:solidFill>
                  <a:srgbClr val="000000"/>
                </a:solidFill>
                <a:latin typeface="Calibri"/>
              </a:rPr>
              <a:t>stacktrace</a:t>
            </a:r>
            <a:r>
              <a:rPr lang="en-US" sz="2200" spc="-1" dirty="0">
                <a:solidFill>
                  <a:srgbClr val="000000"/>
                </a:solidFill>
                <a:latin typeface="Calibri"/>
              </a:rPr>
              <a:t>&gt;</a:t>
            </a:r>
          </a:p>
          <a:p>
            <a:pPr marL="342884" indent="-342557">
              <a:spcBef>
                <a:spcPts val="435"/>
              </a:spcBef>
              <a:buClr>
                <a:srgbClr val="000000"/>
              </a:buClr>
              <a:buFont typeface="Arial"/>
              <a:buChar char="•"/>
            </a:pPr>
            <a:r>
              <a:rPr lang="ro-RO" altLang="ro-RO" sz="2000" dirty="0">
                <a:latin typeface="Arial"/>
                <a:cs typeface="Arial"/>
              </a:rPr>
              <a:t>Următoarea plănuită în 2026 (C++2c)</a:t>
            </a:r>
          </a:p>
        </p:txBody>
      </p:sp>
      <p:sp>
        <p:nvSpPr>
          <p:cNvPr id="290" name="CustomShape 4"/>
          <p:cNvSpPr/>
          <p:nvPr/>
        </p:nvSpPr>
        <p:spPr>
          <a:xfrm>
            <a:off x="204036" y="713938"/>
            <a:ext cx="7661870" cy="41443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9" tIns="40820" rIns="81639" bIns="40820">
            <a:noAutofit/>
          </a:bodyPr>
          <a:lstStyle/>
          <a:p>
            <a:pPr marL="1036815" indent="-202791">
              <a:lnSpc>
                <a:spcPct val="150000"/>
              </a:lnSpc>
            </a:pPr>
            <a:r>
              <a:rPr lang="en-US" sz="1800" b="1" spc="-1" dirty="0" err="1">
                <a:latin typeface="Arial"/>
                <a:ea typeface="Arial"/>
              </a:rPr>
              <a:t>Completări</a:t>
            </a:r>
            <a:r>
              <a:rPr lang="en-US" sz="1800" b="1" spc="-1" dirty="0">
                <a:latin typeface="Arial"/>
                <a:ea typeface="Arial"/>
              </a:rPr>
              <a:t> </a:t>
            </a:r>
            <a:r>
              <a:rPr lang="en-US" sz="1800" b="1" spc="-1" dirty="0" err="1">
                <a:latin typeface="Arial"/>
                <a:ea typeface="Arial"/>
              </a:rPr>
              <a:t>aduse</a:t>
            </a:r>
            <a:r>
              <a:rPr lang="en-US" sz="1800" b="1" spc="-1" dirty="0">
                <a:latin typeface="Arial"/>
                <a:ea typeface="Arial"/>
              </a:rPr>
              <a:t> de </a:t>
            </a:r>
            <a:r>
              <a:rPr lang="en-US" sz="1800" b="1" spc="-1" dirty="0" err="1">
                <a:latin typeface="Arial"/>
                <a:ea typeface="Arial"/>
              </a:rPr>
              <a:t>limbajul</a:t>
            </a:r>
            <a:r>
              <a:rPr lang="en-US" sz="1800" b="1" spc="-1" dirty="0">
                <a:latin typeface="Arial"/>
                <a:ea typeface="Arial"/>
              </a:rPr>
              <a:t> C++ </a:t>
            </a:r>
            <a:r>
              <a:rPr lang="en-US" sz="1800" b="1" spc="-1" dirty="0" err="1">
                <a:latin typeface="Arial"/>
                <a:ea typeface="Arial"/>
              </a:rPr>
              <a:t>faţă</a:t>
            </a:r>
            <a:r>
              <a:rPr lang="en-US" sz="1800" b="1" spc="-1" dirty="0">
                <a:latin typeface="Arial"/>
                <a:ea typeface="Arial"/>
              </a:rPr>
              <a:t> de </a:t>
            </a:r>
            <a:r>
              <a:rPr lang="en-US" sz="1800" b="1" spc="-1" dirty="0" err="1">
                <a:latin typeface="Arial"/>
                <a:ea typeface="Arial"/>
              </a:rPr>
              <a:t>limbajul</a:t>
            </a:r>
            <a:r>
              <a:rPr lang="en-US" sz="1800" b="1" spc="-1" dirty="0">
                <a:latin typeface="Arial"/>
                <a:ea typeface="Arial"/>
              </a:rPr>
              <a:t> C</a:t>
            </a:r>
            <a:endParaRPr lang="en-US" sz="1800" spc="-1" dirty="0">
              <a:latin typeface="Arial"/>
            </a:endParaRPr>
          </a:p>
        </p:txBody>
      </p:sp>
      <p:sp>
        <p:nvSpPr>
          <p:cNvPr id="7" name="Google Shape;471;p35"/>
          <p:cNvSpPr txBox="1"/>
          <p:nvPr/>
        </p:nvSpPr>
        <p:spPr>
          <a:xfrm>
            <a:off x="2057400" y="76200"/>
            <a:ext cx="48768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1036815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Scurta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recapitulare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C++</a:t>
            </a:r>
            <a:endParaRPr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094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5"/>
          <p:cNvSpPr txBox="1"/>
          <p:nvPr/>
        </p:nvSpPr>
        <p:spPr>
          <a:xfrm>
            <a:off x="414720" y="1371600"/>
            <a:ext cx="8468640" cy="4936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itchFamily="34" charset="0"/>
              <a:buChar char="•"/>
            </a:pPr>
            <a:r>
              <a:rPr lang="en-US" b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Intrări</a:t>
            </a:r>
            <a:r>
              <a:rPr lang="en-US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și</a:t>
            </a:r>
            <a:r>
              <a:rPr lang="en-US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ieșiri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itchFamily="34" charset="0"/>
              <a:buChar char="•"/>
            </a:pPr>
            <a:endParaRPr lang="en-US" b="1" dirty="0">
              <a:solidFill>
                <a:srgbClr val="000000"/>
              </a:solidFill>
              <a:latin typeface="Arial" pitchFamily="34" charset="0"/>
              <a:cs typeface="Arial" pitchFamily="34" charset="0"/>
              <a:sym typeface="Arial"/>
            </a:endParaRPr>
          </a:p>
          <a:p>
            <a:pPr lvl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itchFamily="34" charset="0"/>
              <a:buChar char="•"/>
            </a:pPr>
            <a:r>
              <a:rPr lang="en-US" err="1">
                <a:latin typeface="Arial"/>
                <a:cs typeface="Arial"/>
              </a:rPr>
              <a:t>O</a:t>
            </a:r>
            <a:r>
              <a:rPr lang="en-US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biectele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și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în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plus </a:t>
            </a:r>
            <a:r>
              <a:rPr lang="en-US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față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funcțiile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scanf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ș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din </a:t>
            </a:r>
            <a:r>
              <a:rPr lang="en-US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C.</a:t>
            </a:r>
            <a:endParaRPr lang="en-US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lvl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Nu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necesită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specificarea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formatelor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.</a:t>
            </a:r>
          </a:p>
          <a:p>
            <a:pPr lvl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itchFamily="34" charset="0"/>
              <a:buChar char="•"/>
            </a:pPr>
            <a:r>
              <a:rPr lang="en-US" err="1">
                <a:solidFill>
                  <a:srgbClr val="000000"/>
                </a:solidFill>
                <a:latin typeface="Arial"/>
                <a:cs typeface="Arial"/>
              </a:rPr>
              <a:t>Pentru</a:t>
            </a:r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 I/O type-safe cu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format</a:t>
            </a:r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: &lt;format&gt; (C++20)</a:t>
            </a:r>
            <a:endParaRPr lang="en-US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itchFamily="34" charset="0"/>
              <a:buChar char="•"/>
            </a:pPr>
            <a:endParaRPr lang="en-US" dirty="0">
              <a:solidFill>
                <a:srgbClr val="000000"/>
              </a:solidFill>
              <a:latin typeface="Arial" pitchFamily="34" charset="0"/>
              <a:cs typeface="Arial" pitchFamily="34" charset="0"/>
              <a:sym typeface="Arial"/>
            </a:endParaRP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itchFamily="34" charset="0"/>
              <a:buChar char="•"/>
            </a:pPr>
            <a:r>
              <a:rPr lang="en-US" b="1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Comentarii</a:t>
            </a:r>
            <a:r>
              <a:rPr lang="en-US" b="1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pe o </a:t>
            </a:r>
            <a:r>
              <a:rPr lang="en-US" b="1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singură</a:t>
            </a:r>
            <a:r>
              <a:rPr lang="en-US" b="1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linie</a:t>
            </a:r>
            <a:endParaRPr lang="en-US" b="1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itchFamily="34" charset="0"/>
              <a:buChar char="•"/>
            </a:pPr>
            <a:endParaRPr lang="en-US" b="1" dirty="0">
              <a:solidFill>
                <a:srgbClr val="000000"/>
              </a:solidFill>
              <a:latin typeface="Arial" pitchFamily="34" charset="0"/>
              <a:cs typeface="Arial" pitchFamily="34" charset="0"/>
              <a:sym typeface="Arial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lang="en-US" altLang="ro-RO" b="1" dirty="0">
                <a:latin typeface="Arial"/>
                <a:cs typeface="Arial"/>
              </a:rPr>
              <a:t>C</a:t>
            </a:r>
            <a:r>
              <a:rPr lang="ro-RO" altLang="ro-RO" b="1" dirty="0" err="1">
                <a:latin typeface="Arial"/>
                <a:cs typeface="Arial"/>
              </a:rPr>
              <a:t>itirea</a:t>
            </a:r>
            <a:r>
              <a:rPr lang="ro-RO" altLang="ro-RO" b="1" dirty="0">
                <a:latin typeface="Arial"/>
                <a:cs typeface="Arial"/>
              </a:rPr>
              <a:t> </a:t>
            </a:r>
            <a:r>
              <a:rPr lang="ro-RO" altLang="ro-RO" b="1" dirty="0" err="1">
                <a:latin typeface="Arial"/>
                <a:cs typeface="Arial"/>
              </a:rPr>
              <a:t>string</a:t>
            </a:r>
            <a:r>
              <a:rPr lang="ro-RO" altLang="ro-RO" b="1" dirty="0">
                <a:latin typeface="Arial"/>
                <a:cs typeface="Arial"/>
              </a:rPr>
              <a:t>-urilor până la primul caracter alb</a:t>
            </a:r>
            <a:endParaRPr lang="en-US" altLang="ro-RO" b="1" dirty="0">
              <a:latin typeface="Arial"/>
              <a:cs typeface="Arial"/>
            </a:endParaRPr>
          </a:p>
          <a:p>
            <a:pPr eaLnBrk="1" hangingPunct="1">
              <a:buFont typeface="Arial" pitchFamily="34" charset="0"/>
              <a:buChar char="•"/>
            </a:pPr>
            <a:endParaRPr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CustomShape 4"/>
          <p:cNvSpPr/>
          <p:nvPr/>
        </p:nvSpPr>
        <p:spPr>
          <a:xfrm>
            <a:off x="204036" y="713938"/>
            <a:ext cx="7661870" cy="41443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9" tIns="40820" rIns="81639" bIns="40820">
            <a:noAutofit/>
          </a:bodyPr>
          <a:lstStyle/>
          <a:p>
            <a:pPr marL="1036815" indent="-202791">
              <a:lnSpc>
                <a:spcPct val="150000"/>
              </a:lnSpc>
            </a:pPr>
            <a:r>
              <a:rPr lang="en-US" sz="1800" b="1" spc="-1" dirty="0" err="1">
                <a:latin typeface="Arial"/>
                <a:ea typeface="Arial"/>
              </a:rPr>
              <a:t>Completări</a:t>
            </a:r>
            <a:r>
              <a:rPr lang="en-US" sz="1800" b="1" spc="-1" dirty="0">
                <a:latin typeface="Arial"/>
                <a:ea typeface="Arial"/>
              </a:rPr>
              <a:t> </a:t>
            </a:r>
            <a:r>
              <a:rPr lang="en-US" sz="1800" b="1" spc="-1" dirty="0" err="1">
                <a:latin typeface="Arial"/>
                <a:ea typeface="Arial"/>
              </a:rPr>
              <a:t>aduse</a:t>
            </a:r>
            <a:r>
              <a:rPr lang="en-US" sz="1800" b="1" spc="-1" dirty="0">
                <a:latin typeface="Arial"/>
                <a:ea typeface="Arial"/>
              </a:rPr>
              <a:t> de </a:t>
            </a:r>
            <a:r>
              <a:rPr lang="en-US" sz="1800" b="1" spc="-1" dirty="0" err="1">
                <a:latin typeface="Arial"/>
                <a:ea typeface="Arial"/>
              </a:rPr>
              <a:t>limbajul</a:t>
            </a:r>
            <a:r>
              <a:rPr lang="en-US" sz="1800" b="1" spc="-1" dirty="0">
                <a:latin typeface="Arial"/>
                <a:ea typeface="Arial"/>
              </a:rPr>
              <a:t> C++ </a:t>
            </a:r>
            <a:r>
              <a:rPr lang="en-US" sz="1800" b="1" spc="-1" dirty="0" err="1">
                <a:latin typeface="Arial"/>
                <a:ea typeface="Arial"/>
              </a:rPr>
              <a:t>faţă</a:t>
            </a:r>
            <a:r>
              <a:rPr lang="en-US" sz="1800" b="1" spc="-1" dirty="0">
                <a:latin typeface="Arial"/>
                <a:ea typeface="Arial"/>
              </a:rPr>
              <a:t> de </a:t>
            </a:r>
            <a:r>
              <a:rPr lang="en-US" sz="1800" b="1" spc="-1" dirty="0" err="1">
                <a:latin typeface="Arial"/>
                <a:ea typeface="Arial"/>
              </a:rPr>
              <a:t>limbajul</a:t>
            </a:r>
            <a:r>
              <a:rPr lang="en-US" sz="1800" b="1" spc="-1" dirty="0">
                <a:latin typeface="Arial"/>
                <a:ea typeface="Arial"/>
              </a:rPr>
              <a:t> C</a:t>
            </a:r>
            <a:endParaRPr lang="en-US" sz="1800" spc="-1" dirty="0">
              <a:latin typeface="Arial"/>
            </a:endParaRPr>
          </a:p>
        </p:txBody>
      </p:sp>
      <p:sp>
        <p:nvSpPr>
          <p:cNvPr id="10" name="Google Shape;471;p35"/>
          <p:cNvSpPr txBox="1"/>
          <p:nvPr/>
        </p:nvSpPr>
        <p:spPr>
          <a:xfrm>
            <a:off x="2057400" y="76200"/>
            <a:ext cx="48768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1036815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Scurta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recapitulare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C++</a:t>
            </a:r>
            <a:endParaRPr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301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6"/>
          <p:cNvSpPr txBox="1"/>
          <p:nvPr/>
        </p:nvSpPr>
        <p:spPr>
          <a:xfrm>
            <a:off x="331488" y="1066800"/>
            <a:ext cx="8485204" cy="4668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Supraîncărcarea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funcţiilor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(un </a:t>
            </a: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caz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de </a:t>
            </a:r>
            <a:r>
              <a:rPr lang="en-US" b="1" i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Polimorfism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la </a:t>
            </a:r>
            <a:r>
              <a:rPr lang="en-US" b="1" i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compilare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endParaRPr lang="en-US" b="1" dirty="0">
              <a:solidFill>
                <a:srgbClr val="000000"/>
              </a:solidFill>
              <a:latin typeface="Arial" pitchFamily="34" charset="0"/>
              <a:cs typeface="Arial" pitchFamily="34" charset="0"/>
              <a:sym typeface="Arial"/>
            </a:endParaRPr>
          </a:p>
          <a:p>
            <a:pPr lvl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dirty="0" err="1">
                <a:latin typeface="Arial" pitchFamily="34" charset="0"/>
                <a:cs typeface="Arial" pitchFamily="34" charset="0"/>
              </a:rPr>
              <a:t>U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tilizarea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mai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multor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funcţii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care au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acelaşi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nume</a:t>
            </a:r>
            <a:endParaRPr lang="en-US" dirty="0">
              <a:solidFill>
                <a:srgbClr val="000000"/>
              </a:solidFill>
              <a:latin typeface="Arial" pitchFamily="34" charset="0"/>
              <a:ea typeface="Arial"/>
              <a:cs typeface="Arial" pitchFamily="34" charset="0"/>
              <a:sym typeface="Arial"/>
            </a:endParaRPr>
          </a:p>
          <a:p>
            <a:pPr lvl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endParaRPr lang="en-US" dirty="0">
              <a:solidFill>
                <a:srgbClr val="000000"/>
              </a:solidFill>
              <a:latin typeface="Arial" pitchFamily="34" charset="0"/>
              <a:ea typeface="Arial"/>
              <a:cs typeface="Arial" pitchFamily="34" charset="0"/>
              <a:sym typeface="Arial"/>
            </a:endParaRPr>
          </a:p>
          <a:p>
            <a:pPr lvl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Identificarea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se face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prin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numărul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parametri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şi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tipul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lor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. </a:t>
            </a:r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T</a:t>
            </a:r>
            <a:r>
              <a:rPr lang="ro-RO" altLang="ro-RO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ipul de întoarcere nu e suficient pentru </a:t>
            </a:r>
            <a:r>
              <a:rPr lang="en-US" altLang="ro-RO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a face </a:t>
            </a:r>
            <a:r>
              <a:rPr lang="ro-RO" altLang="ro-RO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diferența</a:t>
            </a:r>
            <a:endParaRPr lang="en-US" altLang="ro-RO" b="1" dirty="0">
              <a:solidFill>
                <a:schemeClr val="accent2">
                  <a:lumMod val="60000"/>
                  <a:lumOff val="4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endParaRPr lang="en-US" altLang="ro-RO" b="1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altLang="ro-RO" dirty="0">
                <a:latin typeface="Arial" pitchFamily="34" charset="0"/>
                <a:cs typeface="Arial" pitchFamily="34" charset="0"/>
              </a:rPr>
              <a:t>S</a:t>
            </a:r>
            <a:r>
              <a:rPr lang="ro-RO" altLang="ro-RO" dirty="0">
                <a:latin typeface="Arial" pitchFamily="34" charset="0"/>
                <a:cs typeface="Arial" pitchFamily="34" charset="0"/>
              </a:rPr>
              <a:t>implicitate/corectitudine de cod</a:t>
            </a:r>
          </a:p>
        </p:txBody>
      </p:sp>
      <p:sp>
        <p:nvSpPr>
          <p:cNvPr id="10" name="Google Shape;471;p35"/>
          <p:cNvSpPr txBox="1"/>
          <p:nvPr/>
        </p:nvSpPr>
        <p:spPr>
          <a:xfrm>
            <a:off x="2057400" y="76200"/>
            <a:ext cx="48768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1036815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Scurta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recapitulare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C++</a:t>
            </a:r>
            <a:endParaRPr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762000"/>
            <a:ext cx="4572000" cy="45044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Supraîncărcarea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funcţiilor</a:t>
            </a:r>
            <a:endParaRPr lang="en-US" b="1" dirty="0">
              <a:solidFill>
                <a:srgbClr val="000000"/>
              </a:solidFill>
              <a:latin typeface="Arial" pitchFamily="34" charset="0"/>
              <a:ea typeface="Arial"/>
              <a:cs typeface="Arial" pitchFamily="34" charset="0"/>
              <a:sym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57400" y="1371600"/>
            <a:ext cx="61720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spc="-1" dirty="0" err="1">
                <a:solidFill>
                  <a:srgbClr val="0070C0"/>
                </a:solidFill>
                <a:latin typeface="Times New Roman"/>
              </a:rPr>
              <a:t>Ambiguitati</a:t>
            </a:r>
            <a:r>
              <a:rPr lang="en-US" sz="2000" b="1" spc="-1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lang="en-US" sz="2000" b="1" spc="-1" dirty="0" err="1">
                <a:solidFill>
                  <a:srgbClr val="0070C0"/>
                </a:solidFill>
                <a:latin typeface="Times New Roman"/>
              </a:rPr>
              <a:t>pentru</a:t>
            </a:r>
            <a:r>
              <a:rPr lang="en-US" sz="2000" b="1" spc="-1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lang="en-US" sz="2000" b="1" spc="-1" dirty="0" err="1">
                <a:solidFill>
                  <a:srgbClr val="0070C0"/>
                </a:solidFill>
                <a:latin typeface="Times New Roman"/>
              </a:rPr>
              <a:t>polimorfism</a:t>
            </a:r>
            <a:r>
              <a:rPr lang="en-US" sz="2000" b="1" spc="-1" dirty="0">
                <a:solidFill>
                  <a:srgbClr val="0070C0"/>
                </a:solidFill>
                <a:latin typeface="Times New Roman"/>
              </a:rPr>
              <a:t> de </a:t>
            </a:r>
            <a:r>
              <a:rPr lang="en-US" sz="2000" b="1" spc="-1" dirty="0" err="1">
                <a:solidFill>
                  <a:srgbClr val="0070C0"/>
                </a:solidFill>
                <a:latin typeface="Times New Roman"/>
              </a:rPr>
              <a:t>functii</a:t>
            </a:r>
            <a:endParaRPr lang="en-US" sz="2000" b="1" spc="-1" dirty="0">
              <a:solidFill>
                <a:srgbClr val="0070C0"/>
              </a:solidFill>
              <a:latin typeface="Times New Roman"/>
            </a:endParaRPr>
          </a:p>
        </p:txBody>
      </p:sp>
      <p:sp>
        <p:nvSpPr>
          <p:cNvPr id="13" name="CustomShape 2"/>
          <p:cNvSpPr/>
          <p:nvPr/>
        </p:nvSpPr>
        <p:spPr>
          <a:xfrm>
            <a:off x="304800" y="1905000"/>
            <a:ext cx="7619745" cy="759546"/>
          </a:xfrm>
          <a:prstGeom prst="rect">
            <a:avLst/>
          </a:prstGeom>
          <a:noFill/>
          <a:ln w="936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9" tIns="40820" rIns="81639" bIns="4082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200" b="1" spc="-1" dirty="0" err="1">
                <a:solidFill>
                  <a:srgbClr val="800000"/>
                </a:solidFill>
                <a:latin typeface="Times New Roman"/>
              </a:rPr>
              <a:t>int</a:t>
            </a:r>
            <a:r>
              <a:rPr lang="en-US" sz="2200" b="1" spc="-1" dirty="0">
                <a:solidFill>
                  <a:srgbClr val="800000"/>
                </a:solidFill>
                <a:latin typeface="Times New Roman"/>
              </a:rPr>
              <a:t> </a:t>
            </a:r>
            <a:r>
              <a:rPr lang="en-US" sz="2200" spc="-1" dirty="0" err="1">
                <a:solidFill>
                  <a:srgbClr val="000000"/>
                </a:solidFill>
                <a:latin typeface="Times New Roman"/>
              </a:rPr>
              <a:t>myfunc</a:t>
            </a:r>
            <a:r>
              <a:rPr lang="en-US" sz="2200" spc="-1" dirty="0">
                <a:solidFill>
                  <a:srgbClr val="000000"/>
                </a:solidFill>
                <a:latin typeface="Times New Roman"/>
              </a:rPr>
              <a:t>(</a:t>
            </a:r>
            <a:r>
              <a:rPr lang="en-US" sz="2200" b="1" spc="-1" dirty="0" err="1">
                <a:solidFill>
                  <a:srgbClr val="800000"/>
                </a:solidFill>
                <a:latin typeface="Times New Roman"/>
              </a:rPr>
              <a:t>int</a:t>
            </a:r>
            <a:r>
              <a:rPr lang="en-US" sz="2200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200" spc="-1" dirty="0" err="1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sz="2200" spc="-1" dirty="0">
                <a:solidFill>
                  <a:srgbClr val="000000"/>
                </a:solidFill>
                <a:latin typeface="Times New Roman"/>
              </a:rPr>
              <a:t>); // Error: differing return types are</a:t>
            </a:r>
            <a:endParaRPr lang="en-US" sz="2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1" spc="-1" dirty="0">
                <a:solidFill>
                  <a:srgbClr val="800000"/>
                </a:solidFill>
                <a:latin typeface="Times New Roman"/>
              </a:rPr>
              <a:t>float</a:t>
            </a:r>
            <a:r>
              <a:rPr lang="en-US" sz="2200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200" spc="-1" dirty="0" err="1">
                <a:solidFill>
                  <a:srgbClr val="000000"/>
                </a:solidFill>
                <a:latin typeface="Times New Roman"/>
              </a:rPr>
              <a:t>myfunc</a:t>
            </a:r>
            <a:r>
              <a:rPr lang="en-US" sz="2200" spc="-1" dirty="0">
                <a:solidFill>
                  <a:srgbClr val="000000"/>
                </a:solidFill>
                <a:latin typeface="Times New Roman"/>
              </a:rPr>
              <a:t>(</a:t>
            </a:r>
            <a:r>
              <a:rPr lang="en-US" sz="2200" b="1" spc="-1" dirty="0" err="1">
                <a:solidFill>
                  <a:srgbClr val="800000"/>
                </a:solidFill>
                <a:latin typeface="Times New Roman"/>
              </a:rPr>
              <a:t>int</a:t>
            </a:r>
            <a:r>
              <a:rPr lang="en-US" sz="2200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200" spc="-1" dirty="0" err="1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sz="2200" spc="-1" dirty="0">
                <a:solidFill>
                  <a:srgbClr val="000000"/>
                </a:solidFill>
                <a:latin typeface="Times New Roman"/>
              </a:rPr>
              <a:t>); // insufficient when overloading.</a:t>
            </a:r>
            <a:endParaRPr lang="en-US" sz="2200" spc="-1" dirty="0">
              <a:latin typeface="Arial"/>
            </a:endParaRPr>
          </a:p>
        </p:txBody>
      </p:sp>
      <p:sp>
        <p:nvSpPr>
          <p:cNvPr id="14" name="CustomShape 3"/>
          <p:cNvSpPr/>
          <p:nvPr/>
        </p:nvSpPr>
        <p:spPr>
          <a:xfrm>
            <a:off x="381000" y="3048000"/>
            <a:ext cx="4876800" cy="1775208"/>
          </a:xfrm>
          <a:prstGeom prst="rect">
            <a:avLst/>
          </a:prstGeom>
          <a:noFill/>
          <a:ln w="936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81639" tIns="40820" rIns="81639" bIns="4082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200" spc="-1" dirty="0">
                <a:solidFill>
                  <a:srgbClr val="000000"/>
                </a:solidFill>
              </a:rPr>
              <a:t>void f(</a:t>
            </a:r>
            <a:r>
              <a:rPr lang="en-US" sz="2200" b="1" spc="-1" dirty="0" err="1">
                <a:solidFill>
                  <a:srgbClr val="800000"/>
                </a:solidFill>
              </a:rPr>
              <a:t>int</a:t>
            </a:r>
            <a:r>
              <a:rPr lang="en-US" sz="2200" spc="-1" dirty="0">
                <a:solidFill>
                  <a:srgbClr val="000000"/>
                </a:solidFill>
              </a:rPr>
              <a:t> *p);</a:t>
            </a:r>
            <a:endParaRPr lang="en-US" sz="2200" spc="-1" dirty="0"/>
          </a:p>
          <a:p>
            <a:pPr>
              <a:lnSpc>
                <a:spcPct val="100000"/>
              </a:lnSpc>
            </a:pPr>
            <a:r>
              <a:rPr lang="en-US" sz="2200" spc="-1" dirty="0">
                <a:solidFill>
                  <a:srgbClr val="000000"/>
                </a:solidFill>
              </a:rPr>
              <a:t>void f(</a:t>
            </a:r>
            <a:r>
              <a:rPr lang="en-US" sz="2200" b="1" spc="-1" dirty="0" err="1">
                <a:solidFill>
                  <a:srgbClr val="800000"/>
                </a:solidFill>
              </a:rPr>
              <a:t>int</a:t>
            </a:r>
            <a:r>
              <a:rPr lang="en-US" sz="2200" spc="-1" dirty="0">
                <a:solidFill>
                  <a:srgbClr val="000000"/>
                </a:solidFill>
              </a:rPr>
              <a:t> p[]); // error, *p is same as p[]</a:t>
            </a:r>
            <a:endParaRPr lang="en-US" sz="2200" spc="-1" dirty="0"/>
          </a:p>
          <a:p>
            <a:pPr>
              <a:lnSpc>
                <a:spcPct val="100000"/>
              </a:lnSpc>
            </a:pPr>
            <a:endParaRPr lang="en-US" sz="2200" spc="-1" dirty="0"/>
          </a:p>
          <a:p>
            <a:pPr>
              <a:lnSpc>
                <a:spcPct val="100000"/>
              </a:lnSpc>
            </a:pPr>
            <a:r>
              <a:rPr lang="en-US" sz="2200" spc="-1" dirty="0">
                <a:solidFill>
                  <a:srgbClr val="000000"/>
                </a:solidFill>
                <a:ea typeface="Arial"/>
              </a:rPr>
              <a:t>void f(</a:t>
            </a:r>
            <a:r>
              <a:rPr lang="en-US" sz="2200" b="1" spc="-1" dirty="0" err="1">
                <a:solidFill>
                  <a:srgbClr val="800000"/>
                </a:solidFill>
                <a:ea typeface="Arial"/>
              </a:rPr>
              <a:t>int</a:t>
            </a:r>
            <a:r>
              <a:rPr lang="en-US" sz="2200" spc="-1" dirty="0">
                <a:solidFill>
                  <a:srgbClr val="000000"/>
                </a:solidFill>
                <a:ea typeface="Arial"/>
              </a:rPr>
              <a:t> x);</a:t>
            </a:r>
            <a:endParaRPr lang="en-US" sz="2200" spc="-1" dirty="0"/>
          </a:p>
          <a:p>
            <a:pPr>
              <a:lnSpc>
                <a:spcPct val="100000"/>
              </a:lnSpc>
            </a:pPr>
            <a:r>
              <a:rPr lang="en-US" sz="2200" spc="-1" dirty="0">
                <a:solidFill>
                  <a:srgbClr val="000000"/>
                </a:solidFill>
                <a:ea typeface="Arial"/>
              </a:rPr>
              <a:t>void f(</a:t>
            </a:r>
            <a:r>
              <a:rPr lang="en-US" sz="2200" b="1" spc="-1" dirty="0" err="1">
                <a:solidFill>
                  <a:srgbClr val="800000"/>
                </a:solidFill>
                <a:ea typeface="Arial"/>
              </a:rPr>
              <a:t>int</a:t>
            </a:r>
            <a:r>
              <a:rPr lang="en-US" sz="2200" b="1" spc="-1" dirty="0">
                <a:solidFill>
                  <a:srgbClr val="800000"/>
                </a:solidFill>
                <a:ea typeface="Arial"/>
              </a:rPr>
              <a:t>&amp;</a:t>
            </a:r>
            <a:r>
              <a:rPr lang="en-US" sz="2200" spc="-1" dirty="0">
                <a:solidFill>
                  <a:srgbClr val="000000"/>
                </a:solidFill>
                <a:ea typeface="Arial"/>
              </a:rPr>
              <a:t> x);</a:t>
            </a:r>
            <a:endParaRPr lang="en-US" sz="2200" spc="-1" dirty="0"/>
          </a:p>
        </p:txBody>
      </p:sp>
      <p:sp>
        <p:nvSpPr>
          <p:cNvPr id="10" name="Google Shape;471;p35"/>
          <p:cNvSpPr txBox="1"/>
          <p:nvPr/>
        </p:nvSpPr>
        <p:spPr>
          <a:xfrm>
            <a:off x="2057400" y="76200"/>
            <a:ext cx="48768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1036815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Scurta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recapitulare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C++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11" name="CustomShape 2"/>
          <p:cNvSpPr/>
          <p:nvPr/>
        </p:nvSpPr>
        <p:spPr>
          <a:xfrm>
            <a:off x="381001" y="5029200"/>
            <a:ext cx="4495800" cy="1313544"/>
          </a:xfrm>
          <a:prstGeom prst="rect">
            <a:avLst/>
          </a:prstGeom>
          <a:noFill/>
          <a:ln w="936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81639" tIns="40820" rIns="81639" bIns="4082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spc="-1" dirty="0" err="1">
                <a:solidFill>
                  <a:srgbClr val="800000"/>
                </a:solidFill>
                <a:ea typeface="Times New Roman"/>
              </a:rPr>
              <a:t>int</a:t>
            </a:r>
            <a:r>
              <a:rPr lang="en-US" sz="2000" spc="-1" dirty="0">
                <a:solidFill>
                  <a:srgbClr val="000000"/>
                </a:solidFill>
                <a:ea typeface="Times New Roman"/>
              </a:rPr>
              <a:t> </a:t>
            </a:r>
            <a:r>
              <a:rPr lang="en-US" sz="2000" spc="-1" dirty="0" err="1">
                <a:solidFill>
                  <a:srgbClr val="000000"/>
                </a:solidFill>
                <a:ea typeface="Times New Roman"/>
              </a:rPr>
              <a:t>myfunc</a:t>
            </a:r>
            <a:r>
              <a:rPr lang="en-US" sz="2000" spc="-1" dirty="0">
                <a:solidFill>
                  <a:srgbClr val="000000"/>
                </a:solidFill>
                <a:ea typeface="Times New Roman"/>
              </a:rPr>
              <a:t>(</a:t>
            </a:r>
            <a:r>
              <a:rPr lang="en-US" sz="2000" b="1" spc="-1" dirty="0" err="1">
                <a:solidFill>
                  <a:srgbClr val="800000"/>
                </a:solidFill>
                <a:ea typeface="Times New Roman"/>
              </a:rPr>
              <a:t>int</a:t>
            </a:r>
            <a:r>
              <a:rPr lang="en-US" sz="2000" spc="-1" dirty="0">
                <a:solidFill>
                  <a:srgbClr val="000000"/>
                </a:solidFill>
                <a:ea typeface="Times New Roman"/>
              </a:rPr>
              <a:t> </a:t>
            </a:r>
            <a:r>
              <a:rPr lang="en-US" sz="2000" spc="-1" dirty="0" err="1">
                <a:solidFill>
                  <a:srgbClr val="000000"/>
                </a:solidFill>
                <a:ea typeface="Times New Roman"/>
              </a:rPr>
              <a:t>i</a:t>
            </a:r>
            <a:r>
              <a:rPr lang="en-US" sz="2000" spc="-1" dirty="0">
                <a:solidFill>
                  <a:srgbClr val="000000"/>
                </a:solidFill>
                <a:ea typeface="Times New Roman"/>
              </a:rPr>
              <a:t>) </a:t>
            </a:r>
            <a:r>
              <a:rPr lang="en-US" sz="2000" spc="-1" dirty="0">
                <a:solidFill>
                  <a:srgbClr val="800080"/>
                </a:solidFill>
                <a:ea typeface="Times New Roman"/>
              </a:rPr>
              <a:t>{ </a:t>
            </a:r>
            <a:r>
              <a:rPr lang="en-US" sz="2000" spc="-1" dirty="0">
                <a:solidFill>
                  <a:srgbClr val="000000"/>
                </a:solidFill>
                <a:ea typeface="Times New Roman"/>
              </a:rPr>
              <a:t>   return </a:t>
            </a:r>
            <a:r>
              <a:rPr lang="en-US" sz="2000" spc="-1" dirty="0" err="1">
                <a:solidFill>
                  <a:srgbClr val="000000"/>
                </a:solidFill>
                <a:ea typeface="Times New Roman"/>
              </a:rPr>
              <a:t>i</a:t>
            </a:r>
            <a:r>
              <a:rPr lang="en-US" sz="2000" spc="-1" dirty="0">
                <a:solidFill>
                  <a:srgbClr val="000000"/>
                </a:solidFill>
                <a:ea typeface="Times New Roman"/>
              </a:rPr>
              <a:t>; </a:t>
            </a:r>
            <a:r>
              <a:rPr lang="en-US" sz="2000" spc="-1" dirty="0">
                <a:solidFill>
                  <a:srgbClr val="800080"/>
                </a:solidFill>
                <a:ea typeface="Times New Roman"/>
              </a:rPr>
              <a:t>}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spc="-1" dirty="0" err="1">
                <a:solidFill>
                  <a:srgbClr val="800000"/>
                </a:solidFill>
                <a:ea typeface="Times New Roman"/>
              </a:rPr>
              <a:t>int</a:t>
            </a:r>
            <a:r>
              <a:rPr lang="en-US" sz="2000" spc="-1" dirty="0">
                <a:solidFill>
                  <a:srgbClr val="000000"/>
                </a:solidFill>
                <a:ea typeface="Times New Roman"/>
              </a:rPr>
              <a:t> </a:t>
            </a:r>
            <a:r>
              <a:rPr lang="en-US" sz="2000" spc="-1" dirty="0" err="1">
                <a:solidFill>
                  <a:srgbClr val="000000"/>
                </a:solidFill>
                <a:ea typeface="Times New Roman"/>
              </a:rPr>
              <a:t>myfunc</a:t>
            </a:r>
            <a:r>
              <a:rPr lang="en-US" sz="2000" spc="-1" dirty="0">
                <a:solidFill>
                  <a:srgbClr val="000000"/>
                </a:solidFill>
                <a:ea typeface="Times New Roman"/>
              </a:rPr>
              <a:t>(</a:t>
            </a:r>
            <a:r>
              <a:rPr lang="en-US" sz="2000" b="1" spc="-1" dirty="0" err="1">
                <a:solidFill>
                  <a:srgbClr val="800000"/>
                </a:solidFill>
                <a:ea typeface="Times New Roman"/>
              </a:rPr>
              <a:t>int</a:t>
            </a:r>
            <a:r>
              <a:rPr lang="en-US" sz="2000" spc="-1" dirty="0">
                <a:solidFill>
                  <a:srgbClr val="000000"/>
                </a:solidFill>
                <a:ea typeface="Times New Roman"/>
              </a:rPr>
              <a:t> </a:t>
            </a:r>
            <a:r>
              <a:rPr lang="en-US" sz="2000" spc="-1" dirty="0" err="1">
                <a:solidFill>
                  <a:srgbClr val="000000"/>
                </a:solidFill>
                <a:ea typeface="Times New Roman"/>
              </a:rPr>
              <a:t>i</a:t>
            </a:r>
            <a:r>
              <a:rPr lang="en-US" sz="2000" spc="-1" dirty="0">
                <a:solidFill>
                  <a:srgbClr val="000000"/>
                </a:solidFill>
                <a:ea typeface="Times New Roman"/>
              </a:rPr>
              <a:t>, </a:t>
            </a:r>
            <a:r>
              <a:rPr lang="en-US" sz="2000" b="1" spc="-1" dirty="0" err="1">
                <a:solidFill>
                  <a:srgbClr val="800000"/>
                </a:solidFill>
                <a:ea typeface="Times New Roman"/>
              </a:rPr>
              <a:t>int</a:t>
            </a:r>
            <a:r>
              <a:rPr lang="en-US" sz="2000" spc="-1" dirty="0">
                <a:solidFill>
                  <a:srgbClr val="000000"/>
                </a:solidFill>
                <a:ea typeface="Times New Roman"/>
              </a:rPr>
              <a:t> j = 0) </a:t>
            </a:r>
            <a:r>
              <a:rPr lang="en-US" sz="2000" spc="-1" dirty="0">
                <a:solidFill>
                  <a:srgbClr val="800080"/>
                </a:solidFill>
                <a:ea typeface="Times New Roman"/>
              </a:rPr>
              <a:t>{</a:t>
            </a:r>
            <a:r>
              <a:rPr lang="en-US" sz="2000" spc="-1" dirty="0">
                <a:solidFill>
                  <a:srgbClr val="000000"/>
                </a:solidFill>
                <a:ea typeface="Times New Roman"/>
              </a:rPr>
              <a:t>   return </a:t>
            </a:r>
            <a:r>
              <a:rPr lang="en-US" sz="2000" spc="-1" dirty="0" err="1">
                <a:solidFill>
                  <a:srgbClr val="000000"/>
                </a:solidFill>
                <a:ea typeface="Times New Roman"/>
              </a:rPr>
              <a:t>i</a:t>
            </a:r>
            <a:r>
              <a:rPr lang="en-US" sz="2000" spc="-1" dirty="0">
                <a:solidFill>
                  <a:srgbClr val="000000"/>
                </a:solidFill>
                <a:ea typeface="Times New Roman"/>
              </a:rPr>
              <a:t>*j; </a:t>
            </a:r>
            <a:r>
              <a:rPr lang="en-US" sz="2000" spc="-1" dirty="0">
                <a:solidFill>
                  <a:srgbClr val="800080"/>
                </a:solidFill>
                <a:ea typeface="Times New Roman"/>
              </a:rPr>
              <a:t>}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Apel</a:t>
            </a:r>
            <a:r>
              <a:rPr lang="en-US" sz="2000" spc="-1" dirty="0">
                <a:solidFill>
                  <a:srgbClr val="000000"/>
                </a:solidFill>
                <a:latin typeface="Times New Roman"/>
                <a:ea typeface="Times New Roman"/>
              </a:rPr>
              <a:t>: </a:t>
            </a:r>
            <a:r>
              <a:rPr lang="en-US" sz="2000" spc="-1" dirty="0" err="1">
                <a:solidFill>
                  <a:srgbClr val="603000"/>
                </a:solidFill>
                <a:latin typeface="Times New Roman"/>
                <a:ea typeface="Times New Roman"/>
              </a:rPr>
              <a:t>cout</a:t>
            </a:r>
            <a:r>
              <a:rPr lang="en-US" sz="20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  <a:ea typeface="Times New Roman"/>
              </a:rPr>
              <a:t>&lt;&lt;</a:t>
            </a:r>
            <a:r>
              <a:rPr lang="en-US" sz="20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20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myfunc</a:t>
            </a:r>
            <a:r>
              <a:rPr lang="en-US" sz="2000" spc="-1" dirty="0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sz="2000" spc="-1" dirty="0">
                <a:solidFill>
                  <a:srgbClr val="008C00"/>
                </a:solidFill>
                <a:latin typeface="Times New Roman"/>
                <a:ea typeface="Times New Roman"/>
              </a:rPr>
              <a:t>10</a:t>
            </a:r>
            <a:r>
              <a:rPr lang="en-US" sz="2000" spc="-1" dirty="0">
                <a:solidFill>
                  <a:srgbClr val="000000"/>
                </a:solidFill>
                <a:latin typeface="Times New Roman"/>
                <a:ea typeface="Times New Roman"/>
              </a:rPr>
              <a:t>); </a:t>
            </a:r>
            <a:endParaRPr lang="en-US" sz="2000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51567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71;p35"/>
          <p:cNvSpPr txBox="1"/>
          <p:nvPr/>
        </p:nvSpPr>
        <p:spPr>
          <a:xfrm>
            <a:off x="2014480" y="76200"/>
            <a:ext cx="48768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1036815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Scurta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recapitulare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C++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2689" y="671175"/>
            <a:ext cx="4572000" cy="45044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Supraîncărcarea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funcţiilor</a:t>
            </a:r>
            <a:endParaRPr lang="en-US" b="1" dirty="0">
              <a:solidFill>
                <a:srgbClr val="000000"/>
              </a:solidFill>
              <a:latin typeface="Arial" pitchFamily="34" charset="0"/>
              <a:ea typeface="Arial"/>
              <a:cs typeface="Arial" pitchFamily="34" charset="0"/>
              <a:sym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317376" y="1219200"/>
            <a:ext cx="61720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spc="-1" dirty="0" err="1">
                <a:solidFill>
                  <a:srgbClr val="0070C0"/>
                </a:solidFill>
                <a:latin typeface="Times New Roman"/>
              </a:rPr>
              <a:t>Ambiguitati</a:t>
            </a:r>
            <a:r>
              <a:rPr lang="en-US" sz="2000" b="1" spc="-1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lang="en-US" sz="2000" b="1" spc="-1" dirty="0" err="1">
                <a:solidFill>
                  <a:srgbClr val="0070C0"/>
                </a:solidFill>
                <a:latin typeface="Times New Roman"/>
              </a:rPr>
              <a:t>pentru</a:t>
            </a:r>
            <a:r>
              <a:rPr lang="en-US" sz="2000" b="1" spc="-1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lang="en-US" sz="2000" b="1" spc="-1" dirty="0" err="1">
                <a:solidFill>
                  <a:srgbClr val="0070C0"/>
                </a:solidFill>
                <a:latin typeface="Times New Roman"/>
              </a:rPr>
              <a:t>polimorfism</a:t>
            </a:r>
            <a:r>
              <a:rPr lang="en-US" sz="2000" b="1" spc="-1" dirty="0">
                <a:solidFill>
                  <a:srgbClr val="0070C0"/>
                </a:solidFill>
                <a:latin typeface="Times New Roman"/>
              </a:rPr>
              <a:t> de </a:t>
            </a:r>
            <a:r>
              <a:rPr lang="en-US" sz="2000" b="1" spc="-1" dirty="0" err="1">
                <a:solidFill>
                  <a:srgbClr val="0070C0"/>
                </a:solidFill>
                <a:latin typeface="Times New Roman"/>
              </a:rPr>
              <a:t>functii</a:t>
            </a:r>
            <a:endParaRPr lang="en-US" sz="2000" b="1" spc="-1" dirty="0">
              <a:solidFill>
                <a:srgbClr val="0070C0"/>
              </a:solidFill>
              <a:latin typeface="Times New Roman"/>
            </a:endParaRPr>
          </a:p>
        </p:txBody>
      </p:sp>
      <p:sp>
        <p:nvSpPr>
          <p:cNvPr id="13" name="CustomShape 2"/>
          <p:cNvSpPr/>
          <p:nvPr/>
        </p:nvSpPr>
        <p:spPr>
          <a:xfrm>
            <a:off x="448207" y="2819400"/>
            <a:ext cx="1219200" cy="420991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81639" tIns="40820" rIns="81639" bIns="4082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200" b="1" spc="-1" dirty="0">
                <a:latin typeface="Times New Roman"/>
              </a:rPr>
              <a:t>Dar…</a:t>
            </a:r>
            <a:endParaRPr lang="en-US" sz="2200" spc="-1" dirty="0">
              <a:latin typeface="Arial"/>
            </a:endParaRPr>
          </a:p>
        </p:txBody>
      </p:sp>
      <p:sp>
        <p:nvSpPr>
          <p:cNvPr id="10" name="CustomShape 4"/>
          <p:cNvSpPr/>
          <p:nvPr/>
        </p:nvSpPr>
        <p:spPr>
          <a:xfrm>
            <a:off x="990600" y="2040301"/>
            <a:ext cx="5748280" cy="636435"/>
          </a:xfrm>
          <a:prstGeom prst="rect">
            <a:avLst/>
          </a:prstGeom>
          <a:solidFill>
            <a:srgbClr val="FFFFFF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9" tIns="40820" rIns="81639" bIns="4082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pc="-1" dirty="0" err="1">
                <a:solidFill>
                  <a:srgbClr val="800000"/>
                </a:solidFill>
                <a:latin typeface="Times New Roman"/>
              </a:rPr>
              <a:t>int</a:t>
            </a:r>
            <a:r>
              <a:rPr lang="en-US" sz="1800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1800" spc="-1" dirty="0" err="1">
                <a:solidFill>
                  <a:srgbClr val="000000"/>
                </a:solidFill>
                <a:latin typeface="Times New Roman"/>
              </a:rPr>
              <a:t>myfunc</a:t>
            </a:r>
            <a:r>
              <a:rPr lang="en-US" sz="1800" spc="-1" dirty="0">
                <a:solidFill>
                  <a:srgbClr val="808030"/>
                </a:solidFill>
                <a:latin typeface="Times New Roman"/>
              </a:rPr>
              <a:t>(</a:t>
            </a:r>
            <a:r>
              <a:rPr lang="en-US" sz="1800" b="1" spc="-1" dirty="0">
                <a:solidFill>
                  <a:srgbClr val="800000"/>
                </a:solidFill>
                <a:latin typeface="Times New Roman"/>
              </a:rPr>
              <a:t>double</a:t>
            </a:r>
            <a:r>
              <a:rPr lang="en-US" sz="1800" spc="-1" dirty="0">
                <a:solidFill>
                  <a:srgbClr val="000000"/>
                </a:solidFill>
                <a:latin typeface="Times New Roman"/>
              </a:rPr>
              <a:t> d</a:t>
            </a:r>
            <a:r>
              <a:rPr lang="en-US" sz="1800" spc="-1" dirty="0">
                <a:solidFill>
                  <a:srgbClr val="808030"/>
                </a:solidFill>
                <a:latin typeface="Times New Roman"/>
              </a:rPr>
              <a:t>)</a:t>
            </a:r>
            <a:r>
              <a:rPr lang="en-US" sz="1800" spc="-1" dirty="0">
                <a:solidFill>
                  <a:srgbClr val="800080"/>
                </a:solidFill>
                <a:latin typeface="Times New Roman"/>
              </a:rPr>
              <a:t>;</a:t>
            </a:r>
            <a:r>
              <a:rPr lang="en-US" sz="1800" spc="-1" dirty="0">
                <a:solidFill>
                  <a:srgbClr val="000000"/>
                </a:solidFill>
                <a:latin typeface="Times New Roman"/>
              </a:rPr>
              <a:t>  </a:t>
            </a:r>
            <a:r>
              <a:rPr lang="en-US" sz="1800" spc="-1" dirty="0">
                <a:solidFill>
                  <a:srgbClr val="696969"/>
                </a:solidFill>
                <a:latin typeface="Times New Roman"/>
              </a:rPr>
              <a:t>// ...</a:t>
            </a:r>
            <a:r>
              <a:rPr lang="en-US" sz="1800" spc="-1" dirty="0">
                <a:solidFill>
                  <a:srgbClr val="000000"/>
                </a:solidFill>
                <a:latin typeface="Times New Roman"/>
              </a:rPr>
              <a:t> </a:t>
            </a:r>
            <a:endParaRPr lang="en-US" sz="18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spc="-1" dirty="0" err="1">
                <a:solidFill>
                  <a:srgbClr val="603000"/>
                </a:solidFill>
                <a:latin typeface="Times New Roman"/>
              </a:rPr>
              <a:t>cout</a:t>
            </a:r>
            <a:r>
              <a:rPr lang="en-US" sz="1800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1800" spc="-1" dirty="0">
                <a:solidFill>
                  <a:srgbClr val="808030"/>
                </a:solidFill>
                <a:latin typeface="Times New Roman"/>
              </a:rPr>
              <a:t>&lt;&lt;</a:t>
            </a:r>
            <a:r>
              <a:rPr lang="en-US" sz="1800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1800" spc="-1" dirty="0" err="1">
                <a:solidFill>
                  <a:srgbClr val="000000"/>
                </a:solidFill>
                <a:latin typeface="Times New Roman"/>
              </a:rPr>
              <a:t>myfunc</a:t>
            </a:r>
            <a:r>
              <a:rPr lang="en-US" sz="1800" spc="-1" dirty="0">
                <a:solidFill>
                  <a:srgbClr val="808030"/>
                </a:solidFill>
                <a:latin typeface="Times New Roman"/>
              </a:rPr>
              <a:t>(</a:t>
            </a:r>
            <a:r>
              <a:rPr lang="en-US" sz="1800" spc="-1" dirty="0">
                <a:solidFill>
                  <a:srgbClr val="0000E6"/>
                </a:solidFill>
                <a:latin typeface="Times New Roman"/>
              </a:rPr>
              <a:t>'c'</a:t>
            </a:r>
            <a:r>
              <a:rPr lang="en-US" sz="1800" spc="-1" dirty="0">
                <a:solidFill>
                  <a:srgbClr val="808030"/>
                </a:solidFill>
                <a:latin typeface="Times New Roman"/>
              </a:rPr>
              <a:t>)</a:t>
            </a:r>
            <a:r>
              <a:rPr lang="en-US" sz="1800" spc="-1" dirty="0">
                <a:solidFill>
                  <a:srgbClr val="800080"/>
                </a:solidFill>
                <a:latin typeface="Times New Roman"/>
              </a:rPr>
              <a:t>;</a:t>
            </a:r>
            <a:r>
              <a:rPr lang="en-US" sz="1800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1800" spc="-1" dirty="0">
                <a:solidFill>
                  <a:srgbClr val="696969"/>
                </a:solidFill>
                <a:latin typeface="Times New Roman"/>
              </a:rPr>
              <a:t>// not an error, conversion applied</a:t>
            </a:r>
            <a:r>
              <a:rPr lang="en-US" sz="1800" spc="-1" dirty="0">
                <a:solidFill>
                  <a:srgbClr val="000000"/>
                </a:solidFill>
                <a:latin typeface="Times New Roman"/>
              </a:rPr>
              <a:t> </a:t>
            </a:r>
            <a:endParaRPr lang="en-US" sz="1800" spc="-1" dirty="0">
              <a:latin typeface="Arial"/>
            </a:endParaRPr>
          </a:p>
        </p:txBody>
      </p:sp>
      <p:sp>
        <p:nvSpPr>
          <p:cNvPr id="11" name="CustomShape 2"/>
          <p:cNvSpPr/>
          <p:nvPr/>
        </p:nvSpPr>
        <p:spPr>
          <a:xfrm>
            <a:off x="372035" y="1619310"/>
            <a:ext cx="1219200" cy="420991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81639" tIns="40820" rIns="81639" bIns="4082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200" b="1" spc="-1" dirty="0">
                <a:latin typeface="Times New Roman"/>
              </a:rPr>
              <a:t>Obs.</a:t>
            </a:r>
            <a:endParaRPr lang="en-US" sz="2200" spc="-1" dirty="0">
              <a:latin typeface="Arial"/>
            </a:endParaRPr>
          </a:p>
        </p:txBody>
      </p:sp>
      <p:sp>
        <p:nvSpPr>
          <p:cNvPr id="12" name="CustomShape 3"/>
          <p:cNvSpPr/>
          <p:nvPr/>
        </p:nvSpPr>
        <p:spPr>
          <a:xfrm>
            <a:off x="972670" y="3240391"/>
            <a:ext cx="6020084" cy="1969770"/>
          </a:xfrm>
          <a:prstGeom prst="rect">
            <a:avLst/>
          </a:prstGeom>
          <a:solidFill>
            <a:srgbClr val="FFFFFF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pc="-1" dirty="0">
                <a:solidFill>
                  <a:srgbClr val="800000"/>
                </a:solidFill>
                <a:ea typeface="Times New Roman"/>
              </a:rPr>
              <a:t>float</a:t>
            </a:r>
            <a:r>
              <a:rPr lang="en-US" sz="1600" spc="-1" dirty="0">
                <a:solidFill>
                  <a:srgbClr val="000000"/>
                </a:solidFill>
                <a:ea typeface="Times New Roman"/>
              </a:rPr>
              <a:t> </a:t>
            </a:r>
            <a:r>
              <a:rPr lang="en-US" sz="1600" spc="-1" dirty="0" err="1">
                <a:solidFill>
                  <a:srgbClr val="000000"/>
                </a:solidFill>
                <a:ea typeface="Times New Roman"/>
              </a:rPr>
              <a:t>myfunc</a:t>
            </a:r>
            <a:r>
              <a:rPr lang="en-US" sz="1600" spc="-1" dirty="0">
                <a:solidFill>
                  <a:srgbClr val="808030"/>
                </a:solidFill>
                <a:ea typeface="Times New Roman"/>
              </a:rPr>
              <a:t>(</a:t>
            </a:r>
            <a:r>
              <a:rPr lang="en-US" sz="1600" b="1" spc="-1" dirty="0">
                <a:solidFill>
                  <a:srgbClr val="800000"/>
                </a:solidFill>
                <a:ea typeface="Times New Roman"/>
              </a:rPr>
              <a:t>float</a:t>
            </a:r>
            <a:r>
              <a:rPr lang="en-US" sz="1600" spc="-1" dirty="0">
                <a:solidFill>
                  <a:srgbClr val="000000"/>
                </a:solidFill>
                <a:ea typeface="Times New Roman"/>
              </a:rPr>
              <a:t> </a:t>
            </a:r>
            <a:r>
              <a:rPr lang="en-US" sz="1600" spc="-1" dirty="0" err="1">
                <a:solidFill>
                  <a:srgbClr val="000000"/>
                </a:solidFill>
                <a:ea typeface="Times New Roman"/>
              </a:rPr>
              <a:t>i</a:t>
            </a:r>
            <a:r>
              <a:rPr lang="en-US" sz="1600" spc="-1" dirty="0">
                <a:solidFill>
                  <a:srgbClr val="808030"/>
                </a:solidFill>
                <a:ea typeface="Times New Roman"/>
              </a:rPr>
              <a:t>)</a:t>
            </a:r>
            <a:r>
              <a:rPr lang="en-US" sz="1600" spc="-1" dirty="0">
                <a:solidFill>
                  <a:srgbClr val="800080"/>
                </a:solidFill>
                <a:ea typeface="Times New Roman"/>
              </a:rPr>
              <a:t>{</a:t>
            </a:r>
            <a:r>
              <a:rPr lang="en-US" sz="1600" spc="-1" dirty="0">
                <a:solidFill>
                  <a:srgbClr val="000000"/>
                </a:solidFill>
                <a:ea typeface="Times New Roman"/>
              </a:rPr>
              <a:t>   </a:t>
            </a:r>
            <a:r>
              <a:rPr lang="en-US" sz="1600" b="1" spc="-1" dirty="0">
                <a:solidFill>
                  <a:srgbClr val="800000"/>
                </a:solidFill>
                <a:ea typeface="Times New Roman"/>
              </a:rPr>
              <a:t>return</a:t>
            </a:r>
            <a:r>
              <a:rPr lang="en-US" sz="1600" spc="-1" dirty="0">
                <a:solidFill>
                  <a:srgbClr val="000000"/>
                </a:solidFill>
                <a:ea typeface="Times New Roman"/>
              </a:rPr>
              <a:t> </a:t>
            </a:r>
            <a:r>
              <a:rPr lang="en-US" sz="1600" spc="-1" dirty="0" err="1">
                <a:solidFill>
                  <a:srgbClr val="000000"/>
                </a:solidFill>
                <a:ea typeface="Times New Roman"/>
              </a:rPr>
              <a:t>i</a:t>
            </a:r>
            <a:r>
              <a:rPr lang="en-US" sz="1600" spc="-1" dirty="0">
                <a:solidFill>
                  <a:srgbClr val="800080"/>
                </a:solidFill>
                <a:ea typeface="Times New Roman"/>
              </a:rPr>
              <a:t>;}</a:t>
            </a:r>
            <a:endParaRPr lang="en-US" sz="16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spc="-1" dirty="0">
                <a:solidFill>
                  <a:srgbClr val="800000"/>
                </a:solidFill>
                <a:ea typeface="Times New Roman"/>
              </a:rPr>
              <a:t>double</a:t>
            </a:r>
            <a:r>
              <a:rPr lang="en-US" sz="1600" spc="-1" dirty="0">
                <a:solidFill>
                  <a:srgbClr val="000000"/>
                </a:solidFill>
                <a:ea typeface="Times New Roman"/>
              </a:rPr>
              <a:t> </a:t>
            </a:r>
            <a:r>
              <a:rPr lang="en-US" sz="1600" spc="-1" dirty="0" err="1">
                <a:solidFill>
                  <a:srgbClr val="000000"/>
                </a:solidFill>
                <a:ea typeface="Times New Roman"/>
              </a:rPr>
              <a:t>myfunc</a:t>
            </a:r>
            <a:r>
              <a:rPr lang="en-US" sz="1600" spc="-1" dirty="0">
                <a:solidFill>
                  <a:srgbClr val="808030"/>
                </a:solidFill>
                <a:ea typeface="Times New Roman"/>
              </a:rPr>
              <a:t>(</a:t>
            </a:r>
            <a:r>
              <a:rPr lang="en-US" sz="1600" b="1" spc="-1" dirty="0">
                <a:solidFill>
                  <a:srgbClr val="800000"/>
                </a:solidFill>
                <a:ea typeface="Times New Roman"/>
              </a:rPr>
              <a:t>double</a:t>
            </a:r>
            <a:r>
              <a:rPr lang="en-US" sz="1600" spc="-1" dirty="0">
                <a:solidFill>
                  <a:srgbClr val="000000"/>
                </a:solidFill>
                <a:ea typeface="Times New Roman"/>
              </a:rPr>
              <a:t> </a:t>
            </a:r>
            <a:r>
              <a:rPr lang="en-US" sz="1600" spc="-1" dirty="0" err="1">
                <a:solidFill>
                  <a:srgbClr val="000000"/>
                </a:solidFill>
                <a:ea typeface="Times New Roman"/>
              </a:rPr>
              <a:t>i</a:t>
            </a:r>
            <a:r>
              <a:rPr lang="en-US" sz="1600" spc="-1" dirty="0">
                <a:solidFill>
                  <a:srgbClr val="808030"/>
                </a:solidFill>
                <a:ea typeface="Times New Roman"/>
              </a:rPr>
              <a:t>)</a:t>
            </a:r>
            <a:r>
              <a:rPr lang="en-US" sz="1600" spc="-1" dirty="0">
                <a:solidFill>
                  <a:srgbClr val="800080"/>
                </a:solidFill>
                <a:ea typeface="Times New Roman"/>
              </a:rPr>
              <a:t>{</a:t>
            </a:r>
            <a:r>
              <a:rPr lang="en-US" sz="1600" spc="-1" dirty="0">
                <a:solidFill>
                  <a:srgbClr val="000000"/>
                </a:solidFill>
                <a:ea typeface="Times New Roman"/>
              </a:rPr>
              <a:t>   </a:t>
            </a:r>
            <a:r>
              <a:rPr lang="en-US" sz="1600" b="1" spc="-1" dirty="0">
                <a:solidFill>
                  <a:srgbClr val="800000"/>
                </a:solidFill>
                <a:ea typeface="Times New Roman"/>
              </a:rPr>
              <a:t>return</a:t>
            </a:r>
            <a:r>
              <a:rPr lang="en-US" sz="1600" spc="-1" dirty="0">
                <a:solidFill>
                  <a:srgbClr val="000000"/>
                </a:solidFill>
                <a:ea typeface="Times New Roman"/>
              </a:rPr>
              <a:t> </a:t>
            </a:r>
            <a:r>
              <a:rPr lang="en-US" sz="1600" spc="-1" dirty="0">
                <a:solidFill>
                  <a:srgbClr val="808030"/>
                </a:solidFill>
                <a:ea typeface="Times New Roman"/>
              </a:rPr>
              <a:t>-</a:t>
            </a:r>
            <a:r>
              <a:rPr lang="en-US" sz="1600" spc="-1" dirty="0" err="1">
                <a:solidFill>
                  <a:srgbClr val="000000"/>
                </a:solidFill>
                <a:ea typeface="Times New Roman"/>
              </a:rPr>
              <a:t>i</a:t>
            </a:r>
            <a:r>
              <a:rPr lang="en-US" sz="1600" spc="-1" dirty="0">
                <a:solidFill>
                  <a:srgbClr val="800080"/>
                </a:solidFill>
                <a:ea typeface="Times New Roman"/>
              </a:rPr>
              <a:t>;}</a:t>
            </a:r>
            <a:r>
              <a:rPr lang="en-US" sz="1600" spc="-1" dirty="0">
                <a:solidFill>
                  <a:srgbClr val="000000"/>
                </a:solidFill>
                <a:ea typeface="Times New Roman"/>
              </a:rPr>
              <a:t> </a:t>
            </a:r>
            <a:endParaRPr lang="en-US" sz="1600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spc="-1" dirty="0" err="1">
                <a:solidFill>
                  <a:srgbClr val="800000"/>
                </a:solidFill>
                <a:latin typeface="Times New Roman"/>
                <a:ea typeface="Times New Roman"/>
              </a:rPr>
              <a:t>int</a:t>
            </a:r>
            <a:r>
              <a:rPr lang="en-US" sz="16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spc="-1" dirty="0">
                <a:solidFill>
                  <a:srgbClr val="400000"/>
                </a:solidFill>
                <a:latin typeface="Times New Roman"/>
                <a:ea typeface="Times New Roman"/>
              </a:rPr>
              <a:t>main</a:t>
            </a:r>
            <a:r>
              <a:rPr lang="en-US" sz="1600" spc="-1" dirty="0">
                <a:solidFill>
                  <a:srgbClr val="808030"/>
                </a:solidFill>
                <a:latin typeface="Times New Roman"/>
                <a:ea typeface="Times New Roman"/>
              </a:rPr>
              <a:t>()</a:t>
            </a:r>
            <a:r>
              <a:rPr lang="en-US" sz="1600" spc="-1" dirty="0">
                <a:solidFill>
                  <a:srgbClr val="800080"/>
                </a:solidFill>
                <a:latin typeface="Times New Roman"/>
                <a:ea typeface="Times New Roman"/>
              </a:rPr>
              <a:t>{</a:t>
            </a:r>
            <a:r>
              <a:rPr lang="en-US" sz="1600" spc="-1" dirty="0">
                <a:solidFill>
                  <a:srgbClr val="000000"/>
                </a:solidFill>
                <a:latin typeface="Times New Roman"/>
                <a:ea typeface="Times New Roman"/>
              </a:rPr>
              <a:t>   </a:t>
            </a:r>
            <a:endParaRPr lang="en-US" sz="16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spc="-1" dirty="0" err="1">
                <a:solidFill>
                  <a:srgbClr val="603000"/>
                </a:solidFill>
                <a:latin typeface="Times New Roman"/>
                <a:ea typeface="Times New Roman"/>
              </a:rPr>
              <a:t>cout</a:t>
            </a:r>
            <a:r>
              <a:rPr lang="en-US" sz="16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spc="-1" dirty="0">
                <a:solidFill>
                  <a:srgbClr val="808030"/>
                </a:solidFill>
                <a:latin typeface="Times New Roman"/>
                <a:ea typeface="Times New Roman"/>
              </a:rPr>
              <a:t>&lt;&lt;</a:t>
            </a:r>
            <a:r>
              <a:rPr lang="en-US" sz="16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myfunc</a:t>
            </a:r>
            <a:r>
              <a:rPr lang="en-US" sz="1600" spc="-1" dirty="0">
                <a:solidFill>
                  <a:srgbClr val="808030"/>
                </a:solidFill>
                <a:latin typeface="Times New Roman"/>
                <a:ea typeface="Times New Roman"/>
              </a:rPr>
              <a:t>(</a:t>
            </a:r>
            <a:r>
              <a:rPr lang="en-US" sz="1600" spc="-1" dirty="0">
                <a:solidFill>
                  <a:srgbClr val="008000"/>
                </a:solidFill>
                <a:latin typeface="Times New Roman"/>
                <a:ea typeface="Times New Roman"/>
              </a:rPr>
              <a:t>10.1</a:t>
            </a:r>
            <a:r>
              <a:rPr lang="en-US" sz="1600" spc="-1" dirty="0">
                <a:solidFill>
                  <a:srgbClr val="808030"/>
                </a:solidFill>
                <a:latin typeface="Times New Roman"/>
                <a:ea typeface="Times New Roman"/>
              </a:rPr>
              <a:t>)</a:t>
            </a:r>
            <a:r>
              <a:rPr lang="en-US" sz="16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spc="-1" dirty="0">
                <a:solidFill>
                  <a:srgbClr val="808030"/>
                </a:solidFill>
                <a:latin typeface="Times New Roman"/>
                <a:ea typeface="Times New Roman"/>
              </a:rPr>
              <a:t>&lt;&lt;</a:t>
            </a:r>
            <a:r>
              <a:rPr lang="en-US" sz="16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spc="-1" dirty="0">
                <a:solidFill>
                  <a:srgbClr val="800000"/>
                </a:solidFill>
                <a:latin typeface="Times New Roman"/>
                <a:ea typeface="Times New Roman"/>
              </a:rPr>
              <a:t>"</a:t>
            </a:r>
            <a:r>
              <a:rPr lang="en-US" sz="1600" spc="-1" dirty="0">
                <a:solidFill>
                  <a:srgbClr val="0000E6"/>
                </a:solidFill>
                <a:latin typeface="Times New Roman"/>
                <a:ea typeface="Times New Roman"/>
              </a:rPr>
              <a:t> </a:t>
            </a:r>
            <a:r>
              <a:rPr lang="en-US" sz="1600" spc="-1" dirty="0">
                <a:solidFill>
                  <a:srgbClr val="800000"/>
                </a:solidFill>
                <a:latin typeface="Times New Roman"/>
                <a:ea typeface="Times New Roman"/>
              </a:rPr>
              <a:t>"</a:t>
            </a:r>
            <a:r>
              <a:rPr lang="en-US" sz="1600" spc="-1" dirty="0">
                <a:solidFill>
                  <a:srgbClr val="800080"/>
                </a:solidFill>
                <a:latin typeface="Times New Roman"/>
                <a:ea typeface="Times New Roman"/>
              </a:rPr>
              <a:t>;</a:t>
            </a:r>
            <a:r>
              <a:rPr lang="en-US" sz="16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spc="-1" dirty="0">
                <a:solidFill>
                  <a:srgbClr val="696969"/>
                </a:solidFill>
                <a:latin typeface="Times New Roman"/>
                <a:ea typeface="Times New Roman"/>
              </a:rPr>
              <a:t>// unambiguous, calls </a:t>
            </a:r>
            <a:r>
              <a:rPr lang="en-US" sz="1600" spc="-1" dirty="0" err="1">
                <a:solidFill>
                  <a:srgbClr val="696969"/>
                </a:solidFill>
                <a:latin typeface="Times New Roman"/>
                <a:ea typeface="Times New Roman"/>
              </a:rPr>
              <a:t>myfunc</a:t>
            </a:r>
            <a:r>
              <a:rPr lang="en-US" sz="1600" spc="-1" dirty="0">
                <a:solidFill>
                  <a:srgbClr val="696969"/>
                </a:solidFill>
                <a:latin typeface="Times New Roman"/>
                <a:ea typeface="Times New Roman"/>
              </a:rPr>
              <a:t>(double)</a:t>
            </a:r>
            <a:r>
              <a:rPr lang="en-US" sz="1600" spc="-1" dirty="0">
                <a:solidFill>
                  <a:srgbClr val="000000"/>
                </a:solidFill>
                <a:latin typeface="Times New Roman"/>
                <a:ea typeface="Times New Roman"/>
              </a:rPr>
              <a:t>   </a:t>
            </a:r>
            <a:endParaRPr lang="en-US" sz="16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spc="-1" dirty="0" err="1">
                <a:solidFill>
                  <a:srgbClr val="603000"/>
                </a:solidFill>
                <a:latin typeface="Times New Roman"/>
                <a:ea typeface="Times New Roman"/>
              </a:rPr>
              <a:t>cout</a:t>
            </a:r>
            <a:r>
              <a:rPr lang="en-US" sz="16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spc="-1" dirty="0">
                <a:solidFill>
                  <a:srgbClr val="808030"/>
                </a:solidFill>
                <a:latin typeface="Times New Roman"/>
                <a:ea typeface="Times New Roman"/>
              </a:rPr>
              <a:t>&lt;&lt;</a:t>
            </a:r>
            <a:r>
              <a:rPr lang="en-US" sz="16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myfunc</a:t>
            </a:r>
            <a:r>
              <a:rPr lang="en-US" sz="1600" spc="-1" dirty="0">
                <a:solidFill>
                  <a:srgbClr val="808030"/>
                </a:solidFill>
                <a:latin typeface="Times New Roman"/>
                <a:ea typeface="Times New Roman"/>
              </a:rPr>
              <a:t>(</a:t>
            </a:r>
            <a:r>
              <a:rPr lang="en-US" sz="1600" spc="-1" dirty="0">
                <a:solidFill>
                  <a:srgbClr val="008C00"/>
                </a:solidFill>
                <a:latin typeface="Times New Roman"/>
                <a:ea typeface="Times New Roman"/>
              </a:rPr>
              <a:t>10</a:t>
            </a:r>
            <a:r>
              <a:rPr lang="en-US" sz="1600" spc="-1" dirty="0">
                <a:solidFill>
                  <a:srgbClr val="808030"/>
                </a:solidFill>
                <a:latin typeface="Times New Roman"/>
                <a:ea typeface="Times New Roman"/>
              </a:rPr>
              <a:t>)</a:t>
            </a:r>
            <a:r>
              <a:rPr lang="en-US" sz="1600" spc="-1" dirty="0">
                <a:solidFill>
                  <a:srgbClr val="800080"/>
                </a:solidFill>
                <a:latin typeface="Times New Roman"/>
                <a:ea typeface="Times New Roman"/>
              </a:rPr>
              <a:t>;</a:t>
            </a:r>
            <a:r>
              <a:rPr lang="en-US" sz="16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spc="-1" dirty="0">
                <a:solidFill>
                  <a:srgbClr val="696969"/>
                </a:solidFill>
                <a:latin typeface="Times New Roman"/>
                <a:ea typeface="Times New Roman"/>
              </a:rPr>
              <a:t>// ambiguous</a:t>
            </a:r>
            <a:r>
              <a:rPr lang="en-US" sz="1600" spc="-1" dirty="0">
                <a:solidFill>
                  <a:srgbClr val="000000"/>
                </a:solidFill>
                <a:latin typeface="Times New Roman"/>
                <a:ea typeface="Times New Roman"/>
              </a:rPr>
              <a:t>  </a:t>
            </a:r>
            <a:endParaRPr lang="en-US" sz="16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1" spc="-1" dirty="0">
                <a:solidFill>
                  <a:srgbClr val="800000"/>
                </a:solidFill>
                <a:latin typeface="Times New Roman"/>
                <a:ea typeface="Times New Roman"/>
              </a:rPr>
              <a:t>return</a:t>
            </a:r>
            <a:r>
              <a:rPr lang="en-US" sz="16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spc="-1" dirty="0">
                <a:solidFill>
                  <a:srgbClr val="008C00"/>
                </a:solidFill>
                <a:latin typeface="Times New Roman"/>
                <a:ea typeface="Times New Roman"/>
              </a:rPr>
              <a:t>0</a:t>
            </a:r>
            <a:r>
              <a:rPr lang="en-US" sz="1600" spc="-1" dirty="0">
                <a:solidFill>
                  <a:srgbClr val="800080"/>
                </a:solidFill>
                <a:latin typeface="Times New Roman"/>
                <a:ea typeface="Times New Roman"/>
              </a:rPr>
              <a:t>; }</a:t>
            </a:r>
            <a:endParaRPr lang="en-US" sz="1600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spc="-1" dirty="0">
              <a:latin typeface="Arial"/>
            </a:endParaRPr>
          </a:p>
        </p:txBody>
      </p:sp>
      <p:sp>
        <p:nvSpPr>
          <p:cNvPr id="15" name="TextShape 1"/>
          <p:cNvSpPr txBox="1"/>
          <p:nvPr/>
        </p:nvSpPr>
        <p:spPr>
          <a:xfrm>
            <a:off x="3200400" y="5029200"/>
            <a:ext cx="5181643" cy="609600"/>
          </a:xfrm>
          <a:prstGeom prst="rect">
            <a:avLst/>
          </a:prstGeom>
          <a:noFill/>
          <a:ln w="9360">
            <a:solidFill>
              <a:srgbClr val="FF0000"/>
            </a:solidFill>
          </a:ln>
        </p:spPr>
        <p:txBody>
          <a:bodyPr lIns="82945" tIns="41473" rIns="82945" bIns="41473">
            <a:noAutofit/>
          </a:bodyPr>
          <a:lstStyle/>
          <a:p>
            <a:pPr marL="311208" indent="-310881">
              <a:lnSpc>
                <a:spcPct val="80000"/>
              </a:lnSpc>
              <a:spcBef>
                <a:spcPts val="50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spc="-1" dirty="0" err="1">
                <a:solidFill>
                  <a:srgbClr val="000000"/>
                </a:solidFill>
                <a:latin typeface="Times New Roman"/>
              </a:rPr>
              <a:t>problema</a:t>
            </a:r>
            <a:r>
              <a:rPr lang="en-US" sz="2000" spc="-1" dirty="0">
                <a:solidFill>
                  <a:srgbClr val="000000"/>
                </a:solidFill>
                <a:latin typeface="Times New Roman"/>
              </a:rPr>
              <a:t> nu e de </a:t>
            </a:r>
            <a:r>
              <a:rPr lang="en-US" sz="2000" spc="-1" dirty="0" err="1">
                <a:solidFill>
                  <a:srgbClr val="000000"/>
                </a:solidFill>
                <a:latin typeface="Times New Roman"/>
              </a:rPr>
              <a:t>definire</a:t>
            </a:r>
            <a:r>
              <a:rPr lang="en-US" sz="2000" spc="-1" dirty="0">
                <a:solidFill>
                  <a:srgbClr val="000000"/>
                </a:solidFill>
                <a:latin typeface="Times New Roman"/>
              </a:rPr>
              <a:t> a </a:t>
            </a:r>
            <a:r>
              <a:rPr lang="en-US" sz="2000" spc="-1" dirty="0" err="1">
                <a:solidFill>
                  <a:srgbClr val="000000"/>
                </a:solidFill>
                <a:latin typeface="Times New Roman"/>
              </a:rPr>
              <a:t>functiilor</a:t>
            </a:r>
            <a:r>
              <a:rPr lang="en-US" sz="2000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spc="-1" dirty="0" err="1">
                <a:solidFill>
                  <a:srgbClr val="000000"/>
                </a:solidFill>
                <a:latin typeface="Times New Roman"/>
              </a:rPr>
              <a:t>myfunc</a:t>
            </a:r>
            <a:r>
              <a:rPr lang="en-US" sz="2000" spc="-1" dirty="0">
                <a:solidFill>
                  <a:srgbClr val="000000"/>
                </a:solidFill>
                <a:latin typeface="Times New Roman"/>
              </a:rPr>
              <a:t>,</a:t>
            </a:r>
          </a:p>
          <a:p>
            <a:pPr marL="311208" indent="-310881">
              <a:lnSpc>
                <a:spcPct val="80000"/>
              </a:lnSpc>
              <a:spcBef>
                <a:spcPts val="50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spc="-1" dirty="0" err="1">
                <a:solidFill>
                  <a:srgbClr val="000000"/>
                </a:solidFill>
                <a:latin typeface="Times New Roman"/>
              </a:rPr>
              <a:t>problema</a:t>
            </a:r>
            <a:r>
              <a:rPr lang="en-US" sz="2000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spc="-1" dirty="0" err="1">
                <a:solidFill>
                  <a:srgbClr val="000000"/>
                </a:solidFill>
                <a:latin typeface="Times New Roman"/>
              </a:rPr>
              <a:t>apare</a:t>
            </a:r>
            <a:r>
              <a:rPr lang="en-US" sz="2000" spc="-1" dirty="0">
                <a:solidFill>
                  <a:srgbClr val="000000"/>
                </a:solidFill>
                <a:latin typeface="Times New Roman"/>
              </a:rPr>
              <a:t> la </a:t>
            </a:r>
            <a:r>
              <a:rPr lang="en-US" sz="2000" spc="-1" dirty="0" err="1">
                <a:solidFill>
                  <a:srgbClr val="000000"/>
                </a:solidFill>
                <a:latin typeface="Times New Roman"/>
              </a:rPr>
              <a:t>apelul</a:t>
            </a:r>
            <a:r>
              <a:rPr lang="en-US" sz="2000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spc="-1" dirty="0" err="1">
                <a:solidFill>
                  <a:srgbClr val="000000"/>
                </a:solidFill>
                <a:latin typeface="Times New Roman"/>
              </a:rPr>
              <a:t>functiilor</a:t>
            </a:r>
            <a:endParaRPr lang="en-US" sz="2000" spc="-1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89338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7"/>
          <p:cNvSpPr txBox="1"/>
          <p:nvPr/>
        </p:nvSpPr>
        <p:spPr>
          <a:xfrm>
            <a:off x="83520" y="914400"/>
            <a:ext cx="8543520" cy="466897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Funcţii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cu </a:t>
            </a: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valori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implicite</a:t>
            </a:r>
            <a:endParaRPr lang="en-US" b="1" dirty="0">
              <a:solidFill>
                <a:srgbClr val="000000"/>
              </a:solidFill>
              <a:latin typeface="Arial" pitchFamily="34" charset="0"/>
              <a:ea typeface="Arial"/>
              <a:cs typeface="Arial" pitchFamily="34" charset="0"/>
              <a:sym typeface="Arial"/>
            </a:endParaRP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endParaRPr lang="en-US" dirty="0">
              <a:solidFill>
                <a:srgbClr val="000000"/>
              </a:solidFill>
              <a:latin typeface="Arial" pitchFamily="34" charset="0"/>
              <a:ea typeface="Arial"/>
              <a:cs typeface="Arial" pitchFamily="34" charset="0"/>
              <a:sym typeface="Arial"/>
            </a:endParaRP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Într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-o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funcţie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se pot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declara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valori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implicite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pentru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unul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sau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mai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mulţi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parametri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dirty="0">
                <a:latin typeface="Arial" pitchFamily="34" charset="0"/>
                <a:cs typeface="Arial" pitchFamily="34" charset="0"/>
              </a:rPr>
              <a:t>La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apel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poate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omite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specificarea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valorii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pentru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acei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parametri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formali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care au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declarate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valori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implicite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</a:pPr>
            <a:endParaRPr lang="en-US" b="1" dirty="0">
              <a:solidFill>
                <a:srgbClr val="FF0000"/>
              </a:solidFill>
              <a:latin typeface="Arial" pitchFamily="34" charset="0"/>
              <a:ea typeface="Arial"/>
              <a:cs typeface="Arial" pitchFamily="34" charset="0"/>
              <a:sym typeface="Arial"/>
            </a:endParaRP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</a:pPr>
            <a:r>
              <a:rPr lang="en-US" sz="2000" b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Argumentele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cu </a:t>
            </a:r>
            <a:r>
              <a:rPr lang="en-US" sz="2000" b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valori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sz="2000" b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implicite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sz="2000" b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trebuie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sz="2000" b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să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fie </a:t>
            </a:r>
            <a:r>
              <a:rPr lang="en-US" sz="2000" b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amplasate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la </a:t>
            </a:r>
            <a:r>
              <a:rPr lang="en-US" sz="2000" b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sfârşitul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sz="2000" b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listei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</a:pPr>
            <a:endParaRPr lang="en-US" sz="2000" b="1" dirty="0">
              <a:solidFill>
                <a:schemeClr val="accent2">
                  <a:lumMod val="60000"/>
                  <a:lumOff val="40000"/>
                </a:schemeClr>
              </a:solidFill>
              <a:latin typeface="Arial" pitchFamily="34" charset="0"/>
              <a:ea typeface="Arial"/>
              <a:cs typeface="Arial" pitchFamily="34" charset="0"/>
              <a:sym typeface="Arial"/>
            </a:endParaRP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</a:pPr>
            <a:r>
              <a:rPr lang="en-US" sz="2000" b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Valorile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 </a:t>
            </a:r>
            <a:r>
              <a:rPr lang="en-US" sz="2000" b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implicite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 se </a:t>
            </a:r>
            <a:r>
              <a:rPr lang="en-US" sz="2000" b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specifică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 o </a:t>
            </a:r>
            <a:r>
              <a:rPr lang="en-US" sz="2000" b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singură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 </a:t>
            </a:r>
            <a:r>
              <a:rPr lang="en-US" sz="2000" b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dată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 </a:t>
            </a:r>
            <a:r>
              <a:rPr lang="en-US" sz="2000" b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în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 </a:t>
            </a:r>
            <a:r>
              <a:rPr lang="en-US" sz="2000" b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definiţie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 (de </a:t>
            </a:r>
            <a:r>
              <a:rPr lang="en-US" sz="2000" b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obicei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 </a:t>
            </a:r>
            <a:r>
              <a:rPr lang="en-US" sz="2000" b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în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 </a:t>
            </a:r>
            <a:r>
              <a:rPr lang="en-US" sz="2000" b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prototip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).</a:t>
            </a:r>
            <a:endParaRPr sz="2000" dirty="0">
              <a:solidFill>
                <a:schemeClr val="accent2">
                  <a:lumMod val="60000"/>
                  <a:lumOff val="4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Google Shape;471;p35"/>
          <p:cNvSpPr txBox="1"/>
          <p:nvPr/>
        </p:nvSpPr>
        <p:spPr>
          <a:xfrm>
            <a:off x="2057400" y="152400"/>
            <a:ext cx="48768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1036815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Scurta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recapitulare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C++</a:t>
            </a:r>
            <a:endParaRPr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42;p36"/>
          <p:cNvSpPr>
            <a:spLocks noChangeArrowheads="1"/>
          </p:cNvSpPr>
          <p:nvPr/>
        </p:nvSpPr>
        <p:spPr bwMode="auto">
          <a:xfrm>
            <a:off x="295834" y="1371600"/>
            <a:ext cx="8639629" cy="4527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1631" tIns="40816" rIns="81631" bIns="40816"/>
          <a:lstStyle/>
          <a:p>
            <a:pPr>
              <a:lnSpc>
                <a:spcPct val="104000"/>
              </a:lnSpc>
              <a:buClr>
                <a:srgbClr val="000000"/>
              </a:buClr>
              <a:buSzPts val="1100"/>
            </a:pPr>
            <a:endParaRPr lang="en-US" sz="1600" dirty="0"/>
          </a:p>
          <a:p>
            <a:pPr>
              <a:lnSpc>
                <a:spcPct val="104000"/>
              </a:lnSpc>
              <a:buClr>
                <a:srgbClr val="000000"/>
              </a:buClr>
              <a:buSzPts val="1100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#include &lt;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iostream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&gt;</a:t>
            </a:r>
          </a:p>
          <a:p>
            <a:pPr>
              <a:lnSpc>
                <a:spcPct val="104000"/>
              </a:lnSpc>
              <a:buClr>
                <a:srgbClr val="000000"/>
              </a:buClr>
              <a:buSzPts val="1100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using namespace std;</a:t>
            </a:r>
          </a:p>
          <a:p>
            <a:pPr>
              <a:lnSpc>
                <a:spcPct val="104000"/>
              </a:lnSpc>
              <a:buClr>
                <a:srgbClr val="000000"/>
              </a:buClr>
              <a:buSzPts val="1100"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4000"/>
              </a:lnSpc>
              <a:buClr>
                <a:srgbClr val="000000"/>
              </a:buClr>
              <a:buSzPts val="1100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void f (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int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a, </a:t>
            </a:r>
            <a:r>
              <a:rPr lang="en-US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int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b = 12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);</a:t>
            </a:r>
            <a:r>
              <a:rPr lang="en-US" sz="1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// </a:t>
            </a:r>
            <a:r>
              <a:rPr lang="en-US" sz="1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prototip</a:t>
            </a:r>
            <a:r>
              <a:rPr lang="en-US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cu </a:t>
            </a:r>
            <a:r>
              <a:rPr lang="en-US" sz="1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mentionarea</a:t>
            </a:r>
            <a:r>
              <a:rPr lang="en-US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valorii</a:t>
            </a:r>
            <a:r>
              <a:rPr lang="en-US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implicite</a:t>
            </a:r>
            <a:r>
              <a:rPr lang="en-US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pentru</a:t>
            </a:r>
            <a:r>
              <a:rPr lang="en-US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b</a:t>
            </a:r>
          </a:p>
          <a:p>
            <a:pPr>
              <a:lnSpc>
                <a:spcPct val="104000"/>
              </a:lnSpc>
              <a:buClr>
                <a:srgbClr val="000000"/>
              </a:buClr>
              <a:buSzPts val="1100"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4000"/>
              </a:lnSpc>
              <a:buClr>
                <a:srgbClr val="000000"/>
              </a:buClr>
              <a:buSzPts val="1100"/>
            </a:pPr>
            <a:r>
              <a:rPr lang="en-US" sz="2000" dirty="0" err="1">
                <a:latin typeface="Arial" pitchFamily="34" charset="0"/>
                <a:cs typeface="Arial" pitchFamily="34" charset="0"/>
              </a:rPr>
              <a:t>int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main()</a:t>
            </a:r>
          </a:p>
          <a:p>
            <a:pPr>
              <a:lnSpc>
                <a:spcPct val="104000"/>
              </a:lnSpc>
              <a:buClr>
                <a:srgbClr val="000000"/>
              </a:buClr>
              <a:buSzPts val="1100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{</a:t>
            </a:r>
          </a:p>
          <a:p>
            <a:pPr>
              <a:lnSpc>
                <a:spcPct val="104000"/>
              </a:lnSpc>
              <a:buClr>
                <a:srgbClr val="000000"/>
              </a:buClr>
              <a:buSzPts val="1100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  f(1);</a:t>
            </a:r>
          </a:p>
          <a:p>
            <a:pPr>
              <a:lnSpc>
                <a:spcPct val="104000"/>
              </a:lnSpc>
              <a:buSzPts val="1100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  f(1,20); </a:t>
            </a:r>
          </a:p>
          <a:p>
            <a:pPr>
              <a:lnSpc>
                <a:spcPct val="104000"/>
              </a:lnSpc>
              <a:buSzPts val="1100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return 0;</a:t>
            </a:r>
          </a:p>
          <a:p>
            <a:pPr>
              <a:lnSpc>
                <a:spcPct val="104000"/>
              </a:lnSpc>
              <a:buClr>
                <a:srgbClr val="000000"/>
              </a:buClr>
              <a:buSzPts val="1100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}</a:t>
            </a:r>
          </a:p>
          <a:p>
            <a:pPr>
              <a:lnSpc>
                <a:spcPct val="104000"/>
              </a:lnSpc>
              <a:buClr>
                <a:srgbClr val="000000"/>
              </a:buClr>
              <a:buSzPts val="1100"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4000"/>
              </a:lnSpc>
              <a:buClr>
                <a:srgbClr val="000000"/>
              </a:buClr>
              <a:buSzPts val="1100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void f (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int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a,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int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b) { 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cout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&lt;&lt;a&lt;&lt;" - "&lt;&lt;b&lt;&lt;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endl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; }</a:t>
            </a:r>
          </a:p>
          <a:p>
            <a:pPr>
              <a:lnSpc>
                <a:spcPct val="104000"/>
              </a:lnSpc>
            </a:pPr>
            <a:endParaRPr lang="en-US" sz="1600" b="1" dirty="0"/>
          </a:p>
          <a:p>
            <a:pPr>
              <a:lnSpc>
                <a:spcPct val="104000"/>
              </a:lnSpc>
            </a:pPr>
            <a:endParaRPr lang="en-US" sz="1600" dirty="0"/>
          </a:p>
        </p:txBody>
      </p:sp>
      <p:sp>
        <p:nvSpPr>
          <p:cNvPr id="11" name="Rectangle 10"/>
          <p:cNvSpPr/>
          <p:nvPr/>
        </p:nvSpPr>
        <p:spPr>
          <a:xfrm>
            <a:off x="138741" y="765304"/>
            <a:ext cx="3873176" cy="4764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Funcţii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cu </a:t>
            </a: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valori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implicite</a:t>
            </a:r>
            <a:endParaRPr lang="en-US" b="1" dirty="0">
              <a:solidFill>
                <a:srgbClr val="000000"/>
              </a:solidFill>
              <a:latin typeface="Arial" pitchFamily="34" charset="0"/>
              <a:ea typeface="Arial"/>
              <a:cs typeface="Arial" pitchFamily="34" charset="0"/>
              <a:sym typeface="Arial"/>
            </a:endParaRPr>
          </a:p>
        </p:txBody>
      </p:sp>
      <p:sp>
        <p:nvSpPr>
          <p:cNvPr id="12" name="Google Shape;471;p35"/>
          <p:cNvSpPr txBox="1"/>
          <p:nvPr/>
        </p:nvSpPr>
        <p:spPr>
          <a:xfrm>
            <a:off x="2075329" y="152400"/>
            <a:ext cx="48768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1036815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Scurta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recapitulare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C++</a:t>
            </a:r>
            <a:endParaRPr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8"/>
          <p:cNvSpPr txBox="1"/>
          <p:nvPr/>
        </p:nvSpPr>
        <p:spPr>
          <a:xfrm>
            <a:off x="532856" y="990600"/>
            <a:ext cx="315612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Alocare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dinamica</a:t>
            </a:r>
            <a:endParaRPr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Google Shape;471;p35"/>
          <p:cNvSpPr txBox="1"/>
          <p:nvPr/>
        </p:nvSpPr>
        <p:spPr>
          <a:xfrm>
            <a:off x="2070575" y="152400"/>
            <a:ext cx="48768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1036815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Scurta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recapitulare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C++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6" name="Google Shape;381;p52"/>
          <p:cNvSpPr txBox="1">
            <a:spLocks/>
          </p:cNvSpPr>
          <p:nvPr/>
        </p:nvSpPr>
        <p:spPr>
          <a:xfrm>
            <a:off x="474409" y="1676400"/>
            <a:ext cx="8231040" cy="156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3" tIns="45695" rIns="91413" bIns="45695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725" indent="-3427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ro-RO" kern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new, delete</a:t>
            </a:r>
            <a:r>
              <a:rPr lang="en-US" kern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ro-RO" kern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operatori nu funcții</a:t>
            </a:r>
            <a:r>
              <a:rPr lang="en-US" kern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ro-RO" kern="0" dirty="0"/>
          </a:p>
          <a:p>
            <a:pPr marL="342725" indent="-342725">
              <a:spcBef>
                <a:spcPts val="635"/>
              </a:spcBef>
              <a:buSzPts val="3500"/>
            </a:pPr>
            <a:r>
              <a:rPr lang="ro-RO" kern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pot </a:t>
            </a:r>
            <a:r>
              <a:rPr lang="ro-RO" kern="0" dirty="0"/>
              <a:t>folosi încă </a:t>
            </a:r>
            <a:r>
              <a:rPr lang="ro-RO" kern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malloc() şi free() dar vor fi deprecated în viitor</a:t>
            </a:r>
          </a:p>
        </p:txBody>
      </p:sp>
      <p:sp>
        <p:nvSpPr>
          <p:cNvPr id="10" name="Google Shape;389;p53"/>
          <p:cNvSpPr txBox="1">
            <a:spLocks/>
          </p:cNvSpPr>
          <p:nvPr/>
        </p:nvSpPr>
        <p:spPr>
          <a:xfrm>
            <a:off x="523891" y="3505200"/>
            <a:ext cx="823104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3" tIns="45695" rIns="91413" bIns="45695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725" indent="-342725">
              <a:spcBef>
                <a:spcPts val="0"/>
              </a:spcBef>
              <a:buSzPts val="3100"/>
            </a:pPr>
            <a:r>
              <a:rPr lang="vi-VN" sz="2800" kern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new: aloc</a:t>
            </a:r>
            <a:r>
              <a:rPr lang="vi-VN" sz="2900" kern="0" dirty="0"/>
              <a:t>ă</a:t>
            </a:r>
            <a:r>
              <a:rPr lang="vi-VN" sz="2800" kern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memorie şi întoarce un pointer la începutul zonei respective</a:t>
            </a:r>
            <a:endParaRPr lang="vi-VN" kern="0" dirty="0"/>
          </a:p>
          <a:p>
            <a:pPr marL="342725" indent="-342725">
              <a:spcBef>
                <a:spcPts val="562"/>
              </a:spcBef>
              <a:buSzPts val="3100"/>
            </a:pPr>
            <a:r>
              <a:rPr lang="vi-VN" sz="2800" kern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delete: sterge zona respectiv</a:t>
            </a:r>
            <a:r>
              <a:rPr lang="vi-VN" sz="2800" kern="0" dirty="0"/>
              <a:t>ă</a:t>
            </a:r>
            <a:r>
              <a:rPr lang="vi-VN" sz="2800" kern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memorie</a:t>
            </a:r>
            <a:endParaRPr lang="en-US" sz="2800" kern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725" indent="-342725">
              <a:spcBef>
                <a:spcPts val="562"/>
              </a:spcBef>
              <a:buSzPts val="3100"/>
            </a:pPr>
            <a:r>
              <a:rPr lang="vi-VN" sz="2800" kern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eroare se “arunc</a:t>
            </a:r>
            <a:r>
              <a:rPr lang="vi-VN" sz="2800" kern="0" dirty="0"/>
              <a:t>ă</a:t>
            </a:r>
            <a:r>
              <a:rPr lang="vi-VN" sz="2800" kern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excepţia bad_alloc din &lt;new&gt;</a:t>
            </a:r>
            <a:endParaRPr lang="vi-VN" kern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8"/>
          <p:cNvSpPr txBox="1"/>
          <p:nvPr/>
        </p:nvSpPr>
        <p:spPr>
          <a:xfrm>
            <a:off x="609600" y="914400"/>
            <a:ext cx="7499520" cy="429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Alocare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dinamica</a:t>
            </a:r>
            <a:endParaRPr lang="en-US" b="1" dirty="0">
              <a:solidFill>
                <a:srgbClr val="000000"/>
              </a:solidFill>
              <a:latin typeface="Arial" pitchFamily="34" charset="0"/>
              <a:ea typeface="Arial"/>
              <a:cs typeface="Arial" pitchFamily="34" charset="0"/>
              <a:sym typeface="Arial"/>
            </a:endParaRP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endParaRPr lang="en-US" sz="1800" b="1" dirty="0">
              <a:solidFill>
                <a:srgbClr val="000000"/>
              </a:solidFill>
              <a:latin typeface="Arial" pitchFamily="34" charset="0"/>
              <a:cs typeface="Arial" pitchFamily="34" charset="0"/>
              <a:sym typeface="Arial"/>
            </a:endParaRP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1800" dirty="0" err="1">
                <a:latin typeface="Arial" pitchFamily="34" charset="0"/>
                <a:cs typeface="Arial" pitchFamily="34" charset="0"/>
              </a:rPr>
              <a:t>i</a:t>
            </a:r>
            <a:r>
              <a:rPr lang="en-US" sz="18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nt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*pi;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endParaRPr lang="en-US" sz="1800" dirty="0">
              <a:solidFill>
                <a:srgbClr val="000000"/>
              </a:solidFill>
              <a:latin typeface="Arial" pitchFamily="34" charset="0"/>
              <a:ea typeface="Arial"/>
              <a:cs typeface="Arial" pitchFamily="34" charset="0"/>
              <a:sym typeface="Arial"/>
            </a:endParaRP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pi=</a:t>
            </a:r>
            <a:r>
              <a:rPr lang="en-US" sz="1800" b="1" dirty="0">
                <a:solidFill>
                  <a:srgbClr val="FF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;</a:t>
            </a:r>
            <a:endParaRPr sz="18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1800" b="1" dirty="0">
                <a:solidFill>
                  <a:srgbClr val="FF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delete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pi; // </a:t>
            </a:r>
            <a:r>
              <a:rPr lang="en-US" sz="18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elibereaza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 zona </a:t>
            </a:r>
            <a:r>
              <a:rPr lang="en-US" sz="18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adresata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de pi -o </a:t>
            </a:r>
            <a:r>
              <a:rPr lang="en-US" sz="18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considera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neocupata</a:t>
            </a:r>
            <a:endParaRPr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endParaRPr sz="18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pi=</a:t>
            </a:r>
            <a:r>
              <a:rPr lang="en-US" sz="1800" b="1" dirty="0">
                <a:solidFill>
                  <a:srgbClr val="FF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(2);// </a:t>
            </a:r>
            <a:r>
              <a:rPr lang="en-US" sz="18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aloca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zona </a:t>
            </a:r>
            <a:r>
              <a:rPr lang="en-US" sz="18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si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initializeaza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zona cu </a:t>
            </a:r>
            <a:r>
              <a:rPr lang="en-US" sz="18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valoarea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2</a:t>
            </a:r>
            <a:endParaRPr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endParaRPr lang="en-US" sz="1800" dirty="0">
              <a:solidFill>
                <a:srgbClr val="000000"/>
              </a:solidFill>
              <a:latin typeface="Arial" pitchFamily="34" charset="0"/>
              <a:ea typeface="Arial"/>
              <a:cs typeface="Arial" pitchFamily="34" charset="0"/>
              <a:sym typeface="Arial"/>
            </a:endParaRP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pi=</a:t>
            </a:r>
            <a:r>
              <a:rPr lang="en-US" sz="1800" b="1" dirty="0">
                <a:solidFill>
                  <a:srgbClr val="FF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[2]; // </a:t>
            </a:r>
            <a:r>
              <a:rPr lang="en-US" sz="18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aloca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un vector de 2 </a:t>
            </a:r>
            <a:r>
              <a:rPr lang="en-US" sz="18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elemente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 de tip </a:t>
            </a:r>
            <a:r>
              <a:rPr lang="en-US" sz="18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intreg</a:t>
            </a:r>
            <a:endParaRPr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1800" b="1" dirty="0">
                <a:solidFill>
                  <a:srgbClr val="FF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delete [ ] 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pi; //</a:t>
            </a:r>
            <a:r>
              <a:rPr lang="en-US" sz="18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elibereaza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intreg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vectorul</a:t>
            </a:r>
            <a:endParaRPr sz="1800" dirty="0">
              <a:solidFill>
                <a:srgbClr val="000000"/>
              </a:solidFill>
              <a:latin typeface="Arial" pitchFamily="34" charset="0"/>
              <a:ea typeface="Arial"/>
              <a:cs typeface="Arial" pitchFamily="34" charset="0"/>
              <a:sym typeface="Arial"/>
            </a:endParaRP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endParaRPr lang="en-US" sz="1800" dirty="0">
              <a:solidFill>
                <a:srgbClr val="000000"/>
              </a:solidFill>
              <a:latin typeface="Arial" pitchFamily="34" charset="0"/>
              <a:ea typeface="Arial"/>
              <a:cs typeface="Arial" pitchFamily="34" charset="0"/>
              <a:sym typeface="Arial"/>
            </a:endParaRP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    //-</a:t>
            </a:r>
            <a:r>
              <a:rPr lang="en-US" sz="18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pentru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new se </a:t>
            </a:r>
            <a:r>
              <a:rPr lang="en-US" sz="18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foloseste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delete</a:t>
            </a:r>
            <a:endParaRPr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    //- </a:t>
            </a:r>
            <a:r>
              <a:rPr lang="en-US" sz="18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pentru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new [ ] se </a:t>
            </a:r>
            <a:r>
              <a:rPr lang="en-US" sz="18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foloseste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delete [ ]</a:t>
            </a:r>
            <a:endParaRPr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Google Shape;471;p35"/>
          <p:cNvSpPr txBox="1"/>
          <p:nvPr/>
        </p:nvSpPr>
        <p:spPr>
          <a:xfrm>
            <a:off x="2005581" y="152400"/>
            <a:ext cx="48768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1036815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Scurta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recapitulare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C++</a:t>
            </a:r>
            <a:endParaRPr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575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8"/>
          <p:cNvSpPr txBox="1"/>
          <p:nvPr/>
        </p:nvSpPr>
        <p:spPr>
          <a:xfrm>
            <a:off x="501480" y="766482"/>
            <a:ext cx="285132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Pointerii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in C/C++</a:t>
            </a:r>
            <a:endParaRPr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Google Shape;471;p35"/>
          <p:cNvSpPr txBox="1"/>
          <p:nvPr/>
        </p:nvSpPr>
        <p:spPr>
          <a:xfrm>
            <a:off x="2057400" y="90825"/>
            <a:ext cx="48768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1036815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Scurta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recapitulare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C++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6" name="Google Shape;118;p19"/>
          <p:cNvSpPr txBox="1">
            <a:spLocks/>
          </p:cNvSpPr>
          <p:nvPr/>
        </p:nvSpPr>
        <p:spPr>
          <a:xfrm>
            <a:off x="501480" y="1447800"/>
            <a:ext cx="8400960" cy="4526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3" tIns="45695" rIns="91413" bIns="45695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725" indent="-34272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vi-VN" sz="2200" kern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variabilă care ţine o adresă din memorie</a:t>
            </a:r>
            <a:endParaRPr lang="vi-VN" kern="0" dirty="0"/>
          </a:p>
          <a:p>
            <a:pPr marL="342725" indent="-342725">
              <a:lnSpc>
                <a:spcPct val="90000"/>
              </a:lnSpc>
              <a:spcBef>
                <a:spcPts val="435"/>
              </a:spcBef>
              <a:spcAft>
                <a:spcPts val="0"/>
              </a:spcAft>
              <a:buClr>
                <a:schemeClr val="dk1"/>
              </a:buClr>
              <a:buSzPts val="2400"/>
              <a:buFontTx/>
              <a:buNone/>
            </a:pPr>
            <a:endParaRPr lang="vi-VN" sz="2200" kern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725" indent="-342725">
              <a:lnSpc>
                <a:spcPct val="90000"/>
              </a:lnSpc>
              <a:spcBef>
                <a:spcPts val="43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vi-VN" sz="2200" kern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un tip, compilatorul știe tipul de date către care se pointează</a:t>
            </a:r>
            <a:endParaRPr lang="vi-VN" kern="0" dirty="0"/>
          </a:p>
          <a:p>
            <a:pPr marL="342725" indent="-342725">
              <a:lnSpc>
                <a:spcPct val="90000"/>
              </a:lnSpc>
              <a:spcBef>
                <a:spcPts val="435"/>
              </a:spcBef>
              <a:spcAft>
                <a:spcPts val="0"/>
              </a:spcAft>
              <a:buClr>
                <a:schemeClr val="dk1"/>
              </a:buClr>
              <a:buSzPts val="2400"/>
              <a:buFontTx/>
              <a:buNone/>
            </a:pPr>
            <a:endParaRPr lang="vi-VN" sz="2200" kern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725" indent="-342725">
              <a:lnSpc>
                <a:spcPct val="90000"/>
              </a:lnSpc>
              <a:spcBef>
                <a:spcPts val="43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vi-VN" sz="2200" kern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Operațiile aritmetice țin cont de tipul de date din memorie</a:t>
            </a:r>
            <a:endParaRPr lang="vi-VN" kern="0" dirty="0"/>
          </a:p>
          <a:p>
            <a:pPr marL="342725" indent="-342725">
              <a:lnSpc>
                <a:spcPct val="90000"/>
              </a:lnSpc>
              <a:spcBef>
                <a:spcPts val="435"/>
              </a:spcBef>
              <a:spcAft>
                <a:spcPts val="0"/>
              </a:spcAft>
              <a:buClr>
                <a:schemeClr val="dk1"/>
              </a:buClr>
              <a:buSzPts val="2400"/>
              <a:buFontTx/>
              <a:buNone/>
            </a:pPr>
            <a:endParaRPr lang="vi-VN" sz="2200" kern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725" indent="-342725">
              <a:lnSpc>
                <a:spcPct val="90000"/>
              </a:lnSpc>
              <a:spcBef>
                <a:spcPts val="43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vi-VN" sz="2200" kern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 ++ == pointer+sizeof(tip)</a:t>
            </a:r>
            <a:endParaRPr lang="vi-VN" kern="0" dirty="0"/>
          </a:p>
          <a:p>
            <a:pPr marL="342725" indent="-342725">
              <a:lnSpc>
                <a:spcPct val="90000"/>
              </a:lnSpc>
              <a:spcBef>
                <a:spcPts val="435"/>
              </a:spcBef>
              <a:spcAft>
                <a:spcPts val="0"/>
              </a:spcAft>
              <a:buClr>
                <a:schemeClr val="dk1"/>
              </a:buClr>
              <a:buSzPts val="2400"/>
              <a:buFontTx/>
              <a:buNone/>
            </a:pPr>
            <a:endParaRPr lang="vi-VN" sz="2200" kern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725" indent="-342725">
              <a:lnSpc>
                <a:spcPct val="90000"/>
              </a:lnSpc>
              <a:spcBef>
                <a:spcPts val="43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vi-VN" sz="2200" kern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Definiție: tip *nume_pointer; </a:t>
            </a:r>
            <a:endParaRPr lang="vi-VN" kern="0" dirty="0"/>
          </a:p>
          <a:p>
            <a:pPr marL="741610" lvl="1" indent="-285123">
              <a:lnSpc>
                <a:spcPct val="90000"/>
              </a:lnSpc>
              <a:spcBef>
                <a:spcPts val="43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vi-VN" sz="2200" kern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Merge şi tip* nume_pointer;</a:t>
            </a:r>
            <a:endParaRPr lang="vi-VN" kern="0" dirty="0"/>
          </a:p>
        </p:txBody>
      </p:sp>
    </p:spTree>
    <p:extLst>
      <p:ext uri="{BB962C8B-B14F-4D97-AF65-F5344CB8AC3E}">
        <p14:creationId xmlns:p14="http://schemas.microsoft.com/office/powerpoint/2010/main" val="555296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>
            <a:spLocks noGrp="1"/>
          </p:cNvSpPr>
          <p:nvPr>
            <p:ph type="body" idx="1"/>
          </p:nvPr>
        </p:nvSpPr>
        <p:spPr>
          <a:xfrm>
            <a:off x="4876440" y="1543314"/>
            <a:ext cx="4115520" cy="4114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3" tIns="45695" rIns="91413" bIns="45695" anchor="t" anchorCtr="0">
            <a:noAutofit/>
          </a:bodyPr>
          <a:lstStyle/>
          <a:p>
            <a:pPr marL="342725" indent="-3427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Schimbarea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tip nu e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controlată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compilator</a:t>
            </a:r>
            <a:endParaRPr dirty="0"/>
          </a:p>
          <a:p>
            <a:pPr marL="342725" indent="-342725">
              <a:spcBef>
                <a:spcPts val="635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în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C++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conversiile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trebuie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făcute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cu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schimbarea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tip</a:t>
            </a:r>
            <a:endParaRPr dirty="0"/>
          </a:p>
        </p:txBody>
      </p:sp>
      <p:sp>
        <p:nvSpPr>
          <p:cNvPr id="134" name="Google Shape;134;p21"/>
          <p:cNvSpPr txBox="1"/>
          <p:nvPr/>
        </p:nvSpPr>
        <p:spPr>
          <a:xfrm>
            <a:off x="298892" y="1600200"/>
            <a:ext cx="4572000" cy="4000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3" tIns="45695" rIns="91413" bIns="45695" anchor="t" anchorCtr="0">
            <a:spAutoFit/>
          </a:bodyPr>
          <a:lstStyle/>
          <a:p>
            <a:pPr marL="342725" indent="-342725">
              <a:spcBef>
                <a:spcPts val="0"/>
              </a:spcBef>
              <a:spcAft>
                <a:spcPts val="0"/>
              </a:spcAft>
              <a:buClr>
                <a:srgbClr val="004A43"/>
              </a:buClr>
              <a:buSzPts val="2000"/>
            </a:pPr>
            <a:r>
              <a:rPr lang="en-US" sz="1800" dirty="0">
                <a:solidFill>
                  <a:srgbClr val="004A43"/>
                </a:solidFill>
                <a:latin typeface="Arial"/>
                <a:ea typeface="Arial"/>
                <a:cs typeface="Arial"/>
                <a:sym typeface="Arial"/>
              </a:rPr>
              <a:t>#include </a:t>
            </a:r>
            <a:r>
              <a:rPr lang="en-US" sz="1800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1800" dirty="0" err="1">
                <a:solidFill>
                  <a:srgbClr val="40015A"/>
                </a:solidFill>
                <a:latin typeface="Arial"/>
                <a:ea typeface="Arial"/>
                <a:cs typeface="Arial"/>
                <a:sym typeface="Arial"/>
              </a:rPr>
              <a:t>stdio.h</a:t>
            </a:r>
            <a:r>
              <a:rPr lang="en-US" sz="1800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342725" indent="-342725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</a:pPr>
            <a:r>
              <a:rPr lang="en-US" sz="1800" b="1" dirty="0" err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>
                <a:solidFill>
                  <a:srgbClr val="400000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r>
              <a:rPr lang="en-US" sz="1800" dirty="0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en-US" sz="1800" dirty="0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342725" indent="-342725"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2000"/>
            </a:pPr>
            <a:r>
              <a:rPr lang="en-US" sz="1800" dirty="0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342725" indent="-342725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</a:pPr>
            <a:r>
              <a:rPr lang="en-US" sz="1800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double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x </a:t>
            </a:r>
            <a:r>
              <a:rPr lang="en-US" sz="1800" dirty="0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100.1</a:t>
            </a:r>
            <a:r>
              <a:rPr lang="en-US" sz="1800" dirty="0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</a:t>
            </a:r>
            <a:r>
              <a:rPr lang="en-US" sz="1800" dirty="0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342725" indent="-342725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</a:pPr>
            <a:r>
              <a:rPr lang="en-US" sz="1800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1800" b="1" dirty="0" err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800" dirty="0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342725" indent="-342725"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2000"/>
            </a:pPr>
            <a:r>
              <a:rPr lang="en-US" sz="1800" dirty="0">
                <a:solidFill>
                  <a:srgbClr val="696969"/>
                </a:solidFill>
                <a:latin typeface="Arial"/>
                <a:ea typeface="Arial"/>
                <a:cs typeface="Arial"/>
                <a:sym typeface="Arial"/>
              </a:rPr>
              <a:t>	/* The next statement causes p (which is an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>
                <a:solidFill>
                  <a:srgbClr val="696969"/>
                </a:solidFill>
                <a:latin typeface="Arial"/>
                <a:ea typeface="Arial"/>
                <a:cs typeface="Arial"/>
                <a:sym typeface="Arial"/>
              </a:rPr>
              <a:t>   integer pointer) to point to a double. */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342725" indent="-34272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p </a:t>
            </a:r>
            <a:r>
              <a:rPr lang="en-US" sz="1800" dirty="0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b="1" dirty="0" err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*)&amp;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800" dirty="0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342725" indent="-342725"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2000"/>
            </a:pPr>
            <a:r>
              <a:rPr lang="en-US" sz="1800" dirty="0">
                <a:solidFill>
                  <a:srgbClr val="696969"/>
                </a:solidFill>
                <a:latin typeface="Arial"/>
                <a:ea typeface="Arial"/>
                <a:cs typeface="Arial"/>
                <a:sym typeface="Arial"/>
              </a:rPr>
              <a:t>	/* The next statement does not operate as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>
                <a:solidFill>
                  <a:srgbClr val="696969"/>
                </a:solidFill>
                <a:latin typeface="Arial"/>
                <a:ea typeface="Arial"/>
                <a:cs typeface="Arial"/>
                <a:sym typeface="Arial"/>
              </a:rPr>
              <a:t>   expected. */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800" dirty="0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800" dirty="0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342725" indent="-342725">
              <a:spcBef>
                <a:spcPts val="0"/>
              </a:spcBef>
              <a:spcAft>
                <a:spcPts val="0"/>
              </a:spcAft>
              <a:buClr>
                <a:srgbClr val="603000"/>
              </a:buClr>
              <a:buSzPts val="2000"/>
            </a:pPr>
            <a:r>
              <a:rPr lang="en-US" sz="1800" dirty="0">
                <a:solidFill>
                  <a:srgbClr val="603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1800" dirty="0" err="1">
                <a:solidFill>
                  <a:srgbClr val="603000"/>
                </a:solidFill>
                <a:latin typeface="Arial"/>
                <a:ea typeface="Arial"/>
                <a:cs typeface="Arial"/>
                <a:sym typeface="Arial"/>
              </a:rPr>
              <a:t>printf</a:t>
            </a:r>
            <a:r>
              <a:rPr lang="en-US" sz="1800" dirty="0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US" sz="1800" dirty="0">
                <a:solidFill>
                  <a:srgbClr val="007997"/>
                </a:solidFill>
                <a:latin typeface="Arial"/>
                <a:ea typeface="Arial"/>
                <a:cs typeface="Arial"/>
                <a:sym typeface="Arial"/>
              </a:rPr>
              <a:t>%f</a:t>
            </a:r>
            <a:r>
              <a:rPr lang="en-US" sz="1800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US" sz="1800" dirty="0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</a:t>
            </a:r>
            <a:r>
              <a:rPr lang="en-US" sz="1800" dirty="0">
                <a:solidFill>
                  <a:srgbClr val="80803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1800" dirty="0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>
                <a:solidFill>
                  <a:srgbClr val="696969"/>
                </a:solidFill>
                <a:latin typeface="Arial"/>
                <a:ea typeface="Arial"/>
                <a:cs typeface="Arial"/>
                <a:sym typeface="Arial"/>
              </a:rPr>
              <a:t>/* won't output 100.1 */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342725" indent="-342725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</a:pPr>
            <a:r>
              <a:rPr lang="en-US" sz="1800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return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>
                <a:solidFill>
                  <a:srgbClr val="008C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800" dirty="0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342725" indent="-342725"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2000"/>
            </a:pPr>
            <a:r>
              <a:rPr lang="en-US" sz="1800" dirty="0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</p:txBody>
      </p:sp>
      <p:sp>
        <p:nvSpPr>
          <p:cNvPr id="6" name="Google Shape;512;p38"/>
          <p:cNvSpPr txBox="1"/>
          <p:nvPr/>
        </p:nvSpPr>
        <p:spPr>
          <a:xfrm>
            <a:off x="501480" y="775447"/>
            <a:ext cx="285132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Pointerii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in C/C++</a:t>
            </a:r>
            <a:endParaRPr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Google Shape;471;p35"/>
          <p:cNvSpPr txBox="1"/>
          <p:nvPr/>
        </p:nvSpPr>
        <p:spPr>
          <a:xfrm>
            <a:off x="2057400" y="90825"/>
            <a:ext cx="48768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1036815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Scurta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recapitulare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C++</a:t>
            </a:r>
            <a:endParaRPr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5622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>
            <a:spLocks noGrp="1"/>
          </p:cNvSpPr>
          <p:nvPr>
            <p:ph type="title"/>
          </p:nvPr>
        </p:nvSpPr>
        <p:spPr>
          <a:xfrm>
            <a:off x="380280" y="1524000"/>
            <a:ext cx="8231040" cy="508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3" tIns="45695" rIns="91413" bIns="4569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</a:pPr>
            <a:r>
              <a:rPr lang="en-US" sz="2800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pointeri</a:t>
            </a:r>
            <a:r>
              <a:rPr lang="en-US" sz="28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şi</a:t>
            </a:r>
            <a:r>
              <a:rPr lang="en-US" sz="28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array-</a:t>
            </a:r>
            <a:r>
              <a:rPr lang="en-US" sz="2800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uri</a:t>
            </a:r>
            <a:endParaRPr sz="2800" b="1" dirty="0"/>
          </a:p>
        </p:txBody>
      </p:sp>
      <p:sp>
        <p:nvSpPr>
          <p:cNvPr id="150" name="Google Shape;150;p23"/>
          <p:cNvSpPr txBox="1">
            <a:spLocks noGrp="1"/>
          </p:cNvSpPr>
          <p:nvPr>
            <p:ph type="body" idx="1"/>
          </p:nvPr>
        </p:nvSpPr>
        <p:spPr>
          <a:xfrm>
            <a:off x="380280" y="2286000"/>
            <a:ext cx="8231040" cy="3429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3" tIns="45695" rIns="91413" bIns="45695" anchor="t" anchorCtr="0">
            <a:noAutofit/>
          </a:bodyPr>
          <a:lstStyle/>
          <a:p>
            <a:pPr marL="342725" indent="-3427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numele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array-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ului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pointer</a:t>
            </a:r>
            <a:endParaRPr dirty="0"/>
          </a:p>
          <a:p>
            <a:pPr marL="342725" indent="-342725">
              <a:spcBef>
                <a:spcPts val="635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[5]==*(lista+5)</a:t>
            </a:r>
            <a:endParaRPr dirty="0"/>
          </a:p>
          <a:p>
            <a:pPr marL="342725" indent="-342725">
              <a:spcBef>
                <a:spcPts val="635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725" indent="-342725">
              <a:spcBef>
                <a:spcPts val="635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 de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pointeri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numele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listei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 pointer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către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pointeri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dublă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indirectare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dirty="0"/>
          </a:p>
          <a:p>
            <a:pPr marL="342725" indent="-342725">
              <a:spcBef>
                <a:spcPts val="635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**p;   (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dublă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indirectare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 dirty="0"/>
          </a:p>
        </p:txBody>
      </p:sp>
      <p:sp>
        <p:nvSpPr>
          <p:cNvPr id="6" name="Google Shape;512;p38"/>
          <p:cNvSpPr txBox="1"/>
          <p:nvPr/>
        </p:nvSpPr>
        <p:spPr>
          <a:xfrm>
            <a:off x="501480" y="838200"/>
            <a:ext cx="285132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Pointerii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in C/C++</a:t>
            </a:r>
            <a:endParaRPr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Google Shape;471;p35"/>
          <p:cNvSpPr txBox="1"/>
          <p:nvPr/>
        </p:nvSpPr>
        <p:spPr>
          <a:xfrm>
            <a:off x="2057400" y="90825"/>
            <a:ext cx="48768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1036815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Scurta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recapitulare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C++</a:t>
            </a:r>
            <a:endParaRPr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5021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0"/>
          <p:cNvSpPr txBox="1">
            <a:spLocks noGrp="1"/>
          </p:cNvSpPr>
          <p:nvPr>
            <p:ph type="body" idx="1"/>
          </p:nvPr>
        </p:nvSpPr>
        <p:spPr>
          <a:xfrm>
            <a:off x="456480" y="2209800"/>
            <a:ext cx="8231040" cy="320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3" tIns="45695" rIns="91413" bIns="45695" anchor="t" anchorCtr="0">
            <a:noAutofit/>
          </a:bodyPr>
          <a:lstStyle/>
          <a:p>
            <a:pPr marL="342725" indent="-342725">
              <a:lnSpc>
                <a:spcPct val="90000"/>
              </a:lnSpc>
              <a:spcBef>
                <a:spcPts val="0"/>
              </a:spcBef>
              <a:buSzPts val="3100"/>
            </a:pPr>
            <a:r>
              <a:rPr lang="ro-RO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idee: s</a:t>
            </a:r>
            <a:r>
              <a:rPr lang="ro-RO" sz="2900" dirty="0"/>
              <a:t>ă</a:t>
            </a:r>
            <a:r>
              <a:rPr lang="ro-RO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elimine comenzile de preprocesor #</a:t>
            </a:r>
            <a:r>
              <a:rPr lang="ro-RO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</a:t>
            </a:r>
            <a:endParaRPr lang="ro-RO" dirty="0"/>
          </a:p>
          <a:p>
            <a:pPr marL="342725" indent="-342725">
              <a:lnSpc>
                <a:spcPct val="90000"/>
              </a:lnSpc>
              <a:spcBef>
                <a:spcPts val="562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•"/>
            </a:pPr>
            <a:r>
              <a:rPr lang="ro-RO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#define făceau substituție de valoare</a:t>
            </a:r>
            <a:endParaRPr lang="ro-RO" dirty="0"/>
          </a:p>
          <a:p>
            <a:pPr marL="342725" indent="-342725">
              <a:lnSpc>
                <a:spcPct val="90000"/>
              </a:lnSpc>
              <a:spcBef>
                <a:spcPts val="562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•"/>
            </a:pPr>
            <a:r>
              <a:rPr lang="ro-RO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poate aplica la pointeri, argumente de funcții, param de întoarcere din funcții, obiecte, funcții membru</a:t>
            </a:r>
            <a:endParaRPr lang="ro-RO" dirty="0"/>
          </a:p>
          <a:p>
            <a:pPr marL="342725" indent="-342725">
              <a:lnSpc>
                <a:spcPct val="90000"/>
              </a:lnSpc>
              <a:spcBef>
                <a:spcPts val="562"/>
              </a:spcBef>
              <a:buSzPts val="3100"/>
            </a:pPr>
            <a:r>
              <a:rPr lang="ro-RO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fiecare dintre aceste elemente are o aplicare diferit</a:t>
            </a:r>
            <a:r>
              <a:rPr lang="ro-RO" sz="2900" dirty="0"/>
              <a:t>ă</a:t>
            </a:r>
            <a:r>
              <a:rPr lang="ro-RO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pentru const, dar sunt în aceeași idee/filosofie</a:t>
            </a:r>
            <a:endParaRPr lang="ro-RO" dirty="0"/>
          </a:p>
        </p:txBody>
      </p:sp>
      <p:sp>
        <p:nvSpPr>
          <p:cNvPr id="6" name="Google Shape;512;p38"/>
          <p:cNvSpPr txBox="1"/>
          <p:nvPr/>
        </p:nvSpPr>
        <p:spPr>
          <a:xfrm>
            <a:off x="501480" y="1295400"/>
            <a:ext cx="285132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Const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in C++</a:t>
            </a:r>
            <a:endParaRPr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Google Shape;471;p35"/>
          <p:cNvSpPr txBox="1"/>
          <p:nvPr/>
        </p:nvSpPr>
        <p:spPr>
          <a:xfrm>
            <a:off x="2057400" y="90825"/>
            <a:ext cx="48768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1036815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Scurta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recapitulare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C++</a:t>
            </a:r>
            <a:endParaRPr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30879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5"/>
          <p:cNvSpPr txBox="1">
            <a:spLocks noGrp="1"/>
          </p:cNvSpPr>
          <p:nvPr>
            <p:ph type="body" idx="1"/>
          </p:nvPr>
        </p:nvSpPr>
        <p:spPr>
          <a:xfrm>
            <a:off x="590160" y="5029200"/>
            <a:ext cx="8380800" cy="990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3" tIns="45695" rIns="91413" bIns="45695" anchor="t" anchorCtr="0">
            <a:noAutofit/>
          </a:bodyPr>
          <a:lstStyle/>
          <a:p>
            <a:pPr marL="342725" indent="-342725">
              <a:spcBef>
                <a:spcPts val="0"/>
              </a:spcBef>
              <a:buSzPts val="3500"/>
            </a:pPr>
            <a:r>
              <a:rPr lang="ro-RO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dac</a:t>
            </a:r>
            <a:r>
              <a:rPr lang="ro-RO" sz="2400" dirty="0"/>
              <a:t>ă</a:t>
            </a:r>
            <a:r>
              <a:rPr lang="ro-RO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știm c</a:t>
            </a:r>
            <a:r>
              <a:rPr lang="ro-RO" sz="2400" dirty="0"/>
              <a:t>ă</a:t>
            </a:r>
            <a:r>
              <a:rPr lang="ro-RO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variabila nu se schimb</a:t>
            </a:r>
            <a:r>
              <a:rPr lang="ro-RO" sz="2400" dirty="0"/>
              <a:t>ă</a:t>
            </a:r>
            <a:r>
              <a:rPr lang="ro-RO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</a:t>
            </a:r>
            <a:r>
              <a:rPr lang="ro-RO" sz="2400" dirty="0"/>
              <a:t>ă</a:t>
            </a:r>
            <a:r>
              <a:rPr lang="ro-RO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declaram cu </a:t>
            </a:r>
            <a:r>
              <a:rPr lang="ro-RO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endParaRPr lang="ro-RO" sz="2400" dirty="0"/>
          </a:p>
          <a:p>
            <a:pPr marL="342725" indent="-342725">
              <a:spcBef>
                <a:spcPts val="635"/>
              </a:spcBef>
              <a:buSzPts val="3500"/>
            </a:pPr>
            <a:r>
              <a:rPr lang="ro-RO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dac</a:t>
            </a:r>
            <a:r>
              <a:rPr lang="ro-RO" sz="2400" dirty="0"/>
              <a:t>ă</a:t>
            </a:r>
            <a:r>
              <a:rPr lang="ro-RO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încercam s</a:t>
            </a:r>
            <a:r>
              <a:rPr lang="ro-RO" sz="2400" dirty="0"/>
              <a:t>ă</a:t>
            </a:r>
            <a:r>
              <a:rPr lang="ro-RO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schimb</a:t>
            </a:r>
            <a:r>
              <a:rPr lang="ro-RO" sz="2400" dirty="0"/>
              <a:t>ă</a:t>
            </a:r>
            <a:r>
              <a:rPr lang="ro-RO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 primim eroare de compilare</a:t>
            </a:r>
            <a:endParaRPr lang="ro-RO" sz="2400" dirty="0"/>
          </a:p>
        </p:txBody>
      </p:sp>
      <p:sp>
        <p:nvSpPr>
          <p:cNvPr id="483" name="Google Shape;483;p65"/>
          <p:cNvSpPr txBox="1"/>
          <p:nvPr/>
        </p:nvSpPr>
        <p:spPr>
          <a:xfrm>
            <a:off x="1981200" y="1311468"/>
            <a:ext cx="5598720" cy="3484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32" tIns="41454" rIns="82932" bIns="41454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1400"/>
            </a:pPr>
            <a:r>
              <a:rPr lang="en-US" sz="1300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Using const for safety</a:t>
            </a:r>
            <a:endParaRPr sz="1300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004A43"/>
              </a:buClr>
              <a:buSzPts val="1400"/>
            </a:pPr>
            <a:r>
              <a:rPr lang="en-US" sz="1300" dirty="0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-US" sz="1300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300" dirty="0" err="1">
                <a:solidFill>
                  <a:srgbClr val="40015A"/>
                </a:solidFill>
                <a:latin typeface="Courier New"/>
                <a:ea typeface="Courier New"/>
                <a:cs typeface="Courier New"/>
                <a:sym typeface="Courier New"/>
              </a:rPr>
              <a:t>iostream</a:t>
            </a:r>
            <a:r>
              <a:rPr lang="en-US" sz="1300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00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</a:pPr>
            <a:r>
              <a:rPr lang="en-US" sz="1300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-US" sz="13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-US" sz="13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 b="1" dirty="0">
                <a:solidFill>
                  <a:srgbClr val="666616"/>
                </a:solidFill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-US" sz="13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00" b="1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endParaRPr sz="1300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</a:pPr>
            <a:r>
              <a:rPr lang="en-US" sz="1300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3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3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 b="1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3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3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 b="1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en-US" sz="13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3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300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Typical constant</a:t>
            </a:r>
            <a:endParaRPr sz="1300" b="1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</a:pPr>
            <a:r>
              <a:rPr lang="en-US" sz="1300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3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3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j </a:t>
            </a:r>
            <a:r>
              <a:rPr lang="en-US" sz="13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3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 b="1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3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sz="13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 b="1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-US" sz="13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3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Value from const expr</a:t>
            </a:r>
            <a:endParaRPr sz="1300" b="1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</a:pPr>
            <a:r>
              <a:rPr lang="en-US" sz="1300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en-US" sz="13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address </a:t>
            </a:r>
            <a:r>
              <a:rPr lang="en-US" sz="13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3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300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en-US" sz="13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)&amp;</a:t>
            </a:r>
            <a:r>
              <a:rPr lang="en-US" sz="13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n-US" sz="13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3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Forces storage</a:t>
            </a:r>
            <a:endParaRPr sz="1300" b="1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</a:pPr>
            <a:r>
              <a:rPr lang="en-US" sz="1300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-US" sz="13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 b="1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buf</a:t>
            </a:r>
            <a:r>
              <a:rPr lang="en-US" sz="13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3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j </a:t>
            </a:r>
            <a:r>
              <a:rPr lang="en-US" sz="13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sz="13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 b="1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-US" sz="13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-US" sz="13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3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Still a const expression</a:t>
            </a:r>
            <a:endParaRPr sz="1300" b="1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endParaRPr sz="1300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</a:pPr>
            <a:r>
              <a:rPr lang="en-US" sz="13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3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 b="1" dirty="0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13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3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300" b="1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en-US" sz="13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300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300" dirty="0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type a character &amp; CR:</a:t>
            </a:r>
            <a:r>
              <a:rPr lang="en-US" sz="1300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300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en-US" sz="13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300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3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-US" sz="13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 </a:t>
            </a:r>
            <a:r>
              <a:rPr lang="en-US" sz="13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3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 b="1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cin</a:t>
            </a:r>
            <a:r>
              <a:rPr lang="en-US" sz="1300" b="1" dirty="0" err="1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300" b="1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lang="en-US" sz="13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3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3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Can't change //</a:t>
            </a:r>
            <a:r>
              <a:rPr lang="en-US" sz="1300" b="1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valoarea</a:t>
            </a:r>
            <a:r>
              <a:rPr lang="en-US" sz="1300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 nu e </a:t>
            </a:r>
            <a:r>
              <a:rPr lang="en-US" sz="1300" b="1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cunoscuta</a:t>
            </a:r>
            <a:r>
              <a:rPr lang="en-US" sz="1300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 la compile time </a:t>
            </a:r>
            <a:r>
              <a:rPr lang="en-US" sz="1300" b="1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si</a:t>
            </a:r>
            <a:r>
              <a:rPr lang="en-US" sz="1300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 b="1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necesita</a:t>
            </a:r>
            <a:r>
              <a:rPr lang="en-US" sz="1300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 storage</a:t>
            </a:r>
            <a:endParaRPr sz="1300" b="1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en-US" sz="13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300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3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-US" sz="13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c2 </a:t>
            </a:r>
            <a:r>
              <a:rPr lang="en-US" sz="13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3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 </a:t>
            </a:r>
            <a:r>
              <a:rPr lang="en-US" sz="13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sz="13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 b="1" dirty="0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'a'</a:t>
            </a:r>
            <a:r>
              <a:rPr lang="en-US" sz="13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00" b="1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en-US" sz="13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300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c2</a:t>
            </a:r>
            <a:r>
              <a:rPr lang="en-US" sz="1300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en-US" sz="13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300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...</a:t>
            </a:r>
            <a:endParaRPr sz="1300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1400"/>
            </a:pPr>
            <a:r>
              <a:rPr lang="en-US" sz="1300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300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" name="Google Shape;512;p38"/>
          <p:cNvSpPr txBox="1"/>
          <p:nvPr/>
        </p:nvSpPr>
        <p:spPr>
          <a:xfrm>
            <a:off x="381000" y="766482"/>
            <a:ext cx="285132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Const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in C/C++</a:t>
            </a:r>
            <a:endParaRPr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Google Shape;471;p35"/>
          <p:cNvSpPr txBox="1"/>
          <p:nvPr/>
        </p:nvSpPr>
        <p:spPr>
          <a:xfrm>
            <a:off x="2139353" y="104272"/>
            <a:ext cx="48768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1036815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Scurta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recapitulare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C++</a:t>
            </a:r>
            <a:endParaRPr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41322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1"/>
          <p:cNvSpPr txBox="1">
            <a:spLocks noGrp="1"/>
          </p:cNvSpPr>
          <p:nvPr>
            <p:ph type="body" idx="1"/>
          </p:nvPr>
        </p:nvSpPr>
        <p:spPr>
          <a:xfrm>
            <a:off x="503450" y="1752600"/>
            <a:ext cx="8231040" cy="3505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3" tIns="45695" rIns="91413" bIns="45695" anchor="t" anchorCtr="0">
            <a:noAutofit/>
          </a:bodyPr>
          <a:lstStyle/>
          <a:p>
            <a:pPr marL="342725" indent="-3427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 poate fi aplicat valorii pointerului sau elementului pointat</a:t>
            </a:r>
          </a:p>
          <a:p>
            <a:pPr marL="342725" indent="-342725">
              <a:spcBef>
                <a:spcPts val="635"/>
              </a:spcBef>
              <a:buSzPts val="3500"/>
            </a:pP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</a:t>
            </a: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alatur</a:t>
            </a:r>
            <a:r>
              <a:rPr lang="ro-RO" sz="3300" dirty="0" err="1"/>
              <a:t>ă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elementului cel mai apropiat</a:t>
            </a:r>
            <a:endParaRPr lang="ro-RO" dirty="0"/>
          </a:p>
          <a:p>
            <a:pPr marL="342725" indent="-342725">
              <a:spcBef>
                <a:spcPts val="635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 int* u; </a:t>
            </a:r>
          </a:p>
          <a:p>
            <a:pPr marL="342725" indent="-342725">
              <a:spcBef>
                <a:spcPts val="635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 este pointer către un </a:t>
            </a: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care este </a:t>
            </a: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endParaRPr lang="ro-RO" dirty="0"/>
          </a:p>
          <a:p>
            <a:pPr marL="342725" indent="-342725">
              <a:spcBef>
                <a:spcPts val="635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v;  la fel ca mai sus</a:t>
            </a:r>
            <a:endParaRPr lang="ro-RO" dirty="0"/>
          </a:p>
        </p:txBody>
      </p:sp>
      <p:sp>
        <p:nvSpPr>
          <p:cNvPr id="7" name="Google Shape;471;p35"/>
          <p:cNvSpPr txBox="1"/>
          <p:nvPr/>
        </p:nvSpPr>
        <p:spPr>
          <a:xfrm>
            <a:off x="2057400" y="152400"/>
            <a:ext cx="48768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1036815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Scurta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recapitulare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C++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8" name="Google Shape;512;p38"/>
          <p:cNvSpPr txBox="1"/>
          <p:nvPr/>
        </p:nvSpPr>
        <p:spPr>
          <a:xfrm>
            <a:off x="559751" y="990600"/>
            <a:ext cx="445152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Pointeri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si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Const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in C/C++</a:t>
            </a:r>
            <a:endParaRPr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2560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72"/>
          <p:cNvSpPr txBox="1">
            <a:spLocks noGrp="1"/>
          </p:cNvSpPr>
          <p:nvPr>
            <p:ph type="body" idx="1"/>
          </p:nvPr>
        </p:nvSpPr>
        <p:spPr>
          <a:xfrm>
            <a:off x="380280" y="1676400"/>
            <a:ext cx="8231040" cy="3962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3" tIns="45695" rIns="91413" bIns="45695" anchor="t" anchorCtr="0">
            <a:noAutofit/>
          </a:bodyPr>
          <a:lstStyle/>
          <a:p>
            <a:pPr marL="342725" indent="-342725">
              <a:spcBef>
                <a:spcPts val="0"/>
              </a:spcBef>
              <a:buSzPts val="3500"/>
            </a:pP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pentru pointeri care nu își schimb</a:t>
            </a:r>
            <a:r>
              <a:rPr lang="ro-RO" sz="3300" dirty="0"/>
              <a:t>ă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adresa din memorie</a:t>
            </a:r>
          </a:p>
          <a:p>
            <a:pPr marL="342725" indent="-342725">
              <a:spcBef>
                <a:spcPts val="635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 = 1; </a:t>
            </a:r>
            <a:endParaRPr lang="ro-RO" dirty="0"/>
          </a:p>
          <a:p>
            <a:pPr marL="342725" indent="-342725">
              <a:spcBef>
                <a:spcPts val="635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</a:t>
            </a: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 = </a:t>
            </a: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&amp;d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  <a:endParaRPr lang="ro-RO" dirty="0"/>
          </a:p>
          <a:p>
            <a:pPr marL="342725" indent="-342725">
              <a:spcBef>
                <a:spcPts val="635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lang="ro-RO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725" indent="-342725">
              <a:spcBef>
                <a:spcPts val="635"/>
              </a:spcBef>
              <a:buSzPts val="3500"/>
            </a:pP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 e un pointer constant care arat</a:t>
            </a:r>
            <a:r>
              <a:rPr lang="ro-RO" sz="3300" dirty="0"/>
              <a:t>ă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către întregi+inițializare</a:t>
            </a:r>
            <a:endParaRPr lang="ro-RO" dirty="0"/>
          </a:p>
          <a:p>
            <a:pPr marL="342725" indent="-141122">
              <a:spcBef>
                <a:spcPts val="635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lang="ro-RO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725" indent="-141122">
              <a:spcBef>
                <a:spcPts val="635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lang="ro-RO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471;p35"/>
          <p:cNvSpPr txBox="1"/>
          <p:nvPr/>
        </p:nvSpPr>
        <p:spPr>
          <a:xfrm>
            <a:off x="2057400" y="228600"/>
            <a:ext cx="48768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1036815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Scurta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recapitulare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C++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8" name="Google Shape;512;p38"/>
          <p:cNvSpPr txBox="1"/>
          <p:nvPr/>
        </p:nvSpPr>
        <p:spPr>
          <a:xfrm>
            <a:off x="501480" y="1026459"/>
            <a:ext cx="445152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Pointeri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si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Const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in C/C++</a:t>
            </a:r>
            <a:endParaRPr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5977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74"/>
          <p:cNvSpPr txBox="1"/>
          <p:nvPr/>
        </p:nvSpPr>
        <p:spPr>
          <a:xfrm>
            <a:off x="2286720" y="1676400"/>
            <a:ext cx="5050080" cy="3714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32" tIns="41454" rIns="82932" bIns="41454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2000"/>
            </a:pPr>
            <a:r>
              <a:rPr lang="en-US" sz="1800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//: C08:ConstPointers.cpp </a:t>
            </a:r>
            <a:endParaRPr sz="1800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</a:pPr>
            <a:r>
              <a:rPr lang="en-US" sz="18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8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u</a:t>
            </a:r>
            <a:r>
              <a:rPr lang="en-US" sz="18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</a:pPr>
            <a:r>
              <a:rPr lang="en-US" sz="18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8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v</a:t>
            </a:r>
            <a:r>
              <a:rPr lang="en-US" sz="18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</a:pPr>
            <a:r>
              <a:rPr lang="en-US" sz="18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d </a:t>
            </a:r>
            <a:r>
              <a:rPr lang="en-US" sz="18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1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8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endParaRPr sz="1800" b="1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</a:pPr>
            <a:r>
              <a:rPr lang="en-US" sz="18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8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w </a:t>
            </a:r>
            <a:r>
              <a:rPr lang="en-US" sz="18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-US" sz="18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endParaRPr sz="1800" b="1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</a:pPr>
            <a:r>
              <a:rPr lang="en-US" sz="18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8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 </a:t>
            </a:r>
            <a:r>
              <a:rPr lang="en-US" sz="18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-US" sz="18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(1) </a:t>
            </a:r>
            <a:endParaRPr sz="1800" b="1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</a:pPr>
            <a:r>
              <a:rPr lang="en-US" sz="18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8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x2 </a:t>
            </a:r>
            <a:r>
              <a:rPr lang="en-US" sz="18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-US" sz="18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(2)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2000"/>
            </a:pPr>
            <a:r>
              <a:rPr lang="en-US" sz="1800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800" b="1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</a:pPr>
            <a:r>
              <a:rPr lang="en-US" sz="18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1" dirty="0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18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{}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1" dirty="0">
                <a:solidFill>
                  <a:srgbClr val="3F5FBF"/>
                </a:solidFill>
                <a:latin typeface="Courier New"/>
                <a:ea typeface="Courier New"/>
                <a:cs typeface="Courier New"/>
                <a:sym typeface="Courier New"/>
              </a:rPr>
              <a:t>///:~ </a:t>
            </a:r>
            <a:endParaRPr sz="1800" b="1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800" b="1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" name="Google Shape;471;p35"/>
          <p:cNvSpPr txBox="1"/>
          <p:nvPr/>
        </p:nvSpPr>
        <p:spPr>
          <a:xfrm>
            <a:off x="2057400" y="304800"/>
            <a:ext cx="48768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1036815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Scurta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recapitulare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C++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6" name="Google Shape;512;p38"/>
          <p:cNvSpPr txBox="1"/>
          <p:nvPr/>
        </p:nvSpPr>
        <p:spPr>
          <a:xfrm>
            <a:off x="479068" y="990600"/>
            <a:ext cx="445152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Pointeri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si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Const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in C/C++</a:t>
            </a:r>
            <a:endParaRPr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49476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75"/>
          <p:cNvSpPr txBox="1">
            <a:spLocks noGrp="1"/>
          </p:cNvSpPr>
          <p:nvPr>
            <p:ph type="body" idx="1"/>
          </p:nvPr>
        </p:nvSpPr>
        <p:spPr>
          <a:xfrm>
            <a:off x="411656" y="1600200"/>
            <a:ext cx="8231040" cy="2834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3" tIns="45695" rIns="91413" bIns="45695" anchor="t" anchorCtr="0">
            <a:noAutofit/>
          </a:bodyPr>
          <a:lstStyle/>
          <a:p>
            <a:pPr marL="342725" indent="-342725">
              <a:spcBef>
                <a:spcPts val="0"/>
              </a:spcBef>
              <a:buSzPts val="3500"/>
            </a:pP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poate face atribuire de adres</a:t>
            </a:r>
            <a:r>
              <a:rPr lang="ro-RO" sz="3300" dirty="0"/>
              <a:t>ă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pentru obiect </a:t>
            </a: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non-const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către un pointer </a:t>
            </a: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endParaRPr lang="ro-RO" dirty="0"/>
          </a:p>
          <a:p>
            <a:pPr marL="342725" indent="-342725">
              <a:spcBef>
                <a:spcPts val="635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lang="ro-RO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725" indent="-342725">
              <a:spcBef>
                <a:spcPts val="635"/>
              </a:spcBef>
              <a:buSzPts val="3500"/>
            </a:pP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 se poate face atribuire pe adres</a:t>
            </a:r>
            <a:r>
              <a:rPr lang="ro-RO" sz="3300" dirty="0"/>
              <a:t>ă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obiect </a:t>
            </a: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către pointer </a:t>
            </a: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non-const</a:t>
            </a:r>
            <a:endParaRPr lang="ro-RO" dirty="0"/>
          </a:p>
          <a:p>
            <a:pPr marL="342725" indent="-141122">
              <a:spcBef>
                <a:spcPts val="635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lang="ro-RO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471;p35"/>
          <p:cNvSpPr txBox="1"/>
          <p:nvPr/>
        </p:nvSpPr>
        <p:spPr>
          <a:xfrm>
            <a:off x="2088776" y="228600"/>
            <a:ext cx="48768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1036815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Scurta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recapitulare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C++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6" name="Google Shape;512;p38"/>
          <p:cNvSpPr txBox="1"/>
          <p:nvPr/>
        </p:nvSpPr>
        <p:spPr>
          <a:xfrm>
            <a:off x="501480" y="972671"/>
            <a:ext cx="445152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Pointeri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si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Const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in C/C++</a:t>
            </a:r>
            <a:endParaRPr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6837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76"/>
          <p:cNvSpPr txBox="1"/>
          <p:nvPr/>
        </p:nvSpPr>
        <p:spPr>
          <a:xfrm>
            <a:off x="914400" y="1752600"/>
            <a:ext cx="7603200" cy="4146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32" tIns="41454" rIns="82932" bIns="41454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</a:pPr>
            <a:r>
              <a:rPr lang="en-US" sz="22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d </a:t>
            </a:r>
            <a:r>
              <a:rPr lang="en-US" sz="22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 b="1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22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200" b="1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</a:pPr>
            <a:r>
              <a:rPr lang="en-US" sz="22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e </a:t>
            </a:r>
            <a:r>
              <a:rPr lang="en-US" sz="22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 b="1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22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200" b="1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</a:pPr>
            <a:r>
              <a:rPr lang="en-US" sz="22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2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u </a:t>
            </a:r>
            <a:r>
              <a:rPr lang="en-US" sz="22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-US" sz="22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OK -- d not </a:t>
            </a:r>
            <a:r>
              <a:rPr lang="en-US" sz="2200" b="1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200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200" b="1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200" dirty="0">
              <a:solidFill>
                <a:srgbClr val="69696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2400"/>
            </a:pPr>
            <a:r>
              <a:rPr lang="en-US" sz="2200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//! </a:t>
            </a:r>
            <a:r>
              <a:rPr lang="en-US" sz="2200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200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* v = &amp;e; // Illegal -- e </a:t>
            </a:r>
            <a:r>
              <a:rPr lang="en-US" sz="2200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200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200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200" b="1" dirty="0">
              <a:solidFill>
                <a:srgbClr val="8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</a:pPr>
            <a:r>
              <a:rPr lang="en-US" sz="22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2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w </a:t>
            </a:r>
            <a:r>
              <a:rPr lang="en-US" sz="22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2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2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*)&amp;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en-US" sz="22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Legal but bad practice </a:t>
            </a:r>
            <a:endParaRPr sz="2200" b="1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200" b="1" dirty="0">
              <a:solidFill>
                <a:srgbClr val="8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</a:pPr>
            <a:r>
              <a:rPr lang="en-US" sz="22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 b="1" dirty="0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22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{}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 b="1" dirty="0">
                <a:solidFill>
                  <a:srgbClr val="3F5FBF"/>
                </a:solidFill>
                <a:latin typeface="Courier New"/>
                <a:ea typeface="Courier New"/>
                <a:cs typeface="Courier New"/>
                <a:sym typeface="Courier New"/>
              </a:rPr>
              <a:t>///:~ </a:t>
            </a:r>
            <a:endParaRPr sz="2200" b="1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200" b="1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" name="Google Shape;471;p35"/>
          <p:cNvSpPr txBox="1"/>
          <p:nvPr/>
        </p:nvSpPr>
        <p:spPr>
          <a:xfrm>
            <a:off x="2057400" y="142257"/>
            <a:ext cx="48768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1036815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Scurta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recapitulare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C++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6" name="Google Shape;512;p38"/>
          <p:cNvSpPr txBox="1"/>
          <p:nvPr/>
        </p:nvSpPr>
        <p:spPr>
          <a:xfrm>
            <a:off x="501480" y="980457"/>
            <a:ext cx="445152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Pointeri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si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Const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in C/C++</a:t>
            </a:r>
            <a:endParaRPr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956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78"/>
          <p:cNvSpPr txBox="1">
            <a:spLocks noGrp="1"/>
          </p:cNvSpPr>
          <p:nvPr>
            <p:ph type="body" idx="1"/>
          </p:nvPr>
        </p:nvSpPr>
        <p:spPr>
          <a:xfrm>
            <a:off x="496997" y="1600200"/>
            <a:ext cx="8231040" cy="3349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3" tIns="45695" rIns="91413" bIns="45695" anchor="t" anchorCtr="0">
            <a:noAutofit/>
          </a:bodyPr>
          <a:lstStyle/>
          <a:p>
            <a:pPr marL="342725" indent="-342725">
              <a:spcBef>
                <a:spcPts val="0"/>
              </a:spcBef>
              <a:buSzPts val="3500"/>
            </a:pP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apel prin valoare cu </a:t>
            </a: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param formal nu se schimb</a:t>
            </a:r>
            <a:r>
              <a:rPr lang="ro-RO" sz="3300" dirty="0"/>
              <a:t>ă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în </a:t>
            </a: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functie</a:t>
            </a:r>
            <a:endParaRPr lang="ro-RO" dirty="0"/>
          </a:p>
          <a:p>
            <a:pPr marL="342725" indent="-342725">
              <a:spcBef>
                <a:spcPts val="635"/>
              </a:spcBef>
              <a:buSzPts val="3500"/>
            </a:pP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 întoarcere: valoarea returnat</a:t>
            </a:r>
            <a:r>
              <a:rPr lang="ro-RO" sz="3300" dirty="0"/>
              <a:t>ă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nu se poate schimba</a:t>
            </a:r>
            <a:endParaRPr lang="ro-RO" dirty="0"/>
          </a:p>
          <a:p>
            <a:pPr marL="342725" indent="-342725">
              <a:spcBef>
                <a:spcPts val="635"/>
              </a:spcBef>
              <a:buSzPts val="3500"/>
            </a:pP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dac</a:t>
            </a:r>
            <a:r>
              <a:rPr lang="ro-RO" sz="3300" dirty="0"/>
              <a:t>ă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transmite o adres</a:t>
            </a:r>
            <a:r>
              <a:rPr lang="ro-RO" sz="3300" dirty="0"/>
              <a:t>ă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promisiune c</a:t>
            </a:r>
            <a:r>
              <a:rPr lang="ro-RO" sz="3300" dirty="0"/>
              <a:t>ă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nu se schimb</a:t>
            </a:r>
            <a:r>
              <a:rPr lang="ro-RO" sz="3300" dirty="0"/>
              <a:t>ă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valoarea la adresa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respectiv</a:t>
            </a:r>
            <a:r>
              <a:rPr lang="ro-RO" sz="3300" dirty="0"/>
              <a:t>ă</a:t>
            </a:r>
            <a:endParaRPr lang="ro-RO" dirty="0"/>
          </a:p>
          <a:p>
            <a:pPr marL="342725" indent="-141122">
              <a:spcBef>
                <a:spcPts val="635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endParaRPr lang="ro-RO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471;p35"/>
          <p:cNvSpPr txBox="1"/>
          <p:nvPr/>
        </p:nvSpPr>
        <p:spPr>
          <a:xfrm>
            <a:off x="2057400" y="152400"/>
            <a:ext cx="48768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1036815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Scurta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recapitulare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C++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7" name="Google Shape;512;p38"/>
          <p:cNvSpPr txBox="1"/>
          <p:nvPr/>
        </p:nvSpPr>
        <p:spPr>
          <a:xfrm>
            <a:off x="532856" y="838200"/>
            <a:ext cx="803292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Const</a:t>
            </a:r>
            <a:r>
              <a:rPr lang="en-US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si</a:t>
            </a:r>
            <a:r>
              <a:rPr lang="en-US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ro-RO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argumente de funcții, param de întoarcere</a:t>
            </a:r>
            <a:endParaRPr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8503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79"/>
          <p:cNvSpPr txBox="1"/>
          <p:nvPr/>
        </p:nvSpPr>
        <p:spPr>
          <a:xfrm>
            <a:off x="923365" y="1524000"/>
            <a:ext cx="7050240" cy="4146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32" tIns="41454" rIns="82932" bIns="41454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</a:pPr>
            <a:r>
              <a:rPr lang="en-US" sz="2200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f1</a:t>
            </a:r>
            <a:r>
              <a:rPr lang="en-US" sz="22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2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 b="1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22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en-US" sz="220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2200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-US" sz="2200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Illegal -- compile-time error </a:t>
            </a:r>
            <a:endParaRPr sz="2200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2400"/>
            </a:pPr>
            <a:r>
              <a:rPr lang="en-US" sz="2200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200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200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en-US" sz="22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cod </a:t>
            </a:r>
            <a:r>
              <a:rPr lang="en-US" sz="220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mai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clar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echivalent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mai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jos</a:t>
            </a:r>
            <a:r>
              <a:rPr lang="en-US" sz="2200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2200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200" b="1" dirty="0">
              <a:solidFill>
                <a:srgbClr val="8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200" b="1" dirty="0">
              <a:solidFill>
                <a:srgbClr val="8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</a:pPr>
            <a:r>
              <a:rPr lang="en-US" sz="2200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f2</a:t>
            </a:r>
            <a:r>
              <a:rPr lang="en-US" sz="22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2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 b="1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ic</a:t>
            </a:r>
            <a:r>
              <a:rPr lang="en-US" sz="22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</a:pPr>
            <a:r>
              <a:rPr lang="en-US" sz="22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2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 b="1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 b="1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ic</a:t>
            </a:r>
            <a:r>
              <a:rPr lang="en-US" sz="22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en-US" sz="220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2200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-US" sz="2200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Illegal -- compile-time error </a:t>
            </a:r>
            <a:endParaRPr sz="2200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2400"/>
            </a:pPr>
            <a:r>
              <a:rPr lang="en-US" sz="2200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200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" name="Google Shape;471;p35"/>
          <p:cNvSpPr txBox="1"/>
          <p:nvPr/>
        </p:nvSpPr>
        <p:spPr>
          <a:xfrm>
            <a:off x="2088776" y="113237"/>
            <a:ext cx="48768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1036815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Scurta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recapitulare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C++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6" name="Google Shape;512;p38"/>
          <p:cNvSpPr txBox="1"/>
          <p:nvPr/>
        </p:nvSpPr>
        <p:spPr>
          <a:xfrm>
            <a:off x="510716" y="838200"/>
            <a:ext cx="803292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Const</a:t>
            </a:r>
            <a:r>
              <a:rPr lang="en-US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si</a:t>
            </a:r>
            <a:r>
              <a:rPr lang="en-US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ro-RO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argumente de funcții, param de întoarcere</a:t>
            </a:r>
            <a:endParaRPr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2912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80"/>
          <p:cNvSpPr txBox="1"/>
          <p:nvPr/>
        </p:nvSpPr>
        <p:spPr>
          <a:xfrm>
            <a:off x="962576" y="1524000"/>
            <a:ext cx="7603200" cy="3807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32" tIns="41454" rIns="82932" bIns="41454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2400"/>
            </a:pPr>
            <a:r>
              <a:rPr lang="en-US" sz="2200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Returning </a:t>
            </a:r>
            <a:r>
              <a:rPr lang="en-US" sz="2200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consts</a:t>
            </a:r>
            <a:r>
              <a:rPr lang="en-US" sz="2200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 by value</a:t>
            </a:r>
            <a:endParaRPr sz="2200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696969"/>
              </a:buClr>
              <a:buSzPts val="2400"/>
            </a:pPr>
            <a:r>
              <a:rPr lang="en-US" sz="2200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has no meaning for built-in types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200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</a:pPr>
            <a:r>
              <a:rPr lang="en-US" sz="22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f3</a:t>
            </a:r>
            <a:r>
              <a:rPr lang="en-US" sz="22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 b="1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22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200" b="1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</a:pPr>
            <a:r>
              <a:rPr lang="en-US" sz="22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f4</a:t>
            </a:r>
            <a:r>
              <a:rPr lang="en-US" sz="22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 b="1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22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200" b="1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200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</a:pPr>
            <a:r>
              <a:rPr lang="en-US" sz="22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 b="1" dirty="0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22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2200" b="1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en-US" sz="22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22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j </a:t>
            </a:r>
            <a:r>
              <a:rPr lang="en-US" sz="22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f3</a:t>
            </a:r>
            <a:r>
              <a:rPr lang="en-US" sz="22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22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Works fine</a:t>
            </a:r>
            <a:endParaRPr sz="2200" b="1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en-US" sz="22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22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k </a:t>
            </a:r>
            <a:r>
              <a:rPr lang="en-US" sz="22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f4</a:t>
            </a:r>
            <a:r>
              <a:rPr lang="en-US" sz="22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22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2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But this works fine too!</a:t>
            </a:r>
            <a:endParaRPr sz="2200" b="1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2400"/>
            </a:pPr>
            <a:r>
              <a:rPr lang="en-US" sz="2200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22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200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" name="Google Shape;471;p35"/>
          <p:cNvSpPr txBox="1"/>
          <p:nvPr/>
        </p:nvSpPr>
        <p:spPr>
          <a:xfrm>
            <a:off x="2079812" y="228600"/>
            <a:ext cx="48768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1036815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Scurta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recapitulare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C++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6" name="Google Shape;512;p38"/>
          <p:cNvSpPr txBox="1"/>
          <p:nvPr/>
        </p:nvSpPr>
        <p:spPr>
          <a:xfrm>
            <a:off x="479068" y="823575"/>
            <a:ext cx="803292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Const</a:t>
            </a:r>
            <a:r>
              <a:rPr lang="en-US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si</a:t>
            </a:r>
            <a:r>
              <a:rPr lang="en-US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ro-RO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argumente de funcții, param de întoarcere</a:t>
            </a:r>
            <a:endParaRPr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485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9"/>
          <p:cNvSpPr txBox="1"/>
          <p:nvPr/>
        </p:nvSpPr>
        <p:spPr>
          <a:xfrm>
            <a:off x="498390" y="990600"/>
            <a:ext cx="7993429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Tipul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referinta</a:t>
            </a:r>
            <a:endParaRPr lang="en-US" b="1" dirty="0">
              <a:solidFill>
                <a:srgbClr val="000000"/>
              </a:solidFill>
              <a:latin typeface="Arial" pitchFamily="34" charset="0"/>
              <a:ea typeface="Arial"/>
              <a:cs typeface="Arial" pitchFamily="34" charset="0"/>
              <a:sym typeface="Arial"/>
            </a:endParaRP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endParaRPr lang="en-US" sz="2000" b="1" dirty="0">
              <a:solidFill>
                <a:srgbClr val="000000"/>
              </a:solidFill>
              <a:latin typeface="Arial" pitchFamily="34" charset="0"/>
              <a:cs typeface="Arial" pitchFamily="34" charset="0"/>
              <a:sym typeface="Arial"/>
            </a:endParaRP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O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referinţă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este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, in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esenta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, un pointer implicit, care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actioneaza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ca un alt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nume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al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unui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obiect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(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variabila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).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endParaRPr sz="2000" b="1">
              <a:solidFill>
                <a:srgbClr val="000000"/>
              </a:solidFill>
              <a:latin typeface="Arial" pitchFamily="34" charset="0"/>
              <a:ea typeface="Arial"/>
              <a:cs typeface="Arial" pitchFamily="34" charset="0"/>
              <a:sym typeface="Arial"/>
            </a:endParaRP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20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;</a:t>
            </a:r>
            <a:endParaRPr sz="200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20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*</a:t>
            </a:r>
            <a:r>
              <a:rPr lang="en-US" sz="20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pi,j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;  </a:t>
            </a:r>
            <a:endParaRPr sz="200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endParaRPr sz="200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2000" b="1" dirty="0" err="1">
                <a:solidFill>
                  <a:srgbClr val="FF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int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&amp; </a:t>
            </a:r>
            <a:r>
              <a:rPr lang="en-US" sz="2000" b="1" dirty="0" err="1">
                <a:solidFill>
                  <a:srgbClr val="FF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ri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=</a:t>
            </a:r>
            <a:r>
              <a:rPr lang="en-US" sz="2000" b="1" dirty="0" err="1">
                <a:solidFill>
                  <a:srgbClr val="FF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i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; //</a:t>
            </a:r>
            <a:r>
              <a:rPr lang="en-US" sz="2000" b="1" dirty="0" err="1">
                <a:solidFill>
                  <a:srgbClr val="FF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ri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este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alt </a:t>
            </a:r>
            <a:r>
              <a:rPr lang="en-US" sz="2000" b="1" dirty="0" err="1">
                <a:solidFill>
                  <a:srgbClr val="FF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nume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pentru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variabila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I</a:t>
            </a:r>
            <a:endParaRPr sz="200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endParaRPr lang="en-US" sz="2000" dirty="0">
              <a:solidFill>
                <a:srgbClr val="000000"/>
              </a:solidFill>
              <a:latin typeface="Arial" pitchFamily="34" charset="0"/>
              <a:ea typeface="Arial"/>
              <a:cs typeface="Arial" pitchFamily="34" charset="0"/>
              <a:sym typeface="Arial"/>
            </a:endParaRP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	pi=&amp;</a:t>
            </a:r>
            <a:r>
              <a:rPr lang="en-US" sz="20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;  // pi </a:t>
            </a:r>
            <a:r>
              <a:rPr lang="en-US" sz="20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este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adresa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variabilei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I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	*pi=3;   //in </a:t>
            </a:r>
            <a:r>
              <a:rPr lang="en-US" sz="20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zona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adresata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de pi se </a:t>
            </a:r>
            <a:r>
              <a:rPr lang="en-US" sz="20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afla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valoarea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3</a:t>
            </a:r>
            <a:endParaRPr sz="2000">
              <a:latin typeface="Arial" pitchFamily="34" charset="0"/>
              <a:cs typeface="Arial" pitchFamily="34" charset="0"/>
            </a:endParaRPr>
          </a:p>
        </p:txBody>
      </p:sp>
      <p:sp>
        <p:nvSpPr>
          <p:cNvPr id="526" name="Google Shape;526;p39"/>
          <p:cNvSpPr txBox="1"/>
          <p:nvPr/>
        </p:nvSpPr>
        <p:spPr>
          <a:xfrm>
            <a:off x="426706" y="5048214"/>
            <a:ext cx="8421120" cy="5864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</a:pPr>
            <a:r>
              <a:rPr lang="en-US" sz="2000" b="1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 sz="2000" b="1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2000" b="1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putea</a:t>
            </a:r>
            <a:r>
              <a:rPr lang="en-US" sz="2000" b="1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fi </a:t>
            </a:r>
            <a:r>
              <a:rPr lang="en-US" sz="2000" b="1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folosită</a:t>
            </a:r>
            <a:r>
              <a:rPr lang="en-US" sz="2000" b="1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o </a:t>
            </a:r>
            <a:r>
              <a:rPr lang="en-US" sz="2000" b="1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referinţă</a:t>
            </a:r>
            <a:r>
              <a:rPr lang="en-US" sz="2000" b="1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trebuie</a:t>
            </a:r>
            <a:r>
              <a:rPr lang="en-US" sz="2000" b="1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iniţializată</a:t>
            </a:r>
            <a:r>
              <a:rPr lang="en-US" sz="2000" b="1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en-US" sz="2000" b="1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momentul</a:t>
            </a:r>
            <a:r>
              <a:rPr lang="en-US" sz="2000" b="1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declararii</a:t>
            </a:r>
            <a:r>
              <a:rPr lang="en-US" sz="2000" b="1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b="1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devenind</a:t>
            </a:r>
            <a:r>
              <a:rPr lang="en-US" sz="2000" b="1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un alias (un alt </a:t>
            </a:r>
            <a:r>
              <a:rPr lang="en-US" sz="2000" b="1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nume</a:t>
            </a:r>
            <a:r>
              <a:rPr lang="en-US" sz="2000" b="1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) al </a:t>
            </a:r>
            <a:r>
              <a:rPr lang="en-US" sz="2000" b="1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obiectului</a:t>
            </a:r>
            <a:r>
              <a:rPr lang="en-US" sz="2000" b="1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cu care a </a:t>
            </a:r>
            <a:r>
              <a:rPr lang="en-US" sz="2000" b="1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fost</a:t>
            </a:r>
            <a:r>
              <a:rPr lang="en-US" sz="2000" b="1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iniţializată</a:t>
            </a:r>
            <a:r>
              <a:rPr lang="en-US" sz="2000" b="1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000" dirty="0">
              <a:solidFill>
                <a:schemeClr val="accent2"/>
              </a:solidFill>
            </a:endParaRPr>
          </a:p>
        </p:txBody>
      </p:sp>
      <p:sp>
        <p:nvSpPr>
          <p:cNvPr id="7" name="Google Shape;471;p35"/>
          <p:cNvSpPr txBox="1"/>
          <p:nvPr/>
        </p:nvSpPr>
        <p:spPr>
          <a:xfrm>
            <a:off x="2225760" y="257850"/>
            <a:ext cx="48768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1036815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Scurta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recapitulare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C++</a:t>
            </a:r>
            <a:endParaRPr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Google Shape;281;p39"/>
          <p:cNvSpPr>
            <a:spLocks noChangeArrowheads="1"/>
          </p:cNvSpPr>
          <p:nvPr/>
        </p:nvSpPr>
        <p:spPr bwMode="auto">
          <a:xfrm>
            <a:off x="228600" y="1219200"/>
            <a:ext cx="3174999" cy="414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1631" tIns="40816" rIns="81631" bIns="40816"/>
          <a:lstStyle/>
          <a:p>
            <a:pPr algn="ctr">
              <a:lnSpc>
                <a:spcPct val="150000"/>
              </a:lnSpc>
            </a:pPr>
            <a:r>
              <a:rPr lang="en-US" b="1" dirty="0" err="1">
                <a:latin typeface="Arial" pitchFamily="34" charset="0"/>
                <a:cs typeface="Arial" pitchFamily="34" charset="0"/>
                <a:sym typeface="Arial" pitchFamily="34" charset="0"/>
              </a:rPr>
              <a:t>Tipul</a:t>
            </a:r>
            <a:r>
              <a:rPr lang="en-US" b="1" dirty="0">
                <a:latin typeface="Arial" pitchFamily="34" charset="0"/>
                <a:cs typeface="Arial" pitchFamily="34" charset="0"/>
                <a:sym typeface="Arial" pitchFamily="34" charset="0"/>
              </a:rPr>
              <a:t> </a:t>
            </a:r>
            <a:r>
              <a:rPr lang="en-US" b="1" dirty="0" err="1">
                <a:latin typeface="Arial" pitchFamily="34" charset="0"/>
                <a:cs typeface="Arial" pitchFamily="34" charset="0"/>
                <a:sym typeface="Arial" pitchFamily="34" charset="0"/>
              </a:rPr>
              <a:t>referinta</a:t>
            </a:r>
            <a:endParaRPr lang="en-US" dirty="0"/>
          </a:p>
        </p:txBody>
      </p:sp>
      <p:sp>
        <p:nvSpPr>
          <p:cNvPr id="39941" name="Google Shape;282;p39"/>
          <p:cNvSpPr txBox="1">
            <a:spLocks noChangeArrowheads="1"/>
          </p:cNvSpPr>
          <p:nvPr/>
        </p:nvSpPr>
        <p:spPr bwMode="auto">
          <a:xfrm>
            <a:off x="497665" y="1868292"/>
            <a:ext cx="8432639" cy="40753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923" tIns="82923" rIns="82923" bIns="82923"/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 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int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a = 20;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 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int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&amp; ref = a;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 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cout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&lt;&lt;a&lt;&lt;" "&lt;&lt;ref&lt;&lt;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endl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; // 20 20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  </a:t>
            </a:r>
          </a:p>
          <a:p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ref++;</a:t>
            </a: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 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cout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&lt;&lt;a&lt;&lt;" "&lt;&lt;ref&lt;&lt;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endl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; // 21 21 </a:t>
            </a: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Obs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spre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deosebire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 de </a:t>
            </a: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pointeri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 care la </a:t>
            </a: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incrementare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trec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 la un alt </a:t>
            </a: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obiect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 de </a:t>
            </a: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acelasi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 tip, </a:t>
            </a: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incrementarea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referintei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implica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, de </a:t>
            </a: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fapt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incrementarea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valorii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referite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7" name="Google Shape;471;p35"/>
          <p:cNvSpPr txBox="1"/>
          <p:nvPr/>
        </p:nvSpPr>
        <p:spPr>
          <a:xfrm>
            <a:off x="2079812" y="76200"/>
            <a:ext cx="48768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1036815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Scurta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recapitulare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C++</a:t>
            </a:r>
            <a:endParaRPr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5" name="Google Shape;295;p40"/>
          <p:cNvSpPr txBox="1">
            <a:spLocks noChangeArrowheads="1"/>
          </p:cNvSpPr>
          <p:nvPr/>
        </p:nvSpPr>
        <p:spPr bwMode="auto">
          <a:xfrm>
            <a:off x="221185" y="1966414"/>
            <a:ext cx="8584704" cy="39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923" tIns="82923" rIns="82923" bIns="82923"/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 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int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a = 20;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 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int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&amp; ref = a;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 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cout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&lt;&lt;a&lt;&lt;" "&lt;&lt;ref&lt;&lt;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endl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; // 20 20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  </a:t>
            </a:r>
          </a:p>
          <a:p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int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b = 50;</a:t>
            </a:r>
          </a:p>
          <a:p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ref = b;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  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  ref--;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 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cout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&lt;&lt;a&lt;&lt;" "&lt;&lt;ref&lt;&lt;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endl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; // 49 49</a:t>
            </a:r>
          </a:p>
          <a:p>
            <a:endParaRPr lang="en-US" sz="20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Obs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: in </a:t>
            </a: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afara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initializarii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, nu </a:t>
            </a: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puteti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modifica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obiectul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spre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 care </a:t>
            </a: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indica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referinta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6" name="Google Shape;281;p39"/>
          <p:cNvSpPr>
            <a:spLocks noChangeArrowheads="1"/>
          </p:cNvSpPr>
          <p:nvPr/>
        </p:nvSpPr>
        <p:spPr bwMode="auto">
          <a:xfrm>
            <a:off x="76200" y="1371600"/>
            <a:ext cx="3708399" cy="414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1631" tIns="40816" rIns="81631" bIns="40816"/>
          <a:lstStyle/>
          <a:p>
            <a:pPr algn="ctr">
              <a:lnSpc>
                <a:spcPct val="150000"/>
              </a:lnSpc>
            </a:pPr>
            <a:r>
              <a:rPr lang="en-US" b="1" dirty="0" err="1">
                <a:latin typeface="Arial" pitchFamily="34" charset="0"/>
                <a:cs typeface="Arial" pitchFamily="34" charset="0"/>
                <a:sym typeface="Arial" pitchFamily="34" charset="0"/>
              </a:rPr>
              <a:t>Tipul</a:t>
            </a:r>
            <a:r>
              <a:rPr lang="en-US" b="1" dirty="0">
                <a:latin typeface="Arial" pitchFamily="34" charset="0"/>
                <a:cs typeface="Arial" pitchFamily="34" charset="0"/>
                <a:sym typeface="Arial" pitchFamily="34" charset="0"/>
              </a:rPr>
              <a:t> </a:t>
            </a:r>
            <a:r>
              <a:rPr lang="en-US" b="1" dirty="0" err="1">
                <a:latin typeface="Arial" pitchFamily="34" charset="0"/>
                <a:cs typeface="Arial" pitchFamily="34" charset="0"/>
                <a:sym typeface="Arial" pitchFamily="34" charset="0"/>
              </a:rPr>
              <a:t>referinta</a:t>
            </a:r>
            <a:endParaRPr lang="en-US" dirty="0"/>
          </a:p>
        </p:txBody>
      </p:sp>
      <p:sp>
        <p:nvSpPr>
          <p:cNvPr id="7" name="Google Shape;471;p35"/>
          <p:cNvSpPr txBox="1"/>
          <p:nvPr/>
        </p:nvSpPr>
        <p:spPr>
          <a:xfrm>
            <a:off x="2133600" y="152400"/>
            <a:ext cx="48768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1036815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Scurta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recapitulare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C++</a:t>
            </a:r>
            <a:endParaRPr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81;p39"/>
          <p:cNvSpPr>
            <a:spLocks noChangeArrowheads="1"/>
          </p:cNvSpPr>
          <p:nvPr/>
        </p:nvSpPr>
        <p:spPr bwMode="auto">
          <a:xfrm>
            <a:off x="254001" y="747375"/>
            <a:ext cx="3403599" cy="414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1631" tIns="40816" rIns="81631" bIns="40816"/>
          <a:lstStyle/>
          <a:p>
            <a:pPr algn="ctr">
              <a:lnSpc>
                <a:spcPct val="150000"/>
              </a:lnSpc>
            </a:pPr>
            <a:r>
              <a:rPr lang="en-US" b="1" dirty="0" err="1">
                <a:latin typeface="Arial" pitchFamily="34" charset="0"/>
                <a:cs typeface="Arial" pitchFamily="34" charset="0"/>
                <a:sym typeface="Arial" pitchFamily="34" charset="0"/>
              </a:rPr>
              <a:t>Tipul</a:t>
            </a:r>
            <a:r>
              <a:rPr lang="en-US" b="1" dirty="0">
                <a:latin typeface="Arial" pitchFamily="34" charset="0"/>
                <a:cs typeface="Arial" pitchFamily="34" charset="0"/>
                <a:sym typeface="Arial" pitchFamily="34" charset="0"/>
              </a:rPr>
              <a:t> </a:t>
            </a:r>
            <a:r>
              <a:rPr lang="en-US" b="1" dirty="0" err="1">
                <a:latin typeface="Arial" pitchFamily="34" charset="0"/>
                <a:cs typeface="Arial" pitchFamily="34" charset="0"/>
                <a:sym typeface="Arial" pitchFamily="34" charset="0"/>
              </a:rPr>
              <a:t>referinta</a:t>
            </a:r>
            <a:endParaRPr lang="en-US" dirty="0"/>
          </a:p>
        </p:txBody>
      </p:sp>
      <p:sp>
        <p:nvSpPr>
          <p:cNvPr id="7" name="Google Shape;471;p35"/>
          <p:cNvSpPr txBox="1"/>
          <p:nvPr/>
        </p:nvSpPr>
        <p:spPr>
          <a:xfrm>
            <a:off x="2066365" y="152400"/>
            <a:ext cx="48768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1036815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Scurta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recapitulare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C++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8" name="Google Shape;306;p41"/>
          <p:cNvSpPr/>
          <p:nvPr/>
        </p:nvSpPr>
        <p:spPr>
          <a:xfrm>
            <a:off x="370121" y="1371600"/>
            <a:ext cx="8269287" cy="4746898"/>
          </a:xfrm>
          <a:prstGeom prst="rect">
            <a:avLst/>
          </a:prstGeom>
          <a:noFill/>
          <a:ln>
            <a:noFill/>
          </a:ln>
        </p:spPr>
        <p:txBody>
          <a:bodyPr spcFirstLastPara="1" lIns="81631" tIns="40816" rIns="81631" bIns="40816" anchor="t"/>
          <a:lstStyle/>
          <a:p>
            <a:pPr>
              <a:lnSpc>
                <a:spcPct val="104000"/>
              </a:lnSpc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o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variabilă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tip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referință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trebuie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să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fie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inițializată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când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este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definită</a:t>
            </a:r>
            <a:endParaRPr lang="en-US" dirty="0" err="1">
              <a:cs typeface="Times New Roman" pitchFamily="18" charset="0"/>
            </a:endParaRPr>
          </a:p>
          <a:p>
            <a:pPr>
              <a:lnSpc>
                <a:spcPct val="104000"/>
              </a:lnSpc>
              <a:buFont typeface="Arial" pitchFamily="34" charset="0"/>
              <a:buChar char="•"/>
              <a:defRPr/>
            </a:pPr>
            <a:endParaRPr lang="en-US"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04000"/>
              </a:lnSpc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membrii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unei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clase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tip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referință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trebuie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inițializați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în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constructori</a:t>
            </a:r>
            <a:endParaRPr lang="en-US" dirty="0" err="1">
              <a:solidFill>
                <a:srgbClr val="000000"/>
              </a:solidFill>
              <a:ea typeface="Arial"/>
              <a:cs typeface="Times New Roman" pitchFamily="18" charset="0"/>
              <a:sym typeface="Arial"/>
            </a:endParaRPr>
          </a:p>
          <a:p>
            <a:pPr>
              <a:lnSpc>
                <a:spcPct val="104000"/>
              </a:lnSpc>
              <a:buFont typeface="Arial" pitchFamily="34" charset="0"/>
              <a:buChar char="•"/>
              <a:defRPr/>
            </a:pPr>
            <a:endParaRPr lang="en-US"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04000"/>
              </a:lnSpc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un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parametru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funcție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tip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referință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inițializează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implicit la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apel</a:t>
            </a:r>
            <a:endParaRPr lang="en-US" dirty="0" err="1">
              <a:solidFill>
                <a:srgbClr val="000000"/>
              </a:solidFill>
              <a:ea typeface="Arial"/>
              <a:cs typeface="Times New Roman" pitchFamily="18" charset="0"/>
            </a:endParaRPr>
          </a:p>
          <a:p>
            <a:pPr>
              <a:lnSpc>
                <a:spcPct val="104000"/>
              </a:lnSpc>
              <a:buFont typeface="Arial" pitchFamily="34" charset="0"/>
              <a:buChar char="•"/>
              <a:defRPr/>
            </a:pPr>
            <a:endParaRPr lang="en-US" sz="200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4000"/>
              </a:lnSpc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 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referințele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nule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sunt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interzise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-un program C++ valid.</a:t>
            </a:r>
            <a:endParaRPr lang="en-US" sz="2000" dirty="0">
              <a:latin typeface="Arial"/>
              <a:cs typeface="Arial"/>
            </a:endParaRPr>
          </a:p>
          <a:p>
            <a:pPr lvl="1">
              <a:lnSpc>
                <a:spcPct val="104000"/>
              </a:lnSpc>
              <a:buFont typeface="Arial" pitchFamily="34" charset="0"/>
              <a:buChar char="•"/>
              <a:defRPr/>
            </a:pPr>
            <a:r>
              <a:rPr lang="en-US" sz="2000" dirty="0">
                <a:latin typeface="Arial"/>
                <a:cs typeface="Arial"/>
              </a:rPr>
              <a:t> </a:t>
            </a:r>
            <a:r>
              <a:rPr lang="en-US" sz="2000" dirty="0" err="1">
                <a:latin typeface="Arial"/>
                <a:cs typeface="Arial"/>
              </a:rPr>
              <a:t>putem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întoarce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referințe</a:t>
            </a:r>
            <a:r>
              <a:rPr lang="en-US" sz="2000" dirty="0">
                <a:latin typeface="Arial"/>
                <a:cs typeface="Arial"/>
              </a:rPr>
              <a:t> dangling (warning la </a:t>
            </a:r>
            <a:r>
              <a:rPr lang="en-US" sz="2000" dirty="0" err="1">
                <a:latin typeface="Arial"/>
                <a:cs typeface="Arial"/>
              </a:rPr>
              <a:t>compilare</a:t>
            </a:r>
            <a:r>
              <a:rPr lang="en-US" sz="2000" dirty="0">
                <a:latin typeface="Arial"/>
                <a:cs typeface="Arial"/>
              </a:rPr>
              <a:t>); // dangling – un pointer/</a:t>
            </a:r>
            <a:r>
              <a:rPr lang="en-US" sz="2000" dirty="0" err="1">
                <a:latin typeface="Arial"/>
                <a:cs typeface="Arial"/>
              </a:rPr>
              <a:t>referinta</a:t>
            </a:r>
            <a:r>
              <a:rPr lang="en-US" sz="2000" dirty="0">
                <a:latin typeface="Arial"/>
                <a:cs typeface="Arial"/>
              </a:rPr>
              <a:t> care “</a:t>
            </a:r>
            <a:r>
              <a:rPr lang="en-US" sz="2000" dirty="0" err="1">
                <a:latin typeface="Arial"/>
                <a:cs typeface="Arial"/>
              </a:rPr>
              <a:t>arata</a:t>
            </a:r>
            <a:r>
              <a:rPr lang="en-US" sz="2000" dirty="0">
                <a:latin typeface="Arial"/>
                <a:cs typeface="Arial"/>
              </a:rPr>
              <a:t>” </a:t>
            </a:r>
            <a:r>
              <a:rPr lang="en-US" sz="2000" dirty="0" err="1">
                <a:latin typeface="Arial"/>
                <a:cs typeface="Arial"/>
              </a:rPr>
              <a:t>catre</a:t>
            </a:r>
            <a:r>
              <a:rPr lang="en-US" sz="2000" dirty="0">
                <a:latin typeface="Arial"/>
                <a:cs typeface="Arial"/>
              </a:rPr>
              <a:t> o zona de </a:t>
            </a:r>
            <a:r>
              <a:rPr lang="en-US" sz="2000" dirty="0" err="1">
                <a:latin typeface="Arial"/>
                <a:cs typeface="Arial"/>
              </a:rPr>
              <a:t>memorie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deja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dezalocata</a:t>
            </a:r>
            <a:endParaRPr lang="en-US" sz="2000" dirty="0">
              <a:latin typeface="Arial"/>
              <a:cs typeface="Arial"/>
            </a:endParaRPr>
          </a:p>
          <a:p>
            <a:pPr>
              <a:lnSpc>
                <a:spcPct val="104000"/>
              </a:lnSpc>
              <a:buFont typeface="Arial" pitchFamily="34" charset="0"/>
              <a:buChar char="•"/>
              <a:defRPr/>
            </a:pPr>
            <a:endParaRPr lang="en-US" sz="2000" dirty="0">
              <a:latin typeface="Arial"/>
              <a:cs typeface="Arial"/>
            </a:endParaRPr>
          </a:p>
          <a:p>
            <a:pPr>
              <a:lnSpc>
                <a:spcPct val="104000"/>
              </a:lnSpc>
              <a:buFont typeface="Arial" pitchFamily="34" charset="0"/>
              <a:buChar char="•"/>
              <a:defRPr/>
            </a:pPr>
            <a:r>
              <a:rPr lang="en-US" sz="2000" dirty="0">
                <a:latin typeface="Arial"/>
                <a:cs typeface="Arial"/>
              </a:rPr>
              <a:t> nu se </a:t>
            </a:r>
            <a:r>
              <a:rPr lang="en-US" sz="2000" dirty="0" err="1">
                <a:latin typeface="Arial"/>
                <a:cs typeface="Arial"/>
              </a:rPr>
              <a:t>poate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obține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adresa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unei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referințe</a:t>
            </a:r>
            <a:r>
              <a:rPr lang="en-US" sz="2000" dirty="0">
                <a:latin typeface="Arial"/>
                <a:cs typeface="Arial"/>
              </a:rPr>
              <a:t> (&amp;ref ne </a:t>
            </a:r>
            <a:r>
              <a:rPr lang="en-US" sz="2000" dirty="0" err="1">
                <a:latin typeface="Arial"/>
                <a:cs typeface="Arial"/>
              </a:rPr>
              <a:t>dă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adresa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variabilei</a:t>
            </a:r>
            <a:r>
              <a:rPr lang="en-US" sz="2000" dirty="0">
                <a:latin typeface="Arial"/>
                <a:cs typeface="Arial"/>
              </a:rPr>
              <a:t>)</a:t>
            </a:r>
            <a:endParaRPr lang="en-US" dirty="0">
              <a:solidFill>
                <a:srgbClr val="3333CC"/>
              </a:solidFill>
              <a:cs typeface="Times New Roman" pitchFamily="18" charset="0"/>
            </a:endParaRPr>
          </a:p>
          <a:p>
            <a:pPr lvl="1">
              <a:lnSpc>
                <a:spcPct val="104000"/>
              </a:lnSpc>
              <a:buFont typeface="Arial" pitchFamily="34" charset="0"/>
              <a:buChar char="•"/>
              <a:defRPr/>
            </a:pPr>
            <a:r>
              <a:rPr lang="en-US" sz="2000" dirty="0">
                <a:latin typeface="Arial"/>
                <a:cs typeface="Arial"/>
              </a:rPr>
              <a:t> intern sunt tot </a:t>
            </a:r>
            <a:r>
              <a:rPr lang="en-US" sz="2000" dirty="0" err="1">
                <a:latin typeface="Arial"/>
                <a:cs typeface="Arial"/>
              </a:rPr>
              <a:t>pointeri</a:t>
            </a:r>
            <a:r>
              <a:rPr lang="en-US" sz="2000" dirty="0">
                <a:latin typeface="Arial"/>
                <a:cs typeface="Arial"/>
              </a:rPr>
              <a:t>, </a:t>
            </a:r>
            <a:r>
              <a:rPr lang="en-US" sz="2000" dirty="0" err="1">
                <a:latin typeface="Arial"/>
                <a:cs typeface="Arial"/>
              </a:rPr>
              <a:t>dar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așa</a:t>
            </a:r>
            <a:r>
              <a:rPr lang="en-US" sz="2000" dirty="0">
                <a:latin typeface="Arial"/>
                <a:cs typeface="Arial"/>
              </a:rPr>
              <a:t> e </a:t>
            </a:r>
            <a:r>
              <a:rPr lang="en-US" sz="2000" dirty="0" err="1">
                <a:latin typeface="Arial"/>
                <a:cs typeface="Arial"/>
              </a:rPr>
              <a:t>mai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greu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să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îi</a:t>
            </a:r>
            <a:r>
              <a:rPr lang="en-US" sz="2000" dirty="0">
                <a:latin typeface="Arial"/>
                <a:cs typeface="Arial"/>
              </a:rPr>
              <a:t> "</a:t>
            </a:r>
            <a:r>
              <a:rPr lang="en-US" sz="2000" dirty="0" err="1">
                <a:latin typeface="Arial"/>
                <a:cs typeface="Arial"/>
              </a:rPr>
              <a:t>stricăm</a:t>
            </a:r>
            <a:r>
              <a:rPr lang="en-US" sz="2000" dirty="0">
                <a:latin typeface="Arial"/>
                <a:cs typeface="Arial"/>
              </a:rPr>
              <a:t>"</a:t>
            </a:r>
          </a:p>
          <a:p>
            <a:pPr>
              <a:lnSpc>
                <a:spcPct val="104000"/>
              </a:lnSpc>
              <a:buFont typeface="Arial" pitchFamily="34" charset="0"/>
              <a:buChar char="•"/>
              <a:defRPr/>
            </a:pPr>
            <a:endParaRPr lang="en-US" sz="2000" dirty="0">
              <a:latin typeface="Arial"/>
              <a:cs typeface="Arial"/>
            </a:endParaRPr>
          </a:p>
          <a:p>
            <a:pPr>
              <a:lnSpc>
                <a:spcPct val="104000"/>
              </a:lnSpc>
              <a:buFont typeface="Arial" pitchFamily="34" charset="0"/>
              <a:buChar char="•"/>
              <a:defRPr/>
            </a:pPr>
            <a:r>
              <a:rPr lang="en-US" sz="2000" dirty="0">
                <a:latin typeface="Arial"/>
                <a:cs typeface="Arial"/>
              </a:rPr>
              <a:t> se pot </a:t>
            </a:r>
            <a:r>
              <a:rPr lang="en-US" sz="2000" dirty="0" err="1">
                <a:latin typeface="Arial"/>
                <a:cs typeface="Arial"/>
              </a:rPr>
              <a:t>crea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tablouri</a:t>
            </a:r>
            <a:r>
              <a:rPr lang="en-US" sz="2000" dirty="0">
                <a:latin typeface="Arial"/>
                <a:cs typeface="Arial"/>
              </a:rPr>
              <a:t> de </a:t>
            </a:r>
            <a:r>
              <a:rPr lang="en-US" sz="2000" dirty="0" err="1">
                <a:latin typeface="Arial"/>
                <a:cs typeface="Arial"/>
              </a:rPr>
              <a:t>referințe</a:t>
            </a:r>
            <a:r>
              <a:rPr lang="en-US" sz="2000" dirty="0">
                <a:latin typeface="Arial"/>
                <a:cs typeface="Arial"/>
              </a:rPr>
              <a:t> cu 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std::reference_wrapper</a:t>
            </a:r>
            <a:endParaRPr lang="en-US" dirty="0">
              <a:solidFill>
                <a:schemeClr val="accent2"/>
              </a:solidFill>
              <a:cs typeface="Times New Roman" pitchFamily="18" charset="0"/>
            </a:endParaRPr>
          </a:p>
          <a:p>
            <a:pPr>
              <a:lnSpc>
                <a:spcPct val="104000"/>
              </a:lnSpc>
              <a:buFont typeface="Arial" pitchFamily="34" charset="0"/>
              <a:buChar char="•"/>
              <a:defRPr/>
            </a:pP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8"/>
          <p:cNvSpPr txBox="1">
            <a:spLocks noGrp="1"/>
          </p:cNvSpPr>
          <p:nvPr>
            <p:ph type="title"/>
          </p:nvPr>
        </p:nvSpPr>
        <p:spPr>
          <a:xfrm>
            <a:off x="1039680" y="609600"/>
            <a:ext cx="7773120" cy="1143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3" tIns="45695" rIns="91413" bIns="4569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</a:pP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întoarcere de referințe</a:t>
            </a:r>
            <a:endParaRPr lang="ro-RO" dirty="0"/>
          </a:p>
        </p:txBody>
      </p:sp>
      <p:sp>
        <p:nvSpPr>
          <p:cNvPr id="346" name="Google Shape;346;p48"/>
          <p:cNvSpPr txBox="1">
            <a:spLocks noGrp="1"/>
          </p:cNvSpPr>
          <p:nvPr>
            <p:ph type="body" idx="1"/>
          </p:nvPr>
        </p:nvSpPr>
        <p:spPr>
          <a:xfrm>
            <a:off x="4724400" y="1600200"/>
            <a:ext cx="4039200" cy="4114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3" tIns="45695" rIns="91413" bIns="45695" anchor="t" anchorCtr="0">
            <a:noAutofit/>
          </a:bodyPr>
          <a:lstStyle/>
          <a:p>
            <a:pPr marL="342725" indent="-342725">
              <a:spcBef>
                <a:spcPts val="0"/>
              </a:spcBef>
              <a:buSzPts val="3100"/>
            </a:pPr>
            <a:r>
              <a:rPr lang="ro-RO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putem face atribuiri c</a:t>
            </a:r>
            <a:r>
              <a:rPr lang="ro-RO" sz="2900" dirty="0"/>
              <a:t>ă</a:t>
            </a:r>
            <a:r>
              <a:rPr lang="ro-RO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 apel de funcție</a:t>
            </a:r>
            <a:endParaRPr lang="ro-RO" dirty="0"/>
          </a:p>
          <a:p>
            <a:pPr marL="342725" indent="-342725">
              <a:spcBef>
                <a:spcPts val="562"/>
              </a:spcBef>
              <a:buSzPts val="3100"/>
            </a:pPr>
            <a:r>
              <a:rPr lang="ro-RO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</a:t>
            </a:r>
            <a:r>
              <a:rPr lang="ro-RO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(5) este un element din s care se schimb</a:t>
            </a:r>
            <a:r>
              <a:rPr lang="ro-RO" sz="2900" dirty="0"/>
              <a:t>ă</a:t>
            </a:r>
            <a:endParaRPr lang="ro-RO" dirty="0"/>
          </a:p>
          <a:p>
            <a:pPr marL="342725" indent="-342725">
              <a:spcBef>
                <a:spcPts val="562"/>
              </a:spcBef>
              <a:buSzPts val="3100"/>
            </a:pPr>
            <a:r>
              <a:rPr lang="ro-RO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nevoie de atenție ca obiectul referit s</a:t>
            </a:r>
            <a:r>
              <a:rPr lang="ro-RO" sz="2900" dirty="0"/>
              <a:t>ă</a:t>
            </a:r>
            <a:r>
              <a:rPr lang="ro-RO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nu iasă din scopul de vizibilitate</a:t>
            </a:r>
            <a:endParaRPr lang="ro-RO" dirty="0"/>
          </a:p>
        </p:txBody>
      </p:sp>
      <p:grpSp>
        <p:nvGrpSpPr>
          <p:cNvPr id="349" name="Google Shape;349;p48"/>
          <p:cNvGrpSpPr/>
          <p:nvPr/>
        </p:nvGrpSpPr>
        <p:grpSpPr>
          <a:xfrm>
            <a:off x="304800" y="1600200"/>
            <a:ext cx="4570560" cy="4293443"/>
            <a:chOff x="336020" y="1763307"/>
            <a:chExt cx="5038725" cy="4734172"/>
          </a:xfrm>
        </p:grpSpPr>
        <p:sp>
          <p:nvSpPr>
            <p:cNvPr id="350" name="Google Shape;350;p48"/>
            <p:cNvSpPr txBox="1"/>
            <p:nvPr/>
          </p:nvSpPr>
          <p:spPr>
            <a:xfrm>
              <a:off x="336020" y="1763307"/>
              <a:ext cx="5038725" cy="47341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buClr>
                  <a:srgbClr val="004A43"/>
                </a:buClr>
                <a:buSzPts val="1400"/>
              </a:pPr>
              <a:r>
                <a:rPr lang="en-US" sz="1300" dirty="0">
                  <a:solidFill>
                    <a:srgbClr val="004A4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#include </a:t>
              </a:r>
              <a:r>
                <a:rPr lang="en-US" sz="1300" dirty="0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</a:t>
              </a:r>
              <a:r>
                <a:rPr lang="en-US" sz="1300" dirty="0" err="1">
                  <a:solidFill>
                    <a:srgbClr val="40015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iostream</a:t>
              </a:r>
              <a:r>
                <a:rPr lang="en-US" sz="1300" dirty="0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&gt;</a:t>
              </a:r>
              <a:endParaRPr sz="13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  <a:buClr>
                  <a:srgbClr val="800000"/>
                </a:buClr>
                <a:buSzPts val="1400"/>
              </a:pPr>
              <a:r>
                <a:rPr lang="en-US" sz="1300" b="1" dirty="0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using</a:t>
              </a:r>
              <a:r>
                <a:rPr lang="en-US" sz="1300" b="1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300" b="1" dirty="0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namespace</a:t>
              </a:r>
              <a:r>
                <a:rPr lang="en-US" sz="1300" b="1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300" b="1" dirty="0" err="1">
                  <a:solidFill>
                    <a:srgbClr val="66661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std</a:t>
              </a:r>
              <a:r>
                <a:rPr lang="en-US" sz="1300" b="1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sz="13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</a:pPr>
              <a:endParaRPr sz="13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  <a:buClr>
                  <a:srgbClr val="800000"/>
                </a:buClr>
                <a:buSzPts val="1400"/>
              </a:pPr>
              <a:r>
                <a:rPr lang="en-US" sz="1300" b="1" dirty="0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char</a:t>
              </a:r>
              <a:r>
                <a:rPr lang="en-US" sz="1300" b="1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300" b="1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&amp;</a:t>
              </a:r>
              <a:r>
                <a:rPr lang="en-US" sz="1300" b="1" dirty="0">
                  <a:solidFill>
                    <a:srgbClr val="603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replace</a:t>
              </a:r>
              <a:r>
                <a:rPr lang="en-US" sz="1300" b="1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lang="en-US" sz="1300" b="1" dirty="0" err="1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lang="en-US" sz="1300" b="1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300" b="1" dirty="0" err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</a:t>
              </a:r>
              <a:r>
                <a:rPr lang="en-US" sz="1300" b="1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r>
                <a:rPr lang="en-US" sz="1300" b="1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r>
                <a:rPr lang="en-US" sz="1300" b="1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300" b="1" dirty="0">
                  <a:solidFill>
                    <a:srgbClr val="6969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return a reference</a:t>
              </a:r>
              <a:endParaRPr sz="13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</a:pPr>
              <a:endParaRPr sz="13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  <a:buClr>
                  <a:srgbClr val="800000"/>
                </a:buClr>
                <a:buSzPts val="1400"/>
              </a:pPr>
              <a:r>
                <a:rPr lang="en-US" sz="1300" b="1" dirty="0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char</a:t>
              </a:r>
              <a:r>
                <a:rPr lang="en-US" sz="1300" b="1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s</a:t>
              </a:r>
              <a:r>
                <a:rPr lang="en-US" sz="1300" b="1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</a:t>
              </a:r>
              <a:r>
                <a:rPr lang="en-US" sz="1300" b="1" dirty="0">
                  <a:solidFill>
                    <a:srgbClr val="008C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80</a:t>
              </a:r>
              <a:r>
                <a:rPr lang="en-US" sz="1300" b="1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]</a:t>
              </a:r>
              <a:r>
                <a:rPr lang="en-US" sz="1300" b="1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300" b="1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lang="en-US" sz="1300" b="1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300" b="1" dirty="0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</a:t>
              </a:r>
              <a:r>
                <a:rPr lang="en-US" sz="1300" b="1" dirty="0">
                  <a:solidFill>
                    <a:srgbClr val="0000E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Hello There</a:t>
              </a:r>
              <a:r>
                <a:rPr lang="en-US" sz="1300" b="1" dirty="0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</a:t>
              </a:r>
              <a:r>
                <a:rPr lang="en-US" sz="1300" b="1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sz="13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</a:pPr>
              <a:endParaRPr sz="13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  <a:buClr>
                  <a:srgbClr val="800000"/>
                </a:buClr>
                <a:buSzPts val="1400"/>
              </a:pPr>
              <a:r>
                <a:rPr lang="en-US" sz="1300" b="1" dirty="0" err="1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lang="en-US" sz="1300" b="1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300" b="1" dirty="0">
                  <a:solidFill>
                    <a:srgbClr val="4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main</a:t>
              </a:r>
              <a:r>
                <a:rPr lang="en-US" sz="1300" b="1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()</a:t>
              </a:r>
              <a:endParaRPr sz="13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  <a:buClr>
                  <a:srgbClr val="800080"/>
                </a:buClr>
                <a:buSzPts val="1400"/>
              </a:pPr>
              <a:r>
                <a:rPr lang="en-US" sz="1300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dirty="0"/>
            </a:p>
            <a:p>
              <a:pPr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</a:pPr>
              <a:r>
                <a:rPr lang="en-US" sz="1300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en-US" sz="1300" dirty="0">
                  <a:solidFill>
                    <a:srgbClr val="603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replace</a:t>
              </a:r>
              <a:r>
                <a:rPr lang="en-US" sz="1300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lang="en-US" sz="1300" dirty="0">
                  <a:solidFill>
                    <a:srgbClr val="008C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5</a:t>
              </a:r>
              <a:r>
                <a:rPr lang="en-US" sz="1300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r>
                <a:rPr lang="en-US" sz="1300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300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lang="en-US" sz="1300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300" dirty="0">
                  <a:solidFill>
                    <a:srgbClr val="0000E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'X'</a:t>
              </a:r>
              <a:r>
                <a:rPr lang="en-US" sz="1300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r>
                <a:rPr lang="en-US" sz="1300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300" dirty="0">
                  <a:solidFill>
                    <a:srgbClr val="6969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assign X to space after Hello</a:t>
              </a:r>
              <a:endParaRPr dirty="0"/>
            </a:p>
            <a:p>
              <a:pPr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</a:pPr>
              <a:r>
                <a:rPr lang="en-US" sz="1300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en-US" sz="1300" dirty="0" err="1">
                  <a:solidFill>
                    <a:srgbClr val="603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cout</a:t>
              </a:r>
              <a:r>
                <a:rPr lang="en-US" sz="1300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300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&lt;&lt;</a:t>
              </a:r>
              <a:r>
                <a:rPr lang="en-US" sz="1300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s</a:t>
              </a:r>
              <a:r>
                <a:rPr lang="en-US" sz="1300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dirty="0"/>
            </a:p>
            <a:p>
              <a:pPr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</a:pPr>
              <a:r>
                <a:rPr lang="en-US" sz="1300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en-US" sz="1300" b="1" dirty="0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return</a:t>
              </a:r>
              <a:r>
                <a:rPr lang="en-US" sz="1300" b="1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300" b="1" dirty="0">
                  <a:solidFill>
                    <a:srgbClr val="008C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</a:t>
              </a:r>
              <a:r>
                <a:rPr lang="en-US" sz="1300" b="1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sz="13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  <a:buClr>
                  <a:srgbClr val="800080"/>
                </a:buClr>
                <a:buSzPts val="1400"/>
              </a:pPr>
              <a:r>
                <a:rPr lang="en-US" sz="1300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dirty="0"/>
            </a:p>
            <a:p>
              <a:pPr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</a:pPr>
              <a:endParaRPr sz="13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  <a:buClr>
                  <a:srgbClr val="800000"/>
                </a:buClr>
                <a:buSzPts val="1400"/>
              </a:pPr>
              <a:r>
                <a:rPr lang="en-US" sz="1300" b="1" dirty="0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char</a:t>
              </a:r>
              <a:r>
                <a:rPr lang="en-US" sz="1300" b="1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300" b="1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&amp;</a:t>
              </a:r>
              <a:r>
                <a:rPr lang="en-US" sz="1300" b="1" dirty="0">
                  <a:solidFill>
                    <a:srgbClr val="603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replace</a:t>
              </a:r>
              <a:r>
                <a:rPr lang="en-US" sz="1300" b="1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lang="en-US" sz="1300" b="1" dirty="0" err="1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lang="en-US" sz="1300" b="1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300" b="1" dirty="0" err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</a:t>
              </a:r>
              <a:r>
                <a:rPr lang="en-US" sz="1300" b="1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sz="13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  <a:buClr>
                  <a:srgbClr val="800080"/>
                </a:buClr>
                <a:buSzPts val="1400"/>
              </a:pPr>
              <a:r>
                <a:rPr lang="en-US" sz="1300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dirty="0"/>
            </a:p>
            <a:p>
              <a:pPr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</a:pPr>
              <a:r>
                <a:rPr lang="en-US" sz="1300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en-US" sz="1300" b="1" dirty="0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return</a:t>
              </a:r>
              <a:r>
                <a:rPr lang="en-US" sz="1300" b="1" dirty="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s</a:t>
              </a:r>
              <a:r>
                <a:rPr lang="en-US" sz="1300" b="1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</a:t>
              </a:r>
              <a:r>
                <a:rPr lang="en-US" sz="1300" b="1" dirty="0" err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</a:t>
              </a:r>
              <a:r>
                <a:rPr lang="en-US" sz="1300" b="1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]</a:t>
              </a:r>
              <a:r>
                <a:rPr lang="en-US" sz="1300" b="1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sz="13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  <a:buClr>
                  <a:srgbClr val="800080"/>
                </a:buClr>
                <a:buSzPts val="1400"/>
              </a:pPr>
              <a:r>
                <a:rPr lang="en-US" sz="1300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dirty="0"/>
            </a:p>
            <a:p>
              <a:pPr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</a:pPr>
              <a:endParaRPr sz="13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sz="13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51" name="Google Shape;351;p48"/>
            <p:cNvSpPr/>
            <p:nvPr/>
          </p:nvSpPr>
          <p:spPr>
            <a:xfrm>
              <a:off x="357919" y="2435483"/>
              <a:ext cx="2184929" cy="304893"/>
            </a:xfrm>
            <a:prstGeom prst="roundRect">
              <a:avLst>
                <a:gd name="adj" fmla="val 16667"/>
              </a:avLst>
            </a:prstGeom>
            <a:solidFill>
              <a:srgbClr val="FFC000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endParaRPr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Google Shape;471;p35"/>
          <p:cNvSpPr txBox="1"/>
          <p:nvPr/>
        </p:nvSpPr>
        <p:spPr>
          <a:xfrm>
            <a:off x="2057400" y="76200"/>
            <a:ext cx="48768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1036815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Scurta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recapitulare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C++</a:t>
            </a:r>
            <a:endParaRPr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99277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1"/>
          <p:cNvSpPr txBox="1"/>
          <p:nvPr/>
        </p:nvSpPr>
        <p:spPr>
          <a:xfrm>
            <a:off x="327843" y="767744"/>
            <a:ext cx="4575851" cy="498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Transmiterea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parametrilor</a:t>
            </a:r>
            <a:endParaRPr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</a:pPr>
            <a:endParaRPr sz="1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" name="Google Shape;320;p42"/>
          <p:cNvGraphicFramePr/>
          <p:nvPr>
            <p:extLst>
              <p:ext uri="{D42A27DB-BD31-4B8C-83A1-F6EECF244321}">
                <p14:modId xmlns:p14="http://schemas.microsoft.com/office/powerpoint/2010/main" val="1990245192"/>
              </p:ext>
            </p:extLst>
          </p:nvPr>
        </p:nvGraphicFramePr>
        <p:xfrm>
          <a:off x="762000" y="1371600"/>
          <a:ext cx="7921360" cy="473787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703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7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2226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  <a:endParaRPr sz="20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void f(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int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x)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    {   x = x *2;}</a:t>
                      </a:r>
                      <a:endParaRPr sz="20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20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void g(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int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*x)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    {  *x = *x + 30;}</a:t>
                      </a:r>
                      <a:endParaRPr sz="20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20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int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main() {</a:t>
                      </a:r>
                      <a:endParaRPr sz="20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int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x = 10;</a:t>
                      </a:r>
                      <a:endParaRPr sz="20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 f(x);</a:t>
                      </a:r>
                      <a:endParaRPr sz="20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printf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("x = %d\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n”,x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);</a:t>
                      </a:r>
                      <a:endParaRPr sz="20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 g(&amp;x);</a:t>
                      </a:r>
                      <a:endParaRPr sz="20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printf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("x = %d\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n“,x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);</a:t>
                      </a:r>
                      <a:endParaRPr sz="20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 return 0;</a:t>
                      </a:r>
                      <a:endParaRPr sz="20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}</a:t>
                      </a:r>
                      <a:endParaRPr sz="20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2930" marR="82930" marT="82939" marB="82939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C++</a:t>
                      </a:r>
                      <a:endParaRPr sz="20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void f(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int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x){   x = x *2;} //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prin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valoare</a:t>
                      </a:r>
                      <a:endParaRPr sz="20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void g(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int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*x){  *x = *x + 30;} //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prin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pointer</a:t>
                      </a:r>
                      <a:endParaRPr sz="20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void h(</a:t>
                      </a:r>
                      <a:r>
                        <a:rPr lang="en-US" sz="2000" b="1" dirty="0" err="1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int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 &amp;x){ x = x + 50;} //</a:t>
                      </a:r>
                      <a:r>
                        <a:rPr lang="en-US" sz="2000" b="1" dirty="0" err="1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prin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referinta</a:t>
                      </a:r>
                      <a:endParaRPr sz="2000" b="1" dirty="0">
                        <a:solidFill>
                          <a:srgbClr val="FF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20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int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main()  {</a:t>
                      </a:r>
                      <a:endParaRPr sz="20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int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x = 10;</a:t>
                      </a:r>
                      <a:endParaRPr sz="20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 f(x);</a:t>
                      </a:r>
                      <a:endParaRPr sz="20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cout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&lt;&lt;"x = "&lt;&lt;x&lt;&lt;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endl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;</a:t>
                      </a:r>
                      <a:endParaRPr sz="20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 g(&amp;x);</a:t>
                      </a:r>
                      <a:endParaRPr sz="20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cout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&lt;&lt;"x = "&lt;&lt;x&lt;&lt;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endl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;</a:t>
                      </a:r>
                      <a:endParaRPr sz="20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 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h(x);</a:t>
                      </a:r>
                      <a:endParaRPr sz="2000" b="1" dirty="0">
                        <a:solidFill>
                          <a:srgbClr val="FF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cout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&lt;&lt;"x = "&lt;&lt;x&lt;&lt;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endl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;</a:t>
                      </a:r>
                      <a:endParaRPr sz="20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 return 0;</a:t>
                      </a:r>
                      <a:endParaRPr sz="20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}</a:t>
                      </a:r>
                      <a:endParaRPr sz="20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2930" marR="82930" marT="82939" marB="829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Google Shape;471;p35"/>
          <p:cNvSpPr txBox="1"/>
          <p:nvPr/>
        </p:nvSpPr>
        <p:spPr>
          <a:xfrm>
            <a:off x="2057400" y="152400"/>
            <a:ext cx="48768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1036815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Scurta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recapitulare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C++</a:t>
            </a:r>
            <a:endParaRPr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1"/>
          <p:cNvSpPr txBox="1"/>
          <p:nvPr/>
        </p:nvSpPr>
        <p:spPr>
          <a:xfrm>
            <a:off x="301626" y="776708"/>
            <a:ext cx="4042451" cy="498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Transmiterea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parametrilor</a:t>
            </a:r>
            <a:endParaRPr>
              <a:latin typeface="Arial" pitchFamily="34" charset="0"/>
              <a:cs typeface="Arial" pitchFamily="34" charset="0"/>
            </a:endParaRP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331;p43"/>
          <p:cNvSpPr/>
          <p:nvPr/>
        </p:nvSpPr>
        <p:spPr>
          <a:xfrm>
            <a:off x="301626" y="1447800"/>
            <a:ext cx="8210550" cy="4114800"/>
          </a:xfrm>
          <a:prstGeom prst="rect">
            <a:avLst/>
          </a:prstGeom>
          <a:noFill/>
          <a:ln>
            <a:noFill/>
          </a:ln>
        </p:spPr>
        <p:txBody>
          <a:bodyPr spcFirstLastPara="1" lIns="81631" tIns="40816" rIns="81631" bIns="40816"/>
          <a:lstStyle/>
          <a:p>
            <a:pPr>
              <a:lnSpc>
                <a:spcPct val="104000"/>
              </a:lnSpc>
              <a:defRPr/>
            </a:pPr>
            <a:r>
              <a:rPr lang="en-US" sz="2000" dirty="0" err="1"/>
              <a:t>Observatii</a:t>
            </a:r>
            <a:r>
              <a:rPr lang="en-US" sz="2000" dirty="0"/>
              <a:t> </a:t>
            </a:r>
            <a:r>
              <a:rPr lang="en-US" sz="2000" dirty="0" err="1"/>
              <a:t>generale</a:t>
            </a:r>
            <a:endParaRPr sz="2000" dirty="0"/>
          </a:p>
          <a:p>
            <a:pPr>
              <a:lnSpc>
                <a:spcPct val="104000"/>
              </a:lnSpc>
              <a:defRPr/>
            </a:pPr>
            <a:endParaRPr sz="2000" dirty="0"/>
          </a:p>
          <a:p>
            <a:pPr marL="414683" indent="-322531">
              <a:lnSpc>
                <a:spcPct val="104000"/>
              </a:lnSpc>
              <a:buSzPts val="2000"/>
              <a:buFontTx/>
              <a:buChar char="-"/>
              <a:defRPr/>
            </a:pPr>
            <a:r>
              <a:rPr lang="en-US" sz="2000" dirty="0" err="1"/>
              <a:t>parametrii</a:t>
            </a:r>
            <a:r>
              <a:rPr lang="en-US" sz="2000" dirty="0"/>
              <a:t> </a:t>
            </a:r>
            <a:r>
              <a:rPr lang="en-US" sz="2000" dirty="0" err="1"/>
              <a:t>formali</a:t>
            </a:r>
            <a:r>
              <a:rPr lang="en-US" sz="2000" dirty="0"/>
              <a:t> - </a:t>
            </a:r>
            <a:r>
              <a:rPr lang="en-US" sz="2000" dirty="0" err="1"/>
              <a:t>sunt</a:t>
            </a:r>
            <a:r>
              <a:rPr lang="en-US" sz="2000" dirty="0"/>
              <a:t> </a:t>
            </a:r>
            <a:r>
              <a:rPr lang="en-US" sz="2000" dirty="0" err="1"/>
              <a:t>creati</a:t>
            </a:r>
            <a:r>
              <a:rPr lang="en-US" sz="2000" dirty="0"/>
              <a:t> la </a:t>
            </a:r>
            <a:r>
              <a:rPr lang="en-US" sz="2000" dirty="0" err="1"/>
              <a:t>intrarea</a:t>
            </a:r>
            <a:r>
              <a:rPr lang="en-US" sz="2000" dirty="0"/>
              <a:t> </a:t>
            </a:r>
            <a:r>
              <a:rPr lang="en-US" sz="2000" dirty="0" err="1"/>
              <a:t>intr</a:t>
            </a:r>
            <a:r>
              <a:rPr lang="en-US" sz="2000" dirty="0"/>
              <a:t>-o </a:t>
            </a:r>
            <a:r>
              <a:rPr lang="en-US" sz="2000" dirty="0" err="1"/>
              <a:t>functie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 err="1"/>
              <a:t>distrusi</a:t>
            </a:r>
            <a:r>
              <a:rPr lang="en-US" sz="2000" dirty="0"/>
              <a:t> la </a:t>
            </a:r>
            <a:r>
              <a:rPr lang="en-US" sz="2000" dirty="0" err="1"/>
              <a:t>retur</a:t>
            </a:r>
            <a:r>
              <a:rPr lang="en-US" sz="2000" dirty="0"/>
              <a:t>;</a:t>
            </a:r>
            <a:endParaRPr sz="2000" dirty="0"/>
          </a:p>
          <a:p>
            <a:pPr marL="414683">
              <a:lnSpc>
                <a:spcPct val="104000"/>
              </a:lnSpc>
              <a:defRPr/>
            </a:pPr>
            <a:endParaRPr sz="2000" dirty="0"/>
          </a:p>
          <a:p>
            <a:pPr marL="414683" indent="-322531">
              <a:lnSpc>
                <a:spcPct val="104000"/>
              </a:lnSpc>
              <a:buSzPts val="2000"/>
              <a:buFontTx/>
              <a:buChar char="-"/>
              <a:defRPr/>
            </a:pPr>
            <a:r>
              <a:rPr lang="en-US" sz="2000" dirty="0" err="1"/>
              <a:t>apel</a:t>
            </a:r>
            <a:r>
              <a:rPr lang="en-US" sz="2000" dirty="0"/>
              <a:t> </a:t>
            </a:r>
            <a:r>
              <a:rPr lang="en-US" sz="2000" dirty="0" err="1"/>
              <a:t>prin</a:t>
            </a:r>
            <a:r>
              <a:rPr lang="en-US" sz="2000" dirty="0"/>
              <a:t> </a:t>
            </a:r>
            <a:r>
              <a:rPr lang="en-US" sz="2000" dirty="0" err="1"/>
              <a:t>valoare</a:t>
            </a:r>
            <a:r>
              <a:rPr lang="en-US" sz="2000" dirty="0"/>
              <a:t> - </a:t>
            </a:r>
            <a:r>
              <a:rPr lang="en-US" sz="2000" dirty="0" err="1"/>
              <a:t>copiaza</a:t>
            </a:r>
            <a:r>
              <a:rPr lang="en-US" sz="2000" dirty="0"/>
              <a:t> </a:t>
            </a:r>
            <a:r>
              <a:rPr lang="en-US" sz="2000" dirty="0" err="1"/>
              <a:t>valoarea</a:t>
            </a:r>
            <a:r>
              <a:rPr lang="en-US" sz="2000" dirty="0"/>
              <a:t> </a:t>
            </a:r>
            <a:r>
              <a:rPr lang="en-US" sz="2000" dirty="0" err="1"/>
              <a:t>unui</a:t>
            </a:r>
            <a:r>
              <a:rPr lang="en-US" sz="2000" dirty="0"/>
              <a:t> argument </a:t>
            </a:r>
            <a:r>
              <a:rPr lang="en-US" sz="2000" dirty="0" err="1"/>
              <a:t>intr</a:t>
            </a:r>
            <a:r>
              <a:rPr lang="en-US" sz="2000" dirty="0"/>
              <a:t>-un </a:t>
            </a:r>
            <a:r>
              <a:rPr lang="en-US" sz="2000" dirty="0" err="1"/>
              <a:t>parametru</a:t>
            </a:r>
            <a:r>
              <a:rPr lang="en-US" sz="2000" dirty="0"/>
              <a:t> formal ⇒ </a:t>
            </a:r>
            <a:r>
              <a:rPr lang="en-US" sz="2000" dirty="0" err="1"/>
              <a:t>modificarile</a:t>
            </a:r>
            <a:r>
              <a:rPr lang="en-US" sz="2000" dirty="0"/>
              <a:t> </a:t>
            </a:r>
            <a:r>
              <a:rPr lang="en-US" sz="2000" dirty="0" err="1"/>
              <a:t>parametrului</a:t>
            </a:r>
            <a:r>
              <a:rPr lang="en-US" sz="2000" dirty="0"/>
              <a:t> nu au </a:t>
            </a:r>
            <a:r>
              <a:rPr lang="en-US" sz="2000" dirty="0" err="1"/>
              <a:t>efect</a:t>
            </a:r>
            <a:r>
              <a:rPr lang="en-US" sz="2000" dirty="0"/>
              <a:t> </a:t>
            </a:r>
            <a:r>
              <a:rPr lang="en-US" sz="2000" dirty="0" err="1"/>
              <a:t>asupra</a:t>
            </a:r>
            <a:r>
              <a:rPr lang="en-US" sz="2000" dirty="0"/>
              <a:t> </a:t>
            </a:r>
            <a:r>
              <a:rPr lang="en-US" sz="2000" dirty="0" err="1"/>
              <a:t>argumentului</a:t>
            </a:r>
            <a:r>
              <a:rPr lang="en-US" sz="2000" dirty="0"/>
              <a:t>;</a:t>
            </a:r>
            <a:endParaRPr sz="2000" dirty="0"/>
          </a:p>
          <a:p>
            <a:pPr marL="414683">
              <a:lnSpc>
                <a:spcPct val="104000"/>
              </a:lnSpc>
              <a:defRPr/>
            </a:pPr>
            <a:endParaRPr sz="2000" dirty="0"/>
          </a:p>
          <a:p>
            <a:pPr marL="414683" indent="-322531">
              <a:lnSpc>
                <a:spcPct val="104000"/>
              </a:lnSpc>
              <a:buSzPts val="2000"/>
              <a:buFontTx/>
              <a:buChar char="-"/>
              <a:defRPr/>
            </a:pPr>
            <a:r>
              <a:rPr lang="en-US" sz="2000" dirty="0" err="1"/>
              <a:t>apel</a:t>
            </a:r>
            <a:r>
              <a:rPr lang="en-US" sz="2000" dirty="0"/>
              <a:t> </a:t>
            </a:r>
            <a:r>
              <a:rPr lang="en-US" sz="2000" dirty="0" err="1"/>
              <a:t>prin</a:t>
            </a:r>
            <a:r>
              <a:rPr lang="en-US" sz="2000" dirty="0"/>
              <a:t> </a:t>
            </a:r>
            <a:r>
              <a:rPr lang="en-US" sz="2000" dirty="0" err="1"/>
              <a:t>referinta</a:t>
            </a:r>
            <a:r>
              <a:rPr lang="en-US" sz="2000" dirty="0"/>
              <a:t> - in </a:t>
            </a:r>
            <a:r>
              <a:rPr lang="en-US" sz="2000" dirty="0" err="1"/>
              <a:t>parametru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copiata</a:t>
            </a:r>
            <a:r>
              <a:rPr lang="en-US" sz="2000" dirty="0"/>
              <a:t> </a:t>
            </a:r>
            <a:r>
              <a:rPr lang="en-US" sz="2000" dirty="0" err="1"/>
              <a:t>adresa</a:t>
            </a:r>
            <a:r>
              <a:rPr lang="en-US" sz="2000" dirty="0"/>
              <a:t> </a:t>
            </a:r>
            <a:r>
              <a:rPr lang="en-US" sz="2000" dirty="0" err="1"/>
              <a:t>unui</a:t>
            </a:r>
            <a:r>
              <a:rPr lang="en-US" sz="2000" dirty="0"/>
              <a:t> argument ⇒ </a:t>
            </a:r>
            <a:r>
              <a:rPr lang="en-US" sz="2000" dirty="0" err="1"/>
              <a:t>modificarile</a:t>
            </a:r>
            <a:r>
              <a:rPr lang="en-US" sz="2000" dirty="0"/>
              <a:t> </a:t>
            </a:r>
            <a:r>
              <a:rPr lang="en-US" sz="2000" dirty="0" err="1"/>
              <a:t>parametrului</a:t>
            </a:r>
            <a:r>
              <a:rPr lang="en-US" sz="2000" dirty="0"/>
              <a:t> au </a:t>
            </a:r>
            <a:r>
              <a:rPr lang="en-US" sz="2000" dirty="0" err="1"/>
              <a:t>efect</a:t>
            </a:r>
            <a:r>
              <a:rPr lang="en-US" sz="2000" dirty="0"/>
              <a:t> </a:t>
            </a:r>
            <a:r>
              <a:rPr lang="en-US" sz="2000" dirty="0" err="1"/>
              <a:t>asupra</a:t>
            </a:r>
            <a:r>
              <a:rPr lang="en-US" sz="2000" dirty="0"/>
              <a:t>  </a:t>
            </a:r>
            <a:r>
              <a:rPr lang="en-US" sz="2000" dirty="0" err="1"/>
              <a:t>argumentului</a:t>
            </a:r>
            <a:r>
              <a:rPr lang="en-US" sz="2000" dirty="0"/>
              <a:t>.</a:t>
            </a:r>
            <a:endParaRPr sz="2000" dirty="0"/>
          </a:p>
          <a:p>
            <a:pPr marL="414683">
              <a:lnSpc>
                <a:spcPct val="104000"/>
              </a:lnSpc>
              <a:defRPr/>
            </a:pPr>
            <a:endParaRPr sz="2000" dirty="0"/>
          </a:p>
          <a:p>
            <a:pPr marL="414683" indent="-322531">
              <a:lnSpc>
                <a:spcPct val="104000"/>
              </a:lnSpc>
              <a:buSzPts val="2000"/>
              <a:buFontTx/>
              <a:buChar char="-"/>
              <a:defRPr/>
            </a:pPr>
            <a:r>
              <a:rPr lang="en-US" sz="2000" dirty="0" err="1"/>
              <a:t>functiile</a:t>
            </a:r>
            <a:r>
              <a:rPr lang="en-US" sz="2000" dirty="0"/>
              <a:t>, cu </a:t>
            </a:r>
            <a:r>
              <a:rPr lang="en-US" sz="2000" dirty="0" err="1"/>
              <a:t>exceptia</a:t>
            </a:r>
            <a:r>
              <a:rPr lang="en-US" sz="2000" dirty="0"/>
              <a:t> </a:t>
            </a:r>
            <a:r>
              <a:rPr lang="en-US" sz="2000" dirty="0" err="1"/>
              <a:t>celor</a:t>
            </a:r>
            <a:r>
              <a:rPr lang="en-US" sz="2000" dirty="0"/>
              <a:t> de tip void, pot fi </a:t>
            </a:r>
            <a:r>
              <a:rPr lang="en-US" sz="2000" dirty="0" err="1"/>
              <a:t>folosite</a:t>
            </a:r>
            <a:r>
              <a:rPr lang="en-US" sz="2000" dirty="0"/>
              <a:t> </a:t>
            </a:r>
            <a:r>
              <a:rPr lang="en-US" sz="2000" dirty="0" err="1"/>
              <a:t>ca</a:t>
            </a:r>
            <a:r>
              <a:rPr lang="en-US" sz="2000" dirty="0"/>
              <a:t> operand in </a:t>
            </a:r>
            <a:r>
              <a:rPr lang="en-US" sz="2000" dirty="0" err="1"/>
              <a:t>orice</a:t>
            </a:r>
            <a:r>
              <a:rPr lang="en-US" sz="2000" dirty="0"/>
              <a:t> </a:t>
            </a:r>
            <a:r>
              <a:rPr lang="en-US" sz="2000" dirty="0" err="1"/>
              <a:t>expresie</a:t>
            </a:r>
            <a:r>
              <a:rPr lang="en-US" sz="2000" dirty="0"/>
              <a:t> </a:t>
            </a:r>
            <a:r>
              <a:rPr lang="en-US" sz="2000" dirty="0" err="1"/>
              <a:t>valida</a:t>
            </a:r>
            <a:r>
              <a:rPr lang="en-US" sz="2000" dirty="0"/>
              <a:t>.</a:t>
            </a:r>
            <a:endParaRPr sz="2000" dirty="0"/>
          </a:p>
        </p:txBody>
      </p:sp>
      <p:sp>
        <p:nvSpPr>
          <p:cNvPr id="11" name="Google Shape;471;p35"/>
          <p:cNvSpPr txBox="1"/>
          <p:nvPr/>
        </p:nvSpPr>
        <p:spPr>
          <a:xfrm>
            <a:off x="1968501" y="152400"/>
            <a:ext cx="48768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1036815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Scurta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recapitulare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C++</a:t>
            </a:r>
            <a:endParaRPr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CustomShape 5"/>
          <p:cNvSpPr/>
          <p:nvPr/>
        </p:nvSpPr>
        <p:spPr>
          <a:xfrm>
            <a:off x="4700051" y="1713921"/>
            <a:ext cx="4105728" cy="457644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9" tIns="42452" rIns="81639" bIns="42452">
            <a:noAutofit/>
          </a:bodyPr>
          <a:lstStyle/>
          <a:p>
            <a:pPr marL="311208" indent="-307942"/>
            <a:r>
              <a:rPr lang="en-US" sz="1800" spc="-1">
                <a:solidFill>
                  <a:srgbClr val="000000"/>
                </a:solidFill>
                <a:latin typeface="Arial"/>
                <a:ea typeface="Arial"/>
              </a:rPr>
              <a:t>Q: Exista un mecanism prin care</a:t>
            </a:r>
            <a:endParaRPr lang="en-US" sz="1800" spc="-1">
              <a:latin typeface="Arial"/>
            </a:endParaRPr>
          </a:p>
          <a:p>
            <a:pPr marL="311208" indent="-307942"/>
            <a:r>
              <a:rPr lang="en-US" sz="1800" spc="-1">
                <a:solidFill>
                  <a:srgbClr val="000000"/>
                </a:solidFill>
                <a:latin typeface="Arial"/>
                <a:ea typeface="Arial"/>
              </a:rPr>
              <a:t>putem avea totusi functii in</a:t>
            </a:r>
            <a:endParaRPr lang="en-US" sz="1800" spc="-1">
              <a:latin typeface="Arial"/>
            </a:endParaRPr>
          </a:p>
          <a:p>
            <a:pPr marL="311208" indent="-307942"/>
            <a:r>
              <a:rPr lang="en-US" sz="1800" spc="-1">
                <a:solidFill>
                  <a:srgbClr val="000000"/>
                </a:solidFill>
                <a:latin typeface="Arial"/>
                <a:ea typeface="Arial"/>
              </a:rPr>
              <a:t>structuri in C?</a:t>
            </a:r>
            <a:endParaRPr lang="en-US" sz="1800" spc="-1">
              <a:latin typeface="Arial"/>
            </a:endParaRPr>
          </a:p>
          <a:p>
            <a:pPr marL="311208" indent="-307942"/>
            <a:r>
              <a:rPr lang="en-US" sz="1800" spc="-1">
                <a:solidFill>
                  <a:srgbClr val="000000"/>
                </a:solidFill>
                <a:latin typeface="Arial"/>
                <a:ea typeface="Arial"/>
              </a:rPr>
              <a:t>A: Da, utilizand pointerii la functii</a:t>
            </a:r>
            <a:endParaRPr lang="en-US" sz="1800" spc="-1">
              <a:latin typeface="Arial"/>
            </a:endParaRPr>
          </a:p>
          <a:p>
            <a:pPr marL="311208" indent="-307942"/>
            <a:endParaRPr lang="en-US" sz="1800" spc="-1">
              <a:latin typeface="Arial"/>
            </a:endParaRPr>
          </a:p>
          <a:p>
            <a:pPr marL="311208" indent="-307942"/>
            <a:r>
              <a:rPr lang="en-US" sz="1800" spc="-1">
                <a:solidFill>
                  <a:srgbClr val="000000"/>
                </a:solidFill>
                <a:latin typeface="Arial"/>
                <a:ea typeface="Arial"/>
              </a:rPr>
              <a:t>Q: Codul alaturat este valid si in C++?</a:t>
            </a:r>
            <a:endParaRPr lang="en-US" sz="1800" spc="-1">
              <a:latin typeface="Arial"/>
            </a:endParaRPr>
          </a:p>
          <a:p>
            <a:pPr marL="311208" indent="-307942"/>
            <a:r>
              <a:rPr lang="en-US" sz="1800" spc="-1">
                <a:solidFill>
                  <a:srgbClr val="000000"/>
                </a:solidFill>
                <a:latin typeface="Arial"/>
                <a:ea typeface="Arial"/>
              </a:rPr>
              <a:t>A: Nu, pentru ca am folosit “this” ca identificator (mai tarziu despre “this”).</a:t>
            </a:r>
            <a:endParaRPr lang="en-US" sz="1800" spc="-1">
              <a:latin typeface="Arial"/>
            </a:endParaRPr>
          </a:p>
          <a:p>
            <a:pPr marL="311208" indent="-307942"/>
            <a:endParaRPr lang="en-US" sz="1800" spc="-1">
              <a:latin typeface="Arial"/>
            </a:endParaRPr>
          </a:p>
          <a:p>
            <a:pPr marL="311208" indent="-307942"/>
            <a:r>
              <a:rPr lang="en-US" sz="1800" spc="-1">
                <a:solidFill>
                  <a:srgbClr val="000000"/>
                </a:solidFill>
                <a:latin typeface="Arial"/>
                <a:ea typeface="Arial"/>
              </a:rPr>
              <a:t>Q: Daca putem folosi, totusi, functii in structuri in C, de ce folosim clase?</a:t>
            </a:r>
            <a:endParaRPr lang="en-US" sz="1800" spc="-1">
              <a:latin typeface="Arial"/>
            </a:endParaRPr>
          </a:p>
          <a:p>
            <a:pPr marL="311208" indent="-307942"/>
            <a:r>
              <a:rPr lang="en-US" sz="1800" spc="-1">
                <a:solidFill>
                  <a:srgbClr val="000000"/>
                </a:solidFill>
                <a:latin typeface="Arial"/>
                <a:ea typeface="Arial"/>
              </a:rPr>
              <a:t>A: Pentru ca e dificil de emulat ascunderea informatiei, principiu de baza in POO.</a:t>
            </a:r>
            <a:endParaRPr lang="en-US" sz="1800" spc="-1">
              <a:latin typeface="Arial"/>
            </a:endParaRPr>
          </a:p>
        </p:txBody>
      </p:sp>
      <p:grpSp>
        <p:nvGrpSpPr>
          <p:cNvPr id="438" name="Group 6"/>
          <p:cNvGrpSpPr/>
          <p:nvPr/>
        </p:nvGrpSpPr>
        <p:grpSpPr>
          <a:xfrm>
            <a:off x="401005" y="1864150"/>
            <a:ext cx="3911757" cy="4312561"/>
            <a:chOff x="442080" y="2054880"/>
            <a:chExt cx="4312440" cy="4753800"/>
          </a:xfrm>
        </p:grpSpPr>
        <p:sp>
          <p:nvSpPr>
            <p:cNvPr id="439" name="CustomShape 7"/>
            <p:cNvSpPr/>
            <p:nvPr/>
          </p:nvSpPr>
          <p:spPr>
            <a:xfrm>
              <a:off x="463680" y="2054880"/>
              <a:ext cx="4290840" cy="47538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spc="-1">
                  <a:solidFill>
                    <a:srgbClr val="000000"/>
                  </a:solidFill>
                  <a:latin typeface="Arial"/>
                  <a:ea typeface="Arial"/>
                </a:rPr>
                <a:t>#include &lt;stdio.h&gt;</a:t>
              </a:r>
              <a:endParaRPr lang="en-US" sz="1600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1600" spc="-1">
                  <a:solidFill>
                    <a:srgbClr val="000000"/>
                  </a:solidFill>
                  <a:latin typeface="Arial"/>
                  <a:ea typeface="Arial"/>
                </a:rPr>
                <a:t>#include &lt;stdlib.h&gt;</a:t>
              </a:r>
              <a:endParaRPr lang="en-US" sz="1600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lang="en-US" sz="1600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1600" spc="-1">
                  <a:solidFill>
                    <a:srgbClr val="000000"/>
                  </a:solidFill>
                  <a:latin typeface="Arial"/>
                  <a:ea typeface="Arial"/>
                </a:rPr>
                <a:t>struct test {</a:t>
              </a:r>
              <a:endParaRPr lang="en-US" sz="1600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1600" spc="-1">
                  <a:solidFill>
                    <a:srgbClr val="000000"/>
                  </a:solidFill>
                  <a:latin typeface="Arial"/>
                  <a:ea typeface="Arial"/>
                </a:rPr>
                <a:t>  int x;</a:t>
              </a:r>
              <a:endParaRPr lang="en-US" sz="1600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1600" spc="-1">
                  <a:solidFill>
                    <a:srgbClr val="000000"/>
                  </a:solidFill>
                  <a:latin typeface="Arial"/>
                  <a:ea typeface="Arial"/>
                </a:rPr>
                <a:t>  void (*afis)(struct test *this);</a:t>
              </a:r>
              <a:endParaRPr lang="en-US" sz="1600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1600" spc="-1">
                  <a:solidFill>
                    <a:srgbClr val="000000"/>
                  </a:solidFill>
                  <a:latin typeface="Arial"/>
                  <a:ea typeface="Arial"/>
                </a:rPr>
                <a:t>};</a:t>
              </a:r>
              <a:endParaRPr lang="en-US" sz="1600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lang="en-US" sz="1600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1600" spc="-1">
                  <a:solidFill>
                    <a:srgbClr val="000000"/>
                  </a:solidFill>
                  <a:latin typeface="Arial"/>
                  <a:ea typeface="Arial"/>
                </a:rPr>
                <a:t>void afis_implicit(struct test *this) {</a:t>
              </a:r>
              <a:endParaRPr lang="en-US" sz="1600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1600" spc="-1">
                  <a:solidFill>
                    <a:srgbClr val="000000"/>
                  </a:solidFill>
                  <a:latin typeface="Arial"/>
                  <a:ea typeface="Arial"/>
                </a:rPr>
                <a:t>  printf("x= %d",this-&gt;x);</a:t>
              </a:r>
              <a:endParaRPr lang="en-US" sz="1600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1600" spc="-1">
                  <a:solidFill>
                    <a:srgbClr val="000000"/>
                  </a:solidFill>
                  <a:latin typeface="Arial"/>
                  <a:ea typeface="Arial"/>
                </a:rPr>
                <a:t>}</a:t>
              </a:r>
              <a:endParaRPr lang="en-US" sz="1600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lang="en-US" sz="1600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1600" spc="-1">
                  <a:solidFill>
                    <a:srgbClr val="000000"/>
                  </a:solidFill>
                  <a:latin typeface="Arial"/>
                  <a:ea typeface="Arial"/>
                </a:rPr>
                <a:t>int main() {</a:t>
              </a:r>
              <a:endParaRPr lang="en-US" sz="1600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1600" spc="-1">
                  <a:solidFill>
                    <a:srgbClr val="000000"/>
                  </a:solidFill>
                  <a:latin typeface="Arial"/>
                  <a:ea typeface="Arial"/>
                </a:rPr>
                <a:t>  struct test A = {3, afis_implicit};</a:t>
              </a:r>
              <a:endParaRPr lang="en-US" sz="1600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1600" spc="-1">
                  <a:solidFill>
                    <a:srgbClr val="000000"/>
                  </a:solidFill>
                  <a:latin typeface="Arial"/>
                  <a:ea typeface="Arial"/>
                </a:rPr>
                <a:t>  A.afis(&amp;A);</a:t>
              </a:r>
              <a:endParaRPr lang="en-US" sz="1600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1600" spc="-1">
                  <a:solidFill>
                    <a:srgbClr val="000000"/>
                  </a:solidFill>
                  <a:latin typeface="Arial"/>
                  <a:ea typeface="Arial"/>
                </a:rPr>
                <a:t>  return 0;</a:t>
              </a:r>
              <a:endParaRPr lang="en-US" sz="1600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1600" spc="-1">
                  <a:solidFill>
                    <a:srgbClr val="000000"/>
                  </a:solidFill>
                  <a:latin typeface="Arial"/>
                  <a:ea typeface="Arial"/>
                </a:rPr>
                <a:t>}</a:t>
              </a:r>
              <a:endParaRPr lang="en-US" sz="1600" spc="-1">
                <a:latin typeface="Arial"/>
              </a:endParaRPr>
            </a:p>
          </p:txBody>
        </p:sp>
        <p:sp>
          <p:nvSpPr>
            <p:cNvPr id="440" name="CustomShape 8"/>
            <p:cNvSpPr/>
            <p:nvPr/>
          </p:nvSpPr>
          <p:spPr>
            <a:xfrm>
              <a:off x="442080" y="3459600"/>
              <a:ext cx="3047760" cy="350280"/>
            </a:xfrm>
            <a:prstGeom prst="roundRect">
              <a:avLst>
                <a:gd name="adj" fmla="val 16667"/>
              </a:avLst>
            </a:prstGeom>
            <a:solidFill>
              <a:srgbClr val="FFC0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441" name="CustomShape 9"/>
            <p:cNvSpPr/>
            <p:nvPr/>
          </p:nvSpPr>
          <p:spPr>
            <a:xfrm>
              <a:off x="472320" y="4297680"/>
              <a:ext cx="3733560" cy="944640"/>
            </a:xfrm>
            <a:prstGeom prst="roundRect">
              <a:avLst>
                <a:gd name="adj" fmla="val 16667"/>
              </a:avLst>
            </a:prstGeom>
            <a:solidFill>
              <a:srgbClr val="FFC0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442" name="CustomShape 10"/>
            <p:cNvSpPr/>
            <p:nvPr/>
          </p:nvSpPr>
          <p:spPr>
            <a:xfrm>
              <a:off x="624960" y="5623560"/>
              <a:ext cx="3276360" cy="380520"/>
            </a:xfrm>
            <a:prstGeom prst="roundRect">
              <a:avLst>
                <a:gd name="adj" fmla="val 16667"/>
              </a:avLst>
            </a:prstGeom>
            <a:solidFill>
              <a:srgbClr val="FFC0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3" name="Google Shape;552;p41"/>
          <p:cNvSpPr txBox="1"/>
          <p:nvPr/>
        </p:nvSpPr>
        <p:spPr>
          <a:xfrm>
            <a:off x="345719" y="747375"/>
            <a:ext cx="4575851" cy="498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Functii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in </a:t>
            </a: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structuri</a:t>
            </a:r>
            <a:endParaRPr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</a:pPr>
            <a:endParaRPr sz="1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471;p35"/>
          <p:cNvSpPr txBox="1"/>
          <p:nvPr/>
        </p:nvSpPr>
        <p:spPr>
          <a:xfrm>
            <a:off x="2261651" y="152400"/>
            <a:ext cx="48768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1036815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Scurta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recapitulare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C++</a:t>
            </a:r>
            <a:endParaRPr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25099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5"/>
          <p:cNvSpPr/>
          <p:nvPr/>
        </p:nvSpPr>
        <p:spPr>
          <a:xfrm>
            <a:off x="292661" y="990600"/>
            <a:ext cx="8210550" cy="4902200"/>
          </a:xfrm>
          <a:prstGeom prst="rect">
            <a:avLst/>
          </a:prstGeom>
          <a:noFill/>
          <a:ln>
            <a:noFill/>
          </a:ln>
        </p:spPr>
        <p:txBody>
          <a:bodyPr spcFirstLastPara="1" lIns="81631" tIns="40816" rIns="81631" bIns="40816"/>
          <a:lstStyle/>
          <a:p>
            <a:pPr>
              <a:lnSpc>
                <a:spcPct val="104000"/>
              </a:lnSpc>
              <a:defRPr/>
            </a:pP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Cand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tipul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returnat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 de o </a:t>
            </a: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functie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 nu </a:t>
            </a: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este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declarat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 explicit, i se </a:t>
            </a: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atribuie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 automat int.</a:t>
            </a:r>
            <a:endParaRPr sz="20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04000"/>
              </a:lnSpc>
              <a:defRPr/>
            </a:pPr>
            <a:endParaRPr sz="20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4000"/>
              </a:lnSpc>
              <a:defRPr/>
            </a:pPr>
            <a:r>
              <a:rPr lang="en-US" sz="2000" dirty="0" err="1">
                <a:latin typeface="Arial" pitchFamily="34" charset="0"/>
                <a:cs typeface="Arial" pitchFamily="34" charset="0"/>
              </a:rPr>
              <a:t>Tipul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trebuie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cunoscut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inainte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de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apel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.</a:t>
            </a:r>
            <a:endParaRPr sz="20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4000"/>
              </a:lnSpc>
              <a:defRPr/>
            </a:pPr>
            <a:endParaRPr sz="20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4000"/>
              </a:lnSpc>
              <a:buClr>
                <a:schemeClr val="dk1"/>
              </a:buClr>
              <a:buSzPts val="1100"/>
              <a:defRPr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f (double x) {</a:t>
            </a:r>
            <a:endParaRPr sz="2000" b="1" dirty="0">
              <a:latin typeface="Arial" pitchFamily="34" charset="0"/>
              <a:cs typeface="Arial" pitchFamily="34" charset="0"/>
            </a:endParaRPr>
          </a:p>
          <a:p>
            <a:pPr indent="414683">
              <a:lnSpc>
                <a:spcPct val="104000"/>
              </a:lnSpc>
              <a:buClr>
                <a:schemeClr val="dk1"/>
              </a:buClr>
              <a:buSzPts val="1100"/>
              <a:defRPr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return x;</a:t>
            </a:r>
            <a:endParaRPr sz="2000" b="1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4000"/>
              </a:lnSpc>
              <a:buSzPts val="1100"/>
              <a:defRPr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}</a:t>
            </a:r>
            <a:endParaRPr sz="20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4000"/>
              </a:lnSpc>
              <a:buSzPts val="1100"/>
              <a:defRPr/>
            </a:pPr>
            <a:endParaRPr sz="20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4000"/>
              </a:lnSpc>
              <a:buSzPts val="1100"/>
              <a:defRPr/>
            </a:pP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Prototipul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unei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functii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permite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declararea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 in </a:t>
            </a: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afara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si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 a </a:t>
            </a: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numarului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 de </a:t>
            </a: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parametri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 / </a:t>
            </a: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tipul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lor</a:t>
            </a: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:</a:t>
            </a:r>
            <a:endParaRPr sz="20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04000"/>
              </a:lnSpc>
              <a:buSzPts val="1100"/>
              <a:defRPr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4000"/>
              </a:lnSpc>
              <a:buSzPts val="1100"/>
              <a:defRPr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	void f(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int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); //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antet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/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prototip</a:t>
            </a:r>
            <a:endParaRPr sz="20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4000"/>
              </a:lnSpc>
              <a:buSzPts val="1100"/>
              <a:defRPr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	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int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main() {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cout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&lt;&lt; f(50); }</a:t>
            </a:r>
            <a:endParaRPr sz="20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4000"/>
              </a:lnSpc>
              <a:buSzPts val="1100"/>
              <a:defRPr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	void f(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int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x) { //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corp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functie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; }</a:t>
            </a:r>
            <a:endParaRPr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Google Shape;471;p35"/>
          <p:cNvSpPr txBox="1"/>
          <p:nvPr/>
        </p:nvSpPr>
        <p:spPr>
          <a:xfrm>
            <a:off x="2133600" y="152400"/>
            <a:ext cx="48768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1036815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Scurta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recapitulare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C++</a:t>
            </a:r>
            <a:endParaRPr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9"/>
          <p:cNvSpPr/>
          <p:nvPr/>
        </p:nvSpPr>
        <p:spPr>
          <a:xfrm>
            <a:off x="1078599" y="1713920"/>
            <a:ext cx="7299072" cy="38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2452" rIns="81639" bIns="42452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b="1" dirty="0" err="1">
                <a:latin typeface="Arial" pitchFamily="34" charset="0"/>
                <a:cs typeface="Arial" pitchFamily="34" charset="0"/>
              </a:rPr>
              <a:t>Clasa</a:t>
            </a:r>
            <a:endParaRPr lang="en-US" sz="2000" b="1" dirty="0"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000" b="1" dirty="0"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b="1" dirty="0" err="1">
                <a:latin typeface="Arial" pitchFamily="34" charset="0"/>
                <a:cs typeface="Arial" pitchFamily="34" charset="0"/>
              </a:rPr>
              <a:t>Obiect</a:t>
            </a:r>
            <a:endParaRPr lang="en-US" sz="2000" b="1" dirty="0"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000" b="1" dirty="0"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b="1" dirty="0" err="1">
                <a:latin typeface="Arial" pitchFamily="34" charset="0"/>
                <a:cs typeface="Arial" pitchFamily="34" charset="0"/>
              </a:rPr>
              <a:t>Incapsularea</a:t>
            </a:r>
            <a:endParaRPr sz="2000" b="1"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000" b="1"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b="1" dirty="0" err="1">
                <a:latin typeface="Arial" pitchFamily="34" charset="0"/>
                <a:cs typeface="Arial" pitchFamily="34" charset="0"/>
              </a:rPr>
              <a:t>Modularitatea</a:t>
            </a:r>
            <a:endParaRPr sz="2000" b="1"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000" b="1"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b="1" dirty="0" err="1">
                <a:latin typeface="Arial" pitchFamily="34" charset="0"/>
                <a:cs typeface="Arial" pitchFamily="34" charset="0"/>
              </a:rPr>
              <a:t>Ierarhizarea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000" b="1" dirty="0"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b="1" dirty="0" err="1">
                <a:latin typeface="Arial" pitchFamily="34" charset="0"/>
                <a:cs typeface="Arial" pitchFamily="34" charset="0"/>
              </a:rPr>
              <a:t>Polimorfism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 la </a:t>
            </a:r>
            <a:r>
              <a:rPr lang="en-US" sz="2000" b="1" dirty="0" err="1">
                <a:latin typeface="Arial" pitchFamily="34" charset="0"/>
                <a:cs typeface="Arial" pitchFamily="34" charset="0"/>
              </a:rPr>
              <a:t>compilare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 err="1">
                <a:latin typeface="Arial" pitchFamily="34" charset="0"/>
                <a:cs typeface="Arial" pitchFamily="34" charset="0"/>
              </a:rPr>
              <a:t>si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 err="1">
                <a:latin typeface="Arial" pitchFamily="34" charset="0"/>
                <a:cs typeface="Arial" pitchFamily="34" charset="0"/>
              </a:rPr>
              <a:t>polimorfism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 la </a:t>
            </a:r>
            <a:r>
              <a:rPr lang="en-US" sz="2000" b="1" dirty="0" err="1">
                <a:latin typeface="Arial" pitchFamily="34" charset="0"/>
                <a:cs typeface="Arial" pitchFamily="34" charset="0"/>
              </a:rPr>
              <a:t>executie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, etc.</a:t>
            </a:r>
            <a:endParaRPr sz="2000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Google Shape;471;p35"/>
          <p:cNvSpPr txBox="1"/>
          <p:nvPr/>
        </p:nvSpPr>
        <p:spPr>
          <a:xfrm>
            <a:off x="762000" y="685800"/>
            <a:ext cx="80772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91440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Principiile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programarii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orientate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endParaRPr sz="28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276600" y="1524000"/>
            <a:ext cx="2895600" cy="457200"/>
          </a:xfrm>
        </p:spPr>
        <p:txBody>
          <a:bodyPr/>
          <a:lstStyle/>
          <a:p>
            <a:pPr eaLnBrk="1" hangingPunct="1"/>
            <a:r>
              <a:rPr lang="ro-RO" altLang="ro-RO" sz="24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Obiecte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09800"/>
            <a:ext cx="8153400" cy="41148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ro-RO" altLang="ro-RO" sz="2400" dirty="0">
                <a:latin typeface="Arial" pitchFamily="34" charset="0"/>
                <a:cs typeface="Arial" pitchFamily="34" charset="0"/>
              </a:rPr>
              <a:t>au stare şi acțiuni (metode/funcţii)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ro-RO" altLang="ro-RO" sz="2400" dirty="0">
                <a:latin typeface="Arial" pitchFamily="34" charset="0"/>
                <a:cs typeface="Arial" pitchFamily="34" charset="0"/>
              </a:rPr>
              <a:t>au interfață (acțiuni) şi o parte ascunsă (starea)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ro-RO" altLang="ro-RO" sz="2400" dirty="0">
                <a:latin typeface="Arial" pitchFamily="34" charset="0"/>
                <a:cs typeface="Arial" pitchFamily="34" charset="0"/>
              </a:rPr>
              <a:t>Sunt grupate în clase, obiecte cu aceleași proprietăți</a:t>
            </a:r>
            <a:endParaRPr lang="en-US" altLang="ro-RO" sz="2400" dirty="0">
              <a:latin typeface="Arial" pitchFamily="34" charset="0"/>
              <a:cs typeface="Arial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Un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program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orientat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obiect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este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o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colec</a:t>
            </a:r>
            <a:r>
              <a:rPr lang="ro-RO" altLang="ro-RO" sz="2400" dirty="0">
                <a:latin typeface="Arial" pitchFamily="34" charset="0"/>
                <a:cs typeface="Arial" pitchFamily="34" charset="0"/>
              </a:rPr>
              <a:t>ț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ie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de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obiecte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care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interactioneaz</a:t>
            </a:r>
            <a:r>
              <a:rPr lang="ro-RO" altLang="ro-RO" sz="2400" dirty="0">
                <a:latin typeface="Arial" pitchFamily="34" charset="0"/>
                <a:cs typeface="Arial" pitchFamily="34" charset="0"/>
              </a:rPr>
              <a:t>ă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unul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cu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cel</a:t>
            </a:r>
            <a:r>
              <a:rPr lang="ro-RO" altLang="ro-RO" sz="2400" dirty="0">
                <a:latin typeface="Arial" pitchFamily="34" charset="0"/>
                <a:cs typeface="Arial" pitchFamily="34" charset="0"/>
              </a:rPr>
              <a:t>ă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lalt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prin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mesaje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(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aplicand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o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metod</a:t>
            </a:r>
            <a:r>
              <a:rPr lang="ro-RO" altLang="ro-RO" sz="2400" dirty="0">
                <a:latin typeface="Arial" pitchFamily="34" charset="0"/>
                <a:cs typeface="Arial" pitchFamily="34" charset="0"/>
              </a:rPr>
              <a:t>ă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).</a:t>
            </a:r>
            <a:endParaRPr lang="ro-RO" altLang="ro-RO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Google Shape;471;p35"/>
          <p:cNvSpPr txBox="1"/>
          <p:nvPr/>
        </p:nvSpPr>
        <p:spPr>
          <a:xfrm>
            <a:off x="762000" y="685800"/>
            <a:ext cx="80772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91440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Principiile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programarii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orientate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endParaRPr sz="28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1371600"/>
            <a:ext cx="3124200" cy="609600"/>
          </a:xfrm>
        </p:spPr>
        <p:txBody>
          <a:bodyPr/>
          <a:lstStyle/>
          <a:p>
            <a:pPr eaLnBrk="1" hangingPunct="1"/>
            <a:r>
              <a:rPr lang="en-US" altLang="ro-RO" sz="2400" b="1" dirty="0" err="1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Clase</a:t>
            </a:r>
            <a:endParaRPr lang="en-US" altLang="ro-RO" sz="2400" b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419600"/>
            <a:ext cx="7772400" cy="22860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ro-RO" altLang="ro-RO" sz="2400" dirty="0">
                <a:latin typeface="Arial" pitchFamily="34" charset="0"/>
                <a:cs typeface="Arial" pitchFamily="34" charset="0"/>
              </a:rPr>
              <a:t>menționează proprietățile generale ale obiectelor din clasa respectivă</a:t>
            </a:r>
            <a:endParaRPr lang="en-US" altLang="ro-RO" sz="2400" dirty="0">
              <a:latin typeface="Arial" pitchFamily="34" charset="0"/>
              <a:cs typeface="Arial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ro-RO" altLang="ro-RO" sz="2400" dirty="0">
                <a:latin typeface="Arial" pitchFamily="34" charset="0"/>
                <a:cs typeface="Arial" pitchFamily="34" charset="0"/>
              </a:rPr>
              <a:t>folositoare la </a:t>
            </a:r>
            <a:r>
              <a:rPr lang="en-US" altLang="ro-RO" sz="2400" dirty="0" err="1">
                <a:latin typeface="Arial" pitchFamily="34" charset="0"/>
                <a:cs typeface="Arial" pitchFamily="34" charset="0"/>
              </a:rPr>
              <a:t>i</a:t>
            </a:r>
            <a:r>
              <a:rPr lang="ro-RO" altLang="ro-RO" sz="2400" dirty="0">
                <a:latin typeface="Arial" pitchFamily="34" charset="0"/>
                <a:cs typeface="Arial" pitchFamily="34" charset="0"/>
              </a:rPr>
              <a:t>ncapsulare (ascunderea informației)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ro-RO" altLang="ro-RO" sz="2400" dirty="0">
                <a:latin typeface="Arial" pitchFamily="34" charset="0"/>
                <a:cs typeface="Arial" pitchFamily="34" charset="0"/>
              </a:rPr>
              <a:t>reutilizare de cod: moștenire</a:t>
            </a:r>
          </a:p>
        </p:txBody>
      </p:sp>
      <p:sp>
        <p:nvSpPr>
          <p:cNvPr id="6" name="Google Shape;471;p35"/>
          <p:cNvSpPr txBox="1"/>
          <p:nvPr/>
        </p:nvSpPr>
        <p:spPr>
          <a:xfrm>
            <a:off x="762000" y="685800"/>
            <a:ext cx="80772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91440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Principiile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programarii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orientate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endParaRPr sz="2800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9600" y="1846516"/>
            <a:ext cx="8077200" cy="2460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clasa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defineste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atribute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metode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endParaRPr lang="en-US" dirty="0"/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	class X{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		//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date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membre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		//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metode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functii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membre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–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functii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cu argument implicit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obiectu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l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curent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		};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133600"/>
            <a:ext cx="7772400" cy="4114800"/>
          </a:xfrm>
        </p:spPr>
        <p:txBody>
          <a:bodyPr/>
          <a:lstStyle/>
          <a:p>
            <a:pPr eaLnBrk="1" hangingPunct="1"/>
            <a:r>
              <a:rPr lang="ro-RO" altLang="ro-RO" sz="2400" dirty="0">
                <a:latin typeface="Arial" pitchFamily="34" charset="0"/>
                <a:cs typeface="Arial" pitchFamily="34" charset="0"/>
              </a:rPr>
              <a:t>cu “class”</a:t>
            </a:r>
          </a:p>
          <a:p>
            <a:pPr eaLnBrk="1" hangingPunct="1"/>
            <a:r>
              <a:rPr lang="ro-RO" altLang="ro-RO" sz="2400" dirty="0">
                <a:latin typeface="Arial" pitchFamily="34" charset="0"/>
                <a:cs typeface="Arial" pitchFamily="34" charset="0"/>
              </a:rPr>
              <a:t>obiectele instanţiază clase</a:t>
            </a:r>
          </a:p>
          <a:p>
            <a:pPr eaLnBrk="1" hangingPunct="1"/>
            <a:r>
              <a:rPr lang="ro-RO" altLang="ro-RO" sz="2400" dirty="0">
                <a:latin typeface="Arial" pitchFamily="34" charset="0"/>
                <a:cs typeface="Arial" pitchFamily="34" charset="0"/>
              </a:rPr>
              <a:t>similare cu struct-uri şi union-uri</a:t>
            </a:r>
          </a:p>
          <a:p>
            <a:pPr eaLnBrk="1" hangingPunct="1"/>
            <a:r>
              <a:rPr lang="ro-RO" altLang="ro-RO" sz="2400" dirty="0">
                <a:latin typeface="Arial" pitchFamily="34" charset="0"/>
                <a:cs typeface="Arial" pitchFamily="34" charset="0"/>
              </a:rPr>
              <a:t>au funcții</a:t>
            </a:r>
          </a:p>
          <a:p>
            <a:pPr eaLnBrk="1" hangingPunct="1"/>
            <a:r>
              <a:rPr lang="ro-RO" altLang="ro-RO" sz="2400" dirty="0">
                <a:latin typeface="Arial" pitchFamily="34" charset="0"/>
                <a:cs typeface="Arial" pitchFamily="34" charset="0"/>
              </a:rPr>
              <a:t>specificatorii de acces: public, private, protected</a:t>
            </a:r>
          </a:p>
          <a:p>
            <a:pPr eaLnBrk="1" hangingPunct="1"/>
            <a:r>
              <a:rPr lang="ro-RO" altLang="ro-RO" sz="2400" dirty="0">
                <a:latin typeface="Arial" pitchFamily="34" charset="0"/>
                <a:cs typeface="Arial" pitchFamily="34" charset="0"/>
              </a:rPr>
              <a:t>default: private</a:t>
            </a:r>
          </a:p>
          <a:p>
            <a:pPr eaLnBrk="1" hangingPunct="1"/>
            <a:r>
              <a:rPr lang="ro-RO" altLang="ro-RO" sz="2400" dirty="0">
                <a:latin typeface="Arial" pitchFamily="34" charset="0"/>
                <a:cs typeface="Arial" pitchFamily="34" charset="0"/>
              </a:rPr>
              <a:t>protected: pentru moștenire, vorbim mai târziu</a:t>
            </a:r>
          </a:p>
        </p:txBody>
      </p:sp>
      <p:sp>
        <p:nvSpPr>
          <p:cNvPr id="6" name="Google Shape;471;p35"/>
          <p:cNvSpPr txBox="1"/>
          <p:nvPr/>
        </p:nvSpPr>
        <p:spPr>
          <a:xfrm>
            <a:off x="762000" y="685800"/>
            <a:ext cx="80772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91440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Principiile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programarii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orientate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endParaRPr sz="2800" dirty="0">
              <a:solidFill>
                <a:srgbClr val="0070C0"/>
              </a:solidFill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1371600"/>
            <a:ext cx="3124200" cy="609600"/>
          </a:xfrm>
        </p:spPr>
        <p:txBody>
          <a:bodyPr/>
          <a:lstStyle/>
          <a:p>
            <a:pPr eaLnBrk="1" hangingPunct="1"/>
            <a:r>
              <a:rPr lang="en-US" altLang="ro-RO" sz="2400" b="1" dirty="0" err="1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Clase</a:t>
            </a:r>
            <a:endParaRPr lang="en-US" altLang="ro-RO" sz="2400" b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/>
          <p:cNvSpPr>
            <a:spLocks noChangeArrowheads="1"/>
          </p:cNvSpPr>
          <p:nvPr/>
        </p:nvSpPr>
        <p:spPr bwMode="auto">
          <a:xfrm>
            <a:off x="838200" y="1447800"/>
            <a:ext cx="5715000" cy="3786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b="1" dirty="0">
                <a:solidFill>
                  <a:srgbClr val="800000"/>
                </a:solidFill>
              </a:rPr>
              <a:t>class</a:t>
            </a:r>
            <a:r>
              <a:rPr lang="ro-RO" dirty="0"/>
              <a:t> nume_clasă </a:t>
            </a:r>
            <a:r>
              <a:rPr lang="ro-RO" dirty="0">
                <a:solidFill>
                  <a:srgbClr val="800080"/>
                </a:solidFill>
              </a:rPr>
              <a:t>{</a:t>
            </a:r>
            <a:r>
              <a:rPr lang="ro-RO" dirty="0"/>
              <a:t> </a:t>
            </a:r>
          </a:p>
          <a:p>
            <a:r>
              <a:rPr lang="ro-RO" b="1" dirty="0">
                <a:solidFill>
                  <a:srgbClr val="800000"/>
                </a:solidFill>
              </a:rPr>
              <a:t>	private</a:t>
            </a:r>
            <a:r>
              <a:rPr lang="ro-RO" dirty="0"/>
              <a:t> variabile şi funcții membru </a:t>
            </a:r>
            <a:r>
              <a:rPr lang="ro-RO" dirty="0">
                <a:solidFill>
                  <a:schemeClr val="accent2">
                    <a:lumMod val="75000"/>
                  </a:schemeClr>
                </a:solidFill>
              </a:rPr>
              <a:t>specificator_de_acces: </a:t>
            </a:r>
          </a:p>
          <a:p>
            <a:r>
              <a:rPr lang="ro-RO" dirty="0"/>
              <a:t>	 variabile şi funcții membru </a:t>
            </a:r>
            <a:r>
              <a:rPr lang="ro-RO" dirty="0">
                <a:solidFill>
                  <a:schemeClr val="accent2">
                    <a:lumMod val="75000"/>
                  </a:schemeClr>
                </a:solidFill>
              </a:rPr>
              <a:t>specificator_de_acces: </a:t>
            </a:r>
          </a:p>
          <a:p>
            <a:r>
              <a:rPr lang="ro-RO" dirty="0"/>
              <a:t>	 variabile şi funcții membru </a:t>
            </a:r>
          </a:p>
          <a:p>
            <a:r>
              <a:rPr lang="ro-RO" dirty="0">
                <a:solidFill>
                  <a:srgbClr val="696969"/>
                </a:solidFill>
              </a:rPr>
              <a:t>// ...</a:t>
            </a:r>
            <a:r>
              <a:rPr lang="ro-RO" dirty="0"/>
              <a:t> </a:t>
            </a:r>
          </a:p>
          <a:p>
            <a:r>
              <a:rPr lang="ro-RO" dirty="0">
                <a:solidFill>
                  <a:schemeClr val="accent2">
                    <a:lumMod val="75000"/>
                  </a:schemeClr>
                </a:solidFill>
              </a:rPr>
              <a:t>specificator_de_acces: </a:t>
            </a:r>
          </a:p>
          <a:p>
            <a:r>
              <a:rPr lang="ro-RO" dirty="0"/>
              <a:t>	 variabile şi funcții membru </a:t>
            </a:r>
          </a:p>
          <a:p>
            <a:r>
              <a:rPr lang="ro-RO" dirty="0">
                <a:solidFill>
                  <a:srgbClr val="800080"/>
                </a:solidFill>
              </a:rPr>
              <a:t>}</a:t>
            </a:r>
            <a:r>
              <a:rPr lang="ro-RO" dirty="0"/>
              <a:t> listă_obiecte</a:t>
            </a:r>
            <a:r>
              <a:rPr lang="ro-RO" dirty="0">
                <a:solidFill>
                  <a:srgbClr val="800080"/>
                </a:solidFill>
              </a:rPr>
              <a:t>;</a:t>
            </a:r>
            <a:endParaRPr lang="ro-RO" altLang="ro-RO" i="1" dirty="0"/>
          </a:p>
        </p:txBody>
      </p:sp>
      <p:sp>
        <p:nvSpPr>
          <p:cNvPr id="2253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81000" y="5410200"/>
            <a:ext cx="8534400" cy="762000"/>
          </a:xfrm>
          <a:noFill/>
        </p:spPr>
        <p:txBody>
          <a:bodyPr/>
          <a:lstStyle/>
          <a:p>
            <a:pPr marL="0" indent="0" eaLnBrk="1" hangingPunct="1">
              <a:spcBef>
                <a:spcPts val="0"/>
              </a:spcBef>
            </a:pPr>
            <a:r>
              <a:rPr lang="en-US" altLang="ro-RO" sz="2800" dirty="0"/>
              <a:t> </a:t>
            </a:r>
            <a:r>
              <a:rPr lang="ro-RO" altLang="ro-RO" sz="2800" dirty="0"/>
              <a:t>putem trece de la public la private şi iar la public, etc.</a:t>
            </a:r>
          </a:p>
        </p:txBody>
      </p:sp>
      <p:sp>
        <p:nvSpPr>
          <p:cNvPr id="7" name="Google Shape;471;p35"/>
          <p:cNvSpPr txBox="1"/>
          <p:nvPr/>
        </p:nvSpPr>
        <p:spPr>
          <a:xfrm>
            <a:off x="762000" y="228600"/>
            <a:ext cx="80772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91440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Principiile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programarii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orientate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endParaRPr sz="2800" dirty="0">
              <a:solidFill>
                <a:srgbClr val="0070C0"/>
              </a:solidFill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914400"/>
            <a:ext cx="3124200" cy="609600"/>
          </a:xfrm>
        </p:spPr>
        <p:txBody>
          <a:bodyPr/>
          <a:lstStyle/>
          <a:p>
            <a:pPr eaLnBrk="1" hangingPunct="1"/>
            <a:r>
              <a:rPr lang="en-US" altLang="ro-RO" sz="2400" b="1" dirty="0" err="1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Clase</a:t>
            </a:r>
            <a:endParaRPr lang="en-US" altLang="ro-RO" sz="2400" b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3388" y="2209800"/>
            <a:ext cx="7772400" cy="2971800"/>
          </a:xfrm>
        </p:spPr>
        <p:txBody>
          <a:bodyPr/>
          <a:lstStyle/>
          <a:p>
            <a:pPr eaLnBrk="1" hangingPunct="1"/>
            <a:r>
              <a:rPr lang="en-US" altLang="ro-RO" sz="2400" dirty="0" err="1">
                <a:latin typeface="Arial" pitchFamily="34" charset="0"/>
                <a:cs typeface="Arial" pitchFamily="34" charset="0"/>
              </a:rPr>
              <a:t>variabilele</a:t>
            </a:r>
            <a:r>
              <a:rPr lang="en-US" altLang="ro-RO" sz="2400" dirty="0">
                <a:latin typeface="Arial" pitchFamily="34" charset="0"/>
                <a:cs typeface="Arial" pitchFamily="34" charset="0"/>
              </a:rPr>
              <a:t> de </a:t>
            </a:r>
            <a:r>
              <a:rPr lang="en-US" altLang="ro-RO" sz="2400" dirty="0" err="1">
                <a:latin typeface="Arial" pitchFamily="34" charset="0"/>
                <a:cs typeface="Arial" pitchFamily="34" charset="0"/>
              </a:rPr>
              <a:t>instanta</a:t>
            </a:r>
            <a:r>
              <a:rPr lang="en-US" altLang="ro-RO" sz="2400" dirty="0">
                <a:latin typeface="Arial" pitchFamily="34" charset="0"/>
                <a:cs typeface="Arial" pitchFamily="34" charset="0"/>
              </a:rPr>
              <a:t> (instance </a:t>
            </a:r>
            <a:r>
              <a:rPr lang="en-US" altLang="ro-RO" sz="2400" dirty="0" err="1">
                <a:latin typeface="Arial" pitchFamily="34" charset="0"/>
                <a:cs typeface="Arial" pitchFamily="34" charset="0"/>
              </a:rPr>
              <a:t>variabiles</a:t>
            </a:r>
            <a:r>
              <a:rPr lang="en-US" altLang="ro-RO" sz="2400" dirty="0">
                <a:latin typeface="Arial" pitchFamily="34" charset="0"/>
                <a:cs typeface="Arial" pitchFamily="34" charset="0"/>
              </a:rPr>
              <a:t>)</a:t>
            </a:r>
          </a:p>
          <a:p>
            <a:pPr eaLnBrk="1" hangingPunct="1"/>
            <a:endParaRPr lang="en-US" altLang="ro-RO" sz="2400" dirty="0">
              <a:latin typeface="Arial" pitchFamily="34" charset="0"/>
              <a:cs typeface="Arial" pitchFamily="34" charset="0"/>
            </a:endParaRPr>
          </a:p>
          <a:p>
            <a:pPr eaLnBrk="1" hangingPunct="1"/>
            <a:r>
              <a:rPr lang="en-US" altLang="ro-RO" sz="2400" dirty="0" err="1">
                <a:latin typeface="Arial" pitchFamily="34" charset="0"/>
                <a:cs typeface="Arial" pitchFamily="34" charset="0"/>
              </a:rPr>
              <a:t>membri</a:t>
            </a:r>
            <a:r>
              <a:rPr lang="en-US" altLang="ro-RO" sz="2400" dirty="0">
                <a:latin typeface="Arial" pitchFamily="34" charset="0"/>
                <a:cs typeface="Arial" pitchFamily="34" charset="0"/>
              </a:rPr>
              <a:t> de tip date </a:t>
            </a:r>
            <a:r>
              <a:rPr lang="en-US" altLang="ro-RO" sz="2400" dirty="0" err="1">
                <a:latin typeface="Arial" pitchFamily="34" charset="0"/>
                <a:cs typeface="Arial" pitchFamily="34" charset="0"/>
              </a:rPr>
              <a:t>ai</a:t>
            </a:r>
            <a:r>
              <a:rPr lang="en-US" altLang="ro-RO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ro-RO" sz="2400" dirty="0" err="1">
                <a:latin typeface="Arial" pitchFamily="34" charset="0"/>
                <a:cs typeface="Arial" pitchFamily="34" charset="0"/>
              </a:rPr>
              <a:t>clasei</a:t>
            </a:r>
            <a:endParaRPr lang="en-US" altLang="ro-RO" sz="2400" dirty="0">
              <a:latin typeface="Arial" pitchFamily="34" charset="0"/>
              <a:cs typeface="Arial" pitchFamily="34" charset="0"/>
            </a:endParaRPr>
          </a:p>
          <a:p>
            <a:pPr lvl="1" eaLnBrk="1" hangingPunct="1"/>
            <a:r>
              <a:rPr lang="en-US" altLang="ro-RO" sz="2400" dirty="0">
                <a:latin typeface="Arial" pitchFamily="34" charset="0"/>
                <a:cs typeface="Arial" pitchFamily="34" charset="0"/>
              </a:rPr>
              <a:t>in general private</a:t>
            </a:r>
          </a:p>
          <a:p>
            <a:pPr lvl="1" eaLnBrk="1" hangingPunct="1"/>
            <a:r>
              <a:rPr lang="en-US" altLang="ro-RO" sz="2400" dirty="0" err="1">
                <a:latin typeface="Arial" pitchFamily="34" charset="0"/>
                <a:cs typeface="Arial" pitchFamily="34" charset="0"/>
              </a:rPr>
              <a:t>pentru</a:t>
            </a:r>
            <a:r>
              <a:rPr lang="en-US" altLang="ro-RO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ro-RO" sz="2400" dirty="0" err="1">
                <a:latin typeface="Arial" pitchFamily="34" charset="0"/>
                <a:cs typeface="Arial" pitchFamily="34" charset="0"/>
              </a:rPr>
              <a:t>viteza</a:t>
            </a:r>
            <a:r>
              <a:rPr lang="en-US" altLang="ro-RO" sz="2400" dirty="0">
                <a:latin typeface="Arial" pitchFamily="34" charset="0"/>
                <a:cs typeface="Arial" pitchFamily="34" charset="0"/>
              </a:rPr>
              <a:t> se pot </a:t>
            </a:r>
            <a:r>
              <a:rPr lang="en-US" altLang="ro-RO" sz="2400" dirty="0" err="1">
                <a:latin typeface="Arial" pitchFamily="34" charset="0"/>
                <a:cs typeface="Arial" pitchFamily="34" charset="0"/>
              </a:rPr>
              <a:t>folosi</a:t>
            </a:r>
            <a:r>
              <a:rPr lang="en-US" altLang="ro-RO" sz="2400" dirty="0">
                <a:latin typeface="Arial" pitchFamily="34" charset="0"/>
                <a:cs typeface="Arial" pitchFamily="34" charset="0"/>
              </a:rPr>
              <a:t> “public” </a:t>
            </a:r>
            <a:r>
              <a:rPr lang="en-US" altLang="ro-RO" sz="2400" dirty="0" err="1">
                <a:latin typeface="Arial" pitchFamily="34" charset="0"/>
                <a:cs typeface="Arial" pitchFamily="34" charset="0"/>
              </a:rPr>
              <a:t>dar</a:t>
            </a:r>
            <a:r>
              <a:rPr lang="en-US" altLang="ro-RO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ro-RO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NU LA ACEST CURS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2873188" y="1066800"/>
            <a:ext cx="3124200" cy="609600"/>
          </a:xfrm>
        </p:spPr>
        <p:txBody>
          <a:bodyPr/>
          <a:lstStyle/>
          <a:p>
            <a:pPr eaLnBrk="1" hangingPunct="1"/>
            <a:r>
              <a:rPr lang="en-US" altLang="ro-RO" sz="2400" b="1" dirty="0" err="1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Clase</a:t>
            </a:r>
            <a:endParaRPr lang="en-US" altLang="ro-RO" sz="2400" b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Google Shape;471;p35"/>
          <p:cNvSpPr txBox="1"/>
          <p:nvPr/>
        </p:nvSpPr>
        <p:spPr>
          <a:xfrm>
            <a:off x="739588" y="152400"/>
            <a:ext cx="80772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91440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Principiile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programarii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orientate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endParaRPr sz="28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0"/>
            <a:ext cx="7772400" cy="2514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o-RO" altLang="ro-RO" sz="2400" dirty="0">
                <a:latin typeface="Arial" pitchFamily="34" charset="0"/>
                <a:cs typeface="Arial" pitchFamily="34" charset="0"/>
              </a:rPr>
              <a:t>se folosește mai mult a doua variantă</a:t>
            </a:r>
          </a:p>
          <a:p>
            <a:pPr eaLnBrk="1" hangingPunct="1">
              <a:lnSpc>
                <a:spcPct val="90000"/>
              </a:lnSpc>
            </a:pPr>
            <a:r>
              <a:rPr lang="ro-RO" altLang="ro-RO" sz="2400" dirty="0">
                <a:latin typeface="Arial" pitchFamily="34" charset="0"/>
                <a:cs typeface="Arial" pitchFamily="34" charset="0"/>
              </a:rPr>
              <a:t>un membru (ne-static) al clasei nu poate avea inițializare</a:t>
            </a:r>
          </a:p>
          <a:p>
            <a:pPr eaLnBrk="1" hangingPunct="1">
              <a:lnSpc>
                <a:spcPct val="90000"/>
              </a:lnSpc>
            </a:pPr>
            <a:r>
              <a:rPr lang="ro-RO" altLang="ro-RO" sz="2400" dirty="0">
                <a:latin typeface="Arial" pitchFamily="34" charset="0"/>
                <a:cs typeface="Arial" pitchFamily="34" charset="0"/>
              </a:rPr>
              <a:t>nu putem avea ca membri obiecte de tipul clasei (putem avea pointeri la tipul clasei)</a:t>
            </a:r>
          </a:p>
          <a:p>
            <a:pPr eaLnBrk="1" hangingPunct="1">
              <a:lnSpc>
                <a:spcPct val="90000"/>
              </a:lnSpc>
            </a:pPr>
            <a:r>
              <a:rPr lang="ro-RO" altLang="ro-RO" sz="2400" dirty="0">
                <a:latin typeface="Arial" pitchFamily="34" charset="0"/>
                <a:cs typeface="Arial" pitchFamily="34" charset="0"/>
              </a:rPr>
              <a:t>nu auto, extern, register</a:t>
            </a:r>
          </a:p>
          <a:p>
            <a:pPr eaLnBrk="1" hangingPunct="1">
              <a:lnSpc>
                <a:spcPct val="90000"/>
              </a:lnSpc>
            </a:pPr>
            <a:endParaRPr lang="ro-RO" altLang="ro-RO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1143000"/>
            <a:ext cx="3124200" cy="609600"/>
          </a:xfrm>
        </p:spPr>
        <p:txBody>
          <a:bodyPr/>
          <a:lstStyle/>
          <a:p>
            <a:pPr eaLnBrk="1" hangingPunct="1"/>
            <a:r>
              <a:rPr lang="en-US" altLang="ro-RO" sz="2400" b="1" dirty="0" err="1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Clase</a:t>
            </a:r>
            <a:endParaRPr lang="en-US" altLang="ro-RO" sz="2400" b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Google Shape;471;p35"/>
          <p:cNvSpPr txBox="1"/>
          <p:nvPr/>
        </p:nvSpPr>
        <p:spPr>
          <a:xfrm>
            <a:off x="788894" y="104272"/>
            <a:ext cx="80772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91440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Principiile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programarii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orientate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endParaRPr sz="28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4"/>
          <p:cNvSpPr>
            <a:spLocks noChangeArrowheads="1"/>
          </p:cNvSpPr>
          <p:nvPr/>
        </p:nvSpPr>
        <p:spPr bwMode="auto">
          <a:xfrm>
            <a:off x="228600" y="1828800"/>
            <a:ext cx="5029200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class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employee </a:t>
            </a:r>
            <a:r>
              <a:rPr lang="ro-RO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{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ro-RO" sz="2000" dirty="0">
                <a:solidFill>
                  <a:srgbClr val="696969"/>
                </a:solidFill>
                <a:latin typeface="Arial" pitchFamily="34" charset="0"/>
                <a:cs typeface="Arial" pitchFamily="34" charset="0"/>
              </a:rPr>
              <a:t>// private </a:t>
            </a:r>
            <a:r>
              <a:rPr lang="en-US" sz="2000" dirty="0">
                <a:solidFill>
                  <a:srgbClr val="696969"/>
                </a:solidFill>
                <a:latin typeface="Arial" pitchFamily="34" charset="0"/>
                <a:cs typeface="Arial" pitchFamily="34" charset="0"/>
              </a:rPr>
              <a:t>din </a:t>
            </a:r>
            <a:r>
              <a:rPr lang="en-US" sz="2000" dirty="0" err="1">
                <a:solidFill>
                  <a:srgbClr val="696969"/>
                </a:solidFill>
                <a:latin typeface="Arial" pitchFamily="34" charset="0"/>
                <a:cs typeface="Arial" pitchFamily="34" charset="0"/>
              </a:rPr>
              <a:t>oficiu</a:t>
            </a:r>
            <a:endParaRPr lang="ro-RO" sz="2000" dirty="0">
              <a:latin typeface="Arial" pitchFamily="34" charset="0"/>
              <a:cs typeface="Arial" pitchFamily="34" charset="0"/>
            </a:endParaRPr>
          </a:p>
          <a:p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	char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name</a:t>
            </a:r>
            <a:r>
              <a:rPr lang="ro-RO" sz="2000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[</a:t>
            </a:r>
            <a:r>
              <a:rPr lang="ro-RO" sz="2000" dirty="0">
                <a:solidFill>
                  <a:srgbClr val="008C00"/>
                </a:solidFill>
                <a:latin typeface="Arial" pitchFamily="34" charset="0"/>
                <a:cs typeface="Arial" pitchFamily="34" charset="0"/>
              </a:rPr>
              <a:t>80</a:t>
            </a:r>
            <a:r>
              <a:rPr lang="ro-RO" sz="2000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]</a:t>
            </a:r>
            <a:r>
              <a:rPr lang="ro-RO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public</a:t>
            </a:r>
            <a:r>
              <a:rPr lang="ro-RO" sz="2000" dirty="0">
                <a:solidFill>
                  <a:srgbClr val="E34ADC"/>
                </a:solidFill>
                <a:latin typeface="Arial" pitchFamily="34" charset="0"/>
                <a:cs typeface="Arial" pitchFamily="34" charset="0"/>
              </a:rPr>
              <a:t>: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ro-RO" sz="2000" dirty="0">
                <a:solidFill>
                  <a:srgbClr val="696969"/>
                </a:solidFill>
                <a:latin typeface="Arial" pitchFamily="34" charset="0"/>
                <a:cs typeface="Arial" pitchFamily="34" charset="0"/>
              </a:rPr>
              <a:t>// acestea sunt  publice</a:t>
            </a:r>
            <a:endParaRPr lang="ro-RO" sz="2000" dirty="0">
              <a:latin typeface="Arial" pitchFamily="34" charset="0"/>
              <a:cs typeface="Arial" pitchFamily="34" charset="0"/>
            </a:endParaRPr>
          </a:p>
          <a:p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	void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putname</a:t>
            </a:r>
            <a:r>
              <a:rPr lang="ro-RO" sz="2000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char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o-RO" sz="2000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*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n</a:t>
            </a:r>
            <a:r>
              <a:rPr lang="ro-RO" sz="2000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ro-RO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  <a:endParaRPr lang="ro-RO" sz="2000" dirty="0">
              <a:solidFill>
                <a:srgbClr val="696969"/>
              </a:solidFill>
              <a:latin typeface="Arial" pitchFamily="34" charset="0"/>
              <a:cs typeface="Arial" pitchFamily="34" charset="0"/>
            </a:endParaRPr>
          </a:p>
          <a:p>
            <a:r>
              <a:rPr lang="ro-RO" sz="2000" dirty="0">
                <a:solidFill>
                  <a:srgbClr val="696969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void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getname</a:t>
            </a:r>
            <a:r>
              <a:rPr lang="ro-RO" sz="2000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char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o-RO" sz="2000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*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n</a:t>
            </a:r>
            <a:r>
              <a:rPr lang="ro-RO" sz="2000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ro-RO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private</a:t>
            </a:r>
            <a:r>
              <a:rPr lang="ro-RO" sz="2000" dirty="0">
                <a:solidFill>
                  <a:srgbClr val="E34ADC"/>
                </a:solidFill>
                <a:latin typeface="Arial" pitchFamily="34" charset="0"/>
                <a:cs typeface="Arial" pitchFamily="34" charset="0"/>
              </a:rPr>
              <a:t>: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ro-RO" sz="2000" dirty="0">
                <a:solidFill>
                  <a:srgbClr val="696969"/>
                </a:solidFill>
                <a:latin typeface="Arial" pitchFamily="34" charset="0"/>
                <a:cs typeface="Arial" pitchFamily="34" charset="0"/>
              </a:rPr>
              <a:t>// acum din nou  private </a:t>
            </a:r>
            <a:endParaRPr lang="en-US" sz="2000" dirty="0">
              <a:solidFill>
                <a:srgbClr val="696969"/>
              </a:solidFill>
              <a:latin typeface="Arial" pitchFamily="34" charset="0"/>
              <a:cs typeface="Arial" pitchFamily="34" charset="0"/>
            </a:endParaRPr>
          </a:p>
          <a:p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	double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wage</a:t>
            </a:r>
            <a:r>
              <a:rPr lang="ro-RO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public</a:t>
            </a:r>
            <a:r>
              <a:rPr lang="ro-RO" sz="2000" dirty="0">
                <a:solidFill>
                  <a:srgbClr val="E34ADC"/>
                </a:solidFill>
                <a:latin typeface="Arial" pitchFamily="34" charset="0"/>
                <a:cs typeface="Arial" pitchFamily="34" charset="0"/>
              </a:rPr>
              <a:t>: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ro-RO" sz="2000" dirty="0">
                <a:solidFill>
                  <a:srgbClr val="696969"/>
                </a:solidFill>
                <a:latin typeface="Arial" pitchFamily="34" charset="0"/>
                <a:cs typeface="Arial" pitchFamily="34" charset="0"/>
              </a:rPr>
              <a:t>// înapoi la public </a:t>
            </a:r>
            <a:endParaRPr lang="en-US" sz="2000" dirty="0">
              <a:solidFill>
                <a:srgbClr val="696969"/>
              </a:solidFill>
              <a:latin typeface="Arial" pitchFamily="34" charset="0"/>
              <a:cs typeface="Arial" pitchFamily="34" charset="0"/>
            </a:endParaRPr>
          </a:p>
          <a:p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	void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putwage</a:t>
            </a:r>
            <a:r>
              <a:rPr lang="ro-RO" sz="2000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double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w</a:t>
            </a:r>
            <a:r>
              <a:rPr lang="ro-RO" sz="2000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ro-RO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  <a:endParaRPr lang="ro-RO" sz="2000" dirty="0">
              <a:solidFill>
                <a:srgbClr val="696969"/>
              </a:solidFill>
              <a:latin typeface="Arial" pitchFamily="34" charset="0"/>
              <a:cs typeface="Arial" pitchFamily="34" charset="0"/>
            </a:endParaRPr>
          </a:p>
          <a:p>
            <a:r>
              <a:rPr lang="ro-RO" sz="2000" dirty="0">
                <a:solidFill>
                  <a:srgbClr val="696969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double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getwage</a:t>
            </a:r>
            <a:r>
              <a:rPr lang="ro-RO" sz="2000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()</a:t>
            </a:r>
            <a:r>
              <a:rPr lang="ro-RO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ro-RO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};</a:t>
            </a:r>
            <a:endParaRPr lang="ro-RO" altLang="ro-RO" sz="2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556" name="Rectangle 5"/>
          <p:cNvSpPr>
            <a:spLocks noChangeArrowheads="1"/>
          </p:cNvSpPr>
          <p:nvPr/>
        </p:nvSpPr>
        <p:spPr bwMode="auto">
          <a:xfrm>
            <a:off x="4724400" y="1828800"/>
            <a:ext cx="4267200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class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employee </a:t>
            </a:r>
            <a:r>
              <a:rPr lang="ro-RO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{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char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name</a:t>
            </a:r>
            <a:r>
              <a:rPr lang="ro-RO" sz="2000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[</a:t>
            </a:r>
            <a:r>
              <a:rPr lang="ro-RO" sz="2000" dirty="0">
                <a:solidFill>
                  <a:srgbClr val="008C00"/>
                </a:solidFill>
                <a:latin typeface="Arial" pitchFamily="34" charset="0"/>
                <a:cs typeface="Arial" pitchFamily="34" charset="0"/>
              </a:rPr>
              <a:t>80</a:t>
            </a:r>
            <a:r>
              <a:rPr lang="ro-RO" sz="2000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]</a:t>
            </a:r>
            <a:r>
              <a:rPr lang="ro-RO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;</a:t>
            </a:r>
            <a:endParaRPr lang="en-US" sz="2000" dirty="0">
              <a:solidFill>
                <a:srgbClr val="80008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double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wage</a:t>
            </a:r>
            <a:r>
              <a:rPr lang="ro-RO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;</a:t>
            </a:r>
            <a:endParaRPr lang="en-US" sz="2000" dirty="0">
              <a:solidFill>
                <a:srgbClr val="800080"/>
              </a:solidFill>
              <a:latin typeface="Arial" pitchFamily="34" charset="0"/>
              <a:cs typeface="Arial" pitchFamily="34" charset="0"/>
            </a:endParaRPr>
          </a:p>
          <a:p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public</a:t>
            </a:r>
            <a:r>
              <a:rPr lang="ro-RO" sz="2000" dirty="0">
                <a:solidFill>
                  <a:srgbClr val="E34ADC"/>
                </a:solidFill>
                <a:latin typeface="Arial" pitchFamily="34" charset="0"/>
                <a:cs typeface="Arial" pitchFamily="34" charset="0"/>
              </a:rPr>
              <a:t>: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void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putname</a:t>
            </a:r>
            <a:r>
              <a:rPr lang="ro-RO" sz="2000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char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o-RO" sz="2000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*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n</a:t>
            </a:r>
            <a:r>
              <a:rPr lang="ro-RO" sz="2000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ro-RO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;</a:t>
            </a:r>
            <a:endParaRPr lang="en-US" sz="2000" dirty="0">
              <a:solidFill>
                <a:srgbClr val="80008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void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getname</a:t>
            </a:r>
            <a:r>
              <a:rPr lang="ro-RO" sz="2000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char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o-RO" sz="2000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*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n</a:t>
            </a:r>
            <a:r>
              <a:rPr lang="ro-RO" sz="2000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ro-RO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;</a:t>
            </a:r>
            <a:endParaRPr lang="en-US" sz="2000" dirty="0">
              <a:solidFill>
                <a:srgbClr val="80008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void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putwage</a:t>
            </a:r>
            <a:r>
              <a:rPr lang="ro-RO" sz="2000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double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w</a:t>
            </a:r>
            <a:r>
              <a:rPr lang="ro-RO" sz="2000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ro-RO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double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getwage</a:t>
            </a:r>
            <a:r>
              <a:rPr lang="ro-RO" sz="2000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()</a:t>
            </a:r>
            <a:r>
              <a:rPr lang="ro-RO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ro-RO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};</a:t>
            </a:r>
            <a:endParaRPr lang="en-US" altLang="ro-RO" sz="2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1143000"/>
            <a:ext cx="3124200" cy="609600"/>
          </a:xfrm>
        </p:spPr>
        <p:txBody>
          <a:bodyPr/>
          <a:lstStyle/>
          <a:p>
            <a:pPr eaLnBrk="1" hangingPunct="1"/>
            <a:r>
              <a:rPr lang="en-US" altLang="ro-RO" sz="2400" b="1" dirty="0" err="1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Clase</a:t>
            </a:r>
            <a:endParaRPr lang="en-US" altLang="ro-RO" sz="2400" b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Google Shape;471;p35"/>
          <p:cNvSpPr txBox="1"/>
          <p:nvPr/>
        </p:nvSpPr>
        <p:spPr>
          <a:xfrm>
            <a:off x="914400" y="90825"/>
            <a:ext cx="80772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91440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Principiile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programarii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orientate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endParaRPr sz="28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5334000"/>
            <a:ext cx="7772400" cy="914400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defRPr/>
            </a:pPr>
            <a:r>
              <a:rPr lang="ro-RO" altLang="ro-RO" sz="2400" dirty="0"/>
              <a:t>init(), push(), pop() sunt funcții membru</a:t>
            </a:r>
          </a:p>
          <a:p>
            <a:pPr marL="0" indent="0" eaLnBrk="1" hangingPunct="1">
              <a:spcBef>
                <a:spcPts val="0"/>
              </a:spcBef>
              <a:defRPr/>
            </a:pPr>
            <a:r>
              <a:rPr lang="ro-RO" altLang="ro-RO" sz="2400" dirty="0"/>
              <a:t>stck, tos: variabile membru </a:t>
            </a:r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2057400" y="1571625"/>
            <a:ext cx="5791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rgbClr val="004A43"/>
                </a:solidFill>
                <a:latin typeface="Arial" pitchFamily="34" charset="0"/>
                <a:cs typeface="Arial" pitchFamily="34" charset="0"/>
              </a:rPr>
              <a:t>#define SIZE 100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US" dirty="0">
                <a:solidFill>
                  <a:srgbClr val="696969"/>
                </a:solidFill>
                <a:latin typeface="Arial" pitchFamily="34" charset="0"/>
                <a:cs typeface="Arial" pitchFamily="34" charset="0"/>
              </a:rPr>
              <a:t>// This creates the class stack.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US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603000"/>
                </a:solidFill>
                <a:latin typeface="Arial" pitchFamily="34" charset="0"/>
                <a:cs typeface="Arial" pitchFamily="34" charset="0"/>
              </a:rPr>
              <a:t>stack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{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US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n-US" b="1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stck</a:t>
            </a:r>
            <a:r>
              <a:rPr lang="en-US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[</a:t>
            </a:r>
            <a:r>
              <a:rPr lang="en-US" dirty="0">
                <a:solidFill>
                  <a:srgbClr val="603000"/>
                </a:solidFill>
                <a:latin typeface="Arial" pitchFamily="34" charset="0"/>
                <a:cs typeface="Arial" pitchFamily="34" charset="0"/>
              </a:rPr>
              <a:t>SIZE</a:t>
            </a:r>
            <a:r>
              <a:rPr lang="en-US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]</a:t>
            </a:r>
            <a:r>
              <a:rPr lang="en-US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US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n-US" b="1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tos</a:t>
            </a:r>
            <a:r>
              <a:rPr lang="en-US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US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public</a:t>
            </a:r>
            <a:r>
              <a:rPr lang="en-US" dirty="0">
                <a:solidFill>
                  <a:srgbClr val="E34ADC"/>
                </a:solidFill>
                <a:latin typeface="Arial" pitchFamily="34" charset="0"/>
                <a:cs typeface="Arial" pitchFamily="34" charset="0"/>
              </a:rPr>
              <a:t>: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US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n-US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init</a:t>
            </a:r>
            <a:r>
              <a:rPr lang="en-US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()</a:t>
            </a:r>
            <a:r>
              <a:rPr lang="en-US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US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n-US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push</a:t>
            </a:r>
            <a:r>
              <a:rPr lang="en-US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b="1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en-US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en-US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US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n-US" b="1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pop</a:t>
            </a:r>
            <a:r>
              <a:rPr lang="en-US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()</a:t>
            </a:r>
            <a:r>
              <a:rPr lang="en-US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US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};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altLang="ro-RO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914400"/>
            <a:ext cx="3124200" cy="609600"/>
          </a:xfrm>
        </p:spPr>
        <p:txBody>
          <a:bodyPr/>
          <a:lstStyle/>
          <a:p>
            <a:pPr eaLnBrk="1" hangingPunct="1"/>
            <a:r>
              <a:rPr lang="en-US" altLang="ro-RO" sz="2400" b="1" dirty="0" err="1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Clase</a:t>
            </a:r>
            <a:endParaRPr lang="en-US" altLang="ro-RO" sz="2400" b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Google Shape;471;p35"/>
          <p:cNvSpPr txBox="1"/>
          <p:nvPr/>
        </p:nvSpPr>
        <p:spPr>
          <a:xfrm>
            <a:off x="762000" y="228600"/>
            <a:ext cx="80772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91440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Principiile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programarii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orientate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endParaRPr sz="28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077200" cy="1828800"/>
          </a:xfrm>
        </p:spPr>
        <p:txBody>
          <a:bodyPr/>
          <a:lstStyle/>
          <a:p>
            <a:pPr eaLnBrk="1" hangingPunct="1"/>
            <a:r>
              <a:rPr lang="ro-RO" altLang="ro-RO" sz="2400" dirty="0">
                <a:latin typeface="Arial" pitchFamily="34" charset="0"/>
                <a:cs typeface="Arial" pitchFamily="34" charset="0"/>
              </a:rPr>
              <a:t>se creează un tip nou de date</a:t>
            </a:r>
          </a:p>
          <a:p>
            <a:pPr eaLnBrk="1" hangingPunct="1"/>
            <a:r>
              <a:rPr lang="ro-RO" altLang="ro-RO" sz="2400" dirty="0">
                <a:latin typeface="Arial" pitchFamily="34" charset="0"/>
                <a:cs typeface="Arial" pitchFamily="34" charset="0"/>
              </a:rPr>
              <a:t>un obiect instanţiază clasa</a:t>
            </a:r>
          </a:p>
          <a:p>
            <a:pPr eaLnBrk="1" hangingPunct="1"/>
            <a:r>
              <a:rPr lang="ro-RO" altLang="ro-RO" sz="2400" dirty="0">
                <a:latin typeface="Arial" pitchFamily="34" charset="0"/>
                <a:cs typeface="Arial" pitchFamily="34" charset="0"/>
              </a:rPr>
              <a:t>funcțiile membru sunt date prin semnătură</a:t>
            </a:r>
          </a:p>
          <a:p>
            <a:pPr eaLnBrk="1" hangingPunct="1"/>
            <a:r>
              <a:rPr lang="ro-RO" altLang="ro-RO" sz="2400" dirty="0">
                <a:latin typeface="Arial" pitchFamily="34" charset="0"/>
                <a:cs typeface="Arial" pitchFamily="34" charset="0"/>
              </a:rPr>
              <a:t>pentru definirea fiecărei funcții se folosește ::</a:t>
            </a:r>
          </a:p>
        </p:txBody>
      </p:sp>
      <p:sp>
        <p:nvSpPr>
          <p:cNvPr id="28675" name="Rectangle 4"/>
          <p:cNvSpPr>
            <a:spLocks noChangeArrowheads="1"/>
          </p:cNvSpPr>
          <p:nvPr/>
        </p:nvSpPr>
        <p:spPr bwMode="auto">
          <a:xfrm>
            <a:off x="6402829" y="1676400"/>
            <a:ext cx="227177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ro-RO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stack</a:t>
            </a:r>
            <a:r>
              <a:rPr lang="en-US" altLang="ro-RO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ro-RO" dirty="0" err="1">
                <a:latin typeface="Arial" pitchFamily="34" charset="0"/>
                <a:cs typeface="Arial" pitchFamily="34" charset="0"/>
              </a:rPr>
              <a:t>mystack</a:t>
            </a:r>
            <a:r>
              <a:rPr lang="en-US" altLang="ro-RO" dirty="0">
                <a:latin typeface="Arial" pitchFamily="34" charset="0"/>
                <a:cs typeface="Arial" pitchFamily="34" charset="0"/>
              </a:rPr>
              <a:t>;</a:t>
            </a:r>
          </a:p>
        </p:txBody>
      </p:sp>
      <p:sp>
        <p:nvSpPr>
          <p:cNvPr id="28676" name="Rectangle 5"/>
          <p:cNvSpPr>
            <a:spLocks noChangeArrowheads="1"/>
          </p:cNvSpPr>
          <p:nvPr/>
        </p:nvSpPr>
        <p:spPr bwMode="auto">
          <a:xfrm>
            <a:off x="1066800" y="3581400"/>
            <a:ext cx="72390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void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603000"/>
                </a:solidFill>
                <a:latin typeface="Arial" pitchFamily="34" charset="0"/>
                <a:cs typeface="Arial" pitchFamily="34" charset="0"/>
              </a:rPr>
              <a:t>stack</a:t>
            </a:r>
            <a:r>
              <a:rPr lang="en-US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::</a:t>
            </a:r>
            <a:r>
              <a:rPr lang="en-US" dirty="0">
                <a:latin typeface="Arial" pitchFamily="34" charset="0"/>
                <a:cs typeface="Arial" pitchFamily="34" charset="0"/>
              </a:rPr>
              <a:t>push</a:t>
            </a:r>
            <a:r>
              <a:rPr lang="en-US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b="1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int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i</a:t>
            </a:r>
            <a:r>
              <a:rPr lang="en-US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en-US" dirty="0">
                <a:latin typeface="Arial" pitchFamily="34" charset="0"/>
                <a:cs typeface="Arial" pitchFamily="34" charset="0"/>
              </a:rPr>
              <a:t>  </a:t>
            </a:r>
            <a:r>
              <a:rPr lang="en-US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{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US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	if</a:t>
            </a:r>
            <a:r>
              <a:rPr lang="en-US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tos</a:t>
            </a:r>
            <a:r>
              <a:rPr lang="en-US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==</a:t>
            </a:r>
            <a:r>
              <a:rPr lang="en-US" dirty="0">
                <a:solidFill>
                  <a:srgbClr val="603000"/>
                </a:solidFill>
                <a:latin typeface="Arial" pitchFamily="34" charset="0"/>
                <a:cs typeface="Arial" pitchFamily="34" charset="0"/>
              </a:rPr>
              <a:t>SIZE</a:t>
            </a:r>
            <a:r>
              <a:rPr lang="en-US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{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US" dirty="0">
                <a:solidFill>
                  <a:srgbClr val="603000"/>
                </a:solidFill>
                <a:latin typeface="Arial" pitchFamily="34" charset="0"/>
                <a:cs typeface="Arial" pitchFamily="34" charset="0"/>
              </a:rPr>
              <a:t>		</a:t>
            </a:r>
            <a:r>
              <a:rPr lang="en-US" dirty="0" err="1">
                <a:solidFill>
                  <a:srgbClr val="603000"/>
                </a:solidFill>
                <a:latin typeface="Arial" pitchFamily="34" charset="0"/>
                <a:cs typeface="Arial" pitchFamily="34" charset="0"/>
              </a:rPr>
              <a:t>cout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&lt;&lt;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"</a:t>
            </a:r>
            <a:r>
              <a:rPr lang="en-US" dirty="0">
                <a:solidFill>
                  <a:srgbClr val="0000E6"/>
                </a:solidFill>
                <a:latin typeface="Arial" pitchFamily="34" charset="0"/>
                <a:cs typeface="Arial" pitchFamily="34" charset="0"/>
              </a:rPr>
              <a:t>Stack is full.</a:t>
            </a:r>
            <a:r>
              <a:rPr lang="en-US" dirty="0">
                <a:solidFill>
                  <a:srgbClr val="0F69FF"/>
                </a:solidFill>
                <a:latin typeface="Arial" pitchFamily="34" charset="0"/>
                <a:cs typeface="Arial" pitchFamily="34" charset="0"/>
              </a:rPr>
              <a:t>\n</a:t>
            </a:r>
            <a:r>
              <a:rPr lang="en-US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"</a:t>
            </a:r>
            <a:r>
              <a:rPr lang="en-US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en-US" dirty="0">
                <a:latin typeface="Arial" pitchFamily="34" charset="0"/>
                <a:cs typeface="Arial" pitchFamily="34" charset="0"/>
              </a:rPr>
              <a:t> 		</a:t>
            </a:r>
            <a:r>
              <a:rPr lang="en-US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return</a:t>
            </a:r>
            <a:r>
              <a:rPr lang="en-US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}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	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stck</a:t>
            </a:r>
            <a:r>
              <a:rPr lang="en-US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[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tos</a:t>
            </a:r>
            <a:r>
              <a:rPr lang="en-US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]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=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i</a:t>
            </a:r>
            <a:r>
              <a:rPr lang="en-US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	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tos</a:t>
            </a:r>
            <a:r>
              <a:rPr lang="en-US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++</a:t>
            </a:r>
            <a:r>
              <a:rPr lang="en-US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US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}</a:t>
            </a:r>
            <a:endParaRPr lang="en-US" altLang="ro-RO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914400"/>
            <a:ext cx="3124200" cy="609600"/>
          </a:xfrm>
        </p:spPr>
        <p:txBody>
          <a:bodyPr/>
          <a:lstStyle/>
          <a:p>
            <a:pPr eaLnBrk="1" hangingPunct="1"/>
            <a:r>
              <a:rPr lang="en-US" altLang="ro-RO" sz="2400" b="1" dirty="0" err="1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Clase</a:t>
            </a:r>
            <a:endParaRPr lang="en-US" altLang="ro-RO" sz="2400" b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Google Shape;471;p35"/>
          <p:cNvSpPr txBox="1"/>
          <p:nvPr/>
        </p:nvSpPr>
        <p:spPr>
          <a:xfrm>
            <a:off x="762000" y="228600"/>
            <a:ext cx="80772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91440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Principiile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programarii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orientate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endParaRPr sz="28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5141" y="1600200"/>
            <a:ext cx="8077200" cy="41148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ro-RO" altLang="ro-RO" sz="2400" dirty="0">
                <a:latin typeface="Arial" pitchFamily="34" charset="0"/>
                <a:cs typeface="Arial" pitchFamily="34" charset="0"/>
              </a:rPr>
              <a:t>:: scope resolution operator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ro-RO" altLang="ro-RO" sz="2400" dirty="0">
                <a:latin typeface="Arial" pitchFamily="34" charset="0"/>
                <a:cs typeface="Arial" pitchFamily="34" charset="0"/>
              </a:rPr>
              <a:t>şi alte clase pot folosi numele push() şi pop()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ro-RO" altLang="ro-RO" sz="2400" dirty="0">
                <a:latin typeface="Arial" pitchFamily="34" charset="0"/>
                <a:cs typeface="Arial" pitchFamily="34" charset="0"/>
              </a:rPr>
              <a:t>după instantiere, pentru apelul push()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endParaRPr lang="ro-RO" altLang="ro-RO" sz="2400" dirty="0">
              <a:latin typeface="Arial" pitchFamily="34" charset="0"/>
              <a:cs typeface="Arial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ro-RO" altLang="ro-RO" sz="2400" dirty="0">
                <a:latin typeface="Arial" pitchFamily="34" charset="0"/>
                <a:cs typeface="Arial" pitchFamily="34" charset="0"/>
              </a:rPr>
              <a:t>mystack.push(5);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ro-RO" altLang="ro-RO" sz="2400" dirty="0">
                <a:latin typeface="Arial" pitchFamily="34" charset="0"/>
                <a:cs typeface="Arial" pitchFamily="34" charset="0"/>
              </a:rPr>
              <a:t>programul complet în continuare</a:t>
            </a:r>
          </a:p>
        </p:txBody>
      </p:sp>
      <p:sp>
        <p:nvSpPr>
          <p:cNvPr id="29699" name="Rectangle 4"/>
          <p:cNvSpPr>
            <a:spLocks noChangeArrowheads="1"/>
          </p:cNvSpPr>
          <p:nvPr/>
        </p:nvSpPr>
        <p:spPr bwMode="auto">
          <a:xfrm>
            <a:off x="1676400" y="3352800"/>
            <a:ext cx="214353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ro-RO" b="1" dirty="0">
                <a:solidFill>
                  <a:srgbClr val="FF0000"/>
                </a:solidFill>
              </a:rPr>
              <a:t>stack </a:t>
            </a:r>
            <a:r>
              <a:rPr lang="en-US" altLang="ro-RO" b="1" dirty="0" err="1">
                <a:solidFill>
                  <a:srgbClr val="FF0000"/>
                </a:solidFill>
              </a:rPr>
              <a:t>mystack</a:t>
            </a:r>
            <a:r>
              <a:rPr lang="en-US" altLang="ro-RO" b="1" dirty="0">
                <a:solidFill>
                  <a:srgbClr val="FF0000"/>
                </a:solidFill>
              </a:rPr>
              <a:t>;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2859741" y="914400"/>
            <a:ext cx="3124200" cy="609600"/>
          </a:xfrm>
        </p:spPr>
        <p:txBody>
          <a:bodyPr/>
          <a:lstStyle/>
          <a:p>
            <a:pPr eaLnBrk="1" hangingPunct="1"/>
            <a:r>
              <a:rPr lang="en-US" altLang="ro-RO" sz="2400" b="1" dirty="0" err="1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Clase</a:t>
            </a:r>
            <a:endParaRPr lang="en-US" altLang="ro-RO" sz="2400" b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Google Shape;471;p35"/>
          <p:cNvSpPr txBox="1"/>
          <p:nvPr/>
        </p:nvSpPr>
        <p:spPr>
          <a:xfrm>
            <a:off x="726141" y="228600"/>
            <a:ext cx="80772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91440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Principiile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programarii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orientate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endParaRPr sz="28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4"/>
          <p:cNvSpPr>
            <a:spLocks noChangeArrowheads="1"/>
          </p:cNvSpPr>
          <p:nvPr/>
        </p:nvSpPr>
        <p:spPr bwMode="auto">
          <a:xfrm>
            <a:off x="304800" y="744538"/>
            <a:ext cx="3657600" cy="600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sz="1600">
                <a:solidFill>
                  <a:srgbClr val="004A43"/>
                </a:solidFill>
              </a:rPr>
              <a:t>#include </a:t>
            </a:r>
            <a:r>
              <a:rPr lang="ro-RO" sz="1600">
                <a:solidFill>
                  <a:srgbClr val="800000"/>
                </a:solidFill>
              </a:rPr>
              <a:t>&lt;</a:t>
            </a:r>
            <a:r>
              <a:rPr lang="ro-RO" sz="1600">
                <a:solidFill>
                  <a:srgbClr val="40015A"/>
                </a:solidFill>
              </a:rPr>
              <a:t>iostream</a:t>
            </a:r>
            <a:r>
              <a:rPr lang="ro-RO" sz="1600">
                <a:solidFill>
                  <a:srgbClr val="800000"/>
                </a:solidFill>
              </a:rPr>
              <a:t>&gt;</a:t>
            </a:r>
            <a:r>
              <a:rPr lang="ro-RO" sz="1600"/>
              <a:t> </a:t>
            </a:r>
            <a:endParaRPr lang="en-US" sz="1600"/>
          </a:p>
          <a:p>
            <a:r>
              <a:rPr lang="ro-RO" sz="1600" b="1">
                <a:solidFill>
                  <a:srgbClr val="800000"/>
                </a:solidFill>
              </a:rPr>
              <a:t>using</a:t>
            </a:r>
            <a:r>
              <a:rPr lang="ro-RO" sz="1600"/>
              <a:t> </a:t>
            </a:r>
            <a:r>
              <a:rPr lang="ro-RO" sz="1600" b="1">
                <a:solidFill>
                  <a:srgbClr val="800000"/>
                </a:solidFill>
              </a:rPr>
              <a:t>namespace</a:t>
            </a:r>
            <a:r>
              <a:rPr lang="ro-RO" sz="1600"/>
              <a:t> </a:t>
            </a:r>
            <a:r>
              <a:rPr lang="ro-RO" sz="1600">
                <a:solidFill>
                  <a:srgbClr val="666616"/>
                </a:solidFill>
              </a:rPr>
              <a:t>std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ro-RO" sz="1600">
                <a:solidFill>
                  <a:srgbClr val="004A43"/>
                </a:solidFill>
              </a:rPr>
              <a:t>#define SIZE 100</a:t>
            </a:r>
            <a:r>
              <a:rPr lang="ro-RO" sz="1600"/>
              <a:t> </a:t>
            </a:r>
            <a:endParaRPr lang="en-US" sz="1600"/>
          </a:p>
          <a:p>
            <a:r>
              <a:rPr lang="ro-RO" sz="1600">
                <a:solidFill>
                  <a:srgbClr val="696969"/>
                </a:solidFill>
              </a:rPr>
              <a:t>// This creates the class stack.</a:t>
            </a:r>
            <a:r>
              <a:rPr lang="ro-RO" sz="1600"/>
              <a:t> </a:t>
            </a:r>
            <a:endParaRPr lang="en-US" sz="1600"/>
          </a:p>
          <a:p>
            <a:r>
              <a:rPr lang="ro-RO" sz="1600" b="1">
                <a:solidFill>
                  <a:srgbClr val="800000"/>
                </a:solidFill>
              </a:rPr>
              <a:t>class</a:t>
            </a:r>
            <a:r>
              <a:rPr lang="ro-RO" sz="1600"/>
              <a:t> </a:t>
            </a:r>
            <a:r>
              <a:rPr lang="ro-RO" sz="1600">
                <a:solidFill>
                  <a:srgbClr val="603000"/>
                </a:solidFill>
              </a:rPr>
              <a:t>stack</a:t>
            </a:r>
            <a:r>
              <a:rPr lang="ro-RO" sz="1600"/>
              <a:t> </a:t>
            </a:r>
            <a:r>
              <a:rPr lang="ro-RO" sz="1600">
                <a:solidFill>
                  <a:srgbClr val="800080"/>
                </a:solidFill>
              </a:rPr>
              <a:t>{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 b="1">
                <a:solidFill>
                  <a:srgbClr val="800000"/>
                </a:solidFill>
              </a:rPr>
              <a:t>	</a:t>
            </a:r>
            <a:r>
              <a:rPr lang="ro-RO" sz="1600" b="1">
                <a:solidFill>
                  <a:srgbClr val="800000"/>
                </a:solidFill>
              </a:rPr>
              <a:t>int</a:t>
            </a:r>
            <a:r>
              <a:rPr lang="ro-RO" sz="1600"/>
              <a:t> stck</a:t>
            </a:r>
            <a:r>
              <a:rPr lang="ro-RO" sz="1600">
                <a:solidFill>
                  <a:srgbClr val="808030"/>
                </a:solidFill>
              </a:rPr>
              <a:t>[</a:t>
            </a:r>
            <a:r>
              <a:rPr lang="ro-RO" sz="1600">
                <a:solidFill>
                  <a:srgbClr val="603000"/>
                </a:solidFill>
              </a:rPr>
              <a:t>SIZE</a:t>
            </a:r>
            <a:r>
              <a:rPr lang="ro-RO" sz="1600">
                <a:solidFill>
                  <a:srgbClr val="808030"/>
                </a:solidFill>
              </a:rPr>
              <a:t>]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 b="1">
                <a:solidFill>
                  <a:srgbClr val="800000"/>
                </a:solidFill>
              </a:rPr>
              <a:t>	</a:t>
            </a:r>
            <a:r>
              <a:rPr lang="ro-RO" sz="1600" b="1">
                <a:solidFill>
                  <a:srgbClr val="800000"/>
                </a:solidFill>
              </a:rPr>
              <a:t>int</a:t>
            </a:r>
            <a:r>
              <a:rPr lang="ro-RO" sz="1600"/>
              <a:t> tos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ro-RO" sz="1600" b="1">
                <a:solidFill>
                  <a:srgbClr val="800000"/>
                </a:solidFill>
              </a:rPr>
              <a:t>public</a:t>
            </a:r>
            <a:r>
              <a:rPr lang="ro-RO" sz="1600">
                <a:solidFill>
                  <a:srgbClr val="E34ADC"/>
                </a:solidFill>
              </a:rPr>
              <a:t>: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 b="1">
                <a:solidFill>
                  <a:srgbClr val="800000"/>
                </a:solidFill>
              </a:rPr>
              <a:t>	</a:t>
            </a:r>
            <a:r>
              <a:rPr lang="ro-RO" sz="1600" b="1">
                <a:solidFill>
                  <a:srgbClr val="800000"/>
                </a:solidFill>
              </a:rPr>
              <a:t>void</a:t>
            </a:r>
            <a:r>
              <a:rPr lang="ro-RO" sz="1600"/>
              <a:t> init</a:t>
            </a:r>
            <a:r>
              <a:rPr lang="ro-RO" sz="1600">
                <a:solidFill>
                  <a:srgbClr val="808030"/>
                </a:solidFill>
              </a:rPr>
              <a:t>()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 b="1">
                <a:solidFill>
                  <a:srgbClr val="800000"/>
                </a:solidFill>
              </a:rPr>
              <a:t>	</a:t>
            </a:r>
            <a:r>
              <a:rPr lang="ro-RO" sz="1600" b="1">
                <a:solidFill>
                  <a:srgbClr val="800000"/>
                </a:solidFill>
              </a:rPr>
              <a:t>void</a:t>
            </a:r>
            <a:r>
              <a:rPr lang="ro-RO" sz="1600"/>
              <a:t> push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 b="1">
                <a:solidFill>
                  <a:srgbClr val="800000"/>
                </a:solidFill>
              </a:rPr>
              <a:t>int</a:t>
            </a:r>
            <a:r>
              <a:rPr lang="ro-RO" sz="1600"/>
              <a:t> i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 b="1">
                <a:solidFill>
                  <a:srgbClr val="800000"/>
                </a:solidFill>
              </a:rPr>
              <a:t>	</a:t>
            </a:r>
            <a:r>
              <a:rPr lang="ro-RO" sz="1600" b="1">
                <a:solidFill>
                  <a:srgbClr val="800000"/>
                </a:solidFill>
              </a:rPr>
              <a:t>int</a:t>
            </a:r>
            <a:r>
              <a:rPr lang="ro-RO" sz="1600"/>
              <a:t> pop</a:t>
            </a:r>
            <a:r>
              <a:rPr lang="ro-RO" sz="1600">
                <a:solidFill>
                  <a:srgbClr val="808030"/>
                </a:solidFill>
              </a:rPr>
              <a:t>()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ro-RO" sz="1600">
                <a:solidFill>
                  <a:srgbClr val="800080"/>
                </a:solidFill>
              </a:rPr>
              <a:t>};</a:t>
            </a:r>
            <a:r>
              <a:rPr lang="ro-RO" sz="1600"/>
              <a:t> </a:t>
            </a:r>
            <a:endParaRPr lang="en-US" sz="1600" b="1">
              <a:solidFill>
                <a:srgbClr val="800000"/>
              </a:solidFill>
            </a:endParaRPr>
          </a:p>
          <a:p>
            <a:r>
              <a:rPr lang="ro-RO" sz="1600" b="1">
                <a:solidFill>
                  <a:srgbClr val="800000"/>
                </a:solidFill>
              </a:rPr>
              <a:t>void</a:t>
            </a:r>
            <a:r>
              <a:rPr lang="ro-RO" sz="1600"/>
              <a:t> </a:t>
            </a:r>
            <a:r>
              <a:rPr lang="ro-RO" sz="1600">
                <a:solidFill>
                  <a:srgbClr val="603000"/>
                </a:solidFill>
              </a:rPr>
              <a:t>stack</a:t>
            </a:r>
            <a:r>
              <a:rPr lang="ro-RO" sz="1600">
                <a:solidFill>
                  <a:srgbClr val="800080"/>
                </a:solidFill>
              </a:rPr>
              <a:t>::</a:t>
            </a:r>
            <a:r>
              <a:rPr lang="ro-RO" sz="1600"/>
              <a:t>init</a:t>
            </a:r>
            <a:r>
              <a:rPr lang="ro-RO" sz="1600">
                <a:solidFill>
                  <a:srgbClr val="808030"/>
                </a:solidFill>
              </a:rPr>
              <a:t>()</a:t>
            </a:r>
            <a:r>
              <a:rPr lang="ro-RO" sz="1600"/>
              <a:t> </a:t>
            </a:r>
            <a:endParaRPr lang="en-US" sz="1600"/>
          </a:p>
          <a:p>
            <a:r>
              <a:rPr lang="ro-RO" sz="1600">
                <a:solidFill>
                  <a:srgbClr val="800080"/>
                </a:solidFill>
              </a:rPr>
              <a:t>{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/>
              <a:t>	</a:t>
            </a:r>
            <a:r>
              <a:rPr lang="ro-RO" sz="1600"/>
              <a:t>tos </a:t>
            </a:r>
            <a:r>
              <a:rPr lang="ro-RO" sz="1600">
                <a:solidFill>
                  <a:srgbClr val="808030"/>
                </a:solidFill>
              </a:rPr>
              <a:t>=</a:t>
            </a:r>
            <a:r>
              <a:rPr lang="ro-RO" sz="1600"/>
              <a:t> </a:t>
            </a:r>
            <a:r>
              <a:rPr lang="ro-RO" sz="1600">
                <a:solidFill>
                  <a:srgbClr val="008C00"/>
                </a:solidFill>
              </a:rPr>
              <a:t>0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ro-RO" sz="1600">
                <a:solidFill>
                  <a:srgbClr val="800080"/>
                </a:solidFill>
              </a:rPr>
              <a:t>}</a:t>
            </a:r>
            <a:r>
              <a:rPr lang="ro-RO" sz="1600"/>
              <a:t> </a:t>
            </a:r>
            <a:endParaRPr lang="en-US" sz="1600"/>
          </a:p>
          <a:p>
            <a:r>
              <a:rPr lang="ro-RO" sz="1600" b="1">
                <a:solidFill>
                  <a:srgbClr val="800000"/>
                </a:solidFill>
              </a:rPr>
              <a:t>void</a:t>
            </a:r>
            <a:r>
              <a:rPr lang="ro-RO" sz="1600"/>
              <a:t> </a:t>
            </a:r>
            <a:r>
              <a:rPr lang="ro-RO" sz="1600">
                <a:solidFill>
                  <a:srgbClr val="603000"/>
                </a:solidFill>
              </a:rPr>
              <a:t>stack</a:t>
            </a:r>
            <a:r>
              <a:rPr lang="ro-RO" sz="1600">
                <a:solidFill>
                  <a:srgbClr val="800080"/>
                </a:solidFill>
              </a:rPr>
              <a:t>::</a:t>
            </a:r>
            <a:r>
              <a:rPr lang="ro-RO" sz="1600"/>
              <a:t>push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 b="1">
                <a:solidFill>
                  <a:srgbClr val="800000"/>
                </a:solidFill>
              </a:rPr>
              <a:t>int</a:t>
            </a:r>
            <a:r>
              <a:rPr lang="ro-RO" sz="1600"/>
              <a:t> i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/>
              <a:t> </a:t>
            </a:r>
            <a:r>
              <a:rPr lang="ro-RO" sz="1600">
                <a:solidFill>
                  <a:srgbClr val="800080"/>
                </a:solidFill>
              </a:rPr>
              <a:t>{</a:t>
            </a:r>
            <a:r>
              <a:rPr lang="ro-RO" sz="1600"/>
              <a:t> </a:t>
            </a:r>
            <a:endParaRPr lang="en-US" sz="1600"/>
          </a:p>
          <a:p>
            <a:r>
              <a:rPr lang="ro-RO" sz="1600" b="1">
                <a:solidFill>
                  <a:srgbClr val="800000"/>
                </a:solidFill>
              </a:rPr>
              <a:t>if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/>
              <a:t>tos</a:t>
            </a:r>
            <a:r>
              <a:rPr lang="ro-RO" sz="1600">
                <a:solidFill>
                  <a:srgbClr val="808030"/>
                </a:solidFill>
              </a:rPr>
              <a:t>==</a:t>
            </a:r>
            <a:r>
              <a:rPr lang="ro-RO" sz="1600">
                <a:solidFill>
                  <a:srgbClr val="603000"/>
                </a:solidFill>
              </a:rPr>
              <a:t>SIZE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/>
              <a:t> </a:t>
            </a:r>
            <a:r>
              <a:rPr lang="ro-RO" sz="1600">
                <a:solidFill>
                  <a:srgbClr val="800080"/>
                </a:solidFill>
              </a:rPr>
              <a:t>{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>
                <a:solidFill>
                  <a:srgbClr val="603000"/>
                </a:solidFill>
              </a:rPr>
              <a:t>	</a:t>
            </a:r>
            <a:r>
              <a:rPr lang="ro-RO" sz="1600">
                <a:solidFill>
                  <a:srgbClr val="603000"/>
                </a:solidFill>
              </a:rPr>
              <a:t>cout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&lt;&lt;</a:t>
            </a:r>
            <a:r>
              <a:rPr lang="ro-RO" sz="1600"/>
              <a:t> 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0000E6"/>
                </a:solidFill>
              </a:rPr>
              <a:t>Stack is full.</a:t>
            </a:r>
            <a:r>
              <a:rPr lang="ro-RO" sz="1600">
                <a:solidFill>
                  <a:srgbClr val="0F69FF"/>
                </a:solidFill>
              </a:rPr>
              <a:t>\n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r>
              <a:rPr lang="en-US" sz="1600"/>
              <a:t>	</a:t>
            </a:r>
            <a:r>
              <a:rPr lang="ro-RO" sz="1600" b="1">
                <a:solidFill>
                  <a:srgbClr val="800000"/>
                </a:solidFill>
              </a:rPr>
              <a:t>return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>
                <a:solidFill>
                  <a:srgbClr val="800080"/>
                </a:solidFill>
              </a:rPr>
              <a:t>	</a:t>
            </a:r>
            <a:r>
              <a:rPr lang="ro-RO" sz="1600">
                <a:solidFill>
                  <a:srgbClr val="800080"/>
                </a:solidFill>
              </a:rPr>
              <a:t>}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/>
              <a:t>	</a:t>
            </a:r>
            <a:r>
              <a:rPr lang="ro-RO" sz="1600"/>
              <a:t>stck</a:t>
            </a:r>
            <a:r>
              <a:rPr lang="ro-RO" sz="1600">
                <a:solidFill>
                  <a:srgbClr val="808030"/>
                </a:solidFill>
              </a:rPr>
              <a:t>[</a:t>
            </a:r>
            <a:r>
              <a:rPr lang="ro-RO" sz="1600"/>
              <a:t>tos</a:t>
            </a:r>
            <a:r>
              <a:rPr lang="ro-RO" sz="1600">
                <a:solidFill>
                  <a:srgbClr val="808030"/>
                </a:solidFill>
              </a:rPr>
              <a:t>]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=</a:t>
            </a:r>
            <a:r>
              <a:rPr lang="ro-RO" sz="1600"/>
              <a:t> i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/>
              <a:t>	</a:t>
            </a:r>
            <a:r>
              <a:rPr lang="ro-RO" sz="1600"/>
              <a:t>tos</a:t>
            </a:r>
            <a:r>
              <a:rPr lang="ro-RO" sz="1600">
                <a:solidFill>
                  <a:srgbClr val="808030"/>
                </a:solidFill>
              </a:rPr>
              <a:t>++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ro-RO" sz="1600">
                <a:solidFill>
                  <a:srgbClr val="800080"/>
                </a:solidFill>
              </a:rPr>
              <a:t>}</a:t>
            </a:r>
            <a:endParaRPr lang="en-US" altLang="ro-RO" sz="1600"/>
          </a:p>
        </p:txBody>
      </p:sp>
      <p:sp>
        <p:nvSpPr>
          <p:cNvPr id="30723" name="Rectangle 5"/>
          <p:cNvSpPr>
            <a:spLocks noChangeArrowheads="1"/>
          </p:cNvSpPr>
          <p:nvPr/>
        </p:nvSpPr>
        <p:spPr bwMode="auto">
          <a:xfrm>
            <a:off x="3581400" y="550863"/>
            <a:ext cx="5334000" cy="600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sz="1600" b="1">
                <a:solidFill>
                  <a:srgbClr val="800000"/>
                </a:solidFill>
              </a:rPr>
              <a:t>int</a:t>
            </a:r>
            <a:r>
              <a:rPr lang="ro-RO" sz="1600"/>
              <a:t> </a:t>
            </a:r>
            <a:r>
              <a:rPr lang="ro-RO" sz="1600">
                <a:solidFill>
                  <a:srgbClr val="603000"/>
                </a:solidFill>
              </a:rPr>
              <a:t>stack</a:t>
            </a:r>
            <a:r>
              <a:rPr lang="ro-RO" sz="1600">
                <a:solidFill>
                  <a:srgbClr val="800080"/>
                </a:solidFill>
              </a:rPr>
              <a:t>::</a:t>
            </a:r>
            <a:r>
              <a:rPr lang="ro-RO" sz="1600"/>
              <a:t>pop</a:t>
            </a:r>
            <a:r>
              <a:rPr lang="ro-RO" sz="1600">
                <a:solidFill>
                  <a:srgbClr val="808030"/>
                </a:solidFill>
              </a:rPr>
              <a:t>()</a:t>
            </a:r>
            <a:r>
              <a:rPr lang="ro-RO" sz="1600"/>
              <a:t> </a:t>
            </a:r>
            <a:endParaRPr lang="en-US" sz="1600"/>
          </a:p>
          <a:p>
            <a:r>
              <a:rPr lang="ro-RO" sz="1600">
                <a:solidFill>
                  <a:srgbClr val="800080"/>
                </a:solidFill>
              </a:rPr>
              <a:t>{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 b="1">
                <a:solidFill>
                  <a:srgbClr val="800000"/>
                </a:solidFill>
              </a:rPr>
              <a:t>	</a:t>
            </a:r>
            <a:r>
              <a:rPr lang="ro-RO" sz="1600" b="1">
                <a:solidFill>
                  <a:srgbClr val="800000"/>
                </a:solidFill>
              </a:rPr>
              <a:t>if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/>
              <a:t>tos</a:t>
            </a:r>
            <a:r>
              <a:rPr lang="ro-RO" sz="1600">
                <a:solidFill>
                  <a:srgbClr val="808030"/>
                </a:solidFill>
              </a:rPr>
              <a:t>==</a:t>
            </a:r>
            <a:r>
              <a:rPr lang="ro-RO" sz="1600">
                <a:solidFill>
                  <a:srgbClr val="008C00"/>
                </a:solidFill>
              </a:rPr>
              <a:t>0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/>
              <a:t> </a:t>
            </a:r>
            <a:r>
              <a:rPr lang="ro-RO" sz="1600">
                <a:solidFill>
                  <a:srgbClr val="800080"/>
                </a:solidFill>
              </a:rPr>
              <a:t>{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>
                <a:solidFill>
                  <a:srgbClr val="603000"/>
                </a:solidFill>
              </a:rPr>
              <a:t>	   </a:t>
            </a:r>
            <a:r>
              <a:rPr lang="ro-RO" sz="1600">
                <a:solidFill>
                  <a:srgbClr val="603000"/>
                </a:solidFill>
              </a:rPr>
              <a:t>cout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&lt;&lt;</a:t>
            </a:r>
            <a:r>
              <a:rPr lang="ro-RO" sz="1600"/>
              <a:t> 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0000E6"/>
                </a:solidFill>
              </a:rPr>
              <a:t>Stack underflow.</a:t>
            </a:r>
            <a:r>
              <a:rPr lang="ro-RO" sz="1600">
                <a:solidFill>
                  <a:srgbClr val="0F69FF"/>
                </a:solidFill>
              </a:rPr>
              <a:t>\n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 b="1">
                <a:solidFill>
                  <a:srgbClr val="800000"/>
                </a:solidFill>
              </a:rPr>
              <a:t>	   </a:t>
            </a:r>
            <a:r>
              <a:rPr lang="ro-RO" sz="1600" b="1">
                <a:solidFill>
                  <a:srgbClr val="800000"/>
                </a:solidFill>
              </a:rPr>
              <a:t>return</a:t>
            </a:r>
            <a:r>
              <a:rPr lang="ro-RO" sz="1600"/>
              <a:t> </a:t>
            </a:r>
            <a:r>
              <a:rPr lang="ro-RO" sz="1600">
                <a:solidFill>
                  <a:srgbClr val="008C00"/>
                </a:solidFill>
              </a:rPr>
              <a:t>0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>
                <a:solidFill>
                  <a:srgbClr val="800080"/>
                </a:solidFill>
              </a:rPr>
              <a:t>	</a:t>
            </a:r>
            <a:r>
              <a:rPr lang="ro-RO" sz="1600">
                <a:solidFill>
                  <a:srgbClr val="800080"/>
                </a:solidFill>
              </a:rPr>
              <a:t>}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/>
              <a:t>	</a:t>
            </a:r>
            <a:r>
              <a:rPr lang="ro-RO" sz="1600"/>
              <a:t>tos</a:t>
            </a:r>
            <a:r>
              <a:rPr lang="ro-RO" sz="1600">
                <a:solidFill>
                  <a:srgbClr val="808030"/>
                </a:solidFill>
              </a:rPr>
              <a:t>--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 b="1">
                <a:solidFill>
                  <a:srgbClr val="800000"/>
                </a:solidFill>
              </a:rPr>
              <a:t>	</a:t>
            </a:r>
            <a:r>
              <a:rPr lang="ro-RO" sz="1600" b="1">
                <a:solidFill>
                  <a:srgbClr val="800000"/>
                </a:solidFill>
              </a:rPr>
              <a:t>return</a:t>
            </a:r>
            <a:r>
              <a:rPr lang="ro-RO" sz="1600"/>
              <a:t> stck</a:t>
            </a:r>
            <a:r>
              <a:rPr lang="ro-RO" sz="1600">
                <a:solidFill>
                  <a:srgbClr val="808030"/>
                </a:solidFill>
              </a:rPr>
              <a:t>[</a:t>
            </a:r>
            <a:r>
              <a:rPr lang="ro-RO" sz="1600"/>
              <a:t>tos</a:t>
            </a:r>
            <a:r>
              <a:rPr lang="ro-RO" sz="1600">
                <a:solidFill>
                  <a:srgbClr val="808030"/>
                </a:solidFill>
              </a:rPr>
              <a:t>]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ro-RO" sz="1600">
                <a:solidFill>
                  <a:srgbClr val="800080"/>
                </a:solidFill>
              </a:rPr>
              <a:t>}</a:t>
            </a:r>
            <a:r>
              <a:rPr lang="ro-RO" sz="1600"/>
              <a:t> </a:t>
            </a:r>
            <a:endParaRPr lang="en-US" sz="1600"/>
          </a:p>
          <a:p>
            <a:r>
              <a:rPr lang="ro-RO" sz="1600" b="1">
                <a:solidFill>
                  <a:srgbClr val="800000"/>
                </a:solidFill>
              </a:rPr>
              <a:t>int</a:t>
            </a:r>
            <a:r>
              <a:rPr lang="ro-RO" sz="1600"/>
              <a:t> </a:t>
            </a:r>
            <a:r>
              <a:rPr lang="ro-RO" sz="1600">
                <a:solidFill>
                  <a:srgbClr val="400000"/>
                </a:solidFill>
              </a:rPr>
              <a:t>main</a:t>
            </a:r>
            <a:r>
              <a:rPr lang="ro-RO" sz="1600">
                <a:solidFill>
                  <a:srgbClr val="808030"/>
                </a:solidFill>
              </a:rPr>
              <a:t>()</a:t>
            </a:r>
            <a:r>
              <a:rPr lang="ro-RO" sz="1600"/>
              <a:t> </a:t>
            </a:r>
            <a:endParaRPr lang="en-US" sz="1600"/>
          </a:p>
          <a:p>
            <a:r>
              <a:rPr lang="ro-RO" sz="1600">
                <a:solidFill>
                  <a:srgbClr val="800080"/>
                </a:solidFill>
              </a:rPr>
              <a:t>{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>
                <a:solidFill>
                  <a:srgbClr val="603000"/>
                </a:solidFill>
              </a:rPr>
              <a:t>	</a:t>
            </a:r>
            <a:r>
              <a:rPr lang="ro-RO" sz="1600">
                <a:solidFill>
                  <a:srgbClr val="603000"/>
                </a:solidFill>
              </a:rPr>
              <a:t>stack</a:t>
            </a:r>
            <a:r>
              <a:rPr lang="ro-RO" sz="1600"/>
              <a:t> stack1</a:t>
            </a:r>
            <a:r>
              <a:rPr lang="ro-RO" sz="1600">
                <a:solidFill>
                  <a:srgbClr val="808030"/>
                </a:solidFill>
              </a:rPr>
              <a:t>,</a:t>
            </a:r>
            <a:r>
              <a:rPr lang="ro-RO" sz="1600"/>
              <a:t> stack2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r>
              <a:rPr lang="ro-RO" sz="1600">
                <a:solidFill>
                  <a:srgbClr val="696969"/>
                </a:solidFill>
              </a:rPr>
              <a:t>// create two stack objects</a:t>
            </a:r>
            <a:r>
              <a:rPr lang="ro-RO" sz="1600"/>
              <a:t> </a:t>
            </a:r>
            <a:r>
              <a:rPr lang="en-US" sz="1600"/>
              <a:t>	</a:t>
            </a:r>
            <a:r>
              <a:rPr lang="ro-RO" sz="1600"/>
              <a:t>stack1</a:t>
            </a:r>
            <a:r>
              <a:rPr lang="ro-RO" sz="1600">
                <a:solidFill>
                  <a:srgbClr val="808030"/>
                </a:solidFill>
              </a:rPr>
              <a:t>.</a:t>
            </a:r>
            <a:r>
              <a:rPr lang="ro-RO" sz="1600"/>
              <a:t>init</a:t>
            </a:r>
            <a:r>
              <a:rPr lang="ro-RO" sz="1600">
                <a:solidFill>
                  <a:srgbClr val="808030"/>
                </a:solidFill>
              </a:rPr>
              <a:t>()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/>
              <a:t>	</a:t>
            </a:r>
            <a:r>
              <a:rPr lang="ro-RO" sz="1600"/>
              <a:t>stack2</a:t>
            </a:r>
            <a:r>
              <a:rPr lang="ro-RO" sz="1600">
                <a:solidFill>
                  <a:srgbClr val="808030"/>
                </a:solidFill>
              </a:rPr>
              <a:t>.</a:t>
            </a:r>
            <a:r>
              <a:rPr lang="ro-RO" sz="1600"/>
              <a:t>init</a:t>
            </a:r>
            <a:r>
              <a:rPr lang="ro-RO" sz="1600">
                <a:solidFill>
                  <a:srgbClr val="808030"/>
                </a:solidFill>
              </a:rPr>
              <a:t>()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/>
              <a:t>	</a:t>
            </a:r>
            <a:r>
              <a:rPr lang="ro-RO" sz="1600"/>
              <a:t>stack1</a:t>
            </a:r>
            <a:r>
              <a:rPr lang="ro-RO" sz="1600">
                <a:solidFill>
                  <a:srgbClr val="808030"/>
                </a:solidFill>
              </a:rPr>
              <a:t>.</a:t>
            </a:r>
            <a:r>
              <a:rPr lang="ro-RO" sz="1600"/>
              <a:t>push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>
                <a:solidFill>
                  <a:srgbClr val="008C00"/>
                </a:solidFill>
              </a:rPr>
              <a:t>1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/>
              <a:t>	</a:t>
            </a:r>
            <a:r>
              <a:rPr lang="ro-RO" sz="1600"/>
              <a:t>stack2</a:t>
            </a:r>
            <a:r>
              <a:rPr lang="ro-RO" sz="1600">
                <a:solidFill>
                  <a:srgbClr val="808030"/>
                </a:solidFill>
              </a:rPr>
              <a:t>.</a:t>
            </a:r>
            <a:r>
              <a:rPr lang="ro-RO" sz="1600"/>
              <a:t>push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>
                <a:solidFill>
                  <a:srgbClr val="008C00"/>
                </a:solidFill>
              </a:rPr>
              <a:t>2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/>
              <a:t>	</a:t>
            </a:r>
            <a:r>
              <a:rPr lang="ro-RO" sz="1600"/>
              <a:t>stack1</a:t>
            </a:r>
            <a:r>
              <a:rPr lang="ro-RO" sz="1600">
                <a:solidFill>
                  <a:srgbClr val="808030"/>
                </a:solidFill>
              </a:rPr>
              <a:t>.</a:t>
            </a:r>
            <a:r>
              <a:rPr lang="ro-RO" sz="1600"/>
              <a:t>push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>
                <a:solidFill>
                  <a:srgbClr val="008C00"/>
                </a:solidFill>
              </a:rPr>
              <a:t>3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/>
              <a:t>	</a:t>
            </a:r>
            <a:r>
              <a:rPr lang="ro-RO" sz="1600"/>
              <a:t>stack2</a:t>
            </a:r>
            <a:r>
              <a:rPr lang="ro-RO" sz="1600">
                <a:solidFill>
                  <a:srgbClr val="808030"/>
                </a:solidFill>
              </a:rPr>
              <a:t>.</a:t>
            </a:r>
            <a:r>
              <a:rPr lang="ro-RO" sz="1600"/>
              <a:t>push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>
                <a:solidFill>
                  <a:srgbClr val="008C00"/>
                </a:solidFill>
              </a:rPr>
              <a:t>4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>
                <a:solidFill>
                  <a:srgbClr val="603000"/>
                </a:solidFill>
              </a:rPr>
              <a:t>	</a:t>
            </a:r>
            <a:r>
              <a:rPr lang="ro-RO" sz="1600">
                <a:solidFill>
                  <a:srgbClr val="603000"/>
                </a:solidFill>
              </a:rPr>
              <a:t>cout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&lt;&lt;</a:t>
            </a:r>
            <a:r>
              <a:rPr lang="ro-RO" sz="1600"/>
              <a:t> stack1</a:t>
            </a:r>
            <a:r>
              <a:rPr lang="ro-RO" sz="1600">
                <a:solidFill>
                  <a:srgbClr val="808030"/>
                </a:solidFill>
              </a:rPr>
              <a:t>.</a:t>
            </a:r>
            <a:r>
              <a:rPr lang="ro-RO" sz="1600"/>
              <a:t>pop</a:t>
            </a:r>
            <a:r>
              <a:rPr lang="ro-RO" sz="1600">
                <a:solidFill>
                  <a:srgbClr val="808030"/>
                </a:solidFill>
              </a:rPr>
              <a:t>()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&lt;&lt;</a:t>
            </a:r>
            <a:r>
              <a:rPr lang="ro-RO" sz="1600"/>
              <a:t> 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0000E6"/>
                </a:solidFill>
              </a:rPr>
              <a:t> 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>
                <a:solidFill>
                  <a:srgbClr val="603000"/>
                </a:solidFill>
              </a:rPr>
              <a:t>	</a:t>
            </a:r>
            <a:r>
              <a:rPr lang="ro-RO" sz="1600">
                <a:solidFill>
                  <a:srgbClr val="603000"/>
                </a:solidFill>
              </a:rPr>
              <a:t>cout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&lt;&lt;</a:t>
            </a:r>
            <a:r>
              <a:rPr lang="ro-RO" sz="1600"/>
              <a:t> stack1</a:t>
            </a:r>
            <a:r>
              <a:rPr lang="ro-RO" sz="1600">
                <a:solidFill>
                  <a:srgbClr val="808030"/>
                </a:solidFill>
              </a:rPr>
              <a:t>.</a:t>
            </a:r>
            <a:r>
              <a:rPr lang="ro-RO" sz="1600"/>
              <a:t>pop</a:t>
            </a:r>
            <a:r>
              <a:rPr lang="ro-RO" sz="1600">
                <a:solidFill>
                  <a:srgbClr val="808030"/>
                </a:solidFill>
              </a:rPr>
              <a:t>()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&lt;&lt;</a:t>
            </a:r>
            <a:r>
              <a:rPr lang="ro-RO" sz="1600"/>
              <a:t> 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0000E6"/>
                </a:solidFill>
              </a:rPr>
              <a:t> 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>
                <a:solidFill>
                  <a:srgbClr val="603000"/>
                </a:solidFill>
              </a:rPr>
              <a:t>	</a:t>
            </a:r>
            <a:r>
              <a:rPr lang="ro-RO" sz="1600">
                <a:solidFill>
                  <a:srgbClr val="603000"/>
                </a:solidFill>
              </a:rPr>
              <a:t>cout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&lt;&lt;</a:t>
            </a:r>
            <a:r>
              <a:rPr lang="ro-RO" sz="1600"/>
              <a:t> stack2</a:t>
            </a:r>
            <a:r>
              <a:rPr lang="ro-RO" sz="1600">
                <a:solidFill>
                  <a:srgbClr val="808030"/>
                </a:solidFill>
              </a:rPr>
              <a:t>.</a:t>
            </a:r>
            <a:r>
              <a:rPr lang="ro-RO" sz="1600"/>
              <a:t>pop</a:t>
            </a:r>
            <a:r>
              <a:rPr lang="ro-RO" sz="1600">
                <a:solidFill>
                  <a:srgbClr val="808030"/>
                </a:solidFill>
              </a:rPr>
              <a:t>()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&lt;&lt;</a:t>
            </a:r>
            <a:r>
              <a:rPr lang="ro-RO" sz="1600"/>
              <a:t> 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0000E6"/>
                </a:solidFill>
              </a:rPr>
              <a:t> 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>
                <a:solidFill>
                  <a:srgbClr val="603000"/>
                </a:solidFill>
              </a:rPr>
              <a:t>	</a:t>
            </a:r>
            <a:r>
              <a:rPr lang="ro-RO" sz="1600">
                <a:solidFill>
                  <a:srgbClr val="603000"/>
                </a:solidFill>
              </a:rPr>
              <a:t>cout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&lt;&lt;</a:t>
            </a:r>
            <a:r>
              <a:rPr lang="ro-RO" sz="1600"/>
              <a:t> stack2</a:t>
            </a:r>
            <a:r>
              <a:rPr lang="ro-RO" sz="1600">
                <a:solidFill>
                  <a:srgbClr val="808030"/>
                </a:solidFill>
              </a:rPr>
              <a:t>.</a:t>
            </a:r>
            <a:r>
              <a:rPr lang="ro-RO" sz="1600"/>
              <a:t>pop</a:t>
            </a:r>
            <a:r>
              <a:rPr lang="ro-RO" sz="1600">
                <a:solidFill>
                  <a:srgbClr val="808030"/>
                </a:solidFill>
              </a:rPr>
              <a:t>()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&lt;&lt;</a:t>
            </a:r>
            <a:r>
              <a:rPr lang="ro-RO" sz="1600"/>
              <a:t> 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0F69FF"/>
                </a:solidFill>
              </a:rPr>
              <a:t>\n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 b="1">
                <a:solidFill>
                  <a:srgbClr val="800000"/>
                </a:solidFill>
              </a:rPr>
              <a:t>	</a:t>
            </a:r>
            <a:r>
              <a:rPr lang="ro-RO" sz="1600" b="1">
                <a:solidFill>
                  <a:srgbClr val="800000"/>
                </a:solidFill>
              </a:rPr>
              <a:t>return</a:t>
            </a:r>
            <a:r>
              <a:rPr lang="ro-RO" sz="1600"/>
              <a:t> </a:t>
            </a:r>
            <a:r>
              <a:rPr lang="ro-RO" sz="1600">
                <a:solidFill>
                  <a:srgbClr val="008C00"/>
                </a:solidFill>
              </a:rPr>
              <a:t>0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ro-RO" sz="1600">
                <a:solidFill>
                  <a:srgbClr val="800080"/>
                </a:solidFill>
              </a:rPr>
              <a:t>}</a:t>
            </a:r>
            <a:endParaRPr lang="en-US" altLang="ro-RO" sz="160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0" y="685800"/>
            <a:ext cx="3124200" cy="609600"/>
          </a:xfrm>
        </p:spPr>
        <p:txBody>
          <a:bodyPr/>
          <a:lstStyle/>
          <a:p>
            <a:pPr eaLnBrk="1" hangingPunct="1"/>
            <a:r>
              <a:rPr lang="en-US" altLang="ro-RO" sz="2400" b="1" dirty="0" err="1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Clase</a:t>
            </a:r>
            <a:endParaRPr lang="en-US" altLang="ro-RO" sz="2400" b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Google Shape;471;p35"/>
          <p:cNvSpPr txBox="1"/>
          <p:nvPr/>
        </p:nvSpPr>
        <p:spPr>
          <a:xfrm>
            <a:off x="609600" y="4482"/>
            <a:ext cx="80772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91440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Principiile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programarii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orientate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endParaRPr sz="28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2"/>
          <p:cNvSpPr/>
          <p:nvPr/>
        </p:nvSpPr>
        <p:spPr>
          <a:xfrm>
            <a:off x="152400" y="838200"/>
            <a:ext cx="88392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2452" rIns="81639" bIns="42452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Incapsularea</a:t>
            </a:r>
            <a:endParaRPr b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b="1" dirty="0">
              <a:latin typeface="Arial" pitchFamily="34" charset="0"/>
              <a:cs typeface="Arial" pitchFamily="34" charset="0"/>
            </a:endParaRPr>
          </a:p>
          <a:p>
            <a:pPr marL="414726" indent="-34560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 dirty="0" err="1">
                <a:latin typeface="Arial" pitchFamily="34" charset="0"/>
                <a:cs typeface="Arial" pitchFamily="34" charset="0"/>
              </a:rPr>
              <a:t>ascunderea</a:t>
            </a:r>
            <a:r>
              <a:rPr lang="en-US" dirty="0">
                <a:latin typeface="Arial" pitchFamily="34" charset="0"/>
                <a:cs typeface="Arial" pitchFamily="34" charset="0"/>
              </a:rPr>
              <a:t> de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informaţii</a:t>
            </a:r>
            <a:r>
              <a:rPr lang="en-US" dirty="0">
                <a:latin typeface="Arial" pitchFamily="34" charset="0"/>
                <a:cs typeface="Arial" pitchFamily="34" charset="0"/>
              </a:rPr>
              <a:t> (data-hiding);</a:t>
            </a:r>
            <a:endParaRPr dirty="0">
              <a:latin typeface="Arial" pitchFamily="34" charset="0"/>
              <a:cs typeface="Arial" pitchFamily="34" charset="0"/>
            </a:endParaRPr>
          </a:p>
          <a:p>
            <a:pPr marL="414726" indent="-34560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 dirty="0" err="1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separarea</a:t>
            </a:r>
            <a:r>
              <a:rPr lang="en-US" dirty="0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aspectelor</a:t>
            </a:r>
            <a:r>
              <a:rPr lang="en-US" dirty="0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externe</a:t>
            </a:r>
            <a:r>
              <a:rPr lang="en-US" dirty="0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 ale </a:t>
            </a:r>
            <a:r>
              <a:rPr lang="en-US" dirty="0" err="1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unui</a:t>
            </a:r>
            <a:r>
              <a:rPr lang="en-US" dirty="0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obiect</a:t>
            </a:r>
            <a:r>
              <a:rPr lang="en-US" dirty="0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 care </a:t>
            </a:r>
            <a:r>
              <a:rPr lang="en-US" dirty="0" err="1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sunt</a:t>
            </a:r>
            <a:r>
              <a:rPr lang="en-US" dirty="0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accesibile</a:t>
            </a:r>
            <a:r>
              <a:rPr lang="en-US" dirty="0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altor</a:t>
            </a:r>
            <a:r>
              <a:rPr lang="en-US" dirty="0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obiecte</a:t>
            </a:r>
            <a:r>
              <a:rPr lang="en-US" dirty="0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 de </a:t>
            </a:r>
            <a:r>
              <a:rPr lang="en-US" dirty="0" err="1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aspectele</a:t>
            </a:r>
            <a:r>
              <a:rPr lang="en-US" dirty="0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 interne ale </a:t>
            </a:r>
            <a:r>
              <a:rPr lang="en-US" dirty="0" err="1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obiectului</a:t>
            </a:r>
            <a:r>
              <a:rPr lang="en-US" dirty="0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 care </a:t>
            </a:r>
            <a:r>
              <a:rPr lang="en-US" dirty="0" err="1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sunt</a:t>
            </a:r>
            <a:r>
              <a:rPr lang="en-US" dirty="0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ascunse</a:t>
            </a:r>
            <a:r>
              <a:rPr lang="en-US" dirty="0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celorlalter</a:t>
            </a:r>
            <a:r>
              <a:rPr lang="en-US" dirty="0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obiecte</a:t>
            </a:r>
            <a:r>
              <a:rPr lang="en-US" dirty="0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;</a:t>
            </a:r>
            <a:endParaRPr dirty="0">
              <a:latin typeface="Arial" pitchFamily="34" charset="0"/>
              <a:cs typeface="Arial" pitchFamily="34" charset="0"/>
            </a:endParaRPr>
          </a:p>
          <a:p>
            <a:pPr marL="414726" indent="-34560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 dirty="0" err="1">
                <a:latin typeface="Arial" pitchFamily="34" charset="0"/>
                <a:cs typeface="Arial" pitchFamily="34" charset="0"/>
              </a:rPr>
              <a:t>defineşte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apartenenţa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unor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proprietăţi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şi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metode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faţă</a:t>
            </a:r>
            <a:r>
              <a:rPr lang="en-US" dirty="0">
                <a:latin typeface="Arial" pitchFamily="34" charset="0"/>
                <a:cs typeface="Arial" pitchFamily="34" charset="0"/>
              </a:rPr>
              <a:t> de un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obiect</a:t>
            </a:r>
            <a:r>
              <a:rPr lang="en-US" dirty="0">
                <a:latin typeface="Arial" pitchFamily="34" charset="0"/>
                <a:cs typeface="Arial" pitchFamily="34" charset="0"/>
              </a:rPr>
              <a:t>;</a:t>
            </a:r>
            <a:endParaRPr dirty="0">
              <a:latin typeface="Arial" pitchFamily="34" charset="0"/>
              <a:cs typeface="Arial" pitchFamily="34" charset="0"/>
            </a:endParaRPr>
          </a:p>
          <a:p>
            <a:pPr marL="414726" indent="-34560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 dirty="0" err="1">
                <a:latin typeface="Arial" pitchFamily="34" charset="0"/>
                <a:cs typeface="Arial" pitchFamily="34" charset="0"/>
              </a:rPr>
              <a:t>doar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metodele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proprii</a:t>
            </a:r>
            <a:r>
              <a:rPr lang="en-US" dirty="0">
                <a:latin typeface="Arial" pitchFamily="34" charset="0"/>
                <a:cs typeface="Arial" pitchFamily="34" charset="0"/>
              </a:rPr>
              <a:t> ale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obiectului</a:t>
            </a:r>
            <a:r>
              <a:rPr lang="en-US" dirty="0">
                <a:latin typeface="Arial" pitchFamily="34" charset="0"/>
                <a:cs typeface="Arial" pitchFamily="34" charset="0"/>
              </a:rPr>
              <a:t> pot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accesa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starea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acestuia</a:t>
            </a:r>
            <a:r>
              <a:rPr lang="en-US" dirty="0">
                <a:latin typeface="Arial" pitchFamily="34" charset="0"/>
                <a:cs typeface="Arial" pitchFamily="34" charset="0"/>
              </a:rPr>
              <a:t>.</a:t>
            </a:r>
            <a:endParaRPr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Google Shape;471;p35"/>
          <p:cNvSpPr txBox="1"/>
          <p:nvPr/>
        </p:nvSpPr>
        <p:spPr>
          <a:xfrm>
            <a:off x="762000" y="122201"/>
            <a:ext cx="80772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91440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Principiile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programarii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orientate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endParaRPr sz="28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3"/>
          <p:cNvSpPr/>
          <p:nvPr/>
        </p:nvSpPr>
        <p:spPr>
          <a:xfrm>
            <a:off x="648114" y="1066801"/>
            <a:ext cx="7938459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Incapsularea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(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ascunderea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informatiei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)</a:t>
            </a:r>
            <a:endParaRPr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endParaRPr sz="1600"/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endParaRPr sz="1600"/>
          </a:p>
        </p:txBody>
      </p:sp>
      <p:sp>
        <p:nvSpPr>
          <p:cNvPr id="453" name="Google Shape;453;p53"/>
          <p:cNvSpPr/>
          <p:nvPr/>
        </p:nvSpPr>
        <p:spPr>
          <a:xfrm>
            <a:off x="1828923" y="1676400"/>
            <a:ext cx="4645191" cy="82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2452" rIns="81639" bIns="42452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foarte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importanta</a:t>
            </a:r>
            <a:endParaRPr sz="16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public, protected, private</a:t>
            </a:r>
            <a:endParaRPr sz="1600"/>
          </a:p>
        </p:txBody>
      </p:sp>
      <p:graphicFrame>
        <p:nvGraphicFramePr>
          <p:cNvPr id="454" name="Google Shape;454;p53"/>
          <p:cNvGraphicFramePr/>
          <p:nvPr>
            <p:extLst>
              <p:ext uri="{D42A27DB-BD31-4B8C-83A1-F6EECF244321}">
                <p14:modId xmlns:p14="http://schemas.microsoft.com/office/powerpoint/2010/main" val="4132604569"/>
              </p:ext>
            </p:extLst>
          </p:nvPr>
        </p:nvGraphicFramePr>
        <p:xfrm>
          <a:off x="954747" y="2815295"/>
          <a:ext cx="7584135" cy="241346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7175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06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32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2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55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 err="1">
                          <a:latin typeface="Arial"/>
                          <a:ea typeface="Arial"/>
                          <a:cs typeface="Arial"/>
                          <a:sym typeface="Arial"/>
                        </a:rPr>
                        <a:t>Avem</a:t>
                      </a:r>
                      <a:r>
                        <a:rPr lang="en-US" sz="2400" b="1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400" b="1" dirty="0" err="1">
                          <a:latin typeface="Arial"/>
                          <a:ea typeface="Arial"/>
                          <a:cs typeface="Arial"/>
                          <a:sym typeface="Arial"/>
                        </a:rPr>
                        <a:t>acces</a:t>
                      </a:r>
                      <a:r>
                        <a:rPr lang="en-US" sz="2400" b="1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2400"/>
                    </a:p>
                  </a:txBody>
                  <a:tcPr marL="82953" marR="82953" marT="41481" marB="4148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public</a:t>
                      </a:r>
                      <a:endParaRPr sz="2400"/>
                    </a:p>
                  </a:txBody>
                  <a:tcPr marL="82953" marR="82953" marT="41481" marB="4148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protected</a:t>
                      </a:r>
                      <a:endParaRPr sz="2400"/>
                    </a:p>
                  </a:txBody>
                  <a:tcPr marL="82953" marR="82953" marT="41481" marB="4148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private</a:t>
                      </a:r>
                      <a:endParaRPr sz="2400"/>
                    </a:p>
                  </a:txBody>
                  <a:tcPr marL="82953" marR="82953" marT="41481" marB="4148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Arial"/>
                          <a:ea typeface="Arial"/>
                          <a:cs typeface="Arial"/>
                          <a:sym typeface="Arial"/>
                        </a:rPr>
                        <a:t>Aceeasi clasa</a:t>
                      </a:r>
                      <a:endParaRPr sz="2400"/>
                    </a:p>
                  </a:txBody>
                  <a:tcPr marL="82953" marR="82953" marT="41481" marB="4148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 sz="2400"/>
                    </a:p>
                  </a:txBody>
                  <a:tcPr marL="82953" marR="82953" marT="41481" marB="4148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 sz="2400"/>
                    </a:p>
                  </a:txBody>
                  <a:tcPr marL="82953" marR="82953" marT="41481" marB="4148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 sz="2400"/>
                    </a:p>
                  </a:txBody>
                  <a:tcPr marL="82953" marR="82953" marT="41481" marB="4148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Arial"/>
                          <a:ea typeface="Arial"/>
                          <a:cs typeface="Arial"/>
                          <a:sym typeface="Arial"/>
                        </a:rPr>
                        <a:t>Clase derivate</a:t>
                      </a:r>
                      <a:endParaRPr sz="2400"/>
                    </a:p>
                  </a:txBody>
                  <a:tcPr marL="82953" marR="82953" marT="41481" marB="4148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 sz="2400"/>
                    </a:p>
                  </a:txBody>
                  <a:tcPr marL="82953" marR="82953" marT="41481" marB="4148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 sz="2400"/>
                    </a:p>
                  </a:txBody>
                  <a:tcPr marL="82953" marR="82953" marT="41481" marB="4148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Arial"/>
                          <a:ea typeface="Arial"/>
                          <a:cs typeface="Arial"/>
                          <a:sym typeface="Arial"/>
                        </a:rPr>
                        <a:t>nu</a:t>
                      </a:r>
                      <a:endParaRPr sz="2400"/>
                    </a:p>
                  </a:txBody>
                  <a:tcPr marL="82953" marR="82953" marT="41481" marB="4148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24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Arial"/>
                          <a:ea typeface="Arial"/>
                          <a:cs typeface="Arial"/>
                          <a:sym typeface="Arial"/>
                        </a:rPr>
                        <a:t>Alte clase</a:t>
                      </a:r>
                      <a:endParaRPr sz="2400"/>
                    </a:p>
                  </a:txBody>
                  <a:tcPr marL="82953" marR="82953" marT="41481" marB="4148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 sz="2400"/>
                    </a:p>
                  </a:txBody>
                  <a:tcPr marL="82953" marR="82953" marT="41481" marB="4148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Arial"/>
                          <a:ea typeface="Arial"/>
                          <a:cs typeface="Arial"/>
                          <a:sym typeface="Arial"/>
                        </a:rPr>
                        <a:t>nu</a:t>
                      </a:r>
                      <a:endParaRPr sz="2400"/>
                    </a:p>
                  </a:txBody>
                  <a:tcPr marL="82953" marR="82953" marT="41481" marB="4148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nu</a:t>
                      </a:r>
                      <a:endParaRPr sz="2400"/>
                    </a:p>
                  </a:txBody>
                  <a:tcPr marL="82953" marR="82953" marT="41481" marB="4148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Google Shape;471;p35"/>
          <p:cNvSpPr txBox="1"/>
          <p:nvPr/>
        </p:nvSpPr>
        <p:spPr>
          <a:xfrm>
            <a:off x="766482" y="228600"/>
            <a:ext cx="80772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91440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Principiile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programarii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orientate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endParaRPr sz="28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4"/>
          <p:cNvSpPr/>
          <p:nvPr/>
        </p:nvSpPr>
        <p:spPr>
          <a:xfrm>
            <a:off x="643623" y="929810"/>
            <a:ext cx="7938459" cy="414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Incapsularea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(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ascunderea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informatiei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)</a:t>
            </a:r>
            <a:endParaRPr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68" name="Google Shape;468;p54"/>
          <p:cNvSpPr txBox="1"/>
          <p:nvPr/>
        </p:nvSpPr>
        <p:spPr>
          <a:xfrm>
            <a:off x="2021420" y="1735504"/>
            <a:ext cx="4820168" cy="4151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32" tIns="82932" rIns="82932" bIns="82932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class Test  {</a:t>
            </a:r>
            <a:endParaRPr sz="2000"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  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private: </a:t>
            </a:r>
            <a:endParaRPr sz="2000" b="1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dirty="0" err="1">
                <a:latin typeface="Arial" pitchFamily="34" charset="0"/>
                <a:cs typeface="Arial" pitchFamily="34" charset="0"/>
              </a:rPr>
              <a:t>int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x;</a:t>
            </a:r>
            <a:endParaRPr sz="2000"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  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public:</a:t>
            </a:r>
            <a:endParaRPr sz="2000" b="1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  void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set_x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int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a) {x = a;}</a:t>
            </a:r>
            <a:endParaRPr sz="2000"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};</a:t>
            </a:r>
            <a:endParaRPr sz="2000"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000"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dirty="0" err="1">
                <a:latin typeface="Arial" pitchFamily="34" charset="0"/>
                <a:cs typeface="Arial" pitchFamily="34" charset="0"/>
              </a:rPr>
              <a:t>int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main() {</a:t>
            </a:r>
            <a:endParaRPr sz="2000"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  Test t;</a:t>
            </a:r>
            <a:endParaRPr sz="2000"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2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t.x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= 34; // </a:t>
            </a:r>
            <a:r>
              <a:rPr lang="en-US" sz="2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inaccesibil</a:t>
            </a:r>
            <a:endParaRPr sz="200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 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t.set_x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(34); // ok</a:t>
            </a:r>
            <a:endParaRPr sz="2000"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  return 0;</a:t>
            </a:r>
            <a:endParaRPr sz="2000"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}</a:t>
            </a:r>
            <a:endParaRPr sz="200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Google Shape;471;p35"/>
          <p:cNvSpPr txBox="1"/>
          <p:nvPr/>
        </p:nvSpPr>
        <p:spPr>
          <a:xfrm>
            <a:off x="762000" y="228600"/>
            <a:ext cx="80772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91440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Principiile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programarii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orientate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endParaRPr sz="28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6"/>
          <p:cNvSpPr/>
          <p:nvPr/>
        </p:nvSpPr>
        <p:spPr>
          <a:xfrm>
            <a:off x="1078599" y="1713921"/>
            <a:ext cx="7298963" cy="342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2452" rIns="81639" bIns="42452" anchor="t" anchorCtr="0">
            <a:noAutofit/>
          </a:bodyPr>
          <a:lstStyle/>
          <a:p>
            <a:pPr marL="414726" indent="-345605">
              <a:spcBef>
                <a:spcPts val="0"/>
              </a:spcBef>
              <a:spcAft>
                <a:spcPts val="0"/>
              </a:spcAft>
              <a:buSzPts val="2400"/>
              <a:buFontTx/>
              <a:buChar char="-"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Agregarea</a:t>
            </a:r>
            <a:r>
              <a:rPr lang="en-US" dirty="0">
                <a:latin typeface="Arial" pitchFamily="34" charset="0"/>
                <a:cs typeface="Arial" pitchFamily="34" charset="0"/>
              </a:rPr>
              <a:t> (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ierarhia</a:t>
            </a:r>
            <a:r>
              <a:rPr lang="en-US" dirty="0">
                <a:latin typeface="Arial" pitchFamily="34" charset="0"/>
                <a:cs typeface="Arial" pitchFamily="34" charset="0"/>
              </a:rPr>
              <a:t> de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obiecte</a:t>
            </a:r>
            <a:r>
              <a:rPr lang="en-US" dirty="0">
                <a:latin typeface="Arial" pitchFamily="34" charset="0"/>
                <a:cs typeface="Arial" pitchFamily="34" charset="0"/>
              </a:rPr>
              <a:t>)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compunerea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unui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obiect</a:t>
            </a:r>
            <a:r>
              <a:rPr lang="en-US" dirty="0">
                <a:latin typeface="Arial" pitchFamily="34" charset="0"/>
                <a:cs typeface="Arial" pitchFamily="34" charset="0"/>
              </a:rPr>
              <a:t> din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mai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multe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obiecte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mai</a:t>
            </a:r>
            <a:r>
              <a:rPr lang="en-US" dirty="0">
                <a:latin typeface="Arial" pitchFamily="34" charset="0"/>
                <a:cs typeface="Arial" pitchFamily="34" charset="0"/>
              </a:rPr>
              <a:t> simple. (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relaţie</a:t>
            </a:r>
            <a:r>
              <a:rPr lang="en-US" dirty="0">
                <a:latin typeface="Arial" pitchFamily="34" charset="0"/>
                <a:cs typeface="Arial" pitchFamily="34" charset="0"/>
              </a:rPr>
              <a:t> de tip “has a”)</a:t>
            </a:r>
          </a:p>
          <a:p>
            <a:pPr marL="414726" indent="-345605">
              <a:spcBef>
                <a:spcPts val="0"/>
              </a:spcBef>
              <a:spcAft>
                <a:spcPts val="0"/>
              </a:spcAft>
              <a:buSzPts val="2400"/>
              <a:buFontTx/>
              <a:buChar char="-"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marL="414726" indent="-345605">
              <a:spcBef>
                <a:spcPts val="0"/>
              </a:spcBef>
              <a:spcAft>
                <a:spcPts val="0"/>
              </a:spcAft>
              <a:buSzPts val="2400"/>
              <a:buFontTx/>
              <a:buChar char="-"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marL="414726" indent="-345605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Moştenirea</a:t>
            </a:r>
            <a:r>
              <a:rPr lang="en-US" dirty="0">
                <a:latin typeface="Arial" pitchFamily="34" charset="0"/>
                <a:cs typeface="Arial" pitchFamily="34" charset="0"/>
              </a:rPr>
              <a:t> (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ierarhia</a:t>
            </a:r>
            <a:r>
              <a:rPr lang="en-US" dirty="0">
                <a:latin typeface="Arial" pitchFamily="34" charset="0"/>
                <a:cs typeface="Arial" pitchFamily="34" charset="0"/>
              </a:rPr>
              <a:t> de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clase</a:t>
            </a:r>
            <a:r>
              <a:rPr lang="en-US" dirty="0">
                <a:latin typeface="Arial" pitchFamily="34" charset="0"/>
                <a:cs typeface="Arial" pitchFamily="34" charset="0"/>
              </a:rPr>
              <a:t>)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relaţie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între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clase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în</a:t>
            </a:r>
            <a:r>
              <a:rPr lang="en-US" dirty="0">
                <a:latin typeface="Arial" pitchFamily="34" charset="0"/>
                <a:cs typeface="Arial" pitchFamily="34" charset="0"/>
              </a:rPr>
              <a:t> care o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clasă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mosteneste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structura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şi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comportarea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definită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în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una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sau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mai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multe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clase</a:t>
            </a:r>
            <a:r>
              <a:rPr lang="en-US" dirty="0">
                <a:latin typeface="Arial" pitchFamily="34" charset="0"/>
                <a:cs typeface="Arial" pitchFamily="34" charset="0"/>
              </a:rPr>
              <a:t> (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relaţie</a:t>
            </a:r>
            <a:r>
              <a:rPr lang="en-US" dirty="0">
                <a:latin typeface="Arial" pitchFamily="34" charset="0"/>
                <a:cs typeface="Arial" pitchFamily="34" charset="0"/>
              </a:rPr>
              <a:t> de tip “is a”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sau</a:t>
            </a:r>
            <a:r>
              <a:rPr lang="en-US" dirty="0">
                <a:latin typeface="Arial" pitchFamily="34" charset="0"/>
                <a:cs typeface="Arial" pitchFamily="34" charset="0"/>
              </a:rPr>
              <a:t> “is like a”);</a:t>
            </a:r>
          </a:p>
          <a:p>
            <a:pPr marL="414726" indent="-345605">
              <a:spcBef>
                <a:spcPts val="0"/>
              </a:spcBef>
              <a:spcAft>
                <a:spcPts val="0"/>
              </a:spcAft>
              <a:buSzPts val="2400"/>
            </a:pPr>
            <a:endParaRPr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Google Shape;471;p35"/>
          <p:cNvSpPr txBox="1"/>
          <p:nvPr/>
        </p:nvSpPr>
        <p:spPr>
          <a:xfrm>
            <a:off x="762000" y="228600"/>
            <a:ext cx="80772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91440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Principiile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programarii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orientate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endParaRPr sz="28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7"/>
          <p:cNvSpPr/>
          <p:nvPr/>
        </p:nvSpPr>
        <p:spPr>
          <a:xfrm>
            <a:off x="4331099" y="990600"/>
            <a:ext cx="1720380" cy="510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2452" rIns="81639" bIns="42452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Agregarea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endParaRPr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05" name="Google Shape;505;p57"/>
          <p:cNvSpPr txBox="1"/>
          <p:nvPr/>
        </p:nvSpPr>
        <p:spPr>
          <a:xfrm>
            <a:off x="2519002" y="1969764"/>
            <a:ext cx="3918342" cy="3934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32" tIns="82932" rIns="82932" bIns="82932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200" dirty="0"/>
              <a:t>class </a:t>
            </a:r>
            <a:r>
              <a:rPr lang="en-US" sz="2200" b="1" dirty="0" err="1">
                <a:solidFill>
                  <a:srgbClr val="FF0000"/>
                </a:solidFill>
              </a:rPr>
              <a:t>Profesor</a:t>
            </a:r>
            <a:endParaRPr sz="2200" b="1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200" dirty="0"/>
              <a:t>{</a:t>
            </a:r>
            <a:endParaRPr sz="22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200" dirty="0"/>
              <a:t>string </a:t>
            </a:r>
            <a:r>
              <a:rPr lang="en-US" sz="2200" dirty="0" err="1"/>
              <a:t>nume</a:t>
            </a:r>
            <a:r>
              <a:rPr lang="en-US" sz="2200" dirty="0"/>
              <a:t>;</a:t>
            </a:r>
            <a:endParaRPr sz="22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200" dirty="0" err="1"/>
              <a:t>int</a:t>
            </a:r>
            <a:r>
              <a:rPr lang="en-US" sz="2200" dirty="0"/>
              <a:t> </a:t>
            </a:r>
            <a:r>
              <a:rPr lang="en-US" sz="2200" dirty="0" err="1"/>
              <a:t>vechime</a:t>
            </a:r>
            <a:r>
              <a:rPr lang="en-US" sz="2200" dirty="0"/>
              <a:t>;</a:t>
            </a:r>
            <a:endParaRPr sz="22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200" dirty="0"/>
              <a:t>};</a:t>
            </a:r>
            <a:endParaRPr sz="2200"/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2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200" dirty="0"/>
              <a:t>class Curs</a:t>
            </a:r>
            <a:endParaRPr sz="22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200" dirty="0"/>
              <a:t>{</a:t>
            </a:r>
            <a:endParaRPr sz="22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200" dirty="0"/>
              <a:t>  string </a:t>
            </a:r>
            <a:r>
              <a:rPr lang="en-US" sz="2200" dirty="0" err="1"/>
              <a:t>denumire</a:t>
            </a:r>
            <a:r>
              <a:rPr lang="en-US" sz="2200" dirty="0"/>
              <a:t>;</a:t>
            </a:r>
            <a:endParaRPr sz="22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200" dirty="0"/>
              <a:t>  </a:t>
            </a:r>
            <a:r>
              <a:rPr lang="en-US" sz="2200" b="1" dirty="0" err="1">
                <a:solidFill>
                  <a:srgbClr val="FF0000"/>
                </a:solidFill>
              </a:rPr>
              <a:t>Profesor</a:t>
            </a:r>
            <a:r>
              <a:rPr lang="en-US" sz="2200" b="1" dirty="0">
                <a:solidFill>
                  <a:srgbClr val="FF0000"/>
                </a:solidFill>
              </a:rPr>
              <a:t> p;</a:t>
            </a:r>
            <a:endParaRPr sz="2200" b="1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200" dirty="0"/>
              <a:t>};</a:t>
            </a:r>
            <a:endParaRPr sz="2200"/>
          </a:p>
        </p:txBody>
      </p:sp>
      <p:sp>
        <p:nvSpPr>
          <p:cNvPr id="10" name="Google Shape;471;p35"/>
          <p:cNvSpPr txBox="1"/>
          <p:nvPr/>
        </p:nvSpPr>
        <p:spPr>
          <a:xfrm>
            <a:off x="793679" y="228600"/>
            <a:ext cx="80772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91440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Principiile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programarii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orientate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endParaRPr sz="28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124200" y="1676400"/>
            <a:ext cx="2895600" cy="685800"/>
          </a:xfrm>
        </p:spPr>
        <p:txBody>
          <a:bodyPr/>
          <a:lstStyle/>
          <a:p>
            <a:pPr eaLnBrk="1" hangingPunct="1"/>
            <a:r>
              <a:rPr lang="ro-RO" altLang="ro-RO" sz="24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Moștenire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819400"/>
            <a:ext cx="7772400" cy="1981200"/>
          </a:xfrm>
        </p:spPr>
        <p:txBody>
          <a:bodyPr/>
          <a:lstStyle/>
          <a:p>
            <a:pPr eaLnBrk="1" hangingPunct="1"/>
            <a:r>
              <a:rPr lang="ro-RO" altLang="ro-RO" sz="2400" dirty="0">
                <a:latin typeface="Arial" pitchFamily="34" charset="0"/>
                <a:cs typeface="Arial" pitchFamily="34" charset="0"/>
              </a:rPr>
              <a:t>multe obiecte au proprietăți similare</a:t>
            </a:r>
          </a:p>
          <a:p>
            <a:pPr eaLnBrk="1" hangingPunct="1">
              <a:buFontTx/>
              <a:buNone/>
            </a:pPr>
            <a:endParaRPr lang="ro-RO" altLang="ro-RO" sz="2400" dirty="0">
              <a:latin typeface="Arial" pitchFamily="34" charset="0"/>
              <a:cs typeface="Arial" pitchFamily="34" charset="0"/>
            </a:endParaRPr>
          </a:p>
          <a:p>
            <a:pPr eaLnBrk="1" hangingPunct="1"/>
            <a:r>
              <a:rPr lang="ro-RO" altLang="ro-RO" sz="2400" dirty="0">
                <a:latin typeface="Arial" pitchFamily="34" charset="0"/>
                <a:cs typeface="Arial" pitchFamily="34" charset="0"/>
              </a:rPr>
              <a:t>reutilizare de cod</a:t>
            </a:r>
          </a:p>
        </p:txBody>
      </p:sp>
      <p:sp>
        <p:nvSpPr>
          <p:cNvPr id="7" name="Google Shape;471;p35"/>
          <p:cNvSpPr txBox="1"/>
          <p:nvPr/>
        </p:nvSpPr>
        <p:spPr>
          <a:xfrm>
            <a:off x="762000" y="685800"/>
            <a:ext cx="80772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91440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Principiile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programarii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orientate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endParaRPr sz="28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67225"/>
            <a:ext cx="7772400" cy="3124200"/>
          </a:xfrm>
        </p:spPr>
        <p:txBody>
          <a:bodyPr/>
          <a:lstStyle/>
          <a:p>
            <a:pPr eaLnBrk="1" hangingPunct="1"/>
            <a:r>
              <a:rPr lang="ro-RO" altLang="ro-RO" sz="2400" dirty="0">
                <a:latin typeface="Arial" pitchFamily="34" charset="0"/>
                <a:cs typeface="Arial" pitchFamily="34" charset="0"/>
              </a:rPr>
              <a:t>terminologie</a:t>
            </a:r>
          </a:p>
          <a:p>
            <a:pPr lvl="1" eaLnBrk="1" hangingPunct="1"/>
            <a:r>
              <a:rPr lang="ro-RO" altLang="ro-RO" sz="2400" dirty="0">
                <a:latin typeface="Arial" pitchFamily="34" charset="0"/>
                <a:cs typeface="Arial" pitchFamily="34" charset="0"/>
              </a:rPr>
              <a:t>clas</a:t>
            </a:r>
            <a:r>
              <a:rPr lang="vi-VN" altLang="ro-RO" sz="2400" dirty="0">
                <a:latin typeface="Arial" pitchFamily="34" charset="0"/>
                <a:cs typeface="Arial" pitchFamily="34" charset="0"/>
              </a:rPr>
              <a:t>ă</a:t>
            </a:r>
            <a:r>
              <a:rPr lang="ro-RO" altLang="ro-RO" sz="2400" dirty="0">
                <a:latin typeface="Arial" pitchFamily="34" charset="0"/>
                <a:cs typeface="Arial" pitchFamily="34" charset="0"/>
              </a:rPr>
              <a:t> de ba</a:t>
            </a:r>
            <a:r>
              <a:rPr lang="en-US" altLang="ro-RO" sz="2400" dirty="0">
                <a:latin typeface="Arial" pitchFamily="34" charset="0"/>
                <a:cs typeface="Arial" pitchFamily="34" charset="0"/>
              </a:rPr>
              <a:t>z</a:t>
            </a:r>
            <a:r>
              <a:rPr lang="ro-RO" altLang="ro-RO" sz="2400" dirty="0">
                <a:latin typeface="Arial" pitchFamily="34" charset="0"/>
                <a:cs typeface="Arial" pitchFamily="34" charset="0"/>
              </a:rPr>
              <a:t>ă, clas</a:t>
            </a:r>
            <a:r>
              <a:rPr lang="vi-VN" altLang="ro-RO" sz="2400" dirty="0">
                <a:latin typeface="Arial" pitchFamily="34" charset="0"/>
                <a:cs typeface="Arial" pitchFamily="34" charset="0"/>
              </a:rPr>
              <a:t>ă</a:t>
            </a:r>
            <a:r>
              <a:rPr lang="ro-RO" altLang="ro-RO" sz="2400" dirty="0">
                <a:latin typeface="Arial" pitchFamily="34" charset="0"/>
                <a:cs typeface="Arial" pitchFamily="34" charset="0"/>
              </a:rPr>
              <a:t> derivat</a:t>
            </a:r>
            <a:r>
              <a:rPr lang="vi-VN" altLang="ro-RO" sz="2400" dirty="0">
                <a:latin typeface="Arial" pitchFamily="34" charset="0"/>
                <a:cs typeface="Arial" pitchFamily="34" charset="0"/>
              </a:rPr>
              <a:t>ă</a:t>
            </a:r>
            <a:endParaRPr lang="ro-RO" altLang="ro-RO" sz="2400" dirty="0">
              <a:latin typeface="Arial" pitchFamily="34" charset="0"/>
              <a:cs typeface="Arial" pitchFamily="34" charset="0"/>
            </a:endParaRPr>
          </a:p>
          <a:p>
            <a:pPr lvl="1" eaLnBrk="1" hangingPunct="1"/>
            <a:r>
              <a:rPr lang="ro-RO" altLang="ro-RO" sz="2400" dirty="0">
                <a:latin typeface="Arial" pitchFamily="34" charset="0"/>
                <a:cs typeface="Arial" pitchFamily="34" charset="0"/>
              </a:rPr>
              <a:t>superclasă subclasă</a:t>
            </a:r>
          </a:p>
          <a:p>
            <a:pPr lvl="1" eaLnBrk="1" hangingPunct="1"/>
            <a:r>
              <a:rPr lang="ro-RO" altLang="ro-RO" sz="2400" dirty="0">
                <a:latin typeface="Arial" pitchFamily="34" charset="0"/>
                <a:cs typeface="Arial" pitchFamily="34" charset="0"/>
              </a:rPr>
              <a:t>părinte, fiu</a:t>
            </a:r>
          </a:p>
          <a:p>
            <a:pPr lvl="1" eaLnBrk="1" hangingPunct="1"/>
            <a:endParaRPr lang="ro-RO" altLang="ro-RO" sz="2400" dirty="0">
              <a:latin typeface="Arial" pitchFamily="34" charset="0"/>
              <a:cs typeface="Arial" pitchFamily="34" charset="0"/>
            </a:endParaRPr>
          </a:p>
          <a:p>
            <a:pPr eaLnBrk="1" hangingPunct="1"/>
            <a:r>
              <a:rPr lang="ro-RO" altLang="ro-RO" sz="2400" dirty="0">
                <a:latin typeface="Arial" pitchFamily="34" charset="0"/>
                <a:cs typeface="Arial" pitchFamily="34" charset="0"/>
              </a:rPr>
              <a:t>mai târziu: funcții virtuale, identificare de tipuri in timpul rulării (RTTI)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3124200" y="1081425"/>
            <a:ext cx="2895600" cy="685800"/>
          </a:xfrm>
        </p:spPr>
        <p:txBody>
          <a:bodyPr/>
          <a:lstStyle/>
          <a:p>
            <a:pPr eaLnBrk="1" hangingPunct="1"/>
            <a:r>
              <a:rPr lang="ro-RO" altLang="ro-RO" sz="24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Moștenire</a:t>
            </a:r>
          </a:p>
        </p:txBody>
      </p:sp>
      <p:sp>
        <p:nvSpPr>
          <p:cNvPr id="7" name="Google Shape;471;p35"/>
          <p:cNvSpPr txBox="1"/>
          <p:nvPr/>
        </p:nvSpPr>
        <p:spPr>
          <a:xfrm>
            <a:off x="762000" y="90825"/>
            <a:ext cx="80772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91440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Principiile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programarii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orientate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endParaRPr sz="28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9941" y="2072025"/>
            <a:ext cx="7772400" cy="34290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ro-RO" altLang="ro-RO" sz="2400" dirty="0">
                <a:latin typeface="Arial" pitchFamily="34" charset="0"/>
                <a:cs typeface="Arial" pitchFamily="34" charset="0"/>
              </a:rPr>
              <a:t>încorporarea componentelor unei clase în alta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ro-RO" altLang="ro-RO" sz="2400" dirty="0">
                <a:latin typeface="Arial" pitchFamily="34" charset="0"/>
                <a:cs typeface="Arial" pitchFamily="34" charset="0"/>
              </a:rPr>
              <a:t>refolosire de cod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ro-RO" altLang="ro-RO" sz="2400" dirty="0">
                <a:latin typeface="Arial" pitchFamily="34" charset="0"/>
                <a:cs typeface="Arial" pitchFamily="34" charset="0"/>
              </a:rPr>
              <a:t>detalii mai subtile pentru tipuri şi subtipuri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ro-RO" altLang="ro-RO" sz="2400" dirty="0">
                <a:latin typeface="Arial" pitchFamily="34" charset="0"/>
                <a:cs typeface="Arial" pitchFamily="34" charset="0"/>
              </a:rPr>
              <a:t>clas</a:t>
            </a:r>
            <a:r>
              <a:rPr lang="vi-VN" altLang="ro-RO" sz="2400" dirty="0">
                <a:latin typeface="Arial" pitchFamily="34" charset="0"/>
                <a:cs typeface="Arial" pitchFamily="34" charset="0"/>
              </a:rPr>
              <a:t>ă</a:t>
            </a:r>
            <a:r>
              <a:rPr lang="ro-RO" altLang="ro-RO" sz="2400" dirty="0">
                <a:latin typeface="Arial" pitchFamily="34" charset="0"/>
                <a:cs typeface="Arial" pitchFamily="34" charset="0"/>
              </a:rPr>
              <a:t> de baz</a:t>
            </a:r>
            <a:r>
              <a:rPr lang="vi-VN" altLang="ro-RO" sz="2400" dirty="0">
                <a:latin typeface="Arial" pitchFamily="34" charset="0"/>
                <a:cs typeface="Arial" pitchFamily="34" charset="0"/>
              </a:rPr>
              <a:t>ă</a:t>
            </a:r>
            <a:r>
              <a:rPr lang="ro-RO" altLang="ro-RO" sz="2400" dirty="0">
                <a:latin typeface="Arial" pitchFamily="34" charset="0"/>
                <a:cs typeface="Arial" pitchFamily="34" charset="0"/>
              </a:rPr>
              <a:t>, clas</a:t>
            </a:r>
            <a:r>
              <a:rPr lang="vi-VN" altLang="ro-RO" sz="2400" dirty="0">
                <a:latin typeface="Arial" pitchFamily="34" charset="0"/>
                <a:cs typeface="Arial" pitchFamily="34" charset="0"/>
              </a:rPr>
              <a:t>ă</a:t>
            </a:r>
            <a:r>
              <a:rPr lang="ro-RO" altLang="ro-RO" sz="2400" dirty="0">
                <a:latin typeface="Arial" pitchFamily="34" charset="0"/>
                <a:cs typeface="Arial" pitchFamily="34" charset="0"/>
              </a:rPr>
              <a:t> derivat</a:t>
            </a:r>
            <a:r>
              <a:rPr lang="vi-VN" altLang="ro-RO" sz="2400" dirty="0">
                <a:latin typeface="Arial" pitchFamily="34" charset="0"/>
                <a:cs typeface="Arial" pitchFamily="34" charset="0"/>
              </a:rPr>
              <a:t>ă</a:t>
            </a:r>
            <a:endParaRPr lang="ro-RO" altLang="ro-RO" sz="2400" dirty="0">
              <a:latin typeface="Arial" pitchFamily="34" charset="0"/>
              <a:cs typeface="Arial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ro-RO" altLang="ro-RO" sz="2400" dirty="0">
                <a:latin typeface="Arial" pitchFamily="34" charset="0"/>
                <a:cs typeface="Arial" pitchFamily="34" charset="0"/>
              </a:rPr>
              <a:t>clasa derivat</a:t>
            </a:r>
            <a:r>
              <a:rPr lang="vi-VN" altLang="ro-RO" sz="2400" dirty="0">
                <a:latin typeface="Arial" pitchFamily="34" charset="0"/>
                <a:cs typeface="Arial" pitchFamily="34" charset="0"/>
              </a:rPr>
              <a:t>ă</a:t>
            </a:r>
            <a:r>
              <a:rPr lang="ro-RO" altLang="ro-RO" sz="2400" dirty="0">
                <a:latin typeface="Arial" pitchFamily="34" charset="0"/>
                <a:cs typeface="Arial" pitchFamily="34" charset="0"/>
              </a:rPr>
              <a:t> conține toate elementele clasei de baz</a:t>
            </a:r>
            <a:r>
              <a:rPr lang="vi-VN" altLang="ro-RO" sz="2400" dirty="0">
                <a:latin typeface="Arial" pitchFamily="34" charset="0"/>
                <a:cs typeface="Arial" pitchFamily="34" charset="0"/>
              </a:rPr>
              <a:t>ă</a:t>
            </a:r>
            <a:r>
              <a:rPr lang="ro-RO" altLang="ro-RO" sz="2400" dirty="0">
                <a:latin typeface="Arial" pitchFamily="34" charset="0"/>
                <a:cs typeface="Arial" pitchFamily="34" charset="0"/>
              </a:rPr>
              <a:t>, mai adăug</a:t>
            </a:r>
            <a:r>
              <a:rPr lang="vi-VN" altLang="ro-RO" sz="2400" dirty="0">
                <a:latin typeface="Arial" pitchFamily="34" charset="0"/>
                <a:cs typeface="Arial" pitchFamily="34" charset="0"/>
              </a:rPr>
              <a:t>ă</a:t>
            </a:r>
            <a:r>
              <a:rPr lang="ro-RO" altLang="ro-RO" sz="2400" dirty="0">
                <a:latin typeface="Arial" pitchFamily="34" charset="0"/>
                <a:cs typeface="Arial" pitchFamily="34" charset="0"/>
              </a:rPr>
              <a:t> noi elemente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3088341" y="1081425"/>
            <a:ext cx="2895600" cy="685800"/>
          </a:xfrm>
        </p:spPr>
        <p:txBody>
          <a:bodyPr/>
          <a:lstStyle/>
          <a:p>
            <a:pPr eaLnBrk="1" hangingPunct="1"/>
            <a:r>
              <a:rPr lang="ro-RO" altLang="ro-RO" sz="24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Moștenire</a:t>
            </a:r>
          </a:p>
        </p:txBody>
      </p:sp>
      <p:sp>
        <p:nvSpPr>
          <p:cNvPr id="7" name="Google Shape;471;p35"/>
          <p:cNvSpPr txBox="1"/>
          <p:nvPr/>
        </p:nvSpPr>
        <p:spPr>
          <a:xfrm>
            <a:off x="726141" y="90825"/>
            <a:ext cx="80772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91440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Principiile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programarii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orientate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endParaRPr sz="28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4"/>
          <p:cNvSpPr>
            <a:spLocks noChangeArrowheads="1"/>
          </p:cNvSpPr>
          <p:nvPr/>
        </p:nvSpPr>
        <p:spPr bwMode="auto">
          <a:xfrm>
            <a:off x="304800" y="1460242"/>
            <a:ext cx="4572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class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building </a:t>
            </a:r>
            <a:r>
              <a:rPr lang="ro-RO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{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	int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rooms</a:t>
            </a:r>
            <a:r>
              <a:rPr lang="ro-RO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	int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floors</a:t>
            </a:r>
            <a:r>
              <a:rPr lang="ro-RO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	int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area</a:t>
            </a:r>
            <a:r>
              <a:rPr lang="ro-RO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public</a:t>
            </a:r>
            <a:r>
              <a:rPr lang="ro-RO" sz="2000" dirty="0">
                <a:solidFill>
                  <a:srgbClr val="E34ADC"/>
                </a:solidFill>
                <a:latin typeface="Arial" pitchFamily="34" charset="0"/>
                <a:cs typeface="Arial" pitchFamily="34" charset="0"/>
              </a:rPr>
              <a:t>: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	void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set_rooms</a:t>
            </a:r>
            <a:r>
              <a:rPr lang="ro-RO" sz="2000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int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num</a:t>
            </a:r>
            <a:r>
              <a:rPr lang="ro-RO" sz="2000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ro-RO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	int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get_rooms</a:t>
            </a:r>
            <a:r>
              <a:rPr lang="ro-RO" sz="2000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()</a:t>
            </a:r>
            <a:r>
              <a:rPr lang="ro-RO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en-US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 // …</a:t>
            </a:r>
          </a:p>
          <a:p>
            <a:r>
              <a:rPr lang="ro-RO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};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endParaRPr lang="ro-RO" sz="2000" dirty="0">
              <a:solidFill>
                <a:srgbClr val="696969"/>
              </a:solidFill>
              <a:latin typeface="Arial" pitchFamily="34" charset="0"/>
              <a:cs typeface="Arial" pitchFamily="34" charset="0"/>
            </a:endParaRPr>
          </a:p>
          <a:p>
            <a:r>
              <a:rPr lang="ro-RO" sz="2000" dirty="0">
                <a:solidFill>
                  <a:srgbClr val="696969"/>
                </a:solidFill>
                <a:latin typeface="Arial" pitchFamily="34" charset="0"/>
                <a:cs typeface="Arial" pitchFamily="34" charset="0"/>
              </a:rPr>
              <a:t>// house e derivat</a:t>
            </a:r>
            <a:r>
              <a:rPr lang="vi-VN" sz="2000" dirty="0">
                <a:solidFill>
                  <a:srgbClr val="696969"/>
                </a:solidFill>
                <a:latin typeface="Arial" pitchFamily="34" charset="0"/>
                <a:cs typeface="Arial" pitchFamily="34" charset="0"/>
              </a:rPr>
              <a:t>ă</a:t>
            </a:r>
            <a:r>
              <a:rPr lang="ro-RO" sz="2000" dirty="0">
                <a:solidFill>
                  <a:srgbClr val="696969"/>
                </a:solidFill>
                <a:latin typeface="Arial" pitchFamily="34" charset="0"/>
                <a:cs typeface="Arial" pitchFamily="34" charset="0"/>
              </a:rPr>
              <a:t> din building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class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house </a:t>
            </a:r>
            <a:r>
              <a:rPr lang="ro-RO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: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public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building </a:t>
            </a:r>
            <a:r>
              <a:rPr lang="ro-RO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{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	int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bedrooms</a:t>
            </a:r>
            <a:r>
              <a:rPr lang="ro-RO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	int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baths</a:t>
            </a:r>
            <a:r>
              <a:rPr lang="ro-RO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public</a:t>
            </a:r>
            <a:r>
              <a:rPr lang="ro-RO" sz="2000" dirty="0">
                <a:solidFill>
                  <a:srgbClr val="E34ADC"/>
                </a:solidFill>
                <a:latin typeface="Arial" pitchFamily="34" charset="0"/>
                <a:cs typeface="Arial" pitchFamily="34" charset="0"/>
              </a:rPr>
              <a:t>: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	void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set_bedrooms</a:t>
            </a:r>
            <a:r>
              <a:rPr lang="ro-RO" sz="2000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int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num</a:t>
            </a:r>
            <a:r>
              <a:rPr lang="ro-RO" sz="2000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ro-RO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	int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get_bedrooms</a:t>
            </a:r>
            <a:r>
              <a:rPr lang="ro-RO" sz="2000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()</a:t>
            </a:r>
            <a:r>
              <a:rPr lang="ro-RO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;};</a:t>
            </a:r>
            <a:endParaRPr lang="ro-RO" altLang="ro-RO" sz="2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9155" name="Rectangle 5"/>
          <p:cNvSpPr>
            <a:spLocks noChangeArrowheads="1"/>
          </p:cNvSpPr>
          <p:nvPr/>
        </p:nvSpPr>
        <p:spPr bwMode="auto">
          <a:xfrm>
            <a:off x="4419600" y="2949476"/>
            <a:ext cx="45720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tip acces: public, private, protected</a:t>
            </a:r>
          </a:p>
          <a:p>
            <a:r>
              <a:rPr lang="ro-RO" altLang="ro-RO" dirty="0"/>
              <a:t>mai multe mai târziu</a:t>
            </a:r>
          </a:p>
          <a:p>
            <a:endParaRPr lang="ro-RO" altLang="ro-RO" dirty="0"/>
          </a:p>
          <a:p>
            <a:r>
              <a:rPr lang="ro-RO" altLang="ro-RO" dirty="0"/>
              <a:t>public: membrii publici ai building devin publici pentru house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3097306" y="1117342"/>
            <a:ext cx="2895600" cy="685800"/>
          </a:xfrm>
        </p:spPr>
        <p:txBody>
          <a:bodyPr/>
          <a:lstStyle/>
          <a:p>
            <a:pPr eaLnBrk="1" hangingPunct="1"/>
            <a:r>
              <a:rPr lang="ro-RO" altLang="ro-RO" sz="24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Moștenire</a:t>
            </a:r>
          </a:p>
        </p:txBody>
      </p:sp>
      <p:sp>
        <p:nvSpPr>
          <p:cNvPr id="8" name="Google Shape;471;p35"/>
          <p:cNvSpPr txBox="1"/>
          <p:nvPr/>
        </p:nvSpPr>
        <p:spPr>
          <a:xfrm>
            <a:off x="735106" y="126742"/>
            <a:ext cx="80772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91440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Principiile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programarii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orientate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endParaRPr sz="28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0282" y="2286000"/>
            <a:ext cx="8153400" cy="2133600"/>
          </a:xfrm>
        </p:spPr>
        <p:txBody>
          <a:bodyPr/>
          <a:lstStyle/>
          <a:p>
            <a:pPr eaLnBrk="1" hangingPunct="1"/>
            <a:r>
              <a:rPr lang="ro-RO" altLang="ro-RO" sz="2400" dirty="0">
                <a:latin typeface="Arial" pitchFamily="34" charset="0"/>
                <a:cs typeface="Arial" pitchFamily="34" charset="0"/>
              </a:rPr>
              <a:t>house NU are acces la membrii privați ai lui building</a:t>
            </a:r>
          </a:p>
          <a:p>
            <a:pPr eaLnBrk="1" hangingPunct="1"/>
            <a:r>
              <a:rPr lang="ro-RO" altLang="ro-RO" sz="2400" dirty="0">
                <a:latin typeface="Arial" pitchFamily="34" charset="0"/>
                <a:cs typeface="Arial" pitchFamily="34" charset="0"/>
              </a:rPr>
              <a:t>așa se realizează encapsularea</a:t>
            </a:r>
          </a:p>
          <a:p>
            <a:pPr eaLnBrk="1" hangingPunct="1"/>
            <a:endParaRPr lang="ro-RO" altLang="ro-RO" sz="2400" dirty="0">
              <a:latin typeface="Arial" pitchFamily="34" charset="0"/>
              <a:cs typeface="Arial" pitchFamily="34" charset="0"/>
            </a:endParaRPr>
          </a:p>
          <a:p>
            <a:pPr eaLnBrk="1" hangingPunct="1"/>
            <a:r>
              <a:rPr lang="ro-RO" altLang="ro-RO" sz="2400" dirty="0">
                <a:latin typeface="Arial" pitchFamily="34" charset="0"/>
                <a:cs typeface="Arial" pitchFamily="34" charset="0"/>
              </a:rPr>
              <a:t>clasa derivat</a:t>
            </a:r>
            <a:r>
              <a:rPr lang="vi-VN" altLang="ro-RO" sz="2400" dirty="0">
                <a:latin typeface="Arial" pitchFamily="34" charset="0"/>
                <a:cs typeface="Arial" pitchFamily="34" charset="0"/>
              </a:rPr>
              <a:t>ă</a:t>
            </a:r>
            <a:r>
              <a:rPr lang="ro-RO" altLang="ro-RO" sz="2400" dirty="0">
                <a:latin typeface="Arial" pitchFamily="34" charset="0"/>
                <a:cs typeface="Arial" pitchFamily="34" charset="0"/>
              </a:rPr>
              <a:t> are acces la membrii publici ai clasei de baza şi la toți membrii săi (publici şi privați)</a:t>
            </a:r>
          </a:p>
          <a:p>
            <a:pPr eaLnBrk="1" hangingPunct="1"/>
            <a:endParaRPr lang="ro-RO" altLang="ro-RO" sz="2800" dirty="0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3128682" y="1219200"/>
            <a:ext cx="2895600" cy="685800"/>
          </a:xfrm>
        </p:spPr>
        <p:txBody>
          <a:bodyPr/>
          <a:lstStyle/>
          <a:p>
            <a:pPr eaLnBrk="1" hangingPunct="1"/>
            <a:r>
              <a:rPr lang="ro-RO" altLang="ro-RO" sz="24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Moștenire</a:t>
            </a:r>
          </a:p>
        </p:txBody>
      </p:sp>
      <p:sp>
        <p:nvSpPr>
          <p:cNvPr id="7" name="Google Shape;471;p35"/>
          <p:cNvSpPr txBox="1"/>
          <p:nvPr/>
        </p:nvSpPr>
        <p:spPr>
          <a:xfrm>
            <a:off x="766482" y="228600"/>
            <a:ext cx="80772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91440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Principiile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programarii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orientate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endParaRPr sz="28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4"/>
          <p:cNvSpPr>
            <a:spLocks noChangeArrowheads="1"/>
          </p:cNvSpPr>
          <p:nvPr/>
        </p:nvSpPr>
        <p:spPr bwMode="auto">
          <a:xfrm>
            <a:off x="152400" y="1381065"/>
            <a:ext cx="45720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 dirty="0">
                <a:solidFill>
                  <a:srgbClr val="800000"/>
                </a:solidFill>
              </a:rPr>
              <a:t>class</a:t>
            </a:r>
            <a:r>
              <a:rPr lang="en-US" sz="2000" dirty="0"/>
              <a:t> building </a:t>
            </a:r>
            <a:r>
              <a:rPr lang="en-US" sz="2000" dirty="0">
                <a:solidFill>
                  <a:srgbClr val="800080"/>
                </a:solidFill>
              </a:rPr>
              <a:t>{</a:t>
            </a:r>
            <a:r>
              <a:rPr lang="en-US" sz="2000" dirty="0"/>
              <a:t> </a:t>
            </a:r>
          </a:p>
          <a:p>
            <a:r>
              <a:rPr lang="en-US" sz="2000" b="1" dirty="0">
                <a:solidFill>
                  <a:srgbClr val="800000"/>
                </a:solidFill>
              </a:rPr>
              <a:t>	</a:t>
            </a:r>
            <a:r>
              <a:rPr lang="en-US" sz="2000" b="1" dirty="0" err="1">
                <a:solidFill>
                  <a:srgbClr val="800000"/>
                </a:solidFill>
              </a:rPr>
              <a:t>int</a:t>
            </a:r>
            <a:r>
              <a:rPr lang="en-US" sz="2000" dirty="0"/>
              <a:t> rooms</a:t>
            </a:r>
            <a:r>
              <a:rPr lang="en-US" sz="2000" dirty="0">
                <a:solidFill>
                  <a:srgbClr val="800080"/>
                </a:solidFill>
              </a:rPr>
              <a:t>;</a:t>
            </a:r>
            <a:r>
              <a:rPr lang="en-US" sz="2000" dirty="0"/>
              <a:t> </a:t>
            </a:r>
          </a:p>
          <a:p>
            <a:r>
              <a:rPr lang="en-US" sz="2000" b="1" dirty="0">
                <a:solidFill>
                  <a:srgbClr val="800000"/>
                </a:solidFill>
              </a:rPr>
              <a:t>	</a:t>
            </a:r>
            <a:r>
              <a:rPr lang="en-US" sz="2000" b="1" dirty="0" err="1">
                <a:solidFill>
                  <a:srgbClr val="800000"/>
                </a:solidFill>
              </a:rPr>
              <a:t>int</a:t>
            </a:r>
            <a:r>
              <a:rPr lang="en-US" sz="2000" dirty="0"/>
              <a:t> floors</a:t>
            </a:r>
            <a:r>
              <a:rPr lang="en-US" sz="2000" dirty="0">
                <a:solidFill>
                  <a:srgbClr val="800080"/>
                </a:solidFill>
              </a:rPr>
              <a:t>;</a:t>
            </a:r>
            <a:r>
              <a:rPr lang="en-US" sz="2000" dirty="0"/>
              <a:t> </a:t>
            </a:r>
          </a:p>
          <a:p>
            <a:r>
              <a:rPr lang="en-US" sz="2000" b="1" dirty="0">
                <a:solidFill>
                  <a:srgbClr val="800000"/>
                </a:solidFill>
              </a:rPr>
              <a:t>	</a:t>
            </a:r>
            <a:r>
              <a:rPr lang="en-US" sz="2000" b="1" dirty="0" err="1">
                <a:solidFill>
                  <a:srgbClr val="800000"/>
                </a:solidFill>
              </a:rPr>
              <a:t>int</a:t>
            </a:r>
            <a:r>
              <a:rPr lang="en-US" sz="2000" dirty="0"/>
              <a:t> area</a:t>
            </a:r>
            <a:r>
              <a:rPr lang="en-US" sz="2000" dirty="0">
                <a:solidFill>
                  <a:srgbClr val="800080"/>
                </a:solidFill>
              </a:rPr>
              <a:t>;</a:t>
            </a:r>
            <a:r>
              <a:rPr lang="en-US" sz="2000" dirty="0"/>
              <a:t> </a:t>
            </a:r>
          </a:p>
          <a:p>
            <a:r>
              <a:rPr lang="en-US" sz="2000" b="1" dirty="0">
                <a:solidFill>
                  <a:srgbClr val="800000"/>
                </a:solidFill>
              </a:rPr>
              <a:t>public</a:t>
            </a:r>
            <a:r>
              <a:rPr lang="en-US" sz="2000" dirty="0">
                <a:solidFill>
                  <a:srgbClr val="E34ADC"/>
                </a:solidFill>
              </a:rPr>
              <a:t>:</a:t>
            </a:r>
            <a:r>
              <a:rPr lang="en-US" sz="2000" dirty="0"/>
              <a:t> </a:t>
            </a:r>
          </a:p>
          <a:p>
            <a:r>
              <a:rPr lang="en-US" sz="2000" b="1" dirty="0">
                <a:solidFill>
                  <a:srgbClr val="800000"/>
                </a:solidFill>
              </a:rPr>
              <a:t>	void</a:t>
            </a:r>
            <a:r>
              <a:rPr lang="en-US" sz="2000" dirty="0"/>
              <a:t> </a:t>
            </a:r>
            <a:r>
              <a:rPr lang="en-US" sz="2000" dirty="0" err="1"/>
              <a:t>set_rooms</a:t>
            </a:r>
            <a:r>
              <a:rPr lang="en-US" sz="2000" dirty="0">
                <a:solidFill>
                  <a:srgbClr val="808030"/>
                </a:solidFill>
              </a:rPr>
              <a:t>(</a:t>
            </a:r>
            <a:r>
              <a:rPr lang="en-US" sz="2000" b="1" dirty="0" err="1">
                <a:solidFill>
                  <a:srgbClr val="800000"/>
                </a:solidFill>
              </a:rPr>
              <a:t>int</a:t>
            </a:r>
            <a:r>
              <a:rPr lang="en-US" sz="2000" dirty="0"/>
              <a:t> num</a:t>
            </a:r>
            <a:r>
              <a:rPr lang="en-US" sz="2000" dirty="0">
                <a:solidFill>
                  <a:srgbClr val="808030"/>
                </a:solidFill>
              </a:rPr>
              <a:t>)</a:t>
            </a:r>
            <a:r>
              <a:rPr lang="en-US" sz="2000" dirty="0">
                <a:solidFill>
                  <a:srgbClr val="800080"/>
                </a:solidFill>
              </a:rPr>
              <a:t>;</a:t>
            </a:r>
            <a:r>
              <a:rPr lang="en-US" sz="2000" dirty="0"/>
              <a:t> </a:t>
            </a:r>
          </a:p>
          <a:p>
            <a:r>
              <a:rPr lang="en-US" sz="2000" b="1" dirty="0">
                <a:solidFill>
                  <a:srgbClr val="800000"/>
                </a:solidFill>
              </a:rPr>
              <a:t>	</a:t>
            </a:r>
            <a:r>
              <a:rPr lang="en-US" sz="2000" b="1" dirty="0" err="1">
                <a:solidFill>
                  <a:srgbClr val="800000"/>
                </a:solidFill>
              </a:rPr>
              <a:t>int</a:t>
            </a:r>
            <a:r>
              <a:rPr lang="en-US" sz="2000" dirty="0"/>
              <a:t> </a:t>
            </a:r>
            <a:r>
              <a:rPr lang="en-US" sz="2000" dirty="0" err="1"/>
              <a:t>get_rooms</a:t>
            </a:r>
            <a:r>
              <a:rPr lang="en-US" sz="2000" dirty="0">
                <a:solidFill>
                  <a:srgbClr val="808030"/>
                </a:solidFill>
              </a:rPr>
              <a:t>()</a:t>
            </a:r>
            <a:r>
              <a:rPr lang="en-US" sz="2000" dirty="0">
                <a:solidFill>
                  <a:srgbClr val="800080"/>
                </a:solidFill>
              </a:rPr>
              <a:t>; //…};</a:t>
            </a:r>
            <a:r>
              <a:rPr lang="en-US" sz="2000" dirty="0"/>
              <a:t> </a:t>
            </a:r>
            <a:endParaRPr lang="en-US" sz="2000" dirty="0">
              <a:solidFill>
                <a:srgbClr val="696969"/>
              </a:solidFill>
            </a:endParaRPr>
          </a:p>
        </p:txBody>
      </p:sp>
      <p:sp>
        <p:nvSpPr>
          <p:cNvPr id="51203" name="Rectangle 8"/>
          <p:cNvSpPr>
            <a:spLocks noChangeArrowheads="1"/>
          </p:cNvSpPr>
          <p:nvPr/>
        </p:nvSpPr>
        <p:spPr bwMode="auto">
          <a:xfrm>
            <a:off x="4419600" y="2590800"/>
            <a:ext cx="4572000" cy="34778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sz="2000" dirty="0">
                <a:solidFill>
                  <a:srgbClr val="696969"/>
                </a:solidFill>
                <a:latin typeface="Arial" pitchFamily="34" charset="0"/>
                <a:cs typeface="Arial" pitchFamily="34" charset="0"/>
              </a:rPr>
              <a:t>// school este de asemenea derivat</a:t>
            </a:r>
            <a:r>
              <a:rPr lang="vi-VN" sz="2000" dirty="0">
                <a:solidFill>
                  <a:srgbClr val="696969"/>
                </a:solidFill>
                <a:latin typeface="Arial" pitchFamily="34" charset="0"/>
                <a:cs typeface="Arial" pitchFamily="34" charset="0"/>
              </a:rPr>
              <a:t>ă</a:t>
            </a:r>
            <a:r>
              <a:rPr lang="ro-RO" sz="2000" dirty="0">
                <a:solidFill>
                  <a:srgbClr val="696969"/>
                </a:solidFill>
                <a:latin typeface="Arial" pitchFamily="34" charset="0"/>
                <a:cs typeface="Arial" pitchFamily="34" charset="0"/>
              </a:rPr>
              <a:t> din building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class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school </a:t>
            </a:r>
            <a:r>
              <a:rPr lang="ro-RO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: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public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building </a:t>
            </a:r>
            <a:r>
              <a:rPr lang="ro-RO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{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	int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classrooms</a:t>
            </a:r>
            <a:r>
              <a:rPr lang="ro-RO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	int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offices</a:t>
            </a:r>
            <a:r>
              <a:rPr lang="ro-RO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public</a:t>
            </a:r>
            <a:r>
              <a:rPr lang="ro-RO" sz="2000" dirty="0">
                <a:solidFill>
                  <a:srgbClr val="E34ADC"/>
                </a:solidFill>
                <a:latin typeface="Arial" pitchFamily="34" charset="0"/>
                <a:cs typeface="Arial" pitchFamily="34" charset="0"/>
              </a:rPr>
              <a:t>: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	void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set_classrooms</a:t>
            </a:r>
            <a:r>
              <a:rPr lang="ro-RO" sz="2000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int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num</a:t>
            </a:r>
            <a:r>
              <a:rPr lang="ro-RO" sz="2000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ro-RO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	int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get_classrooms</a:t>
            </a:r>
            <a:r>
              <a:rPr lang="ro-RO" sz="2000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()</a:t>
            </a:r>
            <a:r>
              <a:rPr lang="ro-RO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	void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set_offices</a:t>
            </a:r>
            <a:r>
              <a:rPr lang="ro-RO" sz="2000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int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num</a:t>
            </a:r>
            <a:r>
              <a:rPr lang="ro-RO" sz="2000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ro-RO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ro-RO" sz="20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	int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get_offices</a:t>
            </a:r>
            <a:r>
              <a:rPr lang="ro-RO" sz="2000" dirty="0">
                <a:solidFill>
                  <a:srgbClr val="808030"/>
                </a:solidFill>
                <a:latin typeface="Arial" pitchFamily="34" charset="0"/>
                <a:cs typeface="Arial" pitchFamily="34" charset="0"/>
              </a:rPr>
              <a:t>()</a:t>
            </a:r>
            <a:r>
              <a:rPr lang="ro-RO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ro-RO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US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             </a:t>
            </a:r>
            <a:r>
              <a:rPr lang="ro-RO" sz="2000" dirty="0">
                <a:solidFill>
                  <a:srgbClr val="800080"/>
                </a:solidFill>
                <a:latin typeface="Arial" pitchFamily="34" charset="0"/>
                <a:cs typeface="Arial" pitchFamily="34" charset="0"/>
              </a:rPr>
              <a:t>};</a:t>
            </a:r>
            <a:endParaRPr lang="ro-RO" altLang="ro-RO" sz="2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0" y="1143000"/>
            <a:ext cx="2895600" cy="685800"/>
          </a:xfrm>
        </p:spPr>
        <p:txBody>
          <a:bodyPr/>
          <a:lstStyle/>
          <a:p>
            <a:pPr eaLnBrk="1" hangingPunct="1"/>
            <a:r>
              <a:rPr lang="ro-RO" altLang="ro-RO" sz="24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Moștenire</a:t>
            </a:r>
          </a:p>
        </p:txBody>
      </p:sp>
      <p:sp>
        <p:nvSpPr>
          <p:cNvPr id="8" name="Google Shape;471;p35"/>
          <p:cNvSpPr txBox="1"/>
          <p:nvPr/>
        </p:nvSpPr>
        <p:spPr>
          <a:xfrm>
            <a:off x="685800" y="152400"/>
            <a:ext cx="80772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91440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Principiile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programarii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orientate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endParaRPr sz="2800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52400" y="3767078"/>
            <a:ext cx="4572000" cy="28623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r>
              <a:rPr lang="en-US" sz="2000" b="1" dirty="0">
                <a:solidFill>
                  <a:srgbClr val="800000"/>
                </a:solidFill>
              </a:rPr>
              <a:t>class</a:t>
            </a:r>
            <a:r>
              <a:rPr lang="en-US" sz="2000" dirty="0"/>
              <a:t> house </a:t>
            </a:r>
            <a:r>
              <a:rPr lang="en-US" sz="2000" dirty="0">
                <a:solidFill>
                  <a:srgbClr val="800080"/>
                </a:solidFill>
              </a:rPr>
              <a:t>: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800000"/>
                </a:solidFill>
              </a:rPr>
              <a:t>public</a:t>
            </a:r>
            <a:r>
              <a:rPr lang="en-US" sz="2000" dirty="0"/>
              <a:t> building </a:t>
            </a:r>
            <a:r>
              <a:rPr lang="en-US" sz="2000" dirty="0">
                <a:solidFill>
                  <a:srgbClr val="800080"/>
                </a:solidFill>
              </a:rPr>
              <a:t>{</a:t>
            </a:r>
            <a:r>
              <a:rPr lang="en-US" sz="2000" dirty="0"/>
              <a:t> </a:t>
            </a:r>
          </a:p>
          <a:p>
            <a:r>
              <a:rPr lang="en-US" sz="2000" b="1" dirty="0">
                <a:solidFill>
                  <a:srgbClr val="800000"/>
                </a:solidFill>
              </a:rPr>
              <a:t>	</a:t>
            </a:r>
            <a:r>
              <a:rPr lang="en-US" sz="2000" b="1" dirty="0" err="1">
                <a:solidFill>
                  <a:srgbClr val="800000"/>
                </a:solidFill>
              </a:rPr>
              <a:t>int</a:t>
            </a:r>
            <a:r>
              <a:rPr lang="en-US" sz="2000" dirty="0"/>
              <a:t> bedrooms</a:t>
            </a:r>
            <a:r>
              <a:rPr lang="en-US" sz="2000" dirty="0">
                <a:solidFill>
                  <a:srgbClr val="800080"/>
                </a:solidFill>
              </a:rPr>
              <a:t>;</a:t>
            </a:r>
            <a:r>
              <a:rPr lang="en-US" sz="2000" dirty="0"/>
              <a:t> </a:t>
            </a:r>
          </a:p>
          <a:p>
            <a:r>
              <a:rPr lang="en-US" sz="2000" b="1" dirty="0">
                <a:solidFill>
                  <a:srgbClr val="800000"/>
                </a:solidFill>
              </a:rPr>
              <a:t>	</a:t>
            </a:r>
            <a:r>
              <a:rPr lang="en-US" sz="2000" b="1" dirty="0" err="1">
                <a:solidFill>
                  <a:srgbClr val="800000"/>
                </a:solidFill>
              </a:rPr>
              <a:t>int</a:t>
            </a:r>
            <a:r>
              <a:rPr lang="en-US" sz="2000" dirty="0"/>
              <a:t> baths</a:t>
            </a:r>
            <a:r>
              <a:rPr lang="en-US" sz="2000" dirty="0">
                <a:solidFill>
                  <a:srgbClr val="800080"/>
                </a:solidFill>
              </a:rPr>
              <a:t>;</a:t>
            </a:r>
            <a:r>
              <a:rPr lang="en-US" sz="2000" dirty="0"/>
              <a:t> </a:t>
            </a:r>
          </a:p>
          <a:p>
            <a:r>
              <a:rPr lang="en-US" sz="2000" b="1" dirty="0">
                <a:solidFill>
                  <a:srgbClr val="800000"/>
                </a:solidFill>
              </a:rPr>
              <a:t>public</a:t>
            </a:r>
            <a:r>
              <a:rPr lang="en-US" sz="2000" dirty="0">
                <a:solidFill>
                  <a:srgbClr val="E34ADC"/>
                </a:solidFill>
              </a:rPr>
              <a:t>:</a:t>
            </a:r>
            <a:r>
              <a:rPr lang="en-US" sz="2000" dirty="0"/>
              <a:t> </a:t>
            </a:r>
          </a:p>
          <a:p>
            <a:r>
              <a:rPr lang="en-US" sz="2000" b="1" dirty="0">
                <a:solidFill>
                  <a:srgbClr val="800000"/>
                </a:solidFill>
              </a:rPr>
              <a:t>	void</a:t>
            </a:r>
            <a:r>
              <a:rPr lang="en-US" sz="2000" dirty="0"/>
              <a:t> </a:t>
            </a:r>
            <a:r>
              <a:rPr lang="en-US" sz="2000" dirty="0" err="1"/>
              <a:t>set_bedrooms</a:t>
            </a:r>
            <a:r>
              <a:rPr lang="en-US" sz="2000" dirty="0">
                <a:solidFill>
                  <a:srgbClr val="808030"/>
                </a:solidFill>
              </a:rPr>
              <a:t>(</a:t>
            </a:r>
            <a:r>
              <a:rPr lang="en-US" sz="2000" b="1" dirty="0" err="1">
                <a:solidFill>
                  <a:srgbClr val="800000"/>
                </a:solidFill>
              </a:rPr>
              <a:t>int</a:t>
            </a:r>
            <a:r>
              <a:rPr lang="en-US" sz="2000" dirty="0"/>
              <a:t> </a:t>
            </a:r>
            <a:r>
              <a:rPr lang="en-US" sz="2000" dirty="0" err="1"/>
              <a:t>num</a:t>
            </a:r>
            <a:r>
              <a:rPr lang="en-US" sz="2000" dirty="0">
                <a:solidFill>
                  <a:srgbClr val="808030"/>
                </a:solidFill>
              </a:rPr>
              <a:t>)</a:t>
            </a:r>
            <a:r>
              <a:rPr lang="en-US" sz="2000" dirty="0">
                <a:solidFill>
                  <a:srgbClr val="800080"/>
                </a:solidFill>
              </a:rPr>
              <a:t>;</a:t>
            </a:r>
            <a:r>
              <a:rPr lang="en-US" sz="2000" dirty="0"/>
              <a:t> </a:t>
            </a:r>
          </a:p>
          <a:p>
            <a:r>
              <a:rPr lang="en-US" sz="2000" b="1" dirty="0">
                <a:solidFill>
                  <a:srgbClr val="800000"/>
                </a:solidFill>
              </a:rPr>
              <a:t>	</a:t>
            </a:r>
            <a:r>
              <a:rPr lang="en-US" sz="2000" b="1" dirty="0" err="1">
                <a:solidFill>
                  <a:srgbClr val="800000"/>
                </a:solidFill>
              </a:rPr>
              <a:t>int</a:t>
            </a:r>
            <a:r>
              <a:rPr lang="en-US" sz="2000" dirty="0"/>
              <a:t> </a:t>
            </a:r>
            <a:r>
              <a:rPr lang="en-US" sz="2000" dirty="0" err="1"/>
              <a:t>get_bedrooms</a:t>
            </a:r>
            <a:r>
              <a:rPr lang="en-US" sz="2000" dirty="0">
                <a:solidFill>
                  <a:srgbClr val="808030"/>
                </a:solidFill>
              </a:rPr>
              <a:t>()</a:t>
            </a:r>
            <a:r>
              <a:rPr lang="en-US" sz="2000" dirty="0">
                <a:solidFill>
                  <a:srgbClr val="800080"/>
                </a:solidFill>
              </a:rPr>
              <a:t>;</a:t>
            </a:r>
            <a:r>
              <a:rPr lang="en-US" sz="2000" dirty="0"/>
              <a:t> </a:t>
            </a:r>
          </a:p>
          <a:p>
            <a:r>
              <a:rPr lang="en-US" sz="2000" b="1" dirty="0">
                <a:solidFill>
                  <a:srgbClr val="800000"/>
                </a:solidFill>
              </a:rPr>
              <a:t>	void</a:t>
            </a:r>
            <a:r>
              <a:rPr lang="en-US" sz="2000" dirty="0"/>
              <a:t> </a:t>
            </a:r>
            <a:r>
              <a:rPr lang="en-US" sz="2000" dirty="0" err="1"/>
              <a:t>set_baths</a:t>
            </a:r>
            <a:r>
              <a:rPr lang="en-US" sz="2000" dirty="0">
                <a:solidFill>
                  <a:srgbClr val="808030"/>
                </a:solidFill>
              </a:rPr>
              <a:t>(</a:t>
            </a:r>
            <a:r>
              <a:rPr lang="en-US" sz="2000" b="1" dirty="0" err="1">
                <a:solidFill>
                  <a:srgbClr val="800000"/>
                </a:solidFill>
              </a:rPr>
              <a:t>int</a:t>
            </a:r>
            <a:r>
              <a:rPr lang="en-US" sz="2000" dirty="0"/>
              <a:t> </a:t>
            </a:r>
            <a:r>
              <a:rPr lang="en-US" sz="2000" dirty="0" err="1"/>
              <a:t>num</a:t>
            </a:r>
            <a:r>
              <a:rPr lang="en-US" sz="2000" dirty="0">
                <a:solidFill>
                  <a:srgbClr val="808030"/>
                </a:solidFill>
              </a:rPr>
              <a:t>)</a:t>
            </a:r>
            <a:r>
              <a:rPr lang="en-US" sz="2000" dirty="0">
                <a:solidFill>
                  <a:srgbClr val="800080"/>
                </a:solidFill>
              </a:rPr>
              <a:t>;</a:t>
            </a:r>
            <a:r>
              <a:rPr lang="en-US" sz="2000" dirty="0"/>
              <a:t> </a:t>
            </a:r>
          </a:p>
          <a:p>
            <a:r>
              <a:rPr lang="en-US" sz="2000" b="1" dirty="0">
                <a:solidFill>
                  <a:srgbClr val="800000"/>
                </a:solidFill>
              </a:rPr>
              <a:t>	</a:t>
            </a:r>
            <a:r>
              <a:rPr lang="en-US" sz="2000" b="1" dirty="0" err="1">
                <a:solidFill>
                  <a:srgbClr val="800000"/>
                </a:solidFill>
              </a:rPr>
              <a:t>int</a:t>
            </a:r>
            <a:r>
              <a:rPr lang="en-US" sz="2000" dirty="0"/>
              <a:t> </a:t>
            </a:r>
            <a:r>
              <a:rPr lang="en-US" sz="2000" dirty="0" err="1"/>
              <a:t>get_baths</a:t>
            </a:r>
            <a:r>
              <a:rPr lang="en-US" sz="2000" dirty="0">
                <a:solidFill>
                  <a:srgbClr val="808030"/>
                </a:solidFill>
              </a:rPr>
              <a:t>()</a:t>
            </a:r>
            <a:r>
              <a:rPr lang="en-US" sz="2000" dirty="0">
                <a:solidFill>
                  <a:srgbClr val="800080"/>
                </a:solidFill>
              </a:rPr>
              <a:t>;</a:t>
            </a:r>
            <a:r>
              <a:rPr lang="en-US" sz="2000" dirty="0"/>
              <a:t> </a:t>
            </a:r>
          </a:p>
          <a:p>
            <a:r>
              <a:rPr lang="en-US" sz="2000" dirty="0">
                <a:solidFill>
                  <a:srgbClr val="800080"/>
                </a:solidFill>
              </a:rPr>
              <a:t>};</a:t>
            </a:r>
            <a:endParaRPr lang="en-US" altLang="ro-RO" sz="2000" b="1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5"/>
          <p:cNvSpPr>
            <a:spLocks noChangeArrowheads="1"/>
          </p:cNvSpPr>
          <p:nvPr/>
        </p:nvSpPr>
        <p:spPr bwMode="auto">
          <a:xfrm>
            <a:off x="228600" y="733425"/>
            <a:ext cx="3581400" cy="612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sz="1400" b="1">
                <a:solidFill>
                  <a:srgbClr val="800000"/>
                </a:solidFill>
              </a:rPr>
              <a:t>void</a:t>
            </a:r>
            <a:r>
              <a:rPr lang="ro-RO" sz="1400"/>
              <a:t> building</a:t>
            </a:r>
            <a:r>
              <a:rPr lang="ro-RO" sz="1400">
                <a:solidFill>
                  <a:srgbClr val="800080"/>
                </a:solidFill>
              </a:rPr>
              <a:t>::</a:t>
            </a:r>
            <a:r>
              <a:rPr lang="ro-RO" sz="1400"/>
              <a:t>set_rooms</a:t>
            </a:r>
            <a:r>
              <a:rPr lang="ro-RO" sz="1400">
                <a:solidFill>
                  <a:srgbClr val="808030"/>
                </a:solidFill>
              </a:rPr>
              <a:t>(</a:t>
            </a:r>
            <a:r>
              <a:rPr lang="ro-RO" sz="1400" b="1">
                <a:solidFill>
                  <a:srgbClr val="800000"/>
                </a:solidFill>
              </a:rPr>
              <a:t>int</a:t>
            </a:r>
            <a:r>
              <a:rPr lang="ro-RO" sz="1400"/>
              <a:t> num</a:t>
            </a:r>
            <a:r>
              <a:rPr lang="ro-RO" sz="1400">
                <a:solidFill>
                  <a:srgbClr val="808030"/>
                </a:solidFill>
              </a:rPr>
              <a:t>)</a:t>
            </a:r>
            <a:r>
              <a:rPr lang="ro-RO" sz="1400"/>
              <a:t> </a:t>
            </a:r>
            <a:endParaRPr lang="en-US" sz="1400"/>
          </a:p>
          <a:p>
            <a:r>
              <a:rPr lang="ro-RO" sz="1400">
                <a:solidFill>
                  <a:srgbClr val="800080"/>
                </a:solidFill>
              </a:rPr>
              <a:t>{</a:t>
            </a:r>
            <a:r>
              <a:rPr lang="ro-RO" sz="1400"/>
              <a:t> rooms </a:t>
            </a:r>
            <a:r>
              <a:rPr lang="ro-RO" sz="1400">
                <a:solidFill>
                  <a:srgbClr val="808030"/>
                </a:solidFill>
              </a:rPr>
              <a:t>=</a:t>
            </a:r>
            <a:r>
              <a:rPr lang="ro-RO" sz="1400"/>
              <a:t> num</a:t>
            </a:r>
            <a:r>
              <a:rPr lang="ro-RO" sz="1400">
                <a:solidFill>
                  <a:srgbClr val="800080"/>
                </a:solidFill>
              </a:rPr>
              <a:t>;</a:t>
            </a:r>
            <a:r>
              <a:rPr lang="ro-RO" sz="1400"/>
              <a:t> </a:t>
            </a:r>
            <a:r>
              <a:rPr lang="ro-RO" sz="1400">
                <a:solidFill>
                  <a:srgbClr val="800080"/>
                </a:solidFill>
              </a:rPr>
              <a:t>}</a:t>
            </a:r>
            <a:r>
              <a:rPr lang="ro-RO" sz="1400"/>
              <a:t> </a:t>
            </a:r>
            <a:endParaRPr lang="en-US" sz="1400"/>
          </a:p>
          <a:p>
            <a:r>
              <a:rPr lang="ro-RO" sz="1400" b="1">
                <a:solidFill>
                  <a:srgbClr val="800000"/>
                </a:solidFill>
              </a:rPr>
              <a:t>void</a:t>
            </a:r>
            <a:r>
              <a:rPr lang="ro-RO" sz="1400"/>
              <a:t> building</a:t>
            </a:r>
            <a:r>
              <a:rPr lang="ro-RO" sz="1400">
                <a:solidFill>
                  <a:srgbClr val="800080"/>
                </a:solidFill>
              </a:rPr>
              <a:t>::</a:t>
            </a:r>
            <a:r>
              <a:rPr lang="ro-RO" sz="1400"/>
              <a:t>set_floors</a:t>
            </a:r>
            <a:r>
              <a:rPr lang="ro-RO" sz="1400">
                <a:solidFill>
                  <a:srgbClr val="808030"/>
                </a:solidFill>
              </a:rPr>
              <a:t>(</a:t>
            </a:r>
            <a:r>
              <a:rPr lang="ro-RO" sz="1400" b="1">
                <a:solidFill>
                  <a:srgbClr val="800000"/>
                </a:solidFill>
              </a:rPr>
              <a:t>int</a:t>
            </a:r>
            <a:r>
              <a:rPr lang="ro-RO" sz="1400"/>
              <a:t> num</a:t>
            </a:r>
            <a:r>
              <a:rPr lang="ro-RO" sz="1400">
                <a:solidFill>
                  <a:srgbClr val="808030"/>
                </a:solidFill>
              </a:rPr>
              <a:t>)</a:t>
            </a:r>
            <a:r>
              <a:rPr lang="ro-RO" sz="1400"/>
              <a:t> </a:t>
            </a:r>
            <a:endParaRPr lang="en-US" sz="1400"/>
          </a:p>
          <a:p>
            <a:r>
              <a:rPr lang="ro-RO" sz="1400">
                <a:solidFill>
                  <a:srgbClr val="800080"/>
                </a:solidFill>
              </a:rPr>
              <a:t>{</a:t>
            </a:r>
            <a:r>
              <a:rPr lang="ro-RO" sz="1400"/>
              <a:t> floors </a:t>
            </a:r>
            <a:r>
              <a:rPr lang="ro-RO" sz="1400">
                <a:solidFill>
                  <a:srgbClr val="808030"/>
                </a:solidFill>
              </a:rPr>
              <a:t>=</a:t>
            </a:r>
            <a:r>
              <a:rPr lang="ro-RO" sz="1400"/>
              <a:t> num</a:t>
            </a:r>
            <a:r>
              <a:rPr lang="ro-RO" sz="1400">
                <a:solidFill>
                  <a:srgbClr val="800080"/>
                </a:solidFill>
              </a:rPr>
              <a:t>;</a:t>
            </a:r>
            <a:r>
              <a:rPr lang="ro-RO" sz="1400"/>
              <a:t> </a:t>
            </a:r>
            <a:r>
              <a:rPr lang="ro-RO" sz="1400">
                <a:solidFill>
                  <a:srgbClr val="800080"/>
                </a:solidFill>
              </a:rPr>
              <a:t>}</a:t>
            </a:r>
            <a:r>
              <a:rPr lang="ro-RO" sz="1400"/>
              <a:t> </a:t>
            </a:r>
            <a:endParaRPr lang="en-US" sz="1400"/>
          </a:p>
          <a:p>
            <a:r>
              <a:rPr lang="ro-RO" sz="1400" b="1">
                <a:solidFill>
                  <a:srgbClr val="800000"/>
                </a:solidFill>
              </a:rPr>
              <a:t>void</a:t>
            </a:r>
            <a:r>
              <a:rPr lang="ro-RO" sz="1400"/>
              <a:t> building</a:t>
            </a:r>
            <a:r>
              <a:rPr lang="ro-RO" sz="1400">
                <a:solidFill>
                  <a:srgbClr val="800080"/>
                </a:solidFill>
              </a:rPr>
              <a:t>::</a:t>
            </a:r>
            <a:r>
              <a:rPr lang="ro-RO" sz="1400"/>
              <a:t>set_area</a:t>
            </a:r>
            <a:r>
              <a:rPr lang="ro-RO" sz="1400">
                <a:solidFill>
                  <a:srgbClr val="808030"/>
                </a:solidFill>
              </a:rPr>
              <a:t>(</a:t>
            </a:r>
            <a:r>
              <a:rPr lang="ro-RO" sz="1400" b="1">
                <a:solidFill>
                  <a:srgbClr val="800000"/>
                </a:solidFill>
              </a:rPr>
              <a:t>int</a:t>
            </a:r>
            <a:r>
              <a:rPr lang="ro-RO" sz="1400"/>
              <a:t> num</a:t>
            </a:r>
            <a:r>
              <a:rPr lang="ro-RO" sz="1400">
                <a:solidFill>
                  <a:srgbClr val="808030"/>
                </a:solidFill>
              </a:rPr>
              <a:t>)</a:t>
            </a:r>
            <a:r>
              <a:rPr lang="ro-RO" sz="1400"/>
              <a:t> </a:t>
            </a:r>
            <a:endParaRPr lang="en-US" sz="1400"/>
          </a:p>
          <a:p>
            <a:r>
              <a:rPr lang="ro-RO" sz="1400">
                <a:solidFill>
                  <a:srgbClr val="800080"/>
                </a:solidFill>
              </a:rPr>
              <a:t>{</a:t>
            </a:r>
            <a:r>
              <a:rPr lang="ro-RO" sz="1400"/>
              <a:t> area </a:t>
            </a:r>
            <a:r>
              <a:rPr lang="ro-RO" sz="1400">
                <a:solidFill>
                  <a:srgbClr val="808030"/>
                </a:solidFill>
              </a:rPr>
              <a:t>=</a:t>
            </a:r>
            <a:r>
              <a:rPr lang="ro-RO" sz="1400"/>
              <a:t> num</a:t>
            </a:r>
            <a:r>
              <a:rPr lang="ro-RO" sz="1400">
                <a:solidFill>
                  <a:srgbClr val="800080"/>
                </a:solidFill>
              </a:rPr>
              <a:t>;</a:t>
            </a:r>
            <a:r>
              <a:rPr lang="ro-RO" sz="1400"/>
              <a:t> </a:t>
            </a:r>
            <a:r>
              <a:rPr lang="ro-RO" sz="1400">
                <a:solidFill>
                  <a:srgbClr val="800080"/>
                </a:solidFill>
              </a:rPr>
              <a:t>}</a:t>
            </a:r>
            <a:r>
              <a:rPr lang="ro-RO" sz="1400"/>
              <a:t> </a:t>
            </a:r>
            <a:endParaRPr lang="en-US" sz="1400"/>
          </a:p>
          <a:p>
            <a:r>
              <a:rPr lang="ro-RO" sz="1400" b="1">
                <a:solidFill>
                  <a:srgbClr val="800000"/>
                </a:solidFill>
              </a:rPr>
              <a:t>int</a:t>
            </a:r>
            <a:r>
              <a:rPr lang="ro-RO" sz="1400"/>
              <a:t> building</a:t>
            </a:r>
            <a:r>
              <a:rPr lang="ro-RO" sz="1400">
                <a:solidFill>
                  <a:srgbClr val="800080"/>
                </a:solidFill>
              </a:rPr>
              <a:t>::</a:t>
            </a:r>
            <a:r>
              <a:rPr lang="ro-RO" sz="1400"/>
              <a:t>get_rooms</a:t>
            </a:r>
            <a:r>
              <a:rPr lang="ro-RO" sz="1400">
                <a:solidFill>
                  <a:srgbClr val="808030"/>
                </a:solidFill>
              </a:rPr>
              <a:t>()</a:t>
            </a:r>
            <a:r>
              <a:rPr lang="ro-RO" sz="1400"/>
              <a:t> </a:t>
            </a:r>
            <a:endParaRPr lang="en-US" sz="1400"/>
          </a:p>
          <a:p>
            <a:r>
              <a:rPr lang="ro-RO" sz="1400">
                <a:solidFill>
                  <a:srgbClr val="800080"/>
                </a:solidFill>
              </a:rPr>
              <a:t>{</a:t>
            </a:r>
            <a:r>
              <a:rPr lang="ro-RO" sz="1400"/>
              <a:t> </a:t>
            </a:r>
            <a:r>
              <a:rPr lang="ro-RO" sz="1400" b="1">
                <a:solidFill>
                  <a:srgbClr val="800000"/>
                </a:solidFill>
              </a:rPr>
              <a:t>return</a:t>
            </a:r>
            <a:r>
              <a:rPr lang="ro-RO" sz="1400"/>
              <a:t> rooms</a:t>
            </a:r>
            <a:r>
              <a:rPr lang="ro-RO" sz="1400">
                <a:solidFill>
                  <a:srgbClr val="800080"/>
                </a:solidFill>
              </a:rPr>
              <a:t>;</a:t>
            </a:r>
            <a:r>
              <a:rPr lang="ro-RO" sz="1400"/>
              <a:t> </a:t>
            </a:r>
            <a:r>
              <a:rPr lang="ro-RO" sz="1400">
                <a:solidFill>
                  <a:srgbClr val="800080"/>
                </a:solidFill>
              </a:rPr>
              <a:t>}</a:t>
            </a:r>
            <a:r>
              <a:rPr lang="ro-RO" sz="1400"/>
              <a:t> </a:t>
            </a:r>
            <a:endParaRPr lang="en-US" sz="1400"/>
          </a:p>
          <a:p>
            <a:r>
              <a:rPr lang="ro-RO" sz="1400" b="1">
                <a:solidFill>
                  <a:srgbClr val="800000"/>
                </a:solidFill>
              </a:rPr>
              <a:t>int</a:t>
            </a:r>
            <a:r>
              <a:rPr lang="ro-RO" sz="1400"/>
              <a:t> building</a:t>
            </a:r>
            <a:r>
              <a:rPr lang="ro-RO" sz="1400">
                <a:solidFill>
                  <a:srgbClr val="800080"/>
                </a:solidFill>
              </a:rPr>
              <a:t>::</a:t>
            </a:r>
            <a:r>
              <a:rPr lang="ro-RO" sz="1400"/>
              <a:t>get_floors</a:t>
            </a:r>
            <a:r>
              <a:rPr lang="ro-RO" sz="1400">
                <a:solidFill>
                  <a:srgbClr val="808030"/>
                </a:solidFill>
              </a:rPr>
              <a:t>()</a:t>
            </a:r>
            <a:r>
              <a:rPr lang="ro-RO" sz="1400"/>
              <a:t> </a:t>
            </a:r>
            <a:endParaRPr lang="en-US" sz="1400"/>
          </a:p>
          <a:p>
            <a:r>
              <a:rPr lang="ro-RO" sz="1400">
                <a:solidFill>
                  <a:srgbClr val="800080"/>
                </a:solidFill>
              </a:rPr>
              <a:t>{</a:t>
            </a:r>
            <a:r>
              <a:rPr lang="ro-RO" sz="1400"/>
              <a:t> </a:t>
            </a:r>
            <a:r>
              <a:rPr lang="ro-RO" sz="1400" b="1">
                <a:solidFill>
                  <a:srgbClr val="800000"/>
                </a:solidFill>
              </a:rPr>
              <a:t>return</a:t>
            </a:r>
            <a:r>
              <a:rPr lang="ro-RO" sz="1400"/>
              <a:t> floors</a:t>
            </a:r>
            <a:r>
              <a:rPr lang="ro-RO" sz="1400">
                <a:solidFill>
                  <a:srgbClr val="800080"/>
                </a:solidFill>
              </a:rPr>
              <a:t>;</a:t>
            </a:r>
            <a:r>
              <a:rPr lang="ro-RO" sz="1400"/>
              <a:t> </a:t>
            </a:r>
            <a:r>
              <a:rPr lang="ro-RO" sz="1400">
                <a:solidFill>
                  <a:srgbClr val="800080"/>
                </a:solidFill>
              </a:rPr>
              <a:t>}</a:t>
            </a:r>
            <a:r>
              <a:rPr lang="ro-RO" sz="1400"/>
              <a:t> </a:t>
            </a:r>
            <a:endParaRPr lang="en-US" sz="1400"/>
          </a:p>
          <a:p>
            <a:r>
              <a:rPr lang="ro-RO" sz="1400" b="1">
                <a:solidFill>
                  <a:srgbClr val="800000"/>
                </a:solidFill>
              </a:rPr>
              <a:t>int</a:t>
            </a:r>
            <a:r>
              <a:rPr lang="ro-RO" sz="1400"/>
              <a:t> building</a:t>
            </a:r>
            <a:r>
              <a:rPr lang="ro-RO" sz="1400">
                <a:solidFill>
                  <a:srgbClr val="800080"/>
                </a:solidFill>
              </a:rPr>
              <a:t>::</a:t>
            </a:r>
            <a:r>
              <a:rPr lang="ro-RO" sz="1400"/>
              <a:t>get_area</a:t>
            </a:r>
            <a:r>
              <a:rPr lang="ro-RO" sz="1400">
                <a:solidFill>
                  <a:srgbClr val="808030"/>
                </a:solidFill>
              </a:rPr>
              <a:t>()</a:t>
            </a:r>
            <a:r>
              <a:rPr lang="ro-RO" sz="1400"/>
              <a:t> </a:t>
            </a:r>
            <a:endParaRPr lang="en-US" sz="1400"/>
          </a:p>
          <a:p>
            <a:r>
              <a:rPr lang="ro-RO" sz="1400">
                <a:solidFill>
                  <a:srgbClr val="800080"/>
                </a:solidFill>
              </a:rPr>
              <a:t>{</a:t>
            </a:r>
            <a:r>
              <a:rPr lang="ro-RO" sz="1400"/>
              <a:t> </a:t>
            </a:r>
            <a:r>
              <a:rPr lang="ro-RO" sz="1400" b="1">
                <a:solidFill>
                  <a:srgbClr val="800000"/>
                </a:solidFill>
              </a:rPr>
              <a:t>return</a:t>
            </a:r>
            <a:r>
              <a:rPr lang="ro-RO" sz="1400"/>
              <a:t> area</a:t>
            </a:r>
            <a:r>
              <a:rPr lang="ro-RO" sz="1400">
                <a:solidFill>
                  <a:srgbClr val="800080"/>
                </a:solidFill>
              </a:rPr>
              <a:t>;</a:t>
            </a:r>
            <a:r>
              <a:rPr lang="ro-RO" sz="1400"/>
              <a:t> </a:t>
            </a:r>
            <a:r>
              <a:rPr lang="ro-RO" sz="1400">
                <a:solidFill>
                  <a:srgbClr val="800080"/>
                </a:solidFill>
              </a:rPr>
              <a:t>}</a:t>
            </a:r>
            <a:r>
              <a:rPr lang="ro-RO" sz="1400"/>
              <a:t> </a:t>
            </a:r>
            <a:endParaRPr lang="en-US" sz="1400"/>
          </a:p>
          <a:p>
            <a:r>
              <a:rPr lang="ro-RO" sz="1400" b="1">
                <a:solidFill>
                  <a:srgbClr val="800000"/>
                </a:solidFill>
              </a:rPr>
              <a:t>void</a:t>
            </a:r>
            <a:r>
              <a:rPr lang="ro-RO" sz="1400"/>
              <a:t> house</a:t>
            </a:r>
            <a:r>
              <a:rPr lang="ro-RO" sz="1400">
                <a:solidFill>
                  <a:srgbClr val="800080"/>
                </a:solidFill>
              </a:rPr>
              <a:t>::</a:t>
            </a:r>
            <a:r>
              <a:rPr lang="ro-RO" sz="1400"/>
              <a:t>set_bedrooms</a:t>
            </a:r>
            <a:r>
              <a:rPr lang="ro-RO" sz="1400">
                <a:solidFill>
                  <a:srgbClr val="808030"/>
                </a:solidFill>
              </a:rPr>
              <a:t>(</a:t>
            </a:r>
            <a:r>
              <a:rPr lang="ro-RO" sz="1400" b="1">
                <a:solidFill>
                  <a:srgbClr val="800000"/>
                </a:solidFill>
              </a:rPr>
              <a:t>int</a:t>
            </a:r>
            <a:r>
              <a:rPr lang="ro-RO" sz="1400"/>
              <a:t> num</a:t>
            </a:r>
            <a:r>
              <a:rPr lang="ro-RO" sz="1400">
                <a:solidFill>
                  <a:srgbClr val="808030"/>
                </a:solidFill>
              </a:rPr>
              <a:t>)</a:t>
            </a:r>
            <a:r>
              <a:rPr lang="ro-RO" sz="1400"/>
              <a:t> </a:t>
            </a:r>
            <a:endParaRPr lang="en-US" sz="1400"/>
          </a:p>
          <a:p>
            <a:r>
              <a:rPr lang="ro-RO" sz="1400">
                <a:solidFill>
                  <a:srgbClr val="800080"/>
                </a:solidFill>
              </a:rPr>
              <a:t>{</a:t>
            </a:r>
            <a:r>
              <a:rPr lang="ro-RO" sz="1400"/>
              <a:t> bedrooms </a:t>
            </a:r>
            <a:r>
              <a:rPr lang="ro-RO" sz="1400">
                <a:solidFill>
                  <a:srgbClr val="808030"/>
                </a:solidFill>
              </a:rPr>
              <a:t>=</a:t>
            </a:r>
            <a:r>
              <a:rPr lang="ro-RO" sz="1400"/>
              <a:t> num</a:t>
            </a:r>
            <a:r>
              <a:rPr lang="ro-RO" sz="1400">
                <a:solidFill>
                  <a:srgbClr val="800080"/>
                </a:solidFill>
              </a:rPr>
              <a:t>;</a:t>
            </a:r>
            <a:r>
              <a:rPr lang="ro-RO" sz="1400"/>
              <a:t> </a:t>
            </a:r>
            <a:r>
              <a:rPr lang="ro-RO" sz="1400">
                <a:solidFill>
                  <a:srgbClr val="800080"/>
                </a:solidFill>
              </a:rPr>
              <a:t>}</a:t>
            </a:r>
            <a:r>
              <a:rPr lang="ro-RO" sz="1400"/>
              <a:t> </a:t>
            </a:r>
            <a:endParaRPr lang="en-US" sz="1400"/>
          </a:p>
          <a:p>
            <a:r>
              <a:rPr lang="ro-RO" sz="1400" b="1">
                <a:solidFill>
                  <a:srgbClr val="800000"/>
                </a:solidFill>
              </a:rPr>
              <a:t>void</a:t>
            </a:r>
            <a:r>
              <a:rPr lang="ro-RO" sz="1400"/>
              <a:t> house</a:t>
            </a:r>
            <a:r>
              <a:rPr lang="ro-RO" sz="1400">
                <a:solidFill>
                  <a:srgbClr val="800080"/>
                </a:solidFill>
              </a:rPr>
              <a:t>::</a:t>
            </a:r>
            <a:r>
              <a:rPr lang="ro-RO" sz="1400"/>
              <a:t>set_baths</a:t>
            </a:r>
            <a:r>
              <a:rPr lang="ro-RO" sz="1400">
                <a:solidFill>
                  <a:srgbClr val="808030"/>
                </a:solidFill>
              </a:rPr>
              <a:t>(</a:t>
            </a:r>
            <a:r>
              <a:rPr lang="ro-RO" sz="1400" b="1">
                <a:solidFill>
                  <a:srgbClr val="800000"/>
                </a:solidFill>
              </a:rPr>
              <a:t>int</a:t>
            </a:r>
            <a:r>
              <a:rPr lang="ro-RO" sz="1400"/>
              <a:t> num</a:t>
            </a:r>
            <a:r>
              <a:rPr lang="ro-RO" sz="1400">
                <a:solidFill>
                  <a:srgbClr val="808030"/>
                </a:solidFill>
              </a:rPr>
              <a:t>)</a:t>
            </a:r>
            <a:r>
              <a:rPr lang="ro-RO" sz="1400"/>
              <a:t> </a:t>
            </a:r>
            <a:endParaRPr lang="en-US" sz="1400"/>
          </a:p>
          <a:p>
            <a:r>
              <a:rPr lang="ro-RO" sz="1400">
                <a:solidFill>
                  <a:srgbClr val="800080"/>
                </a:solidFill>
              </a:rPr>
              <a:t>{</a:t>
            </a:r>
            <a:r>
              <a:rPr lang="ro-RO" sz="1400"/>
              <a:t>baths </a:t>
            </a:r>
            <a:r>
              <a:rPr lang="ro-RO" sz="1400">
                <a:solidFill>
                  <a:srgbClr val="808030"/>
                </a:solidFill>
              </a:rPr>
              <a:t>=</a:t>
            </a:r>
            <a:r>
              <a:rPr lang="ro-RO" sz="1400"/>
              <a:t> num</a:t>
            </a:r>
            <a:r>
              <a:rPr lang="ro-RO" sz="1400">
                <a:solidFill>
                  <a:srgbClr val="800080"/>
                </a:solidFill>
              </a:rPr>
              <a:t>;</a:t>
            </a:r>
            <a:r>
              <a:rPr lang="ro-RO" sz="1400"/>
              <a:t> </a:t>
            </a:r>
            <a:r>
              <a:rPr lang="ro-RO" sz="1400">
                <a:solidFill>
                  <a:srgbClr val="800080"/>
                </a:solidFill>
              </a:rPr>
              <a:t>}</a:t>
            </a:r>
            <a:r>
              <a:rPr lang="ro-RO" sz="1400"/>
              <a:t> </a:t>
            </a:r>
            <a:endParaRPr lang="en-US" sz="1400"/>
          </a:p>
          <a:p>
            <a:r>
              <a:rPr lang="ro-RO" sz="1400" b="1">
                <a:solidFill>
                  <a:srgbClr val="800000"/>
                </a:solidFill>
              </a:rPr>
              <a:t>int</a:t>
            </a:r>
            <a:r>
              <a:rPr lang="ro-RO" sz="1400"/>
              <a:t> house</a:t>
            </a:r>
            <a:r>
              <a:rPr lang="ro-RO" sz="1400">
                <a:solidFill>
                  <a:srgbClr val="800080"/>
                </a:solidFill>
              </a:rPr>
              <a:t>::</a:t>
            </a:r>
            <a:r>
              <a:rPr lang="ro-RO" sz="1400"/>
              <a:t>get_bedrooms</a:t>
            </a:r>
            <a:r>
              <a:rPr lang="ro-RO" sz="1400">
                <a:solidFill>
                  <a:srgbClr val="808030"/>
                </a:solidFill>
              </a:rPr>
              <a:t>()</a:t>
            </a:r>
            <a:r>
              <a:rPr lang="ro-RO" sz="1400"/>
              <a:t> </a:t>
            </a:r>
            <a:endParaRPr lang="en-US" sz="1400"/>
          </a:p>
          <a:p>
            <a:r>
              <a:rPr lang="ro-RO" sz="1400">
                <a:solidFill>
                  <a:srgbClr val="800080"/>
                </a:solidFill>
              </a:rPr>
              <a:t>{</a:t>
            </a:r>
            <a:r>
              <a:rPr lang="ro-RO" sz="1400"/>
              <a:t> </a:t>
            </a:r>
            <a:r>
              <a:rPr lang="ro-RO" sz="1400" b="1">
                <a:solidFill>
                  <a:srgbClr val="800000"/>
                </a:solidFill>
              </a:rPr>
              <a:t>return</a:t>
            </a:r>
            <a:r>
              <a:rPr lang="ro-RO" sz="1400"/>
              <a:t> bedrooms</a:t>
            </a:r>
            <a:r>
              <a:rPr lang="ro-RO" sz="1400">
                <a:solidFill>
                  <a:srgbClr val="800080"/>
                </a:solidFill>
              </a:rPr>
              <a:t>;</a:t>
            </a:r>
            <a:r>
              <a:rPr lang="ro-RO" sz="1400"/>
              <a:t> </a:t>
            </a:r>
            <a:r>
              <a:rPr lang="ro-RO" sz="1400">
                <a:solidFill>
                  <a:srgbClr val="800080"/>
                </a:solidFill>
              </a:rPr>
              <a:t>}</a:t>
            </a:r>
            <a:r>
              <a:rPr lang="ro-RO" sz="1400"/>
              <a:t> </a:t>
            </a:r>
            <a:endParaRPr lang="en-US" sz="1400"/>
          </a:p>
          <a:p>
            <a:r>
              <a:rPr lang="ro-RO" sz="1400" b="1">
                <a:solidFill>
                  <a:srgbClr val="800000"/>
                </a:solidFill>
              </a:rPr>
              <a:t>int</a:t>
            </a:r>
            <a:r>
              <a:rPr lang="ro-RO" sz="1400"/>
              <a:t> house</a:t>
            </a:r>
            <a:r>
              <a:rPr lang="ro-RO" sz="1400">
                <a:solidFill>
                  <a:srgbClr val="800080"/>
                </a:solidFill>
              </a:rPr>
              <a:t>::</a:t>
            </a:r>
            <a:r>
              <a:rPr lang="ro-RO" sz="1400"/>
              <a:t>get_baths</a:t>
            </a:r>
            <a:r>
              <a:rPr lang="ro-RO" sz="1400">
                <a:solidFill>
                  <a:srgbClr val="808030"/>
                </a:solidFill>
              </a:rPr>
              <a:t>()</a:t>
            </a:r>
            <a:r>
              <a:rPr lang="ro-RO" sz="1400"/>
              <a:t> </a:t>
            </a:r>
            <a:endParaRPr lang="en-US" sz="1400"/>
          </a:p>
          <a:p>
            <a:r>
              <a:rPr lang="ro-RO" sz="1400">
                <a:solidFill>
                  <a:srgbClr val="800080"/>
                </a:solidFill>
              </a:rPr>
              <a:t>{</a:t>
            </a:r>
            <a:r>
              <a:rPr lang="ro-RO" sz="1400"/>
              <a:t> </a:t>
            </a:r>
            <a:r>
              <a:rPr lang="ro-RO" sz="1400" b="1">
                <a:solidFill>
                  <a:srgbClr val="800000"/>
                </a:solidFill>
              </a:rPr>
              <a:t>return</a:t>
            </a:r>
            <a:r>
              <a:rPr lang="ro-RO" sz="1400"/>
              <a:t> baths</a:t>
            </a:r>
            <a:r>
              <a:rPr lang="ro-RO" sz="1400">
                <a:solidFill>
                  <a:srgbClr val="800080"/>
                </a:solidFill>
              </a:rPr>
              <a:t>;</a:t>
            </a:r>
            <a:r>
              <a:rPr lang="ro-RO" sz="1400"/>
              <a:t> </a:t>
            </a:r>
            <a:r>
              <a:rPr lang="ro-RO" sz="1400">
                <a:solidFill>
                  <a:srgbClr val="800080"/>
                </a:solidFill>
              </a:rPr>
              <a:t>}</a:t>
            </a:r>
            <a:r>
              <a:rPr lang="ro-RO" sz="1400"/>
              <a:t> </a:t>
            </a:r>
            <a:endParaRPr lang="en-US" sz="1400"/>
          </a:p>
          <a:p>
            <a:r>
              <a:rPr lang="ro-RO" sz="1400" b="1">
                <a:solidFill>
                  <a:srgbClr val="800000"/>
                </a:solidFill>
              </a:rPr>
              <a:t>void</a:t>
            </a:r>
            <a:r>
              <a:rPr lang="ro-RO" sz="1400"/>
              <a:t> school</a:t>
            </a:r>
            <a:r>
              <a:rPr lang="ro-RO" sz="1400">
                <a:solidFill>
                  <a:srgbClr val="800080"/>
                </a:solidFill>
              </a:rPr>
              <a:t>::</a:t>
            </a:r>
            <a:r>
              <a:rPr lang="ro-RO" sz="1400"/>
              <a:t>set_classrooms</a:t>
            </a:r>
            <a:r>
              <a:rPr lang="ro-RO" sz="1400">
                <a:solidFill>
                  <a:srgbClr val="808030"/>
                </a:solidFill>
              </a:rPr>
              <a:t>(</a:t>
            </a:r>
            <a:r>
              <a:rPr lang="ro-RO" sz="1400" b="1">
                <a:solidFill>
                  <a:srgbClr val="800000"/>
                </a:solidFill>
              </a:rPr>
              <a:t>int</a:t>
            </a:r>
            <a:r>
              <a:rPr lang="ro-RO" sz="1400"/>
              <a:t> num</a:t>
            </a:r>
            <a:r>
              <a:rPr lang="ro-RO" sz="1400">
                <a:solidFill>
                  <a:srgbClr val="808030"/>
                </a:solidFill>
              </a:rPr>
              <a:t>)</a:t>
            </a:r>
            <a:r>
              <a:rPr lang="ro-RO" sz="1400"/>
              <a:t> </a:t>
            </a:r>
            <a:endParaRPr lang="en-US" sz="1400"/>
          </a:p>
          <a:p>
            <a:r>
              <a:rPr lang="ro-RO" sz="1400">
                <a:solidFill>
                  <a:srgbClr val="800080"/>
                </a:solidFill>
              </a:rPr>
              <a:t>{</a:t>
            </a:r>
            <a:r>
              <a:rPr lang="ro-RO" sz="1400"/>
              <a:t> classrooms </a:t>
            </a:r>
            <a:r>
              <a:rPr lang="ro-RO" sz="1400">
                <a:solidFill>
                  <a:srgbClr val="808030"/>
                </a:solidFill>
              </a:rPr>
              <a:t>=</a:t>
            </a:r>
            <a:r>
              <a:rPr lang="ro-RO" sz="1400"/>
              <a:t> num</a:t>
            </a:r>
            <a:r>
              <a:rPr lang="ro-RO" sz="1400">
                <a:solidFill>
                  <a:srgbClr val="800080"/>
                </a:solidFill>
              </a:rPr>
              <a:t>;</a:t>
            </a:r>
            <a:r>
              <a:rPr lang="ro-RO" sz="1400"/>
              <a:t> </a:t>
            </a:r>
            <a:r>
              <a:rPr lang="ro-RO" sz="1400">
                <a:solidFill>
                  <a:srgbClr val="800080"/>
                </a:solidFill>
              </a:rPr>
              <a:t>}</a:t>
            </a:r>
            <a:r>
              <a:rPr lang="ro-RO" sz="1400"/>
              <a:t> </a:t>
            </a:r>
            <a:endParaRPr lang="en-US" sz="1400"/>
          </a:p>
          <a:p>
            <a:r>
              <a:rPr lang="ro-RO" sz="1400" b="1">
                <a:solidFill>
                  <a:srgbClr val="800000"/>
                </a:solidFill>
              </a:rPr>
              <a:t>void</a:t>
            </a:r>
            <a:r>
              <a:rPr lang="ro-RO" sz="1400"/>
              <a:t> school</a:t>
            </a:r>
            <a:r>
              <a:rPr lang="ro-RO" sz="1400">
                <a:solidFill>
                  <a:srgbClr val="800080"/>
                </a:solidFill>
              </a:rPr>
              <a:t>::</a:t>
            </a:r>
            <a:r>
              <a:rPr lang="ro-RO" sz="1400"/>
              <a:t>set_offices</a:t>
            </a:r>
            <a:r>
              <a:rPr lang="ro-RO" sz="1400">
                <a:solidFill>
                  <a:srgbClr val="808030"/>
                </a:solidFill>
              </a:rPr>
              <a:t>(</a:t>
            </a:r>
            <a:r>
              <a:rPr lang="ro-RO" sz="1400" b="1">
                <a:solidFill>
                  <a:srgbClr val="800000"/>
                </a:solidFill>
              </a:rPr>
              <a:t>int</a:t>
            </a:r>
            <a:r>
              <a:rPr lang="ro-RO" sz="1400"/>
              <a:t> num</a:t>
            </a:r>
            <a:r>
              <a:rPr lang="ro-RO" sz="1400">
                <a:solidFill>
                  <a:srgbClr val="808030"/>
                </a:solidFill>
              </a:rPr>
              <a:t>)</a:t>
            </a:r>
            <a:r>
              <a:rPr lang="ro-RO" sz="1400"/>
              <a:t> </a:t>
            </a:r>
            <a:endParaRPr lang="en-US" sz="1400"/>
          </a:p>
          <a:p>
            <a:r>
              <a:rPr lang="ro-RO" sz="1400">
                <a:solidFill>
                  <a:srgbClr val="800080"/>
                </a:solidFill>
              </a:rPr>
              <a:t>{</a:t>
            </a:r>
            <a:r>
              <a:rPr lang="ro-RO" sz="1400"/>
              <a:t> offices </a:t>
            </a:r>
            <a:r>
              <a:rPr lang="ro-RO" sz="1400">
                <a:solidFill>
                  <a:srgbClr val="808030"/>
                </a:solidFill>
              </a:rPr>
              <a:t>=</a:t>
            </a:r>
            <a:r>
              <a:rPr lang="ro-RO" sz="1400"/>
              <a:t> num</a:t>
            </a:r>
            <a:r>
              <a:rPr lang="ro-RO" sz="1400">
                <a:solidFill>
                  <a:srgbClr val="800080"/>
                </a:solidFill>
              </a:rPr>
              <a:t>;</a:t>
            </a:r>
            <a:r>
              <a:rPr lang="ro-RO" sz="1400"/>
              <a:t> </a:t>
            </a:r>
            <a:r>
              <a:rPr lang="ro-RO" sz="1400">
                <a:solidFill>
                  <a:srgbClr val="800080"/>
                </a:solidFill>
              </a:rPr>
              <a:t>}</a:t>
            </a:r>
            <a:r>
              <a:rPr lang="ro-RO" sz="1400"/>
              <a:t> </a:t>
            </a:r>
            <a:endParaRPr lang="en-US" sz="1400"/>
          </a:p>
          <a:p>
            <a:r>
              <a:rPr lang="ro-RO" sz="1400" b="1">
                <a:solidFill>
                  <a:srgbClr val="800000"/>
                </a:solidFill>
              </a:rPr>
              <a:t>int</a:t>
            </a:r>
            <a:r>
              <a:rPr lang="ro-RO" sz="1400"/>
              <a:t> school</a:t>
            </a:r>
            <a:r>
              <a:rPr lang="ro-RO" sz="1400">
                <a:solidFill>
                  <a:srgbClr val="800080"/>
                </a:solidFill>
              </a:rPr>
              <a:t>::</a:t>
            </a:r>
            <a:r>
              <a:rPr lang="ro-RO" sz="1400"/>
              <a:t>get_classrooms</a:t>
            </a:r>
            <a:r>
              <a:rPr lang="ro-RO" sz="1400">
                <a:solidFill>
                  <a:srgbClr val="808030"/>
                </a:solidFill>
              </a:rPr>
              <a:t>()</a:t>
            </a:r>
            <a:r>
              <a:rPr lang="ro-RO" sz="1400"/>
              <a:t> </a:t>
            </a:r>
            <a:endParaRPr lang="en-US" sz="1400"/>
          </a:p>
          <a:p>
            <a:r>
              <a:rPr lang="ro-RO" sz="1400">
                <a:solidFill>
                  <a:srgbClr val="800080"/>
                </a:solidFill>
              </a:rPr>
              <a:t>{</a:t>
            </a:r>
            <a:r>
              <a:rPr lang="ro-RO" sz="1400"/>
              <a:t> </a:t>
            </a:r>
            <a:r>
              <a:rPr lang="ro-RO" sz="1400" b="1">
                <a:solidFill>
                  <a:srgbClr val="800000"/>
                </a:solidFill>
              </a:rPr>
              <a:t>return</a:t>
            </a:r>
            <a:r>
              <a:rPr lang="ro-RO" sz="1400"/>
              <a:t> classrooms</a:t>
            </a:r>
            <a:r>
              <a:rPr lang="ro-RO" sz="1400">
                <a:solidFill>
                  <a:srgbClr val="800080"/>
                </a:solidFill>
              </a:rPr>
              <a:t>;</a:t>
            </a:r>
            <a:r>
              <a:rPr lang="ro-RO" sz="1400"/>
              <a:t> </a:t>
            </a:r>
            <a:r>
              <a:rPr lang="ro-RO" sz="1400">
                <a:solidFill>
                  <a:srgbClr val="800080"/>
                </a:solidFill>
              </a:rPr>
              <a:t>}</a:t>
            </a:r>
            <a:r>
              <a:rPr lang="ro-RO" sz="1400"/>
              <a:t> </a:t>
            </a:r>
            <a:endParaRPr lang="en-US" sz="1400"/>
          </a:p>
          <a:p>
            <a:r>
              <a:rPr lang="ro-RO" sz="1400" b="1">
                <a:solidFill>
                  <a:srgbClr val="800000"/>
                </a:solidFill>
              </a:rPr>
              <a:t>int</a:t>
            </a:r>
            <a:r>
              <a:rPr lang="ro-RO" sz="1400"/>
              <a:t> school</a:t>
            </a:r>
            <a:r>
              <a:rPr lang="ro-RO" sz="1400">
                <a:solidFill>
                  <a:srgbClr val="800080"/>
                </a:solidFill>
              </a:rPr>
              <a:t>::</a:t>
            </a:r>
            <a:r>
              <a:rPr lang="ro-RO" sz="1400"/>
              <a:t>get_offices</a:t>
            </a:r>
            <a:r>
              <a:rPr lang="ro-RO" sz="1400">
                <a:solidFill>
                  <a:srgbClr val="808030"/>
                </a:solidFill>
              </a:rPr>
              <a:t>()</a:t>
            </a:r>
            <a:r>
              <a:rPr lang="ro-RO" sz="1400"/>
              <a:t> </a:t>
            </a:r>
            <a:endParaRPr lang="en-US" sz="1400"/>
          </a:p>
          <a:p>
            <a:r>
              <a:rPr lang="ro-RO" sz="1400">
                <a:solidFill>
                  <a:srgbClr val="800080"/>
                </a:solidFill>
              </a:rPr>
              <a:t>{</a:t>
            </a:r>
            <a:r>
              <a:rPr lang="ro-RO" sz="1400"/>
              <a:t> </a:t>
            </a:r>
            <a:r>
              <a:rPr lang="ro-RO" sz="1400" b="1">
                <a:solidFill>
                  <a:srgbClr val="800000"/>
                </a:solidFill>
              </a:rPr>
              <a:t>return</a:t>
            </a:r>
            <a:r>
              <a:rPr lang="ro-RO" sz="1400"/>
              <a:t> offices</a:t>
            </a:r>
            <a:r>
              <a:rPr lang="ro-RO" sz="1400">
                <a:solidFill>
                  <a:srgbClr val="800080"/>
                </a:solidFill>
              </a:rPr>
              <a:t>;</a:t>
            </a:r>
            <a:r>
              <a:rPr lang="ro-RO" sz="1400"/>
              <a:t> </a:t>
            </a:r>
            <a:r>
              <a:rPr lang="ro-RO" sz="1400">
                <a:solidFill>
                  <a:srgbClr val="800080"/>
                </a:solidFill>
              </a:rPr>
              <a:t>}</a:t>
            </a:r>
            <a:endParaRPr lang="en-US" altLang="ro-RO" sz="1400" b="1">
              <a:solidFill>
                <a:schemeClr val="bg2"/>
              </a:solidFill>
            </a:endParaRPr>
          </a:p>
        </p:txBody>
      </p:sp>
      <p:sp>
        <p:nvSpPr>
          <p:cNvPr id="52227" name="Rectangle 7"/>
          <p:cNvSpPr>
            <a:spLocks noChangeArrowheads="1"/>
          </p:cNvSpPr>
          <p:nvPr/>
        </p:nvSpPr>
        <p:spPr bwMode="auto">
          <a:xfrm>
            <a:off x="3886200" y="487363"/>
            <a:ext cx="4953000" cy="4770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sz="1600" b="1">
                <a:solidFill>
                  <a:srgbClr val="800000"/>
                </a:solidFill>
              </a:rPr>
              <a:t>int</a:t>
            </a:r>
            <a:r>
              <a:rPr lang="ro-RO" sz="1600"/>
              <a:t> </a:t>
            </a:r>
            <a:r>
              <a:rPr lang="ro-RO" sz="1600">
                <a:solidFill>
                  <a:srgbClr val="400000"/>
                </a:solidFill>
              </a:rPr>
              <a:t>main</a:t>
            </a:r>
            <a:r>
              <a:rPr lang="ro-RO" sz="1600">
                <a:solidFill>
                  <a:srgbClr val="808030"/>
                </a:solidFill>
              </a:rPr>
              <a:t>()</a:t>
            </a:r>
            <a:r>
              <a:rPr lang="ro-RO" sz="1600"/>
              <a:t> </a:t>
            </a:r>
            <a:endParaRPr lang="en-US" sz="1600"/>
          </a:p>
          <a:p>
            <a:r>
              <a:rPr lang="ro-RO" sz="1600">
                <a:solidFill>
                  <a:srgbClr val="800080"/>
                </a:solidFill>
              </a:rPr>
              <a:t>{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/>
              <a:t>	</a:t>
            </a:r>
            <a:r>
              <a:rPr lang="ro-RO" sz="1600"/>
              <a:t>house h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/>
              <a:t>	</a:t>
            </a:r>
            <a:r>
              <a:rPr lang="ro-RO" sz="1600"/>
              <a:t>school s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/>
              <a:t>	</a:t>
            </a:r>
            <a:r>
              <a:rPr lang="ro-RO" sz="1600"/>
              <a:t>h</a:t>
            </a:r>
            <a:r>
              <a:rPr lang="ro-RO" sz="1600">
                <a:solidFill>
                  <a:srgbClr val="808030"/>
                </a:solidFill>
              </a:rPr>
              <a:t>.</a:t>
            </a:r>
            <a:r>
              <a:rPr lang="ro-RO" sz="1600"/>
              <a:t>set_rooms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>
                <a:solidFill>
                  <a:srgbClr val="008C00"/>
                </a:solidFill>
              </a:rPr>
              <a:t>12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/>
              <a:t>	</a:t>
            </a:r>
            <a:r>
              <a:rPr lang="ro-RO" sz="1600"/>
              <a:t>h</a:t>
            </a:r>
            <a:r>
              <a:rPr lang="ro-RO" sz="1600">
                <a:solidFill>
                  <a:srgbClr val="808030"/>
                </a:solidFill>
              </a:rPr>
              <a:t>.</a:t>
            </a:r>
            <a:r>
              <a:rPr lang="ro-RO" sz="1600"/>
              <a:t>set_floors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>
                <a:solidFill>
                  <a:srgbClr val="008C00"/>
                </a:solidFill>
              </a:rPr>
              <a:t>3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/>
              <a:t>	</a:t>
            </a:r>
            <a:r>
              <a:rPr lang="ro-RO" sz="1600"/>
              <a:t>h</a:t>
            </a:r>
            <a:r>
              <a:rPr lang="ro-RO" sz="1600">
                <a:solidFill>
                  <a:srgbClr val="808030"/>
                </a:solidFill>
              </a:rPr>
              <a:t>.</a:t>
            </a:r>
            <a:r>
              <a:rPr lang="ro-RO" sz="1600"/>
              <a:t>set_area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>
                <a:solidFill>
                  <a:srgbClr val="008C00"/>
                </a:solidFill>
              </a:rPr>
              <a:t>4500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/>
              <a:t>	</a:t>
            </a:r>
            <a:r>
              <a:rPr lang="ro-RO" sz="1600"/>
              <a:t>h</a:t>
            </a:r>
            <a:r>
              <a:rPr lang="ro-RO" sz="1600">
                <a:solidFill>
                  <a:srgbClr val="808030"/>
                </a:solidFill>
              </a:rPr>
              <a:t>.</a:t>
            </a:r>
            <a:r>
              <a:rPr lang="ro-RO" sz="1600"/>
              <a:t>set_bedrooms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>
                <a:solidFill>
                  <a:srgbClr val="008C00"/>
                </a:solidFill>
              </a:rPr>
              <a:t>5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/>
              <a:t>	</a:t>
            </a:r>
            <a:r>
              <a:rPr lang="ro-RO" sz="1600"/>
              <a:t>h</a:t>
            </a:r>
            <a:r>
              <a:rPr lang="ro-RO" sz="1600">
                <a:solidFill>
                  <a:srgbClr val="808030"/>
                </a:solidFill>
              </a:rPr>
              <a:t>.</a:t>
            </a:r>
            <a:r>
              <a:rPr lang="ro-RO" sz="1600"/>
              <a:t>set_baths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>
                <a:solidFill>
                  <a:srgbClr val="008C00"/>
                </a:solidFill>
              </a:rPr>
              <a:t>3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>
                <a:solidFill>
                  <a:srgbClr val="603000"/>
                </a:solidFill>
              </a:rPr>
              <a:t>	</a:t>
            </a:r>
            <a:r>
              <a:rPr lang="ro-RO" sz="1600">
                <a:solidFill>
                  <a:srgbClr val="603000"/>
                </a:solidFill>
              </a:rPr>
              <a:t>cout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&lt;&lt;</a:t>
            </a:r>
            <a:r>
              <a:rPr lang="ro-RO" sz="1600"/>
              <a:t> 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0000E6"/>
                </a:solidFill>
              </a:rPr>
              <a:t>house has 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&lt;&lt;</a:t>
            </a:r>
            <a:r>
              <a:rPr lang="ro-RO" sz="1600"/>
              <a:t> h</a:t>
            </a:r>
            <a:r>
              <a:rPr lang="ro-RO" sz="1600">
                <a:solidFill>
                  <a:srgbClr val="808030"/>
                </a:solidFill>
              </a:rPr>
              <a:t>.</a:t>
            </a:r>
            <a:r>
              <a:rPr lang="ro-RO" sz="1600"/>
              <a:t>get_bedrooms</a:t>
            </a:r>
            <a:r>
              <a:rPr lang="ro-RO" sz="1600">
                <a:solidFill>
                  <a:srgbClr val="808030"/>
                </a:solidFill>
              </a:rPr>
              <a:t>()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>
                <a:solidFill>
                  <a:srgbClr val="603000"/>
                </a:solidFill>
              </a:rPr>
              <a:t>	</a:t>
            </a:r>
            <a:r>
              <a:rPr lang="ro-RO" sz="1600">
                <a:solidFill>
                  <a:srgbClr val="603000"/>
                </a:solidFill>
              </a:rPr>
              <a:t>cout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&lt;&lt;</a:t>
            </a:r>
            <a:r>
              <a:rPr lang="ro-RO" sz="1600"/>
              <a:t> 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0000E6"/>
                </a:solidFill>
              </a:rPr>
              <a:t> bedrooms</a:t>
            </a:r>
            <a:r>
              <a:rPr lang="ro-RO" sz="1600">
                <a:solidFill>
                  <a:srgbClr val="0F69FF"/>
                </a:solidFill>
              </a:rPr>
              <a:t>\n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s</a:t>
            </a:r>
            <a:r>
              <a:rPr lang="ro-RO" sz="1600">
                <a:solidFill>
                  <a:srgbClr val="808030"/>
                </a:solidFill>
              </a:rPr>
              <a:t>.</a:t>
            </a:r>
            <a:r>
              <a:rPr lang="ro-RO" sz="1600"/>
              <a:t>set_rooms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>
                <a:solidFill>
                  <a:srgbClr val="008C00"/>
                </a:solidFill>
              </a:rPr>
              <a:t>200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/>
              <a:t>	</a:t>
            </a:r>
            <a:r>
              <a:rPr lang="ro-RO" sz="1600"/>
              <a:t>s</a:t>
            </a:r>
            <a:r>
              <a:rPr lang="ro-RO" sz="1600">
                <a:solidFill>
                  <a:srgbClr val="808030"/>
                </a:solidFill>
              </a:rPr>
              <a:t>.</a:t>
            </a:r>
            <a:r>
              <a:rPr lang="ro-RO" sz="1600"/>
              <a:t>set_classrooms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>
                <a:solidFill>
                  <a:srgbClr val="008C00"/>
                </a:solidFill>
              </a:rPr>
              <a:t>180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/>
              <a:t>	</a:t>
            </a:r>
            <a:r>
              <a:rPr lang="ro-RO" sz="1600"/>
              <a:t>s</a:t>
            </a:r>
            <a:r>
              <a:rPr lang="ro-RO" sz="1600">
                <a:solidFill>
                  <a:srgbClr val="808030"/>
                </a:solidFill>
              </a:rPr>
              <a:t>.</a:t>
            </a:r>
            <a:r>
              <a:rPr lang="ro-RO" sz="1600"/>
              <a:t>set_offices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>
                <a:solidFill>
                  <a:srgbClr val="008C00"/>
                </a:solidFill>
              </a:rPr>
              <a:t>5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/>
              <a:t>	</a:t>
            </a:r>
            <a:r>
              <a:rPr lang="ro-RO" sz="1600"/>
              <a:t>s</a:t>
            </a:r>
            <a:r>
              <a:rPr lang="ro-RO" sz="1600">
                <a:solidFill>
                  <a:srgbClr val="808030"/>
                </a:solidFill>
              </a:rPr>
              <a:t>.</a:t>
            </a:r>
            <a:r>
              <a:rPr lang="ro-RO" sz="1600"/>
              <a:t>set_area</a:t>
            </a:r>
            <a:r>
              <a:rPr lang="ro-RO" sz="1600">
                <a:solidFill>
                  <a:srgbClr val="808030"/>
                </a:solidFill>
              </a:rPr>
              <a:t>(</a:t>
            </a:r>
            <a:r>
              <a:rPr lang="ro-RO" sz="1600">
                <a:solidFill>
                  <a:srgbClr val="008C00"/>
                </a:solidFill>
              </a:rPr>
              <a:t>25000</a:t>
            </a:r>
            <a:r>
              <a:rPr lang="ro-RO" sz="1600">
                <a:solidFill>
                  <a:srgbClr val="808030"/>
                </a:solidFill>
              </a:rPr>
              <a:t>)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>
                <a:solidFill>
                  <a:srgbClr val="603000"/>
                </a:solidFill>
              </a:rPr>
              <a:t>	</a:t>
            </a:r>
            <a:r>
              <a:rPr lang="ro-RO" sz="1600">
                <a:solidFill>
                  <a:srgbClr val="603000"/>
                </a:solidFill>
              </a:rPr>
              <a:t>cout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&lt;&lt;</a:t>
            </a:r>
            <a:r>
              <a:rPr lang="ro-RO" sz="1600"/>
              <a:t> 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0000E6"/>
                </a:solidFill>
              </a:rPr>
              <a:t>school has 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&lt;&lt;</a:t>
            </a:r>
            <a:r>
              <a:rPr lang="ro-RO" sz="1600"/>
              <a:t> s</a:t>
            </a:r>
            <a:r>
              <a:rPr lang="ro-RO" sz="1600">
                <a:solidFill>
                  <a:srgbClr val="808030"/>
                </a:solidFill>
              </a:rPr>
              <a:t>.</a:t>
            </a:r>
            <a:r>
              <a:rPr lang="ro-RO" sz="1600"/>
              <a:t>get_classrooms</a:t>
            </a:r>
            <a:r>
              <a:rPr lang="ro-RO" sz="1600">
                <a:solidFill>
                  <a:srgbClr val="808030"/>
                </a:solidFill>
              </a:rPr>
              <a:t>()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r>
              <a:rPr lang="en-US" sz="1600"/>
              <a:t>	</a:t>
            </a:r>
            <a:r>
              <a:rPr lang="ro-RO" sz="1600">
                <a:solidFill>
                  <a:srgbClr val="603000"/>
                </a:solidFill>
              </a:rPr>
              <a:t>cout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&lt;&lt;</a:t>
            </a:r>
            <a:r>
              <a:rPr lang="ro-RO" sz="1600"/>
              <a:t> 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0000E6"/>
                </a:solidFill>
              </a:rPr>
              <a:t> classrooms</a:t>
            </a:r>
            <a:r>
              <a:rPr lang="ro-RO" sz="1600">
                <a:solidFill>
                  <a:srgbClr val="0F69FF"/>
                </a:solidFill>
              </a:rPr>
              <a:t>\n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>
                <a:solidFill>
                  <a:srgbClr val="603000"/>
                </a:solidFill>
              </a:rPr>
              <a:t>	</a:t>
            </a:r>
            <a:r>
              <a:rPr lang="ro-RO" sz="1600">
                <a:solidFill>
                  <a:srgbClr val="603000"/>
                </a:solidFill>
              </a:rPr>
              <a:t>cout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&lt;&lt;</a:t>
            </a:r>
            <a:r>
              <a:rPr lang="ro-RO" sz="1600"/>
              <a:t> 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>
                <a:solidFill>
                  <a:srgbClr val="0000E6"/>
                </a:solidFill>
              </a:rPr>
              <a:t>Its area is </a:t>
            </a:r>
            <a:r>
              <a:rPr lang="ro-RO" sz="1600">
                <a:solidFill>
                  <a:srgbClr val="800000"/>
                </a:solidFill>
              </a:rPr>
              <a:t>"</a:t>
            </a:r>
            <a:r>
              <a:rPr lang="ro-RO" sz="1600"/>
              <a:t> </a:t>
            </a:r>
            <a:r>
              <a:rPr lang="ro-RO" sz="1600">
                <a:solidFill>
                  <a:srgbClr val="808030"/>
                </a:solidFill>
              </a:rPr>
              <a:t>&lt;&lt;</a:t>
            </a:r>
            <a:r>
              <a:rPr lang="ro-RO" sz="1600"/>
              <a:t> s</a:t>
            </a:r>
            <a:r>
              <a:rPr lang="ro-RO" sz="1600">
                <a:solidFill>
                  <a:srgbClr val="808030"/>
                </a:solidFill>
              </a:rPr>
              <a:t>.</a:t>
            </a:r>
            <a:r>
              <a:rPr lang="ro-RO" sz="1600"/>
              <a:t>get_area</a:t>
            </a:r>
            <a:r>
              <a:rPr lang="ro-RO" sz="1600">
                <a:solidFill>
                  <a:srgbClr val="808030"/>
                </a:solidFill>
              </a:rPr>
              <a:t>()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en-US" sz="1600" b="1">
                <a:solidFill>
                  <a:srgbClr val="800000"/>
                </a:solidFill>
              </a:rPr>
              <a:t>	</a:t>
            </a:r>
            <a:r>
              <a:rPr lang="ro-RO" sz="1600" b="1">
                <a:solidFill>
                  <a:srgbClr val="800000"/>
                </a:solidFill>
              </a:rPr>
              <a:t>return</a:t>
            </a:r>
            <a:r>
              <a:rPr lang="ro-RO" sz="1600"/>
              <a:t> </a:t>
            </a:r>
            <a:r>
              <a:rPr lang="ro-RO" sz="1600">
                <a:solidFill>
                  <a:srgbClr val="008C00"/>
                </a:solidFill>
              </a:rPr>
              <a:t>0</a:t>
            </a:r>
            <a:r>
              <a:rPr lang="ro-RO" sz="1600">
                <a:solidFill>
                  <a:srgbClr val="800080"/>
                </a:solidFill>
              </a:rPr>
              <a:t>;</a:t>
            </a:r>
            <a:r>
              <a:rPr lang="ro-RO" sz="1600"/>
              <a:t> </a:t>
            </a:r>
            <a:endParaRPr lang="en-US" sz="1600"/>
          </a:p>
          <a:p>
            <a:r>
              <a:rPr lang="ro-RO" sz="1600">
                <a:solidFill>
                  <a:srgbClr val="800080"/>
                </a:solidFill>
              </a:rPr>
              <a:t>}</a:t>
            </a:r>
            <a:endParaRPr lang="en-US" altLang="ro-RO" sz="1600" b="1"/>
          </a:p>
        </p:txBody>
      </p:sp>
      <p:sp>
        <p:nvSpPr>
          <p:cNvPr id="52228" name="Rectangle 8"/>
          <p:cNvSpPr>
            <a:spLocks noChangeArrowheads="1"/>
          </p:cNvSpPr>
          <p:nvPr/>
        </p:nvSpPr>
        <p:spPr bwMode="auto">
          <a:xfrm>
            <a:off x="4419600" y="5181600"/>
            <a:ext cx="457200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ro-RO"/>
              <a:t>house has 5 bedrooms</a:t>
            </a:r>
          </a:p>
          <a:p>
            <a:r>
              <a:rPr lang="en-US" altLang="ro-RO"/>
              <a:t>school has 180 classrooms</a:t>
            </a:r>
          </a:p>
          <a:p>
            <a:r>
              <a:rPr lang="en-US" altLang="ro-RO"/>
              <a:t>Its area is 25000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914900" y="47625"/>
            <a:ext cx="2895600" cy="685800"/>
          </a:xfrm>
        </p:spPr>
        <p:txBody>
          <a:bodyPr/>
          <a:lstStyle/>
          <a:p>
            <a:pPr eaLnBrk="1" hangingPunct="1"/>
            <a:r>
              <a:rPr lang="ro-RO" altLang="ro-RO" sz="24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Moștenire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371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ro-RO" sz="2400" b="1" dirty="0" err="1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Polimorfism</a:t>
            </a:r>
            <a:endParaRPr lang="en-US" altLang="ro-RO" sz="2400" b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743200"/>
            <a:ext cx="7772400" cy="2362200"/>
          </a:xfrm>
        </p:spPr>
        <p:txBody>
          <a:bodyPr/>
          <a:lstStyle/>
          <a:p>
            <a:pPr eaLnBrk="1" hangingPunct="1"/>
            <a:r>
              <a:rPr lang="ro-RO" altLang="ro-RO" sz="2400" dirty="0">
                <a:latin typeface="Arial" pitchFamily="34" charset="0"/>
                <a:cs typeface="Arial" pitchFamily="34" charset="0"/>
              </a:rPr>
              <a:t>tot pentru claritate/ cod mai sigur</a:t>
            </a:r>
          </a:p>
          <a:p>
            <a:pPr eaLnBrk="1" hangingPunct="1"/>
            <a:endParaRPr lang="ro-RO" altLang="ro-RO" sz="2400" dirty="0">
              <a:latin typeface="Arial" pitchFamily="34" charset="0"/>
              <a:cs typeface="Arial" pitchFamily="34" charset="0"/>
            </a:endParaRPr>
          </a:p>
          <a:p>
            <a:pPr eaLnBrk="1" hangingPunct="1"/>
            <a:r>
              <a:rPr lang="ro-RO" altLang="ro-RO" sz="2400" dirty="0">
                <a:latin typeface="Arial" pitchFamily="34" charset="0"/>
                <a:cs typeface="Arial" pitchFamily="34" charset="0"/>
              </a:rPr>
              <a:t>Polimorfism la compilare: ex. max(int), max(float)</a:t>
            </a:r>
          </a:p>
          <a:p>
            <a:pPr eaLnBrk="1" hangingPunct="1"/>
            <a:endParaRPr lang="ro-RO" altLang="ro-RO" sz="2400" dirty="0">
              <a:latin typeface="Arial" pitchFamily="34" charset="0"/>
              <a:cs typeface="Arial" pitchFamily="34" charset="0"/>
            </a:endParaRPr>
          </a:p>
          <a:p>
            <a:pPr eaLnBrk="1" hangingPunct="1"/>
            <a:r>
              <a:rPr lang="ro-RO" altLang="ro-RO" sz="2400" dirty="0">
                <a:latin typeface="Arial" pitchFamily="34" charset="0"/>
                <a:cs typeface="Arial" pitchFamily="34" charset="0"/>
              </a:rPr>
              <a:t>Polimorfism la execuție: RTTI</a:t>
            </a:r>
          </a:p>
        </p:txBody>
      </p:sp>
      <p:sp>
        <p:nvSpPr>
          <p:cNvPr id="7" name="Google Shape;471;p35"/>
          <p:cNvSpPr txBox="1"/>
          <p:nvPr/>
        </p:nvSpPr>
        <p:spPr>
          <a:xfrm>
            <a:off x="762000" y="95307"/>
            <a:ext cx="80772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91440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Principiile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programarii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orientate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endParaRPr sz="28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143000"/>
            <a:ext cx="7772400" cy="1143000"/>
          </a:xfrm>
        </p:spPr>
        <p:txBody>
          <a:bodyPr/>
          <a:lstStyle/>
          <a:p>
            <a:pPr eaLnBrk="1" hangingPunct="1"/>
            <a:r>
              <a:rPr lang="ro-RO" altLang="ro-RO" sz="24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Șabloane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514600"/>
            <a:ext cx="7772400" cy="3200400"/>
          </a:xfrm>
        </p:spPr>
        <p:txBody>
          <a:bodyPr/>
          <a:lstStyle/>
          <a:p>
            <a:pPr eaLnBrk="1" hangingPunct="1"/>
            <a:r>
              <a:rPr lang="ro-RO" altLang="ro-RO" sz="2400" dirty="0">
                <a:latin typeface="Arial" pitchFamily="34" charset="0"/>
                <a:cs typeface="Arial" pitchFamily="34" charset="0"/>
              </a:rPr>
              <a:t>din nou cod mai sigur/reutilizare de cod</a:t>
            </a:r>
          </a:p>
          <a:p>
            <a:pPr eaLnBrk="1" hangingPunct="1"/>
            <a:endParaRPr lang="ro-RO" altLang="ro-RO" sz="2400" dirty="0">
              <a:latin typeface="Arial" pitchFamily="34" charset="0"/>
              <a:cs typeface="Arial" pitchFamily="34" charset="0"/>
            </a:endParaRPr>
          </a:p>
          <a:p>
            <a:pPr eaLnBrk="1" hangingPunct="1"/>
            <a:r>
              <a:rPr lang="ro-RO" altLang="ro-RO" sz="2400" dirty="0">
                <a:latin typeface="Arial" pitchFamily="34" charset="0"/>
                <a:cs typeface="Arial" pitchFamily="34" charset="0"/>
              </a:rPr>
              <a:t>putem implementa listă înlănțuită de </a:t>
            </a:r>
          </a:p>
          <a:p>
            <a:pPr lvl="1" eaLnBrk="1" hangingPunct="1"/>
            <a:r>
              <a:rPr lang="ro-RO" altLang="ro-RO" sz="2400" dirty="0">
                <a:latin typeface="Arial" pitchFamily="34" charset="0"/>
                <a:cs typeface="Arial" pitchFamily="34" charset="0"/>
              </a:rPr>
              <a:t>întregi</a:t>
            </a:r>
          </a:p>
          <a:p>
            <a:pPr lvl="1" eaLnBrk="1" hangingPunct="1"/>
            <a:r>
              <a:rPr lang="ro-RO" altLang="ro-RO" sz="2400" dirty="0">
                <a:latin typeface="Arial" pitchFamily="34" charset="0"/>
                <a:cs typeface="Arial" pitchFamily="34" charset="0"/>
              </a:rPr>
              <a:t>caractere</a:t>
            </a:r>
          </a:p>
          <a:p>
            <a:pPr lvl="1" eaLnBrk="1" hangingPunct="1"/>
            <a:r>
              <a:rPr lang="ro-RO" altLang="ro-RO" sz="2400" dirty="0">
                <a:latin typeface="Arial" pitchFamily="34" charset="0"/>
                <a:cs typeface="Arial" pitchFamily="34" charset="0"/>
              </a:rPr>
              <a:t>float</a:t>
            </a:r>
          </a:p>
          <a:p>
            <a:pPr lvl="1" eaLnBrk="1" hangingPunct="1"/>
            <a:r>
              <a:rPr lang="ro-RO" altLang="ro-RO" sz="2400" dirty="0">
                <a:latin typeface="Arial" pitchFamily="34" charset="0"/>
                <a:cs typeface="Arial" pitchFamily="34" charset="0"/>
              </a:rPr>
              <a:t>obiecte</a:t>
            </a:r>
          </a:p>
        </p:txBody>
      </p:sp>
      <p:sp>
        <p:nvSpPr>
          <p:cNvPr id="7" name="Google Shape;471;p35"/>
          <p:cNvSpPr txBox="1"/>
          <p:nvPr/>
        </p:nvSpPr>
        <p:spPr>
          <a:xfrm>
            <a:off x="762000" y="152400"/>
            <a:ext cx="8077200" cy="5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39" tIns="40820" rIns="81639" bIns="40820" anchor="t" anchorCtr="0">
            <a:noAutofit/>
          </a:bodyPr>
          <a:lstStyle/>
          <a:p>
            <a:pPr marL="91440" indent="-20304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</a:pP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Principiile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programarii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orientate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2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endParaRPr sz="28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8686800" cy="1143000"/>
          </a:xfrm>
        </p:spPr>
        <p:txBody>
          <a:bodyPr/>
          <a:lstStyle/>
          <a:p>
            <a:pPr eaLnBrk="1" hangingPunct="1"/>
            <a:r>
              <a:rPr lang="en-US" altLang="ro-RO" sz="4000" dirty="0"/>
              <a:t>Perspective</a:t>
            </a:r>
            <a:endParaRPr lang="ro-RO" altLang="ro-RO" sz="40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447800"/>
            <a:ext cx="7772400" cy="3429000"/>
          </a:xfrm>
        </p:spPr>
        <p:txBody>
          <a:bodyPr/>
          <a:lstStyle/>
          <a:p>
            <a:pPr>
              <a:buNone/>
              <a:defRPr/>
            </a:pPr>
            <a:r>
              <a:rPr lang="en-US" sz="280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Curs 3</a:t>
            </a:r>
          </a:p>
          <a:p>
            <a:pPr>
              <a:buNone/>
              <a:defRPr/>
            </a:pPr>
            <a:endParaRPr lang="en-US" sz="280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>
              <a:defRPr/>
            </a:pPr>
            <a:r>
              <a:rPr lang="en-US" sz="280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Class, </a:t>
            </a:r>
            <a:r>
              <a:rPr lang="en-US" sz="2800" dirty="0" err="1">
                <a:solidFill>
                  <a:srgbClr val="000000"/>
                </a:solidFill>
                <a:ea typeface="Arial"/>
                <a:cs typeface="Arial"/>
                <a:sym typeface="Arial"/>
              </a:rPr>
              <a:t>struct</a:t>
            </a:r>
            <a:r>
              <a:rPr lang="en-US" sz="280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, union</a:t>
            </a:r>
          </a:p>
          <a:p>
            <a:pPr>
              <a:defRPr/>
            </a:pPr>
            <a:r>
              <a:rPr lang="en-US" altLang="ro-RO" sz="2800" dirty="0" err="1">
                <a:solidFill>
                  <a:srgbClr val="000000"/>
                </a:solidFill>
                <a:cs typeface="Arial"/>
                <a:sym typeface="Arial"/>
              </a:rPr>
              <a:t>F</a:t>
            </a:r>
            <a:r>
              <a:rPr lang="en-US" altLang="ro-RO" sz="2800" dirty="0" err="1"/>
              <a:t>unctii</a:t>
            </a:r>
            <a:r>
              <a:rPr lang="en-US" altLang="ro-RO" sz="2800" dirty="0"/>
              <a:t> </a:t>
            </a:r>
            <a:r>
              <a:rPr lang="en-US" altLang="ro-RO" sz="2800" dirty="0" err="1"/>
              <a:t>si</a:t>
            </a:r>
            <a:r>
              <a:rPr lang="en-US" altLang="ro-RO" sz="2800" dirty="0"/>
              <a:t> </a:t>
            </a:r>
            <a:r>
              <a:rPr lang="en-US" altLang="ro-RO" sz="2800" dirty="0" err="1"/>
              <a:t>clase</a:t>
            </a:r>
            <a:r>
              <a:rPr lang="en-US" altLang="ro-RO" sz="2800" dirty="0"/>
              <a:t> </a:t>
            </a:r>
            <a:r>
              <a:rPr lang="en-US" altLang="ro-RO" sz="2800" dirty="0" err="1"/>
              <a:t>prieten</a:t>
            </a:r>
            <a:endParaRPr lang="en-US" altLang="ro-RO" sz="2800" dirty="0"/>
          </a:p>
          <a:p>
            <a:pPr>
              <a:defRPr/>
            </a:pPr>
            <a:r>
              <a:rPr lang="en-US" altLang="ro-RO" sz="2800" dirty="0" err="1"/>
              <a:t>Functii</a:t>
            </a:r>
            <a:r>
              <a:rPr lang="en-US" altLang="ro-RO" sz="2800" dirty="0"/>
              <a:t> inline</a:t>
            </a:r>
          </a:p>
          <a:p>
            <a:pPr>
              <a:defRPr/>
            </a:pPr>
            <a:r>
              <a:rPr lang="en-US" altLang="ro-RO" sz="2800" dirty="0" err="1"/>
              <a:t>Constructori</a:t>
            </a:r>
            <a:r>
              <a:rPr lang="en-US" altLang="ro-RO" sz="2800" dirty="0"/>
              <a:t> / destructor</a:t>
            </a:r>
            <a:endParaRPr lang="ro-RO" altLang="ro-RO" sz="2800" dirty="0"/>
          </a:p>
          <a:p>
            <a:pPr marL="0" indent="0" eaLnBrk="1" hangingPunct="1">
              <a:buFontTx/>
              <a:buNone/>
              <a:defRPr/>
            </a:pPr>
            <a:endParaRPr lang="ro-RO" altLang="ro-RO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emă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E02F608F3513458693E499A1B4021C" ma:contentTypeVersion="3" ma:contentTypeDescription="Create a new document." ma:contentTypeScope="" ma:versionID="c4b86bf4112670e546faf249db29eaac">
  <xsd:schema xmlns:xsd="http://www.w3.org/2001/XMLSchema" xmlns:xs="http://www.w3.org/2001/XMLSchema" xmlns:p="http://schemas.microsoft.com/office/2006/metadata/properties" xmlns:ns2="e011d0cb-f29a-4db3-9b8c-3b4d1a8211af" targetNamespace="http://schemas.microsoft.com/office/2006/metadata/properties" ma:root="true" ma:fieldsID="385c4a4ff57182115937dd93269c8853" ns2:_="">
    <xsd:import namespace="e011d0cb-f29a-4db3-9b8c-3b4d1a8211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11d0cb-f29a-4db3-9b8c-3b4d1a8211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20343B7-6EDE-4C77-AFB2-6F464C0D2318}">
  <ds:schemaRefs>
    <ds:schemaRef ds:uri="http://schemas.microsoft.com/office/2006/metadata/properties"/>
    <ds:schemaRef ds:uri="http://schemas.microsoft.com/office/infopath/2007/PartnerControls"/>
    <ds:schemaRef ds:uri="2a144226-266b-435e-ae44-b91654f0bcb4"/>
    <ds:schemaRef ds:uri="71c24be4-710d-4a8d-9a13-a79588c1dd38"/>
  </ds:schemaRefs>
</ds:datastoreItem>
</file>

<file path=customXml/itemProps2.xml><?xml version="1.0" encoding="utf-8"?>
<ds:datastoreItem xmlns:ds="http://schemas.openxmlformats.org/officeDocument/2006/customXml" ds:itemID="{89808107-05A2-45DF-9A9F-3728C93292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E36A44-566C-44DD-8AA3-CC178B4C61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011d0cb-f29a-4db3-9b8c-3b4d1a8211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4869</TotalTime>
  <Words>3760</Words>
  <Application>Microsoft Office PowerPoint</Application>
  <PresentationFormat>On-screen Show (4:3)</PresentationFormat>
  <Paragraphs>858</Paragraphs>
  <Slides>61</Slides>
  <Notes>58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61</vt:i4>
      </vt:variant>
    </vt:vector>
  </HeadingPairs>
  <TitlesOfParts>
    <vt:vector size="63" baseType="lpstr">
      <vt:lpstr>Default Design</vt:lpstr>
      <vt:lpstr>1_Default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pointeri şi array-uri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întoarcere de referințe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Obiecte</vt:lpstr>
      <vt:lpstr>Clase</vt:lpstr>
      <vt:lpstr>Clase</vt:lpstr>
      <vt:lpstr>Clase</vt:lpstr>
      <vt:lpstr>Clase</vt:lpstr>
      <vt:lpstr>Clase</vt:lpstr>
      <vt:lpstr>Clase</vt:lpstr>
      <vt:lpstr>Clase</vt:lpstr>
      <vt:lpstr>Clase</vt:lpstr>
      <vt:lpstr>Clase</vt:lpstr>
      <vt:lpstr>Clase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Moștenire</vt:lpstr>
      <vt:lpstr>Moștenire</vt:lpstr>
      <vt:lpstr>Moștenire</vt:lpstr>
      <vt:lpstr>Moștenire</vt:lpstr>
      <vt:lpstr>Moștenire</vt:lpstr>
      <vt:lpstr>Moștenire</vt:lpstr>
      <vt:lpstr>Moștenire</vt:lpstr>
      <vt:lpstr>Polimorfism</vt:lpstr>
      <vt:lpstr>Șabloane</vt:lpstr>
      <vt:lpstr>Perspective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andrei</dc:creator>
  <cp:lastModifiedBy>Admin</cp:lastModifiedBy>
  <cp:revision>313</cp:revision>
  <dcterms:created xsi:type="dcterms:W3CDTF">1601-01-01T00:00:00Z</dcterms:created>
  <dcterms:modified xsi:type="dcterms:W3CDTF">2026-03-14T16:54:28Z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0x010100C6E02F608F3513458693E499A1B4021C</vt:lpwstr>
  </property>
</Properties>
</file>